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27e9a615-d191-bd03-f8fb-b0f420d59744}">
          <p14:sldIdLst>
            <p14:sldId id="256"/>
            <p14:sldId id="257"/>
          </p14:sldIdLst>
        </p14:section>
        <p14:section name="項目ごとの観点" id="{16b71126-bbb1-b897-d1c5-be55943e2c1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まとめ" id="{aac079dc-71ff-690c-a97b-18b434f292f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954"/>
                </a:solidFill>
                <a:latin typeface="Meiryo UI"/>
                <a:ea typeface="Meiryo UI"/>
              </a:defRPr>
            </a:pPr>
            <a:r>
              <a:rPr sz="1400" b="0" i="0" u="none" strike="noStrike">
                <a:solidFill>
                  <a:srgbClr val="0B3954"/>
                </a:solidFill>
                <a:latin typeface="Meiryo UI"/>
                <a:ea typeface="Meiryo UI"/>
              </a:rPr>
              <a:t>項目ごとのテスト条件の数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正常（201）</c:v>
                </c:pt>
              </c:strCache>
            </c:strRef>
          </c:tx>
          <c:spPr>
            <a:solidFill>
              <a:srgbClr val="1E8A5A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Meiryo UI"/>
                    <a:ea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お名前（4項目）</c:v>
                  </c:pt>
                  <c:pt idx="1">
                    <c:v>電話番号（3項目）</c:v>
                  </c:pt>
                  <c:pt idx="2">
                    <c:v>年齢（2項目）</c:v>
                  </c:pt>
                  <c:pt idx="3">
                    <c:v>性別（2項目）</c:v>
                  </c:pt>
                  <c:pt idx="4">
                    <c:v>メールアドレス</c:v>
                  </c:pt>
                  <c:pt idx="5">
                    <c:v>搭乗者の件数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入力エラー（400）</c:v>
                </c:pt>
              </c:strCache>
            </c:strRef>
          </c:tx>
          <c:spPr>
            <a:solidFill>
              <a:srgbClr val="C8323C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Meiryo UI"/>
                    <a:ea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お名前（4項目）</c:v>
                  </c:pt>
                  <c:pt idx="1">
                    <c:v>電話番号（3項目）</c:v>
                  </c:pt>
                  <c:pt idx="2">
                    <c:v>年齢（2項目）</c:v>
                  </c:pt>
                  <c:pt idx="3">
                    <c:v>性別（2項目）</c:v>
                  </c:pt>
                  <c:pt idx="4">
                    <c:v>メールアドレス</c:v>
                  </c:pt>
                  <c:pt idx="5">
                    <c:v>搭乗者の件数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18</c:v>
                </c:pt>
                <c:pt idx="2">
                  <c:v>13</c:v>
                </c:pt>
                <c:pt idx="3">
                  <c:v>11</c:v>
                </c:pt>
                <c:pt idx="4">
                  <c:v>9</c:v>
                </c:pt>
                <c:pt idx="5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ルール違反（409）</c:v>
                </c:pt>
              </c:strCache>
            </c:strRef>
          </c:tx>
          <c:spPr>
            <a:solidFill>
              <a:srgbClr val="6A4C9C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Meiryo UI"/>
                    <a:ea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お名前（4項目）</c:v>
                  </c:pt>
                  <c:pt idx="1">
                    <c:v>電話番号（3項目）</c:v>
                  </c:pt>
                  <c:pt idx="2">
                    <c:v>年齢（2項目）</c:v>
                  </c:pt>
                  <c:pt idx="3">
                    <c:v>性別（2項目）</c:v>
                  </c:pt>
                  <c:pt idx="4">
                    <c:v>メールアドレス</c:v>
                  </c:pt>
                  <c:pt idx="5">
                    <c:v>搭乗者の件数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Meiryo UI"/>
                  <a:ea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Meiryo UI"/>
                <a:ea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083"/>
                </a:solidFill>
                <a:latin typeface="Meiryo UI"/>
                <a:ea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eiryo UI"/>
              <a:ea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テスト条件一覧（reservation-api-test-conditions.md）を、入力画面のイメージに置き換えて説明する資料です。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同値分割で「グループの代表」を、境界値分析で「グループの境目」を選ぶ。ステータスコードは 201＝正常、400＝入力バリデーション違反、409＝ビジネスルール違反。入力バリデーションが先に判定される。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番号①〜⑥が、以降のスライドの項目に対応する。画面では入力欄やラジオボタンになっているが、APIにはどんな値でも直接送れるため、画面で選べない値もテストする。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入力バリデーションが先に判定されるため、-18 は18歳未満でも 409 ではなく 400。搭乗者の17歳は、代表者向けのルールが搭乗者に誤って適用されていないかを確かめるテスト。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チケット予約API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入力チェックのテスト観点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画面イメージで見る 同値分割・境界値分析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予約代表者情報 8項目 ＋ 搭乗者情報 4項目 ／ テスト条件 134件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テストの考え方：グループに分けて、境目を狙う</a:t>
            </a:r>
            <a:endParaRPr lang="en-US" sz="2800" dirty="0"/>
          </a:p>
        </p:txBody>
      </p:sp>
      <p:sp>
        <p:nvSpPr>
          <p:cNvPr id="3" name="concept-1"/>
          <p:cNvSpPr/>
          <p:nvPr/>
        </p:nvSpPr>
        <p:spPr>
          <a:xfrm>
            <a:off x="548640" y="1280160"/>
            <a:ext cx="53949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分</a:t>
            </a:r>
            <a:endParaRPr lang="en-US" sz="2200" dirty="0"/>
          </a:p>
        </p:txBody>
      </p:sp>
      <p:sp>
        <p:nvSpPr>
          <p:cNvPr id="5" name="text-3"/>
          <p:cNvSpPr txBox="1"/>
          <p:nvPr/>
        </p:nvSpPr>
        <p:spPr>
          <a:xfrm>
            <a:off x="1691640" y="1481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同値分割</a:t>
            </a:r>
            <a:endParaRPr lang="en-US" sz="2000" dirty="0"/>
          </a:p>
        </p:txBody>
      </p:sp>
      <p:sp>
        <p:nvSpPr>
          <p:cNvPr id="6" name="text-4"/>
          <p:cNvSpPr txBox="1"/>
          <p:nvPr/>
        </p:nvSpPr>
        <p:spPr>
          <a:xfrm>
            <a:off x="1691640" y="1965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同じ結果になる値を1つのグループにまとめ、各グループから代表値を1つだけ試す。全部の値を試さなくて済む。</a:t>
            </a:r>
            <a:endParaRPr lang="en-US" sz="1400" dirty="0"/>
          </a:p>
        </p:txBody>
      </p:sp>
      <p:sp>
        <p:nvSpPr>
          <p:cNvPr id="7" name="concept-5"/>
          <p:cNvSpPr/>
          <p:nvPr/>
        </p:nvSpPr>
        <p:spPr>
          <a:xfrm>
            <a:off x="6217920" y="1280160"/>
            <a:ext cx="53949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-6"/>
          <p:cNvSpPr/>
          <p:nvPr/>
        </p:nvSpPr>
        <p:spPr>
          <a:xfrm>
            <a:off x="6492240" y="155448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境</a:t>
            </a:r>
            <a:endParaRPr lang="en-US" sz="2200" dirty="0"/>
          </a:p>
        </p:txBody>
      </p:sp>
      <p:sp>
        <p:nvSpPr>
          <p:cNvPr id="9" name="text-7"/>
          <p:cNvSpPr txBox="1"/>
          <p:nvPr/>
        </p:nvSpPr>
        <p:spPr>
          <a:xfrm>
            <a:off x="7360920" y="1481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境界値分析</a:t>
            </a:r>
            <a:endParaRPr lang="en-US" sz="2000" dirty="0"/>
          </a:p>
        </p:txBody>
      </p:sp>
      <p:sp>
        <p:nvSpPr>
          <p:cNvPr id="10" name="text-8"/>
          <p:cNvSpPr txBox="1"/>
          <p:nvPr/>
        </p:nvSpPr>
        <p:spPr>
          <a:xfrm>
            <a:off x="7360920" y="1965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バグはグループの「境目」に出やすい。最小・最大の値と、その1つ外側の値を重点的に試す。</a:t>
            </a:r>
            <a:endParaRPr lang="en-US" sz="1400" dirty="0"/>
          </a:p>
        </p:txBody>
      </p:sp>
      <p:sp>
        <p:nvSpPr>
          <p:cNvPr id="11" name="text-9"/>
          <p:cNvSpPr txBox="1"/>
          <p:nvPr/>
        </p:nvSpPr>
        <p:spPr>
          <a:xfrm>
            <a:off x="548640" y="3063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例：予約代表者の年齢（18歳以上で予約できる）</a:t>
            </a:r>
            <a:endParaRPr lang="en-US" sz="1600" dirty="0"/>
          </a:p>
        </p:txBody>
      </p:sp>
      <p:sp>
        <p:nvSpPr>
          <p:cNvPr id="12" name="seg-10"/>
          <p:cNvSpPr/>
          <p:nvPr/>
        </p:nvSpPr>
        <p:spPr>
          <a:xfrm>
            <a:off x="548640" y="3520440"/>
            <a:ext cx="4978908" cy="502920"/>
          </a:xfrm>
          <a:prstGeom prst="rect">
            <a:avLst/>
          </a:prstGeom>
          <a:solidFill>
            <a:schemeClr val="accent6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0〜17歳 → ルール違反で予約できない</a:t>
            </a:r>
            <a:endParaRPr lang="en-US" sz="1300" dirty="0"/>
          </a:p>
        </p:txBody>
      </p:sp>
      <p:sp>
        <p:nvSpPr>
          <p:cNvPr id="13" name="seg-11"/>
          <p:cNvSpPr/>
          <p:nvPr/>
        </p:nvSpPr>
        <p:spPr>
          <a:xfrm>
            <a:off x="5527548" y="3520440"/>
            <a:ext cx="6085332" cy="5029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18歳以上 → 予約できる</a:t>
            </a:r>
            <a:endParaRPr lang="en-US" sz="1300" dirty="0"/>
          </a:p>
        </p:txBody>
      </p:sp>
      <p:sp>
        <p:nvSpPr>
          <p:cNvPr id="14" name="tick-12"/>
          <p:cNvSpPr/>
          <p:nvPr/>
        </p:nvSpPr>
        <p:spPr>
          <a:xfrm>
            <a:off x="2540203" y="4023360"/>
            <a:ext cx="0" cy="11887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5" name="pin-13"/>
          <p:cNvSpPr/>
          <p:nvPr/>
        </p:nvSpPr>
        <p:spPr>
          <a:xfrm>
            <a:off x="2357323" y="4142232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×</a:t>
            </a:r>
            <a:endParaRPr lang="en-US" sz="1400" dirty="0"/>
          </a:p>
        </p:txBody>
      </p:sp>
      <p:sp>
        <p:nvSpPr>
          <p:cNvPr id="16" name="text-14"/>
          <p:cNvSpPr txBox="1"/>
          <p:nvPr/>
        </p:nvSpPr>
        <p:spPr>
          <a:xfrm>
            <a:off x="1854403" y="4544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</a:t>
            </a:r>
            <a:endParaRPr lang="en-US" sz="1500" dirty="0"/>
          </a:p>
        </p:txBody>
      </p:sp>
      <p:sp>
        <p:nvSpPr>
          <p:cNvPr id="17" name="text-15"/>
          <p:cNvSpPr txBox="1"/>
          <p:nvPr/>
        </p:nvSpPr>
        <p:spPr>
          <a:xfrm>
            <a:off x="1625803" y="4837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代表値（同値分割）</a:t>
            </a:r>
            <a:endParaRPr lang="en-US" sz="1100" dirty="0"/>
          </a:p>
        </p:txBody>
      </p:sp>
      <p:sp>
        <p:nvSpPr>
          <p:cNvPr id="18" name="tick-16"/>
          <p:cNvSpPr/>
          <p:nvPr/>
        </p:nvSpPr>
        <p:spPr>
          <a:xfrm>
            <a:off x="4974336" y="4023360"/>
            <a:ext cx="0" cy="11887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9" name="pin-17"/>
          <p:cNvSpPr/>
          <p:nvPr/>
        </p:nvSpPr>
        <p:spPr>
          <a:xfrm>
            <a:off x="4791456" y="4142232"/>
            <a:ext cx="365760" cy="36576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20" name="text-18"/>
          <p:cNvSpPr txBox="1"/>
          <p:nvPr/>
        </p:nvSpPr>
        <p:spPr>
          <a:xfrm>
            <a:off x="4288536" y="4544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17</a:t>
            </a:r>
            <a:endParaRPr lang="en-US" sz="1500" dirty="0"/>
          </a:p>
        </p:txBody>
      </p:sp>
      <p:sp>
        <p:nvSpPr>
          <p:cNvPr id="21" name="text-19"/>
          <p:cNvSpPr txBox="1"/>
          <p:nvPr/>
        </p:nvSpPr>
        <p:spPr>
          <a:xfrm>
            <a:off x="4059936" y="4837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境界値</a:t>
            </a:r>
            <a:endParaRPr lang="en-US" sz="1100" dirty="0"/>
          </a:p>
        </p:txBody>
      </p:sp>
      <p:sp>
        <p:nvSpPr>
          <p:cNvPr id="22" name="tick-20"/>
          <p:cNvSpPr/>
          <p:nvPr/>
        </p:nvSpPr>
        <p:spPr>
          <a:xfrm>
            <a:off x="6080760" y="402336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3" name="pin-21"/>
          <p:cNvSpPr/>
          <p:nvPr/>
        </p:nvSpPr>
        <p:spPr>
          <a:xfrm>
            <a:off x="5897880" y="414223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24" name="text-22"/>
          <p:cNvSpPr txBox="1"/>
          <p:nvPr/>
        </p:nvSpPr>
        <p:spPr>
          <a:xfrm>
            <a:off x="5394960" y="4544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18</a:t>
            </a:r>
            <a:endParaRPr lang="en-US" sz="1500" dirty="0"/>
          </a:p>
        </p:txBody>
      </p:sp>
      <p:sp>
        <p:nvSpPr>
          <p:cNvPr id="25" name="text-23"/>
          <p:cNvSpPr txBox="1"/>
          <p:nvPr/>
        </p:nvSpPr>
        <p:spPr>
          <a:xfrm>
            <a:off x="5166360" y="4837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境界値</a:t>
            </a:r>
            <a:endParaRPr lang="en-US" sz="1100" dirty="0"/>
          </a:p>
        </p:txBody>
      </p:sp>
      <p:sp>
        <p:nvSpPr>
          <p:cNvPr id="26" name="tick-24"/>
          <p:cNvSpPr/>
          <p:nvPr/>
        </p:nvSpPr>
        <p:spPr>
          <a:xfrm>
            <a:off x="9178747" y="402336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7" name="pin-25"/>
          <p:cNvSpPr/>
          <p:nvPr/>
        </p:nvSpPr>
        <p:spPr>
          <a:xfrm>
            <a:off x="8995867" y="4142232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-26"/>
          <p:cNvSpPr txBox="1"/>
          <p:nvPr/>
        </p:nvSpPr>
        <p:spPr>
          <a:xfrm>
            <a:off x="8492947" y="4544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40</a:t>
            </a:r>
            <a:endParaRPr lang="en-US" sz="1500" dirty="0"/>
          </a:p>
        </p:txBody>
      </p:sp>
      <p:sp>
        <p:nvSpPr>
          <p:cNvPr id="29" name="text-27"/>
          <p:cNvSpPr txBox="1"/>
          <p:nvPr/>
        </p:nvSpPr>
        <p:spPr>
          <a:xfrm>
            <a:off x="8264347" y="4837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代表値（同値分割）</a:t>
            </a:r>
            <a:endParaRPr lang="en-US" sz="1100" dirty="0"/>
          </a:p>
        </p:txBody>
      </p:sp>
      <p:sp>
        <p:nvSpPr>
          <p:cNvPr id="30" name="chip-28"/>
          <p:cNvSpPr/>
          <p:nvPr/>
        </p:nvSpPr>
        <p:spPr>
          <a:xfrm>
            <a:off x="548640" y="5349240"/>
            <a:ext cx="77724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201</a:t>
            </a:r>
            <a:endParaRPr lang="en-US" sz="1400" dirty="0"/>
          </a:p>
        </p:txBody>
      </p:sp>
      <p:sp>
        <p:nvSpPr>
          <p:cNvPr id="31" name="text-29"/>
          <p:cNvSpPr txBox="1"/>
          <p:nvPr/>
        </p:nvSpPr>
        <p:spPr>
          <a:xfrm>
            <a:off x="146304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正常（予約が作成される）</a:t>
            </a:r>
            <a:endParaRPr lang="en-US" sz="1400" dirty="0"/>
          </a:p>
        </p:txBody>
      </p:sp>
      <p:sp>
        <p:nvSpPr>
          <p:cNvPr id="32" name="chip-30"/>
          <p:cNvSpPr/>
          <p:nvPr/>
        </p:nvSpPr>
        <p:spPr>
          <a:xfrm>
            <a:off x="548640" y="5806440"/>
            <a:ext cx="77724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33" name="text-31"/>
          <p:cNvSpPr txBox="1"/>
          <p:nvPr/>
        </p:nvSpPr>
        <p:spPr>
          <a:xfrm>
            <a:off x="146304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入力エラー（必須・文字種・桁数・形式・型）</a:t>
            </a:r>
            <a:endParaRPr lang="en-US" sz="1400" dirty="0"/>
          </a:p>
        </p:txBody>
      </p:sp>
      <p:sp>
        <p:nvSpPr>
          <p:cNvPr id="34" name="chip-32"/>
          <p:cNvSpPr/>
          <p:nvPr/>
        </p:nvSpPr>
        <p:spPr>
          <a:xfrm>
            <a:off x="548640" y="6263640"/>
            <a:ext cx="77724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409</a:t>
            </a:r>
            <a:endParaRPr lang="en-US" sz="1400" dirty="0"/>
          </a:p>
        </p:txBody>
      </p:sp>
      <p:sp>
        <p:nvSpPr>
          <p:cNvPr id="35" name="text-33"/>
          <p:cNvSpPr txBox="1"/>
          <p:nvPr/>
        </p:nvSpPr>
        <p:spPr>
          <a:xfrm>
            <a:off x="1463040" y="6263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ビジネスルール違反（代表者が18歳未満）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予約入力画面と、各項目の入力ルール</a:t>
            </a:r>
            <a:endParaRPr lang="en-US" sz="2800" dirty="0"/>
          </a:p>
        </p:txBody>
      </p:sp>
      <p:sp>
        <p:nvSpPr>
          <p:cNvPr id="3" name="window-34"/>
          <p:cNvSpPr/>
          <p:nvPr/>
        </p:nvSpPr>
        <p:spPr>
          <a:xfrm>
            <a:off x="548640" y="1234440"/>
            <a:ext cx="6035040" cy="5303520"/>
          </a:xfrm>
          <a:prstGeom prst="roundRect">
            <a:avLst>
              <a:gd name="adj" fmla="val 172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itlebar-35"/>
          <p:cNvSpPr/>
          <p:nvPr/>
        </p:nvSpPr>
        <p:spPr>
          <a:xfrm>
            <a:off x="557784" y="1243584"/>
            <a:ext cx="6016752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itlebar-36"/>
          <p:cNvSpPr/>
          <p:nvPr/>
        </p:nvSpPr>
        <p:spPr>
          <a:xfrm>
            <a:off x="557784" y="1463040"/>
            <a:ext cx="6016752" cy="1645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ot-37"/>
          <p:cNvSpPr/>
          <p:nvPr/>
        </p:nvSpPr>
        <p:spPr>
          <a:xfrm>
            <a:off x="713232" y="137160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dot-38"/>
          <p:cNvSpPr/>
          <p:nvPr/>
        </p:nvSpPr>
        <p:spPr>
          <a:xfrm>
            <a:off x="914400" y="137160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ot-39"/>
          <p:cNvSpPr/>
          <p:nvPr/>
        </p:nvSpPr>
        <p:spPr>
          <a:xfrm>
            <a:off x="1115568" y="1371600"/>
            <a:ext cx="118872" cy="1188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-40"/>
          <p:cNvSpPr txBox="1"/>
          <p:nvPr/>
        </p:nvSpPr>
        <p:spPr>
          <a:xfrm>
            <a:off x="1371600" y="12435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チケット予約 ｜ 予約情報の入力</a:t>
            </a:r>
            <a:endParaRPr lang="en-US" sz="1100" dirty="0"/>
          </a:p>
        </p:txBody>
      </p:sp>
      <p:sp>
        <p:nvSpPr>
          <p:cNvPr id="10" name="text-41"/>
          <p:cNvSpPr txBox="1"/>
          <p:nvPr/>
        </p:nvSpPr>
        <p:spPr>
          <a:xfrm>
            <a:off x="82296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予約代表者情報</a:t>
            </a:r>
            <a:endParaRPr lang="en-US" sz="1400" dirty="0"/>
          </a:p>
        </p:txBody>
      </p:sp>
      <p:sp>
        <p:nvSpPr>
          <p:cNvPr id="11" name="badge-42"/>
          <p:cNvSpPr/>
          <p:nvPr/>
        </p:nvSpPr>
        <p:spPr>
          <a:xfrm>
            <a:off x="822960" y="2103120"/>
            <a:ext cx="274320" cy="2743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-43"/>
          <p:cNvSpPr txBox="1"/>
          <p:nvPr/>
        </p:nvSpPr>
        <p:spPr>
          <a:xfrm>
            <a:off x="1170432" y="210312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お名前（セイ）</a:t>
            </a:r>
            <a:endParaRPr lang="en-US" sz="1100" dirty="0"/>
          </a:p>
        </p:txBody>
      </p:sp>
      <p:sp>
        <p:nvSpPr>
          <p:cNvPr id="13" name="input-44"/>
          <p:cNvSpPr/>
          <p:nvPr/>
        </p:nvSpPr>
        <p:spPr>
          <a:xfrm>
            <a:off x="822960" y="2432304"/>
            <a:ext cx="2651760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-45"/>
          <p:cNvSpPr txBox="1"/>
          <p:nvPr/>
        </p:nvSpPr>
        <p:spPr>
          <a:xfrm>
            <a:off x="914400" y="24323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ヤマダ</a:t>
            </a:r>
            <a:endParaRPr lang="en-US" sz="1300" dirty="0"/>
          </a:p>
        </p:txBody>
      </p:sp>
      <p:sp>
        <p:nvSpPr>
          <p:cNvPr id="15" name="badge-46"/>
          <p:cNvSpPr/>
          <p:nvPr/>
        </p:nvSpPr>
        <p:spPr>
          <a:xfrm>
            <a:off x="3611880" y="2103120"/>
            <a:ext cx="274320" cy="2743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-47"/>
          <p:cNvSpPr txBox="1"/>
          <p:nvPr/>
        </p:nvSpPr>
        <p:spPr>
          <a:xfrm>
            <a:off x="3959352" y="210312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お名前（メイ）</a:t>
            </a:r>
            <a:endParaRPr lang="en-US" sz="1100" dirty="0"/>
          </a:p>
        </p:txBody>
      </p:sp>
      <p:sp>
        <p:nvSpPr>
          <p:cNvPr id="17" name="input-48"/>
          <p:cNvSpPr/>
          <p:nvPr/>
        </p:nvSpPr>
        <p:spPr>
          <a:xfrm>
            <a:off x="3611880" y="2432304"/>
            <a:ext cx="2697480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-49"/>
          <p:cNvSpPr txBox="1"/>
          <p:nvPr/>
        </p:nvSpPr>
        <p:spPr>
          <a:xfrm>
            <a:off x="3703320" y="24323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タロウ</a:t>
            </a:r>
            <a:endParaRPr lang="en-US" sz="1300" dirty="0"/>
          </a:p>
        </p:txBody>
      </p:sp>
      <p:sp>
        <p:nvSpPr>
          <p:cNvPr id="19" name="badge-50"/>
          <p:cNvSpPr/>
          <p:nvPr/>
        </p:nvSpPr>
        <p:spPr>
          <a:xfrm>
            <a:off x="822960" y="2880360"/>
            <a:ext cx="274320" cy="2743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-51"/>
          <p:cNvSpPr txBox="1"/>
          <p:nvPr/>
        </p:nvSpPr>
        <p:spPr>
          <a:xfrm>
            <a:off x="1170432" y="288036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年齢</a:t>
            </a:r>
            <a:endParaRPr lang="en-US" sz="1100" dirty="0"/>
          </a:p>
        </p:txBody>
      </p:sp>
      <p:sp>
        <p:nvSpPr>
          <p:cNvPr id="21" name="input-52"/>
          <p:cNvSpPr/>
          <p:nvPr/>
        </p:nvSpPr>
        <p:spPr>
          <a:xfrm>
            <a:off x="822960" y="3209544"/>
            <a:ext cx="1280160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-53"/>
          <p:cNvSpPr txBox="1"/>
          <p:nvPr/>
        </p:nvSpPr>
        <p:spPr>
          <a:xfrm>
            <a:off x="914400" y="320954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30</a:t>
            </a:r>
            <a:endParaRPr lang="en-US" sz="1300" dirty="0"/>
          </a:p>
        </p:txBody>
      </p:sp>
      <p:sp>
        <p:nvSpPr>
          <p:cNvPr id="23" name="badge-54"/>
          <p:cNvSpPr/>
          <p:nvPr/>
        </p:nvSpPr>
        <p:spPr>
          <a:xfrm>
            <a:off x="2377440" y="2880360"/>
            <a:ext cx="274320" cy="2743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-55"/>
          <p:cNvSpPr txBox="1"/>
          <p:nvPr/>
        </p:nvSpPr>
        <p:spPr>
          <a:xfrm>
            <a:off x="2724912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性別</a:t>
            </a:r>
            <a:endParaRPr lang="en-US" sz="1100" dirty="0"/>
          </a:p>
        </p:txBody>
      </p:sp>
      <p:sp>
        <p:nvSpPr>
          <p:cNvPr id="25" name="radio-56"/>
          <p:cNvSpPr/>
          <p:nvPr/>
        </p:nvSpPr>
        <p:spPr>
          <a:xfrm>
            <a:off x="2423160" y="3337560"/>
            <a:ext cx="182880" cy="1828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-57"/>
          <p:cNvSpPr txBox="1"/>
          <p:nvPr/>
        </p:nvSpPr>
        <p:spPr>
          <a:xfrm>
            <a:off x="2670048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男性（M）</a:t>
            </a:r>
            <a:endParaRPr lang="en-US" sz="1300" dirty="0"/>
          </a:p>
        </p:txBody>
      </p:sp>
      <p:sp>
        <p:nvSpPr>
          <p:cNvPr id="27" name="radio-58"/>
          <p:cNvSpPr/>
          <p:nvPr/>
        </p:nvSpPr>
        <p:spPr>
          <a:xfrm>
            <a:off x="3886200" y="3337560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-59"/>
          <p:cNvSpPr txBox="1"/>
          <p:nvPr/>
        </p:nvSpPr>
        <p:spPr>
          <a:xfrm>
            <a:off x="4133088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女性（F）</a:t>
            </a:r>
            <a:endParaRPr lang="en-US" sz="1300" dirty="0"/>
          </a:p>
        </p:txBody>
      </p:sp>
      <p:sp>
        <p:nvSpPr>
          <p:cNvPr id="29" name="badge-60"/>
          <p:cNvSpPr/>
          <p:nvPr/>
        </p:nvSpPr>
        <p:spPr>
          <a:xfrm>
            <a:off x="822960" y="3657600"/>
            <a:ext cx="274320" cy="2743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-61"/>
          <p:cNvSpPr txBox="1"/>
          <p:nvPr/>
        </p:nvSpPr>
        <p:spPr>
          <a:xfrm>
            <a:off x="117043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電話番号</a:t>
            </a:r>
            <a:endParaRPr lang="en-US" sz="1100" dirty="0"/>
          </a:p>
        </p:txBody>
      </p:sp>
      <p:sp>
        <p:nvSpPr>
          <p:cNvPr id="31" name="input-62"/>
          <p:cNvSpPr/>
          <p:nvPr/>
        </p:nvSpPr>
        <p:spPr>
          <a:xfrm>
            <a:off x="822960" y="3986784"/>
            <a:ext cx="914400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-63"/>
          <p:cNvSpPr txBox="1"/>
          <p:nvPr/>
        </p:nvSpPr>
        <p:spPr>
          <a:xfrm>
            <a:off x="914400" y="39867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33" name="text-64"/>
          <p:cNvSpPr txBox="1"/>
          <p:nvPr/>
        </p:nvSpPr>
        <p:spPr>
          <a:xfrm>
            <a:off x="1737360" y="398678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－</a:t>
            </a:r>
            <a:endParaRPr lang="en-US" sz="1300" dirty="0"/>
          </a:p>
        </p:txBody>
      </p:sp>
      <p:sp>
        <p:nvSpPr>
          <p:cNvPr id="34" name="input-65"/>
          <p:cNvSpPr/>
          <p:nvPr/>
        </p:nvSpPr>
        <p:spPr>
          <a:xfrm>
            <a:off x="2011680" y="3986784"/>
            <a:ext cx="1097280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-66"/>
          <p:cNvSpPr txBox="1"/>
          <p:nvPr/>
        </p:nvSpPr>
        <p:spPr>
          <a:xfrm>
            <a:off x="2103120" y="398678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1234</a:t>
            </a:r>
            <a:endParaRPr lang="en-US" sz="1300" dirty="0"/>
          </a:p>
        </p:txBody>
      </p:sp>
      <p:sp>
        <p:nvSpPr>
          <p:cNvPr id="36" name="text-67"/>
          <p:cNvSpPr txBox="1"/>
          <p:nvPr/>
        </p:nvSpPr>
        <p:spPr>
          <a:xfrm>
            <a:off x="3108960" y="398678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－</a:t>
            </a:r>
            <a:endParaRPr lang="en-US" sz="1300" dirty="0"/>
          </a:p>
        </p:txBody>
      </p:sp>
      <p:sp>
        <p:nvSpPr>
          <p:cNvPr id="37" name="input-68"/>
          <p:cNvSpPr/>
          <p:nvPr/>
        </p:nvSpPr>
        <p:spPr>
          <a:xfrm>
            <a:off x="3383280" y="3986784"/>
            <a:ext cx="1097280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-69"/>
          <p:cNvSpPr txBox="1"/>
          <p:nvPr/>
        </p:nvSpPr>
        <p:spPr>
          <a:xfrm>
            <a:off x="3474720" y="398678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5678</a:t>
            </a:r>
            <a:endParaRPr lang="en-US" sz="1300" dirty="0"/>
          </a:p>
        </p:txBody>
      </p:sp>
      <p:sp>
        <p:nvSpPr>
          <p:cNvPr id="39" name="badge-70"/>
          <p:cNvSpPr/>
          <p:nvPr/>
        </p:nvSpPr>
        <p:spPr>
          <a:xfrm>
            <a:off x="822960" y="4434840"/>
            <a:ext cx="274320" cy="2743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text-71"/>
          <p:cNvSpPr txBox="1"/>
          <p:nvPr/>
        </p:nvSpPr>
        <p:spPr>
          <a:xfrm>
            <a:off x="1170432" y="443484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メールアドレス</a:t>
            </a:r>
            <a:endParaRPr lang="en-US" sz="1100" dirty="0"/>
          </a:p>
        </p:txBody>
      </p:sp>
      <p:sp>
        <p:nvSpPr>
          <p:cNvPr id="41" name="input-72"/>
          <p:cNvSpPr/>
          <p:nvPr/>
        </p:nvSpPr>
        <p:spPr>
          <a:xfrm>
            <a:off x="822960" y="4764024"/>
            <a:ext cx="5486400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-73"/>
          <p:cNvSpPr txBox="1"/>
          <p:nvPr/>
        </p:nvSpPr>
        <p:spPr>
          <a:xfrm>
            <a:off x="914400" y="476402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taro@example.com</a:t>
            </a:r>
            <a:endParaRPr lang="en-US" sz="1300" dirty="0"/>
          </a:p>
        </p:txBody>
      </p:sp>
      <p:sp>
        <p:nvSpPr>
          <p:cNvPr id="43" name="badge-74"/>
          <p:cNvSpPr/>
          <p:nvPr/>
        </p:nvSpPr>
        <p:spPr>
          <a:xfrm>
            <a:off x="822960" y="5257800"/>
            <a:ext cx="274320" cy="2743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4" name="text-75"/>
          <p:cNvSpPr txBox="1"/>
          <p:nvPr/>
        </p:nvSpPr>
        <p:spPr>
          <a:xfrm>
            <a:off x="1170432" y="5230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搭乗者情報</a:t>
            </a:r>
            <a:endParaRPr lang="en-US" sz="1400" dirty="0"/>
          </a:p>
        </p:txBody>
      </p:sp>
      <p:sp>
        <p:nvSpPr>
          <p:cNvPr id="45" name="text-76"/>
          <p:cNvSpPr txBox="1"/>
          <p:nvPr/>
        </p:nvSpPr>
        <p:spPr>
          <a:xfrm>
            <a:off x="4754880" y="5230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＋ 搭乗者を追加</a:t>
            </a:r>
            <a:endParaRPr lang="en-US" sz="1100" dirty="0"/>
          </a:p>
        </p:txBody>
      </p:sp>
      <p:sp>
        <p:nvSpPr>
          <p:cNvPr id="46" name="pax-77"/>
          <p:cNvSpPr/>
          <p:nvPr/>
        </p:nvSpPr>
        <p:spPr>
          <a:xfrm>
            <a:off x="822960" y="5596128"/>
            <a:ext cx="365760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text-78"/>
          <p:cNvSpPr txBox="1"/>
          <p:nvPr/>
        </p:nvSpPr>
        <p:spPr>
          <a:xfrm>
            <a:off x="960120" y="5596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搭乗者1：スズキ ハナコ ／ 10歳 ／ F</a:t>
            </a:r>
            <a:endParaRPr lang="en-US" sz="1200" dirty="0"/>
          </a:p>
        </p:txBody>
      </p:sp>
      <p:sp>
        <p:nvSpPr>
          <p:cNvPr id="48" name="button-79"/>
          <p:cNvSpPr/>
          <p:nvPr/>
        </p:nvSpPr>
        <p:spPr>
          <a:xfrm>
            <a:off x="4663440" y="5596128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予約する</a:t>
            </a:r>
            <a:endParaRPr lang="en-US" sz="1400" dirty="0"/>
          </a:p>
        </p:txBody>
      </p:sp>
      <p:sp>
        <p:nvSpPr>
          <p:cNvPr id="49" name="badge-80"/>
          <p:cNvSpPr/>
          <p:nvPr/>
        </p:nvSpPr>
        <p:spPr>
          <a:xfrm>
            <a:off x="6949440" y="138988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0" name="text-81"/>
          <p:cNvSpPr txBox="1"/>
          <p:nvPr/>
        </p:nvSpPr>
        <p:spPr>
          <a:xfrm>
            <a:off x="7498080" y="12801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お名前（セイ・メイ）</a:t>
            </a:r>
            <a:endParaRPr lang="en-US" sz="1500" dirty="0"/>
          </a:p>
        </p:txBody>
      </p:sp>
      <p:sp>
        <p:nvSpPr>
          <p:cNvPr id="51" name="text-82"/>
          <p:cNvSpPr txBox="1"/>
          <p:nvPr/>
        </p:nvSpPr>
        <p:spPr>
          <a:xfrm>
            <a:off x="7498080" y="16276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全角カタカナ（ー・ヴ・ァ も可）1〜10文字</a:t>
            </a:r>
            <a:endParaRPr lang="en-US" sz="1300" dirty="0"/>
          </a:p>
        </p:txBody>
      </p:sp>
      <p:sp>
        <p:nvSpPr>
          <p:cNvPr id="52" name="badge-83"/>
          <p:cNvSpPr/>
          <p:nvPr/>
        </p:nvSpPr>
        <p:spPr>
          <a:xfrm>
            <a:off x="6949440" y="219456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53" name="text-84"/>
          <p:cNvSpPr txBox="1"/>
          <p:nvPr/>
        </p:nvSpPr>
        <p:spPr>
          <a:xfrm>
            <a:off x="7498080" y="2084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年齢</a:t>
            </a:r>
            <a:endParaRPr lang="en-US" sz="1500" dirty="0"/>
          </a:p>
        </p:txBody>
      </p:sp>
      <p:sp>
        <p:nvSpPr>
          <p:cNvPr id="54" name="text-85"/>
          <p:cNvSpPr txBox="1"/>
          <p:nvPr/>
        </p:nvSpPr>
        <p:spPr>
          <a:xfrm>
            <a:off x="7498080" y="243230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数値型の半角数字 1〜3桁 ／ 代表者は18歳以上</a:t>
            </a:r>
            <a:endParaRPr lang="en-US" sz="1300" dirty="0"/>
          </a:p>
        </p:txBody>
      </p:sp>
      <p:sp>
        <p:nvSpPr>
          <p:cNvPr id="55" name="badge-86"/>
          <p:cNvSpPr/>
          <p:nvPr/>
        </p:nvSpPr>
        <p:spPr>
          <a:xfrm>
            <a:off x="6949440" y="2999232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56" name="text-87"/>
          <p:cNvSpPr txBox="1"/>
          <p:nvPr/>
        </p:nvSpPr>
        <p:spPr>
          <a:xfrm>
            <a:off x="7498080" y="288950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性別</a:t>
            </a:r>
            <a:endParaRPr lang="en-US" sz="1500" dirty="0"/>
          </a:p>
        </p:txBody>
      </p:sp>
      <p:sp>
        <p:nvSpPr>
          <p:cNvPr id="57" name="text-88"/>
          <p:cNvSpPr txBox="1"/>
          <p:nvPr/>
        </p:nvSpPr>
        <p:spPr>
          <a:xfrm>
            <a:off x="7498080" y="32369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M（男性）か F（女性）のどちらか</a:t>
            </a:r>
            <a:endParaRPr lang="en-US" sz="1300" dirty="0"/>
          </a:p>
        </p:txBody>
      </p:sp>
      <p:sp>
        <p:nvSpPr>
          <p:cNvPr id="58" name="badge-89"/>
          <p:cNvSpPr/>
          <p:nvPr/>
        </p:nvSpPr>
        <p:spPr>
          <a:xfrm>
            <a:off x="6949440" y="3803904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59" name="text-90"/>
          <p:cNvSpPr txBox="1"/>
          <p:nvPr/>
        </p:nvSpPr>
        <p:spPr>
          <a:xfrm>
            <a:off x="7498080" y="36941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電話番号 1・2・3</a:t>
            </a:r>
            <a:endParaRPr lang="en-US" sz="1500" dirty="0"/>
          </a:p>
        </p:txBody>
      </p:sp>
      <p:sp>
        <p:nvSpPr>
          <p:cNvPr id="60" name="text-91"/>
          <p:cNvSpPr txBox="1"/>
          <p:nvPr/>
        </p:nvSpPr>
        <p:spPr>
          <a:xfrm>
            <a:off x="7498080" y="40416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半角数字　2〜5 ／ 1〜4 ／ 4文字固定</a:t>
            </a:r>
            <a:endParaRPr lang="en-US" sz="1300" dirty="0"/>
          </a:p>
        </p:txBody>
      </p:sp>
      <p:sp>
        <p:nvSpPr>
          <p:cNvPr id="61" name="badge-92"/>
          <p:cNvSpPr/>
          <p:nvPr/>
        </p:nvSpPr>
        <p:spPr>
          <a:xfrm>
            <a:off x="6949440" y="4608576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62" name="text-93"/>
          <p:cNvSpPr txBox="1"/>
          <p:nvPr/>
        </p:nvSpPr>
        <p:spPr>
          <a:xfrm>
            <a:off x="7498080" y="44988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メールアドレス</a:t>
            </a:r>
            <a:endParaRPr lang="en-US" sz="1500" dirty="0"/>
          </a:p>
        </p:txBody>
      </p:sp>
      <p:sp>
        <p:nvSpPr>
          <p:cNvPr id="63" name="text-94"/>
          <p:cNvSpPr txBox="1"/>
          <p:nvPr/>
        </p:nvSpPr>
        <p:spPr>
          <a:xfrm>
            <a:off x="7498080" y="48463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メールアドレス形式　1〜256文字</a:t>
            </a:r>
            <a:endParaRPr lang="en-US" sz="1300" dirty="0"/>
          </a:p>
        </p:txBody>
      </p:sp>
      <p:sp>
        <p:nvSpPr>
          <p:cNvPr id="64" name="badge-95"/>
          <p:cNvSpPr/>
          <p:nvPr/>
        </p:nvSpPr>
        <p:spPr>
          <a:xfrm>
            <a:off x="6949440" y="5413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65" name="text-96"/>
          <p:cNvSpPr txBox="1"/>
          <p:nvPr/>
        </p:nvSpPr>
        <p:spPr>
          <a:xfrm>
            <a:off x="7498080" y="53035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搭乗者情報</a:t>
            </a:r>
            <a:endParaRPr lang="en-US" sz="1500" dirty="0"/>
          </a:p>
        </p:txBody>
      </p:sp>
      <p:sp>
        <p:nvSpPr>
          <p:cNvPr id="66" name="text-97"/>
          <p:cNvSpPr txBox="1"/>
          <p:nvPr/>
        </p:nvSpPr>
        <p:spPr>
          <a:xfrm>
            <a:off x="7498080" y="5650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1件以上（各搭乗者に①〜③を入力）</a:t>
            </a:r>
            <a:endParaRPr lang="en-US" sz="1300" dirty="0"/>
          </a:p>
        </p:txBody>
      </p:sp>
      <p:sp>
        <p:nvSpPr>
          <p:cNvPr id="67" name="text-98"/>
          <p:cNvSpPr txBox="1"/>
          <p:nvPr/>
        </p:nvSpPr>
        <p:spPr>
          <a:xfrm>
            <a:off x="6949440" y="6080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すべて必須項目。搭乗者の①〜③も同じルール（18歳以上のルールは代表者だけ）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① お名前（セイ・メイ）：1〜10文字の全角カタカナ</a:t>
            </a:r>
            <a:endParaRPr lang="en-US" sz="2800" dirty="0"/>
          </a:p>
        </p:txBody>
      </p:sp>
      <p:sp>
        <p:nvSpPr>
          <p:cNvPr id="3" name="text-99"/>
          <p:cNvSpPr txBox="1"/>
          <p:nvPr/>
        </p:nvSpPr>
        <p:spPr>
          <a:xfrm>
            <a:off x="548640" y="1234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文字数の境目</a:t>
            </a:r>
            <a:endParaRPr lang="en-US" sz="1600" dirty="0"/>
          </a:p>
        </p:txBody>
      </p:sp>
      <p:sp>
        <p:nvSpPr>
          <p:cNvPr id="4" name="seg-100"/>
          <p:cNvSpPr/>
          <p:nvPr/>
        </p:nvSpPr>
        <p:spPr>
          <a:xfrm>
            <a:off x="548640" y="1691640"/>
            <a:ext cx="2212848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0文字（空欄）</a:t>
            </a:r>
            <a:endParaRPr lang="en-US" sz="1300" dirty="0"/>
          </a:p>
        </p:txBody>
      </p:sp>
      <p:sp>
        <p:nvSpPr>
          <p:cNvPr id="5" name="seg-101"/>
          <p:cNvSpPr/>
          <p:nvPr/>
        </p:nvSpPr>
        <p:spPr>
          <a:xfrm>
            <a:off x="2761488" y="1691640"/>
            <a:ext cx="6638544" cy="5029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1〜10文字</a:t>
            </a:r>
            <a:endParaRPr lang="en-US" sz="1300" dirty="0"/>
          </a:p>
        </p:txBody>
      </p:sp>
      <p:sp>
        <p:nvSpPr>
          <p:cNvPr id="6" name="seg-102"/>
          <p:cNvSpPr/>
          <p:nvPr/>
        </p:nvSpPr>
        <p:spPr>
          <a:xfrm>
            <a:off x="9400032" y="1691640"/>
            <a:ext cx="2212848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11文字以上</a:t>
            </a:r>
            <a:endParaRPr lang="en-US" sz="1300" dirty="0"/>
          </a:p>
        </p:txBody>
      </p:sp>
      <p:sp>
        <p:nvSpPr>
          <p:cNvPr id="7" name="tick-103"/>
          <p:cNvSpPr/>
          <p:nvPr/>
        </p:nvSpPr>
        <p:spPr>
          <a:xfrm>
            <a:off x="1655064" y="219456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8" name="pin-104"/>
          <p:cNvSpPr/>
          <p:nvPr/>
        </p:nvSpPr>
        <p:spPr>
          <a:xfrm>
            <a:off x="1472184" y="231343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9" name="text-105"/>
          <p:cNvSpPr txBox="1"/>
          <p:nvPr/>
        </p:nvSpPr>
        <p:spPr>
          <a:xfrm>
            <a:off x="557784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空欄</a:t>
            </a:r>
            <a:endParaRPr lang="en-US" sz="1400" dirty="0"/>
          </a:p>
        </p:txBody>
      </p:sp>
      <p:sp>
        <p:nvSpPr>
          <p:cNvPr id="10" name="text-106"/>
          <p:cNvSpPr txBox="1"/>
          <p:nvPr/>
        </p:nvSpPr>
        <p:spPr>
          <a:xfrm>
            <a:off x="649224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下限−1</a:t>
            </a:r>
            <a:endParaRPr lang="en-US" sz="1100" dirty="0"/>
          </a:p>
        </p:txBody>
      </p:sp>
      <p:sp>
        <p:nvSpPr>
          <p:cNvPr id="11" name="tick-107"/>
          <p:cNvSpPr/>
          <p:nvPr/>
        </p:nvSpPr>
        <p:spPr>
          <a:xfrm>
            <a:off x="3867912" y="219456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2" name="pin-108"/>
          <p:cNvSpPr/>
          <p:nvPr/>
        </p:nvSpPr>
        <p:spPr>
          <a:xfrm>
            <a:off x="3685032" y="231343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13" name="text-109"/>
          <p:cNvSpPr txBox="1"/>
          <p:nvPr/>
        </p:nvSpPr>
        <p:spPr>
          <a:xfrm>
            <a:off x="2770632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ア</a:t>
            </a:r>
            <a:endParaRPr lang="en-US" sz="1400" dirty="0"/>
          </a:p>
        </p:txBody>
      </p:sp>
      <p:sp>
        <p:nvSpPr>
          <p:cNvPr id="14" name="text-110"/>
          <p:cNvSpPr txBox="1"/>
          <p:nvPr/>
        </p:nvSpPr>
        <p:spPr>
          <a:xfrm>
            <a:off x="2862072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下限（1文字）</a:t>
            </a:r>
            <a:endParaRPr lang="en-US" sz="1100" dirty="0"/>
          </a:p>
        </p:txBody>
      </p:sp>
      <p:sp>
        <p:nvSpPr>
          <p:cNvPr id="15" name="tick-111"/>
          <p:cNvSpPr/>
          <p:nvPr/>
        </p:nvSpPr>
        <p:spPr>
          <a:xfrm>
            <a:off x="8293608" y="219456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" name="pin-112"/>
          <p:cNvSpPr/>
          <p:nvPr/>
        </p:nvSpPr>
        <p:spPr>
          <a:xfrm>
            <a:off x="8110728" y="231343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17" name="text-113"/>
          <p:cNvSpPr txBox="1"/>
          <p:nvPr/>
        </p:nvSpPr>
        <p:spPr>
          <a:xfrm>
            <a:off x="7196328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アイウエオカキクケコ</a:t>
            </a:r>
            <a:endParaRPr lang="en-US" sz="1400" dirty="0"/>
          </a:p>
        </p:txBody>
      </p:sp>
      <p:sp>
        <p:nvSpPr>
          <p:cNvPr id="18" name="text-114"/>
          <p:cNvSpPr txBox="1"/>
          <p:nvPr/>
        </p:nvSpPr>
        <p:spPr>
          <a:xfrm>
            <a:off x="7287768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上限（10文字）</a:t>
            </a:r>
            <a:endParaRPr lang="en-US" sz="1100" dirty="0"/>
          </a:p>
        </p:txBody>
      </p:sp>
      <p:sp>
        <p:nvSpPr>
          <p:cNvPr id="19" name="tick-115"/>
          <p:cNvSpPr/>
          <p:nvPr/>
        </p:nvSpPr>
        <p:spPr>
          <a:xfrm>
            <a:off x="10506456" y="219456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0" name="pin-116"/>
          <p:cNvSpPr/>
          <p:nvPr/>
        </p:nvSpPr>
        <p:spPr>
          <a:xfrm>
            <a:off x="10323576" y="231343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21" name="text-117"/>
          <p:cNvSpPr txBox="1"/>
          <p:nvPr/>
        </p:nvSpPr>
        <p:spPr>
          <a:xfrm>
            <a:off x="9409176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アイウエオカキクケコサ</a:t>
            </a:r>
            <a:endParaRPr lang="en-US" sz="1400" dirty="0"/>
          </a:p>
        </p:txBody>
      </p:sp>
      <p:sp>
        <p:nvSpPr>
          <p:cNvPr id="22" name="text-118"/>
          <p:cNvSpPr txBox="1"/>
          <p:nvPr/>
        </p:nvSpPr>
        <p:spPr>
          <a:xfrm>
            <a:off x="9500616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上限+1（11文字）</a:t>
            </a:r>
            <a:endParaRPr lang="en-US" sz="1100" dirty="0"/>
          </a:p>
        </p:txBody>
      </p:sp>
      <p:sp>
        <p:nvSpPr>
          <p:cNvPr id="23" name="text-119"/>
          <p:cNvSpPr txBox="1"/>
          <p:nvPr/>
        </p:nvSpPr>
        <p:spPr>
          <a:xfrm>
            <a:off x="548640" y="3611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使えるカタカナ（すべて 201）</a:t>
            </a:r>
            <a:endParaRPr lang="en-US" sz="1600" dirty="0"/>
          </a:p>
        </p:txBody>
      </p:sp>
      <p:sp>
        <p:nvSpPr>
          <p:cNvPr id="24" name="card-120"/>
          <p:cNvSpPr/>
          <p:nvPr/>
        </p:nvSpPr>
        <p:spPr>
          <a:xfrm>
            <a:off x="548640" y="402336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121"/>
          <p:cNvSpPr txBox="1"/>
          <p:nvPr/>
        </p:nvSpPr>
        <p:spPr>
          <a:xfrm>
            <a:off x="685800" y="4096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長音「ー」</a:t>
            </a:r>
            <a:endParaRPr lang="en-US" sz="1100" dirty="0"/>
          </a:p>
        </p:txBody>
      </p:sp>
      <p:sp>
        <p:nvSpPr>
          <p:cNvPr id="26" name="input-122"/>
          <p:cNvSpPr/>
          <p:nvPr/>
        </p:nvSpPr>
        <p:spPr>
          <a:xfrm>
            <a:off x="685800" y="4434840"/>
            <a:ext cx="23774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7" name="text-123"/>
          <p:cNvSpPr txBox="1"/>
          <p:nvPr/>
        </p:nvSpPr>
        <p:spPr>
          <a:xfrm>
            <a:off x="795528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コーノ</a:t>
            </a:r>
            <a:endParaRPr lang="en-US" sz="1500" dirty="0"/>
          </a:p>
        </p:txBody>
      </p:sp>
      <p:sp>
        <p:nvSpPr>
          <p:cNvPr id="28" name="chip-124"/>
          <p:cNvSpPr/>
          <p:nvPr/>
        </p:nvSpPr>
        <p:spPr>
          <a:xfrm>
            <a:off x="3200400" y="446227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201</a:t>
            </a:r>
            <a:endParaRPr lang="en-US" sz="1400" dirty="0"/>
          </a:p>
        </p:txBody>
      </p:sp>
      <p:sp>
        <p:nvSpPr>
          <p:cNvPr id="29" name="card-125"/>
          <p:cNvSpPr/>
          <p:nvPr/>
        </p:nvSpPr>
        <p:spPr>
          <a:xfrm>
            <a:off x="4297680" y="402336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-126"/>
          <p:cNvSpPr txBox="1"/>
          <p:nvPr/>
        </p:nvSpPr>
        <p:spPr>
          <a:xfrm>
            <a:off x="4434840" y="4096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「ヴ」</a:t>
            </a:r>
            <a:endParaRPr lang="en-US" sz="1100" dirty="0"/>
          </a:p>
        </p:txBody>
      </p:sp>
      <p:sp>
        <p:nvSpPr>
          <p:cNvPr id="31" name="input-127"/>
          <p:cNvSpPr/>
          <p:nvPr/>
        </p:nvSpPr>
        <p:spPr>
          <a:xfrm>
            <a:off x="4434840" y="4434840"/>
            <a:ext cx="23774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2" name="text-128"/>
          <p:cNvSpPr txBox="1"/>
          <p:nvPr/>
        </p:nvSpPr>
        <p:spPr>
          <a:xfrm>
            <a:off x="4544568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ヴェルデ</a:t>
            </a:r>
            <a:endParaRPr lang="en-US" sz="1500" dirty="0"/>
          </a:p>
        </p:txBody>
      </p:sp>
      <p:sp>
        <p:nvSpPr>
          <p:cNvPr id="33" name="chip-129"/>
          <p:cNvSpPr/>
          <p:nvPr/>
        </p:nvSpPr>
        <p:spPr>
          <a:xfrm>
            <a:off x="6949440" y="446227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201</a:t>
            </a:r>
            <a:endParaRPr lang="en-US" sz="1400" dirty="0"/>
          </a:p>
        </p:txBody>
      </p:sp>
      <p:sp>
        <p:nvSpPr>
          <p:cNvPr id="34" name="card-130"/>
          <p:cNvSpPr/>
          <p:nvPr/>
        </p:nvSpPr>
        <p:spPr>
          <a:xfrm>
            <a:off x="8046720" y="402336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-131"/>
          <p:cNvSpPr txBox="1"/>
          <p:nvPr/>
        </p:nvSpPr>
        <p:spPr>
          <a:xfrm>
            <a:off x="8183880" y="4096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小書き文字（ァ・ェ・ョ など）</a:t>
            </a:r>
            <a:endParaRPr lang="en-US" sz="1100" dirty="0"/>
          </a:p>
        </p:txBody>
      </p:sp>
      <p:sp>
        <p:nvSpPr>
          <p:cNvPr id="36" name="input-132"/>
          <p:cNvSpPr/>
          <p:nvPr/>
        </p:nvSpPr>
        <p:spPr>
          <a:xfrm>
            <a:off x="8183880" y="4434840"/>
            <a:ext cx="23774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-133"/>
          <p:cNvSpPr txBox="1"/>
          <p:nvPr/>
        </p:nvSpPr>
        <p:spPr>
          <a:xfrm>
            <a:off x="8293608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ジェンキンス</a:t>
            </a:r>
            <a:endParaRPr lang="en-US" sz="1500" dirty="0"/>
          </a:p>
        </p:txBody>
      </p:sp>
      <p:sp>
        <p:nvSpPr>
          <p:cNvPr id="38" name="chip-134"/>
          <p:cNvSpPr/>
          <p:nvPr/>
        </p:nvSpPr>
        <p:spPr>
          <a:xfrm>
            <a:off x="10698480" y="446227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201</a:t>
            </a:r>
            <a:endParaRPr lang="en-US" sz="1400" dirty="0"/>
          </a:p>
        </p:txBody>
      </p:sp>
      <p:sp>
        <p:nvSpPr>
          <p:cNvPr id="39" name="text-135"/>
          <p:cNvSpPr txBox="1"/>
          <p:nvPr/>
        </p:nvSpPr>
        <p:spPr>
          <a:xfrm>
            <a:off x="54864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代表者・搭乗者の「セイ」「メイ」の計4項目に、同じテストを行う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① お名前：カタカナ以外の文字が混ざると 400</a:t>
            </a:r>
            <a:endParaRPr lang="en-US" sz="2800" dirty="0"/>
          </a:p>
        </p:txBody>
      </p:sp>
      <p:sp>
        <p:nvSpPr>
          <p:cNvPr id="3" name="card-136"/>
          <p:cNvSpPr/>
          <p:nvPr/>
        </p:nvSpPr>
        <p:spPr>
          <a:xfrm>
            <a:off x="548640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37"/>
          <p:cNvSpPr txBox="1"/>
          <p:nvPr/>
        </p:nvSpPr>
        <p:spPr>
          <a:xfrm>
            <a:off x="685800" y="1399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全角スペースだけ</a:t>
            </a:r>
            <a:endParaRPr lang="en-US" sz="1100" dirty="0"/>
          </a:p>
        </p:txBody>
      </p:sp>
      <p:sp>
        <p:nvSpPr>
          <p:cNvPr id="5" name="input-138"/>
          <p:cNvSpPr/>
          <p:nvPr/>
        </p:nvSpPr>
        <p:spPr>
          <a:xfrm>
            <a:off x="685800" y="1737360"/>
            <a:ext cx="14630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6" name="text-139"/>
          <p:cNvSpPr txBox="1"/>
          <p:nvPr/>
        </p:nvSpPr>
        <p:spPr>
          <a:xfrm>
            <a:off x="795528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　"</a:t>
            </a:r>
            <a:endParaRPr lang="en-US" sz="1500" dirty="0"/>
          </a:p>
        </p:txBody>
      </p:sp>
      <p:sp>
        <p:nvSpPr>
          <p:cNvPr id="7" name="chip-140"/>
          <p:cNvSpPr/>
          <p:nvPr/>
        </p:nvSpPr>
        <p:spPr>
          <a:xfrm>
            <a:off x="2286000" y="17647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8" name="card-141"/>
          <p:cNvSpPr/>
          <p:nvPr/>
        </p:nvSpPr>
        <p:spPr>
          <a:xfrm>
            <a:off x="3355848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142"/>
          <p:cNvSpPr txBox="1"/>
          <p:nvPr/>
        </p:nvSpPr>
        <p:spPr>
          <a:xfrm>
            <a:off x="3493008" y="1399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全角スペースを含む</a:t>
            </a:r>
            <a:endParaRPr lang="en-US" sz="1100" dirty="0"/>
          </a:p>
        </p:txBody>
      </p:sp>
      <p:sp>
        <p:nvSpPr>
          <p:cNvPr id="10" name="input-143"/>
          <p:cNvSpPr/>
          <p:nvPr/>
        </p:nvSpPr>
        <p:spPr>
          <a:xfrm>
            <a:off x="3493008" y="1737360"/>
            <a:ext cx="14630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text-144"/>
          <p:cNvSpPr txBox="1"/>
          <p:nvPr/>
        </p:nvSpPr>
        <p:spPr>
          <a:xfrm>
            <a:off x="3602736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ヤマ　ダ</a:t>
            </a:r>
            <a:endParaRPr lang="en-US" sz="1500" dirty="0"/>
          </a:p>
        </p:txBody>
      </p:sp>
      <p:sp>
        <p:nvSpPr>
          <p:cNvPr id="12" name="chip-145"/>
          <p:cNvSpPr/>
          <p:nvPr/>
        </p:nvSpPr>
        <p:spPr>
          <a:xfrm>
            <a:off x="5093208" y="17647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13" name="card-146"/>
          <p:cNvSpPr/>
          <p:nvPr/>
        </p:nvSpPr>
        <p:spPr>
          <a:xfrm>
            <a:off x="6163056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47"/>
          <p:cNvSpPr txBox="1"/>
          <p:nvPr/>
        </p:nvSpPr>
        <p:spPr>
          <a:xfrm>
            <a:off x="6300216" y="1399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記号「・」を含む</a:t>
            </a:r>
            <a:endParaRPr lang="en-US" sz="1100" dirty="0"/>
          </a:p>
        </p:txBody>
      </p:sp>
      <p:sp>
        <p:nvSpPr>
          <p:cNvPr id="15" name="input-148"/>
          <p:cNvSpPr/>
          <p:nvPr/>
        </p:nvSpPr>
        <p:spPr>
          <a:xfrm>
            <a:off x="6300216" y="1737360"/>
            <a:ext cx="14630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6" name="text-149"/>
          <p:cNvSpPr txBox="1"/>
          <p:nvPr/>
        </p:nvSpPr>
        <p:spPr>
          <a:xfrm>
            <a:off x="6409944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デ・ニーロ</a:t>
            </a:r>
            <a:endParaRPr lang="en-US" sz="1500" dirty="0"/>
          </a:p>
        </p:txBody>
      </p:sp>
      <p:sp>
        <p:nvSpPr>
          <p:cNvPr id="17" name="chip-150"/>
          <p:cNvSpPr/>
          <p:nvPr/>
        </p:nvSpPr>
        <p:spPr>
          <a:xfrm>
            <a:off x="7900416" y="17647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18" name="card-151"/>
          <p:cNvSpPr/>
          <p:nvPr/>
        </p:nvSpPr>
        <p:spPr>
          <a:xfrm>
            <a:off x="8970264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152"/>
          <p:cNvSpPr txBox="1"/>
          <p:nvPr/>
        </p:nvSpPr>
        <p:spPr>
          <a:xfrm>
            <a:off x="9107424" y="1399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項目なし（未指定）</a:t>
            </a:r>
            <a:endParaRPr lang="en-US" sz="1100" dirty="0"/>
          </a:p>
        </p:txBody>
      </p:sp>
      <p:sp>
        <p:nvSpPr>
          <p:cNvPr id="20" name="input-153"/>
          <p:cNvSpPr/>
          <p:nvPr/>
        </p:nvSpPr>
        <p:spPr>
          <a:xfrm>
            <a:off x="9107424" y="1737360"/>
            <a:ext cx="14630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1" name="text-154"/>
          <p:cNvSpPr txBox="1"/>
          <p:nvPr/>
        </p:nvSpPr>
        <p:spPr>
          <a:xfrm>
            <a:off x="9217152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null</a:t>
            </a:r>
            <a:endParaRPr lang="en-US" sz="1500" dirty="0"/>
          </a:p>
        </p:txBody>
      </p:sp>
      <p:sp>
        <p:nvSpPr>
          <p:cNvPr id="22" name="chip-155"/>
          <p:cNvSpPr/>
          <p:nvPr/>
        </p:nvSpPr>
        <p:spPr>
          <a:xfrm>
            <a:off x="10707624" y="17647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23" name="card-156"/>
          <p:cNvSpPr/>
          <p:nvPr/>
        </p:nvSpPr>
        <p:spPr>
          <a:xfrm>
            <a:off x="548640" y="251460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-157"/>
          <p:cNvSpPr txBox="1"/>
          <p:nvPr/>
        </p:nvSpPr>
        <p:spPr>
          <a:xfrm>
            <a:off x="685800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ひらがな</a:t>
            </a:r>
            <a:endParaRPr lang="en-US" sz="1100" dirty="0"/>
          </a:p>
        </p:txBody>
      </p:sp>
      <p:sp>
        <p:nvSpPr>
          <p:cNvPr id="25" name="input-158"/>
          <p:cNvSpPr/>
          <p:nvPr/>
        </p:nvSpPr>
        <p:spPr>
          <a:xfrm>
            <a:off x="685800" y="2926080"/>
            <a:ext cx="14630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6" name="text-159"/>
          <p:cNvSpPr txBox="1"/>
          <p:nvPr/>
        </p:nvSpPr>
        <p:spPr>
          <a:xfrm>
            <a:off x="795528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やまだ</a:t>
            </a:r>
            <a:endParaRPr lang="en-US" sz="1500" dirty="0"/>
          </a:p>
        </p:txBody>
      </p:sp>
      <p:sp>
        <p:nvSpPr>
          <p:cNvPr id="27" name="chip-160"/>
          <p:cNvSpPr/>
          <p:nvPr/>
        </p:nvSpPr>
        <p:spPr>
          <a:xfrm>
            <a:off x="2286000" y="295351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28" name="card-161"/>
          <p:cNvSpPr/>
          <p:nvPr/>
        </p:nvSpPr>
        <p:spPr>
          <a:xfrm>
            <a:off x="3355848" y="251460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162"/>
          <p:cNvSpPr txBox="1"/>
          <p:nvPr/>
        </p:nvSpPr>
        <p:spPr>
          <a:xfrm>
            <a:off x="3493008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半角カタカナ</a:t>
            </a:r>
            <a:endParaRPr lang="en-US" sz="1100" dirty="0"/>
          </a:p>
        </p:txBody>
      </p:sp>
      <p:sp>
        <p:nvSpPr>
          <p:cNvPr id="30" name="input-163"/>
          <p:cNvSpPr/>
          <p:nvPr/>
        </p:nvSpPr>
        <p:spPr>
          <a:xfrm>
            <a:off x="3493008" y="2926080"/>
            <a:ext cx="14630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1" name="text-164"/>
          <p:cNvSpPr txBox="1"/>
          <p:nvPr/>
        </p:nvSpPr>
        <p:spPr>
          <a:xfrm>
            <a:off x="3602736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ﾔﾏﾀﾞ</a:t>
            </a:r>
            <a:endParaRPr lang="en-US" sz="1500" dirty="0"/>
          </a:p>
        </p:txBody>
      </p:sp>
      <p:sp>
        <p:nvSpPr>
          <p:cNvPr id="32" name="chip-165"/>
          <p:cNvSpPr/>
          <p:nvPr/>
        </p:nvSpPr>
        <p:spPr>
          <a:xfrm>
            <a:off x="5093208" y="295351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33" name="card-166"/>
          <p:cNvSpPr/>
          <p:nvPr/>
        </p:nvSpPr>
        <p:spPr>
          <a:xfrm>
            <a:off x="6163056" y="251460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-167"/>
          <p:cNvSpPr txBox="1"/>
          <p:nvPr/>
        </p:nvSpPr>
        <p:spPr>
          <a:xfrm>
            <a:off x="6300216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漢字</a:t>
            </a:r>
            <a:endParaRPr lang="en-US" sz="1100" dirty="0"/>
          </a:p>
        </p:txBody>
      </p:sp>
      <p:sp>
        <p:nvSpPr>
          <p:cNvPr id="35" name="input-168"/>
          <p:cNvSpPr/>
          <p:nvPr/>
        </p:nvSpPr>
        <p:spPr>
          <a:xfrm>
            <a:off x="6300216" y="2926080"/>
            <a:ext cx="14630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6" name="text-169"/>
          <p:cNvSpPr txBox="1"/>
          <p:nvPr/>
        </p:nvSpPr>
        <p:spPr>
          <a:xfrm>
            <a:off x="6409944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山田</a:t>
            </a:r>
            <a:endParaRPr lang="en-US" sz="1500" dirty="0"/>
          </a:p>
        </p:txBody>
      </p:sp>
      <p:sp>
        <p:nvSpPr>
          <p:cNvPr id="37" name="chip-170"/>
          <p:cNvSpPr/>
          <p:nvPr/>
        </p:nvSpPr>
        <p:spPr>
          <a:xfrm>
            <a:off x="7900416" y="295351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38" name="card-171"/>
          <p:cNvSpPr/>
          <p:nvPr/>
        </p:nvSpPr>
        <p:spPr>
          <a:xfrm>
            <a:off x="8970264" y="251460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-172"/>
          <p:cNvSpPr txBox="1"/>
          <p:nvPr/>
        </p:nvSpPr>
        <p:spPr>
          <a:xfrm>
            <a:off x="9107424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英字</a:t>
            </a:r>
            <a:endParaRPr lang="en-US" sz="1100" dirty="0"/>
          </a:p>
        </p:txBody>
      </p:sp>
      <p:sp>
        <p:nvSpPr>
          <p:cNvPr id="40" name="input-173"/>
          <p:cNvSpPr/>
          <p:nvPr/>
        </p:nvSpPr>
        <p:spPr>
          <a:xfrm>
            <a:off x="9107424" y="2926080"/>
            <a:ext cx="146304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1" name="text-174"/>
          <p:cNvSpPr txBox="1"/>
          <p:nvPr/>
        </p:nvSpPr>
        <p:spPr>
          <a:xfrm>
            <a:off x="9217152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Yamada</a:t>
            </a:r>
            <a:endParaRPr lang="en-US" sz="1500" dirty="0"/>
          </a:p>
        </p:txBody>
      </p:sp>
      <p:sp>
        <p:nvSpPr>
          <p:cNvPr id="42" name="chip-175"/>
          <p:cNvSpPr/>
          <p:nvPr/>
        </p:nvSpPr>
        <p:spPr>
          <a:xfrm>
            <a:off x="10707624" y="295351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43" name="callout-176"/>
          <p:cNvSpPr/>
          <p:nvPr/>
        </p:nvSpPr>
        <p:spPr>
          <a:xfrm>
            <a:off x="548640" y="388620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-177"/>
          <p:cNvSpPr txBox="1"/>
          <p:nvPr/>
        </p:nvSpPr>
        <p:spPr>
          <a:xfrm>
            <a:off x="777240" y="40233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見落としやすい文字</a:t>
            </a:r>
            <a:endParaRPr lang="en-US" sz="1400" dirty="0"/>
          </a:p>
        </p:txBody>
      </p:sp>
      <p:sp>
        <p:nvSpPr>
          <p:cNvPr id="45" name="text-178"/>
          <p:cNvSpPr txBox="1"/>
          <p:nvPr/>
        </p:nvSpPr>
        <p:spPr>
          <a:xfrm>
            <a:off x="777240" y="44165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「・」（中黒）はカタカナと同じ文字ブロックにあるが、記号として扱う。全角スペースもカタカナではないので、外国人名を「デ・ニーロ」「ジョン　ポール」のように入力しても 400 になる。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② 年齢：代表者は「18歳」、桁数は「999／1000」が境目</a:t>
            </a:r>
            <a:endParaRPr lang="en-US" sz="2800" dirty="0"/>
          </a:p>
        </p:txBody>
      </p:sp>
      <p:sp>
        <p:nvSpPr>
          <p:cNvPr id="3" name="text-179"/>
          <p:cNvSpPr txBox="1"/>
          <p:nvPr/>
        </p:nvSpPr>
        <p:spPr>
          <a:xfrm>
            <a:off x="548640" y="1188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予約代表者</a:t>
            </a:r>
            <a:endParaRPr lang="en-US" sz="1600" dirty="0"/>
          </a:p>
        </p:txBody>
      </p:sp>
      <p:sp>
        <p:nvSpPr>
          <p:cNvPr id="4" name="seg-180"/>
          <p:cNvSpPr/>
          <p:nvPr/>
        </p:nvSpPr>
        <p:spPr>
          <a:xfrm>
            <a:off x="548640" y="1600200"/>
            <a:ext cx="3319272" cy="502920"/>
          </a:xfrm>
          <a:prstGeom prst="rect">
            <a:avLst/>
          </a:prstGeom>
          <a:solidFill>
            <a:schemeClr val="accent6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0〜17歳（ルール違反 → 409）</a:t>
            </a:r>
            <a:endParaRPr lang="en-US" sz="1300" dirty="0"/>
          </a:p>
        </p:txBody>
      </p:sp>
      <p:sp>
        <p:nvSpPr>
          <p:cNvPr id="5" name="seg-181"/>
          <p:cNvSpPr/>
          <p:nvPr/>
        </p:nvSpPr>
        <p:spPr>
          <a:xfrm>
            <a:off x="3867912" y="1600200"/>
            <a:ext cx="5532120" cy="5029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18〜999</a:t>
            </a:r>
            <a:endParaRPr lang="en-US" sz="1300" dirty="0"/>
          </a:p>
        </p:txBody>
      </p:sp>
      <p:sp>
        <p:nvSpPr>
          <p:cNvPr id="6" name="seg-182"/>
          <p:cNvSpPr/>
          <p:nvPr/>
        </p:nvSpPr>
        <p:spPr>
          <a:xfrm>
            <a:off x="9400032" y="1600200"/>
            <a:ext cx="2212848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1000以上（4桁）</a:t>
            </a:r>
            <a:endParaRPr lang="en-US" sz="1300" dirty="0"/>
          </a:p>
        </p:txBody>
      </p:sp>
      <p:sp>
        <p:nvSpPr>
          <p:cNvPr id="7" name="tick-183"/>
          <p:cNvSpPr/>
          <p:nvPr/>
        </p:nvSpPr>
        <p:spPr>
          <a:xfrm>
            <a:off x="1212494" y="2103120"/>
            <a:ext cx="0" cy="11887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pin-184"/>
          <p:cNvSpPr/>
          <p:nvPr/>
        </p:nvSpPr>
        <p:spPr>
          <a:xfrm>
            <a:off x="1029614" y="2221992"/>
            <a:ext cx="365760" cy="36576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9" name="text-185"/>
          <p:cNvSpPr txBox="1"/>
          <p:nvPr/>
        </p:nvSpPr>
        <p:spPr>
          <a:xfrm>
            <a:off x="526694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</a:t>
            </a:r>
            <a:endParaRPr lang="en-US" sz="1500" dirty="0"/>
          </a:p>
        </p:txBody>
      </p:sp>
      <p:sp>
        <p:nvSpPr>
          <p:cNvPr id="10" name="text-186"/>
          <p:cNvSpPr txBox="1"/>
          <p:nvPr/>
        </p:nvSpPr>
        <p:spPr>
          <a:xfrm>
            <a:off x="526694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1桁でも 409</a:t>
            </a:r>
            <a:endParaRPr lang="en-US" sz="1100" dirty="0"/>
          </a:p>
        </p:txBody>
      </p:sp>
      <p:sp>
        <p:nvSpPr>
          <p:cNvPr id="11" name="tick-187"/>
          <p:cNvSpPr/>
          <p:nvPr/>
        </p:nvSpPr>
        <p:spPr>
          <a:xfrm>
            <a:off x="3204058" y="2103120"/>
            <a:ext cx="0" cy="11887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2" name="pin-188"/>
          <p:cNvSpPr/>
          <p:nvPr/>
        </p:nvSpPr>
        <p:spPr>
          <a:xfrm>
            <a:off x="3021178" y="2221992"/>
            <a:ext cx="365760" cy="36576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13" name="text-189"/>
          <p:cNvSpPr txBox="1"/>
          <p:nvPr/>
        </p:nvSpPr>
        <p:spPr>
          <a:xfrm>
            <a:off x="2518258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17</a:t>
            </a:r>
            <a:endParaRPr lang="en-US" sz="1500" dirty="0"/>
          </a:p>
        </p:txBody>
      </p:sp>
      <p:sp>
        <p:nvSpPr>
          <p:cNvPr id="14" name="text-190"/>
          <p:cNvSpPr txBox="1"/>
          <p:nvPr/>
        </p:nvSpPr>
        <p:spPr>
          <a:xfrm>
            <a:off x="2518258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ルールの境目−1</a:t>
            </a:r>
            <a:endParaRPr lang="en-US" sz="1100" dirty="0"/>
          </a:p>
        </p:txBody>
      </p:sp>
      <p:sp>
        <p:nvSpPr>
          <p:cNvPr id="15" name="tick-191"/>
          <p:cNvSpPr/>
          <p:nvPr/>
        </p:nvSpPr>
        <p:spPr>
          <a:xfrm>
            <a:off x="4531766" y="210312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" name="pin-192"/>
          <p:cNvSpPr/>
          <p:nvPr/>
        </p:nvSpPr>
        <p:spPr>
          <a:xfrm>
            <a:off x="4348886" y="222199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17" name="text-193"/>
          <p:cNvSpPr txBox="1"/>
          <p:nvPr/>
        </p:nvSpPr>
        <p:spPr>
          <a:xfrm>
            <a:off x="3845966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18</a:t>
            </a:r>
            <a:endParaRPr lang="en-US" sz="1500" dirty="0"/>
          </a:p>
        </p:txBody>
      </p:sp>
      <p:sp>
        <p:nvSpPr>
          <p:cNvPr id="18" name="text-194"/>
          <p:cNvSpPr txBox="1"/>
          <p:nvPr/>
        </p:nvSpPr>
        <p:spPr>
          <a:xfrm>
            <a:off x="3845966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ルールの境目</a:t>
            </a:r>
            <a:endParaRPr lang="en-US" sz="1100" dirty="0"/>
          </a:p>
        </p:txBody>
      </p:sp>
      <p:sp>
        <p:nvSpPr>
          <p:cNvPr id="19" name="tick-195"/>
          <p:cNvSpPr/>
          <p:nvPr/>
        </p:nvSpPr>
        <p:spPr>
          <a:xfrm>
            <a:off x="8736178" y="210312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0" name="pin-196"/>
          <p:cNvSpPr/>
          <p:nvPr/>
        </p:nvSpPr>
        <p:spPr>
          <a:xfrm>
            <a:off x="8553298" y="222199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21" name="text-197"/>
          <p:cNvSpPr txBox="1"/>
          <p:nvPr/>
        </p:nvSpPr>
        <p:spPr>
          <a:xfrm>
            <a:off x="8050378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999</a:t>
            </a:r>
            <a:endParaRPr lang="en-US" sz="1500" dirty="0"/>
          </a:p>
        </p:txBody>
      </p:sp>
      <p:sp>
        <p:nvSpPr>
          <p:cNvPr id="22" name="text-198"/>
          <p:cNvSpPr txBox="1"/>
          <p:nvPr/>
        </p:nvSpPr>
        <p:spPr>
          <a:xfrm>
            <a:off x="8050378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3桁の最大</a:t>
            </a:r>
            <a:endParaRPr lang="en-US" sz="1100" dirty="0"/>
          </a:p>
        </p:txBody>
      </p:sp>
      <p:sp>
        <p:nvSpPr>
          <p:cNvPr id="23" name="tick-199"/>
          <p:cNvSpPr/>
          <p:nvPr/>
        </p:nvSpPr>
        <p:spPr>
          <a:xfrm>
            <a:off x="10063886" y="210312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4" name="pin-200"/>
          <p:cNvSpPr/>
          <p:nvPr/>
        </p:nvSpPr>
        <p:spPr>
          <a:xfrm>
            <a:off x="9881006" y="222199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25" name="text-201"/>
          <p:cNvSpPr txBox="1"/>
          <p:nvPr/>
        </p:nvSpPr>
        <p:spPr>
          <a:xfrm>
            <a:off x="9378086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1000</a:t>
            </a:r>
            <a:endParaRPr lang="en-US" sz="1500" dirty="0"/>
          </a:p>
        </p:txBody>
      </p:sp>
      <p:sp>
        <p:nvSpPr>
          <p:cNvPr id="26" name="text-202"/>
          <p:cNvSpPr txBox="1"/>
          <p:nvPr/>
        </p:nvSpPr>
        <p:spPr>
          <a:xfrm>
            <a:off x="9378086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4桁</a:t>
            </a:r>
            <a:endParaRPr lang="en-US" sz="1100" dirty="0"/>
          </a:p>
        </p:txBody>
      </p:sp>
      <p:sp>
        <p:nvSpPr>
          <p:cNvPr id="27" name="text-203"/>
          <p:cNvSpPr txBox="1"/>
          <p:nvPr/>
        </p:nvSpPr>
        <p:spPr>
          <a:xfrm>
            <a:off x="548640" y="3291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搭乗者</a:t>
            </a:r>
            <a:endParaRPr lang="en-US" sz="1600" dirty="0"/>
          </a:p>
        </p:txBody>
      </p:sp>
      <p:sp>
        <p:nvSpPr>
          <p:cNvPr id="28" name="seg-204"/>
          <p:cNvSpPr/>
          <p:nvPr/>
        </p:nvSpPr>
        <p:spPr>
          <a:xfrm>
            <a:off x="548640" y="3703320"/>
            <a:ext cx="8851392" cy="5029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0〜999</a:t>
            </a:r>
            <a:endParaRPr lang="en-US" sz="1300" dirty="0"/>
          </a:p>
        </p:txBody>
      </p:sp>
      <p:sp>
        <p:nvSpPr>
          <p:cNvPr id="29" name="seg-205"/>
          <p:cNvSpPr/>
          <p:nvPr/>
        </p:nvSpPr>
        <p:spPr>
          <a:xfrm>
            <a:off x="9400032" y="3703320"/>
            <a:ext cx="2212848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1000以上（4桁）</a:t>
            </a:r>
            <a:endParaRPr lang="en-US" sz="1300" dirty="0"/>
          </a:p>
        </p:txBody>
      </p:sp>
      <p:sp>
        <p:nvSpPr>
          <p:cNvPr id="30" name="tick-206"/>
          <p:cNvSpPr/>
          <p:nvPr/>
        </p:nvSpPr>
        <p:spPr>
          <a:xfrm>
            <a:off x="1212494" y="420624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1" name="pin-207"/>
          <p:cNvSpPr/>
          <p:nvPr/>
        </p:nvSpPr>
        <p:spPr>
          <a:xfrm>
            <a:off x="1029614" y="432511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32" name="text-208"/>
          <p:cNvSpPr txBox="1"/>
          <p:nvPr/>
        </p:nvSpPr>
        <p:spPr>
          <a:xfrm>
            <a:off x="526694" y="4727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</a:t>
            </a:r>
            <a:endParaRPr lang="en-US" sz="1500" dirty="0"/>
          </a:p>
        </p:txBody>
      </p:sp>
      <p:sp>
        <p:nvSpPr>
          <p:cNvPr id="33" name="text-209"/>
          <p:cNvSpPr txBox="1"/>
          <p:nvPr/>
        </p:nvSpPr>
        <p:spPr>
          <a:xfrm>
            <a:off x="480974" y="5020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1桁の最小</a:t>
            </a:r>
            <a:endParaRPr lang="en-US" sz="1100" dirty="0"/>
          </a:p>
        </p:txBody>
      </p:sp>
      <p:sp>
        <p:nvSpPr>
          <p:cNvPr id="34" name="tick-210"/>
          <p:cNvSpPr/>
          <p:nvPr/>
        </p:nvSpPr>
        <p:spPr>
          <a:xfrm>
            <a:off x="3867912" y="420624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5" name="pin-211"/>
          <p:cNvSpPr/>
          <p:nvPr/>
        </p:nvSpPr>
        <p:spPr>
          <a:xfrm>
            <a:off x="3685032" y="432511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36" name="text-212"/>
          <p:cNvSpPr txBox="1"/>
          <p:nvPr/>
        </p:nvSpPr>
        <p:spPr>
          <a:xfrm>
            <a:off x="3182112" y="4727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17</a:t>
            </a:r>
            <a:endParaRPr lang="en-US" sz="1500" dirty="0"/>
          </a:p>
        </p:txBody>
      </p:sp>
      <p:sp>
        <p:nvSpPr>
          <p:cNvPr id="37" name="text-213"/>
          <p:cNvSpPr txBox="1"/>
          <p:nvPr/>
        </p:nvSpPr>
        <p:spPr>
          <a:xfrm>
            <a:off x="3136392" y="5020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18歳未満でもOK</a:t>
            </a:r>
            <a:endParaRPr lang="en-US" sz="1100" dirty="0"/>
          </a:p>
        </p:txBody>
      </p:sp>
      <p:sp>
        <p:nvSpPr>
          <p:cNvPr id="38" name="tick-214"/>
          <p:cNvSpPr/>
          <p:nvPr/>
        </p:nvSpPr>
        <p:spPr>
          <a:xfrm>
            <a:off x="8736178" y="420624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9" name="pin-215"/>
          <p:cNvSpPr/>
          <p:nvPr/>
        </p:nvSpPr>
        <p:spPr>
          <a:xfrm>
            <a:off x="8553298" y="432511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40" name="text-216"/>
          <p:cNvSpPr txBox="1"/>
          <p:nvPr/>
        </p:nvSpPr>
        <p:spPr>
          <a:xfrm>
            <a:off x="8050378" y="4727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999</a:t>
            </a:r>
            <a:endParaRPr lang="en-US" sz="1500" dirty="0"/>
          </a:p>
        </p:txBody>
      </p:sp>
      <p:sp>
        <p:nvSpPr>
          <p:cNvPr id="41" name="text-217"/>
          <p:cNvSpPr txBox="1"/>
          <p:nvPr/>
        </p:nvSpPr>
        <p:spPr>
          <a:xfrm>
            <a:off x="8004658" y="5020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3桁の最大</a:t>
            </a:r>
            <a:endParaRPr lang="en-US" sz="1100" dirty="0"/>
          </a:p>
        </p:txBody>
      </p:sp>
      <p:sp>
        <p:nvSpPr>
          <p:cNvPr id="42" name="tick-218"/>
          <p:cNvSpPr/>
          <p:nvPr/>
        </p:nvSpPr>
        <p:spPr>
          <a:xfrm>
            <a:off x="10063886" y="420624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43" name="pin-219"/>
          <p:cNvSpPr/>
          <p:nvPr/>
        </p:nvSpPr>
        <p:spPr>
          <a:xfrm>
            <a:off x="9881006" y="432511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44" name="text-220"/>
          <p:cNvSpPr txBox="1"/>
          <p:nvPr/>
        </p:nvSpPr>
        <p:spPr>
          <a:xfrm>
            <a:off x="9378086" y="4727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1000</a:t>
            </a:r>
            <a:endParaRPr lang="en-US" sz="1500" dirty="0"/>
          </a:p>
        </p:txBody>
      </p:sp>
      <p:sp>
        <p:nvSpPr>
          <p:cNvPr id="45" name="text-221"/>
          <p:cNvSpPr txBox="1"/>
          <p:nvPr/>
        </p:nvSpPr>
        <p:spPr>
          <a:xfrm>
            <a:off x="9332366" y="5020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4桁</a:t>
            </a:r>
            <a:endParaRPr lang="en-US" sz="1100" dirty="0"/>
          </a:p>
        </p:txBody>
      </p:sp>
      <p:sp>
        <p:nvSpPr>
          <p:cNvPr id="46" name="text-222"/>
          <p:cNvSpPr txBox="1"/>
          <p:nvPr/>
        </p:nvSpPr>
        <p:spPr>
          <a:xfrm>
            <a:off x="54864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形式・型のエラー（年齢は数値で送る。代表者・搭乗者で共通）</a:t>
            </a:r>
            <a:endParaRPr lang="en-US" sz="1400" dirty="0"/>
          </a:p>
        </p:txBody>
      </p:sp>
      <p:sp>
        <p:nvSpPr>
          <p:cNvPr id="47" name="input-223"/>
          <p:cNvSpPr/>
          <p:nvPr/>
        </p:nvSpPr>
        <p:spPr>
          <a:xfrm>
            <a:off x="548640" y="5852160"/>
            <a:ext cx="1691640" cy="43891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8" name="text-224"/>
          <p:cNvSpPr txBox="1"/>
          <p:nvPr/>
        </p:nvSpPr>
        <p:spPr>
          <a:xfrm>
            <a:off x="658368" y="5852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null</a:t>
            </a:r>
            <a:endParaRPr lang="en-US" sz="1400" dirty="0"/>
          </a:p>
        </p:txBody>
      </p:sp>
      <p:sp>
        <p:nvSpPr>
          <p:cNvPr id="49" name="input-225"/>
          <p:cNvSpPr/>
          <p:nvPr/>
        </p:nvSpPr>
        <p:spPr>
          <a:xfrm>
            <a:off x="2404872" y="5852160"/>
            <a:ext cx="1691640" cy="43891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0" name="text-226"/>
          <p:cNvSpPr txBox="1"/>
          <p:nvPr/>
        </p:nvSpPr>
        <p:spPr>
          <a:xfrm>
            <a:off x="2514600" y="5852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"18"（文字列）</a:t>
            </a:r>
            <a:endParaRPr lang="en-US" sz="1400" dirty="0"/>
          </a:p>
        </p:txBody>
      </p:sp>
      <p:sp>
        <p:nvSpPr>
          <p:cNvPr id="51" name="input-227"/>
          <p:cNvSpPr/>
          <p:nvPr/>
        </p:nvSpPr>
        <p:spPr>
          <a:xfrm>
            <a:off x="4261104" y="5852160"/>
            <a:ext cx="1691640" cy="43891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2" name="text-228"/>
          <p:cNvSpPr txBox="1"/>
          <p:nvPr/>
        </p:nvSpPr>
        <p:spPr>
          <a:xfrm>
            <a:off x="4370832" y="5852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-18</a:t>
            </a:r>
            <a:endParaRPr lang="en-US" sz="1400" dirty="0"/>
          </a:p>
        </p:txBody>
      </p:sp>
      <p:sp>
        <p:nvSpPr>
          <p:cNvPr id="53" name="input-229"/>
          <p:cNvSpPr/>
          <p:nvPr/>
        </p:nvSpPr>
        <p:spPr>
          <a:xfrm>
            <a:off x="6117336" y="5852160"/>
            <a:ext cx="1691640" cy="43891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4" name="text-230"/>
          <p:cNvSpPr txBox="1"/>
          <p:nvPr/>
        </p:nvSpPr>
        <p:spPr>
          <a:xfrm>
            <a:off x="6227064" y="5852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18.5</a:t>
            </a:r>
            <a:endParaRPr lang="en-US" sz="1400" dirty="0"/>
          </a:p>
        </p:txBody>
      </p:sp>
      <p:sp>
        <p:nvSpPr>
          <p:cNvPr id="55" name="input-231"/>
          <p:cNvSpPr/>
          <p:nvPr/>
        </p:nvSpPr>
        <p:spPr>
          <a:xfrm>
            <a:off x="7973568" y="5852160"/>
            <a:ext cx="1691640" cy="43891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6" name="text-232"/>
          <p:cNvSpPr txBox="1"/>
          <p:nvPr/>
        </p:nvSpPr>
        <p:spPr>
          <a:xfrm>
            <a:off x="8083296" y="5852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"１８"</a:t>
            </a:r>
            <a:endParaRPr lang="en-US" sz="1400" dirty="0"/>
          </a:p>
        </p:txBody>
      </p:sp>
      <p:sp>
        <p:nvSpPr>
          <p:cNvPr id="57" name="input-233"/>
          <p:cNvSpPr/>
          <p:nvPr/>
        </p:nvSpPr>
        <p:spPr>
          <a:xfrm>
            <a:off x="9829800" y="5852160"/>
            <a:ext cx="1691640" cy="43891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8" name="text-234"/>
          <p:cNvSpPr txBox="1"/>
          <p:nvPr/>
        </p:nvSpPr>
        <p:spPr>
          <a:xfrm>
            <a:off x="9939528" y="5852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"abc"</a:t>
            </a:r>
            <a:endParaRPr lang="en-US" sz="1400" dirty="0"/>
          </a:p>
        </p:txBody>
      </p:sp>
      <p:sp>
        <p:nvSpPr>
          <p:cNvPr id="59" name="text-235"/>
          <p:cNvSpPr txBox="1"/>
          <p:nvPr/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→ すべて 400。「018」のような先頭ゼロはUIで取り除かれるため、APIのテストは不要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③ 性別：受け付けるのは「M」と「F」だけ</a:t>
            </a:r>
            <a:endParaRPr lang="en-US" sz="2800" dirty="0"/>
          </a:p>
        </p:txBody>
      </p:sp>
      <p:sp>
        <p:nvSpPr>
          <p:cNvPr id="3" name="window-236"/>
          <p:cNvSpPr/>
          <p:nvPr/>
        </p:nvSpPr>
        <p:spPr>
          <a:xfrm>
            <a:off x="548640" y="1325880"/>
            <a:ext cx="484632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itlebar-237"/>
          <p:cNvSpPr/>
          <p:nvPr/>
        </p:nvSpPr>
        <p:spPr>
          <a:xfrm>
            <a:off x="557784" y="1335024"/>
            <a:ext cx="4828032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itlebar-238"/>
          <p:cNvSpPr/>
          <p:nvPr/>
        </p:nvSpPr>
        <p:spPr>
          <a:xfrm>
            <a:off x="557784" y="1554480"/>
            <a:ext cx="4828032" cy="1645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ot-239"/>
          <p:cNvSpPr/>
          <p:nvPr/>
        </p:nvSpPr>
        <p:spPr>
          <a:xfrm>
            <a:off x="713232" y="14630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dot-240"/>
          <p:cNvSpPr/>
          <p:nvPr/>
        </p:nvSpPr>
        <p:spPr>
          <a:xfrm>
            <a:off x="914400" y="14630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ot-241"/>
          <p:cNvSpPr/>
          <p:nvPr/>
        </p:nvSpPr>
        <p:spPr>
          <a:xfrm>
            <a:off x="1115568" y="1463040"/>
            <a:ext cx="118872" cy="1188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-242"/>
          <p:cNvSpPr txBox="1"/>
          <p:nvPr/>
        </p:nvSpPr>
        <p:spPr>
          <a:xfrm>
            <a:off x="1371600" y="13350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予約情報の入力</a:t>
            </a:r>
            <a:endParaRPr lang="en-US" sz="1100" dirty="0"/>
          </a:p>
        </p:txBody>
      </p:sp>
      <p:sp>
        <p:nvSpPr>
          <p:cNvPr id="10" name="text-243"/>
          <p:cNvSpPr txBox="1"/>
          <p:nvPr/>
        </p:nvSpPr>
        <p:spPr>
          <a:xfrm>
            <a:off x="8229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性別</a:t>
            </a:r>
            <a:endParaRPr lang="en-US" sz="1200" dirty="0"/>
          </a:p>
        </p:txBody>
      </p:sp>
      <p:sp>
        <p:nvSpPr>
          <p:cNvPr id="11" name="radio-244"/>
          <p:cNvSpPr/>
          <p:nvPr/>
        </p:nvSpPr>
        <p:spPr>
          <a:xfrm>
            <a:off x="868680" y="2395728"/>
            <a:ext cx="201168" cy="2011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-245"/>
          <p:cNvSpPr txBox="1"/>
          <p:nvPr/>
        </p:nvSpPr>
        <p:spPr>
          <a:xfrm>
            <a:off x="114300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男性（M）</a:t>
            </a:r>
            <a:endParaRPr lang="en-US" sz="1400" dirty="0"/>
          </a:p>
        </p:txBody>
      </p:sp>
      <p:sp>
        <p:nvSpPr>
          <p:cNvPr id="13" name="radio-246"/>
          <p:cNvSpPr/>
          <p:nvPr/>
        </p:nvSpPr>
        <p:spPr>
          <a:xfrm>
            <a:off x="2697480" y="2395728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-247"/>
          <p:cNvSpPr txBox="1"/>
          <p:nvPr/>
        </p:nvSpPr>
        <p:spPr>
          <a:xfrm>
            <a:off x="297180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女性（F）</a:t>
            </a:r>
            <a:endParaRPr lang="en-US" sz="1400" dirty="0"/>
          </a:p>
        </p:txBody>
      </p:sp>
      <p:sp>
        <p:nvSpPr>
          <p:cNvPr id="15" name="text-248"/>
          <p:cNvSpPr txBox="1"/>
          <p:nvPr/>
        </p:nvSpPr>
        <p:spPr>
          <a:xfrm>
            <a:off x="54864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↓ APIに送られる値</a:t>
            </a:r>
            <a:endParaRPr lang="en-US" sz="1200" dirty="0"/>
          </a:p>
        </p:txBody>
      </p:sp>
      <p:sp>
        <p:nvSpPr>
          <p:cNvPr id="16" name="code-249"/>
          <p:cNvSpPr/>
          <p:nvPr/>
        </p:nvSpPr>
        <p:spPr>
          <a:xfrm>
            <a:off x="548640" y="3611880"/>
            <a:ext cx="48463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"gender": "M"</a:t>
            </a:r>
            <a:endParaRPr lang="en-US" sz="1600" dirty="0"/>
          </a:p>
        </p:txBody>
      </p:sp>
      <p:sp>
        <p:nvSpPr>
          <p:cNvPr id="17" name="callout-250"/>
          <p:cNvSpPr/>
          <p:nvPr/>
        </p:nvSpPr>
        <p:spPr>
          <a:xfrm>
            <a:off x="548640" y="4434840"/>
            <a:ext cx="4846320" cy="1600200"/>
          </a:xfrm>
          <a:prstGeom prst="roundRect">
            <a:avLst>
              <a:gd name="adj" fmla="val 4571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251"/>
          <p:cNvSpPr txBox="1"/>
          <p:nvPr/>
        </p:nvSpPr>
        <p:spPr>
          <a:xfrm>
            <a:off x="777240" y="4572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なぜ不正な値も試すのか</a:t>
            </a:r>
            <a:endParaRPr lang="en-US" sz="1400" dirty="0"/>
          </a:p>
        </p:txBody>
      </p:sp>
      <p:sp>
        <p:nvSpPr>
          <p:cNvPr id="19" name="text-252"/>
          <p:cNvSpPr txBox="1"/>
          <p:nvPr/>
        </p:nvSpPr>
        <p:spPr>
          <a:xfrm>
            <a:off x="777240" y="496519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画面では2択でも、APIにはどんな文字でも直接送れる。API側で M／F 以外をはじけるかを確認する。</a:t>
            </a:r>
            <a:endParaRPr lang="en-US" sz="1300" dirty="0"/>
          </a:p>
        </p:txBody>
      </p:sp>
      <p:sp>
        <p:nvSpPr>
          <p:cNvPr id="20" name="card-253"/>
          <p:cNvSpPr/>
          <p:nvPr/>
        </p:nvSpPr>
        <p:spPr>
          <a:xfrm>
            <a:off x="5852160" y="132588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-254"/>
          <p:cNvSpPr txBox="1"/>
          <p:nvPr/>
        </p:nvSpPr>
        <p:spPr>
          <a:xfrm>
            <a:off x="5989320" y="1399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男性</a:t>
            </a:r>
            <a:endParaRPr lang="en-US" sz="1100" dirty="0"/>
          </a:p>
        </p:txBody>
      </p:sp>
      <p:sp>
        <p:nvSpPr>
          <p:cNvPr id="22" name="input-255"/>
          <p:cNvSpPr/>
          <p:nvPr/>
        </p:nvSpPr>
        <p:spPr>
          <a:xfrm>
            <a:off x="5989320" y="1737360"/>
            <a:ext cx="16002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3" name="text-256"/>
          <p:cNvSpPr txBox="1"/>
          <p:nvPr/>
        </p:nvSpPr>
        <p:spPr>
          <a:xfrm>
            <a:off x="6099048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</a:t>
            </a:r>
            <a:endParaRPr lang="en-US" sz="1500" dirty="0"/>
          </a:p>
        </p:txBody>
      </p:sp>
      <p:sp>
        <p:nvSpPr>
          <p:cNvPr id="24" name="chip-257"/>
          <p:cNvSpPr/>
          <p:nvPr/>
        </p:nvSpPr>
        <p:spPr>
          <a:xfrm>
            <a:off x="7726680" y="17647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201</a:t>
            </a:r>
            <a:endParaRPr lang="en-US" sz="1400" dirty="0"/>
          </a:p>
        </p:txBody>
      </p:sp>
      <p:sp>
        <p:nvSpPr>
          <p:cNvPr id="25" name="card-258"/>
          <p:cNvSpPr/>
          <p:nvPr/>
        </p:nvSpPr>
        <p:spPr>
          <a:xfrm>
            <a:off x="8823960" y="132588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259"/>
          <p:cNvSpPr txBox="1"/>
          <p:nvPr/>
        </p:nvSpPr>
        <p:spPr>
          <a:xfrm>
            <a:off x="8961120" y="1399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女性</a:t>
            </a:r>
            <a:endParaRPr lang="en-US" sz="1100" dirty="0"/>
          </a:p>
        </p:txBody>
      </p:sp>
      <p:sp>
        <p:nvSpPr>
          <p:cNvPr id="27" name="input-260"/>
          <p:cNvSpPr/>
          <p:nvPr/>
        </p:nvSpPr>
        <p:spPr>
          <a:xfrm>
            <a:off x="8961120" y="1737360"/>
            <a:ext cx="16002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-261"/>
          <p:cNvSpPr txBox="1"/>
          <p:nvPr/>
        </p:nvSpPr>
        <p:spPr>
          <a:xfrm>
            <a:off x="9070848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</a:t>
            </a:r>
            <a:endParaRPr lang="en-US" sz="1500" dirty="0"/>
          </a:p>
        </p:txBody>
      </p:sp>
      <p:sp>
        <p:nvSpPr>
          <p:cNvPr id="29" name="chip-262"/>
          <p:cNvSpPr/>
          <p:nvPr/>
        </p:nvSpPr>
        <p:spPr>
          <a:xfrm>
            <a:off x="10698480" y="17647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201</a:t>
            </a:r>
            <a:endParaRPr lang="en-US" sz="1400" dirty="0"/>
          </a:p>
        </p:txBody>
      </p:sp>
      <p:sp>
        <p:nvSpPr>
          <p:cNvPr id="30" name="card-263"/>
          <p:cNvSpPr/>
          <p:nvPr/>
        </p:nvSpPr>
        <p:spPr>
          <a:xfrm>
            <a:off x="5852160" y="251460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-264"/>
          <p:cNvSpPr txBox="1"/>
          <p:nvPr/>
        </p:nvSpPr>
        <p:spPr>
          <a:xfrm>
            <a:off x="5989320" y="25877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小文字</a:t>
            </a:r>
            <a:endParaRPr lang="en-US" sz="1100" dirty="0"/>
          </a:p>
        </p:txBody>
      </p:sp>
      <p:sp>
        <p:nvSpPr>
          <p:cNvPr id="32" name="input-265"/>
          <p:cNvSpPr/>
          <p:nvPr/>
        </p:nvSpPr>
        <p:spPr>
          <a:xfrm>
            <a:off x="5989320" y="2926080"/>
            <a:ext cx="16002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3" name="text-266"/>
          <p:cNvSpPr txBox="1"/>
          <p:nvPr/>
        </p:nvSpPr>
        <p:spPr>
          <a:xfrm>
            <a:off x="6099048" y="2926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</a:t>
            </a:r>
            <a:endParaRPr lang="en-US" sz="1500" dirty="0"/>
          </a:p>
        </p:txBody>
      </p:sp>
      <p:sp>
        <p:nvSpPr>
          <p:cNvPr id="34" name="chip-267"/>
          <p:cNvSpPr/>
          <p:nvPr/>
        </p:nvSpPr>
        <p:spPr>
          <a:xfrm>
            <a:off x="7726680" y="295351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35" name="card-268"/>
          <p:cNvSpPr/>
          <p:nvPr/>
        </p:nvSpPr>
        <p:spPr>
          <a:xfrm>
            <a:off x="8823960" y="251460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-269"/>
          <p:cNvSpPr txBox="1"/>
          <p:nvPr/>
        </p:nvSpPr>
        <p:spPr>
          <a:xfrm>
            <a:off x="8961120" y="25877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決められていない値</a:t>
            </a:r>
            <a:endParaRPr lang="en-US" sz="1100" dirty="0"/>
          </a:p>
        </p:txBody>
      </p:sp>
      <p:sp>
        <p:nvSpPr>
          <p:cNvPr id="37" name="input-270"/>
          <p:cNvSpPr/>
          <p:nvPr/>
        </p:nvSpPr>
        <p:spPr>
          <a:xfrm>
            <a:off x="8961120" y="2926080"/>
            <a:ext cx="16002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8" name="text-271"/>
          <p:cNvSpPr txBox="1"/>
          <p:nvPr/>
        </p:nvSpPr>
        <p:spPr>
          <a:xfrm>
            <a:off x="9070848" y="2926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X</a:t>
            </a:r>
            <a:endParaRPr lang="en-US" sz="1500" dirty="0"/>
          </a:p>
        </p:txBody>
      </p:sp>
      <p:sp>
        <p:nvSpPr>
          <p:cNvPr id="39" name="chip-272"/>
          <p:cNvSpPr/>
          <p:nvPr/>
        </p:nvSpPr>
        <p:spPr>
          <a:xfrm>
            <a:off x="10698480" y="295351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40" name="card-273"/>
          <p:cNvSpPr/>
          <p:nvPr/>
        </p:nvSpPr>
        <p:spPr>
          <a:xfrm>
            <a:off x="5852160" y="370332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-274"/>
          <p:cNvSpPr txBox="1"/>
          <p:nvPr/>
        </p:nvSpPr>
        <p:spPr>
          <a:xfrm>
            <a:off x="5989320" y="3776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全角文字</a:t>
            </a:r>
            <a:endParaRPr lang="en-US" sz="1100" dirty="0"/>
          </a:p>
        </p:txBody>
      </p:sp>
      <p:sp>
        <p:nvSpPr>
          <p:cNvPr id="42" name="input-275"/>
          <p:cNvSpPr/>
          <p:nvPr/>
        </p:nvSpPr>
        <p:spPr>
          <a:xfrm>
            <a:off x="5989320" y="4114800"/>
            <a:ext cx="16002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3" name="text-276"/>
          <p:cNvSpPr txBox="1"/>
          <p:nvPr/>
        </p:nvSpPr>
        <p:spPr>
          <a:xfrm>
            <a:off x="6099048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Ｍ</a:t>
            </a:r>
            <a:endParaRPr lang="en-US" sz="1500" dirty="0"/>
          </a:p>
        </p:txBody>
      </p:sp>
      <p:sp>
        <p:nvSpPr>
          <p:cNvPr id="44" name="chip-277"/>
          <p:cNvSpPr/>
          <p:nvPr/>
        </p:nvSpPr>
        <p:spPr>
          <a:xfrm>
            <a:off x="7726680" y="414223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45" name="card-278"/>
          <p:cNvSpPr/>
          <p:nvPr/>
        </p:nvSpPr>
        <p:spPr>
          <a:xfrm>
            <a:off x="8823960" y="370332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xt-279"/>
          <p:cNvSpPr txBox="1"/>
          <p:nvPr/>
        </p:nvSpPr>
        <p:spPr>
          <a:xfrm>
            <a:off x="8961120" y="3776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2つの値</a:t>
            </a:r>
            <a:endParaRPr lang="en-US" sz="1100" dirty="0"/>
          </a:p>
        </p:txBody>
      </p:sp>
      <p:sp>
        <p:nvSpPr>
          <p:cNvPr id="47" name="input-280"/>
          <p:cNvSpPr/>
          <p:nvPr/>
        </p:nvSpPr>
        <p:spPr>
          <a:xfrm>
            <a:off x="8961120" y="4114800"/>
            <a:ext cx="16002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8" name="text-281"/>
          <p:cNvSpPr txBox="1"/>
          <p:nvPr/>
        </p:nvSpPr>
        <p:spPr>
          <a:xfrm>
            <a:off x="9070848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MF</a:t>
            </a:r>
            <a:endParaRPr lang="en-US" sz="1500" dirty="0"/>
          </a:p>
        </p:txBody>
      </p:sp>
      <p:sp>
        <p:nvSpPr>
          <p:cNvPr id="49" name="chip-282"/>
          <p:cNvSpPr/>
          <p:nvPr/>
        </p:nvSpPr>
        <p:spPr>
          <a:xfrm>
            <a:off x="10698480" y="414223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50" name="card-283"/>
          <p:cNvSpPr/>
          <p:nvPr/>
        </p:nvSpPr>
        <p:spPr>
          <a:xfrm>
            <a:off x="5852160" y="489204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1" name="text-284"/>
          <p:cNvSpPr txBox="1"/>
          <p:nvPr/>
        </p:nvSpPr>
        <p:spPr>
          <a:xfrm>
            <a:off x="5989320" y="4965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空欄</a:t>
            </a:r>
            <a:endParaRPr lang="en-US" sz="1100" dirty="0"/>
          </a:p>
        </p:txBody>
      </p:sp>
      <p:sp>
        <p:nvSpPr>
          <p:cNvPr id="52" name="input-285"/>
          <p:cNvSpPr/>
          <p:nvPr/>
        </p:nvSpPr>
        <p:spPr>
          <a:xfrm>
            <a:off x="5989320" y="5303520"/>
            <a:ext cx="16002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3" name="text-286"/>
          <p:cNvSpPr txBox="1"/>
          <p:nvPr/>
        </p:nvSpPr>
        <p:spPr>
          <a:xfrm>
            <a:off x="6099048" y="5303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""</a:t>
            </a:r>
            <a:endParaRPr lang="en-US" sz="1500" dirty="0"/>
          </a:p>
        </p:txBody>
      </p:sp>
      <p:sp>
        <p:nvSpPr>
          <p:cNvPr id="54" name="chip-287"/>
          <p:cNvSpPr/>
          <p:nvPr/>
        </p:nvSpPr>
        <p:spPr>
          <a:xfrm>
            <a:off x="7726680" y="533095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55" name="card-288"/>
          <p:cNvSpPr/>
          <p:nvPr/>
        </p:nvSpPr>
        <p:spPr>
          <a:xfrm>
            <a:off x="8823960" y="489204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text-289"/>
          <p:cNvSpPr txBox="1"/>
          <p:nvPr/>
        </p:nvSpPr>
        <p:spPr>
          <a:xfrm>
            <a:off x="8961120" y="4965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項目なし（未指定）</a:t>
            </a:r>
            <a:endParaRPr lang="en-US" sz="1100" dirty="0"/>
          </a:p>
        </p:txBody>
      </p:sp>
      <p:sp>
        <p:nvSpPr>
          <p:cNvPr id="57" name="input-290"/>
          <p:cNvSpPr/>
          <p:nvPr/>
        </p:nvSpPr>
        <p:spPr>
          <a:xfrm>
            <a:off x="8961120" y="5303520"/>
            <a:ext cx="16002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8" name="text-291"/>
          <p:cNvSpPr txBox="1"/>
          <p:nvPr/>
        </p:nvSpPr>
        <p:spPr>
          <a:xfrm>
            <a:off x="9070848" y="5303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null</a:t>
            </a:r>
            <a:endParaRPr lang="en-US" sz="1500" dirty="0"/>
          </a:p>
        </p:txBody>
      </p:sp>
      <p:sp>
        <p:nvSpPr>
          <p:cNvPr id="59" name="chip-292"/>
          <p:cNvSpPr/>
          <p:nvPr/>
        </p:nvSpPr>
        <p:spPr>
          <a:xfrm>
            <a:off x="10698480" y="533095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④ 電話番号：3つの欄それぞれに長さの境目がある</a:t>
            </a:r>
            <a:endParaRPr lang="en-US" sz="2800" dirty="0"/>
          </a:p>
        </p:txBody>
      </p:sp>
      <p:sp>
        <p:nvSpPr>
          <p:cNvPr id="3" name="input-293"/>
          <p:cNvSpPr/>
          <p:nvPr/>
        </p:nvSpPr>
        <p:spPr>
          <a:xfrm>
            <a:off x="1097280" y="1280160"/>
            <a:ext cx="2423160" cy="5669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" name="text-294"/>
          <p:cNvSpPr txBox="1"/>
          <p:nvPr/>
        </p:nvSpPr>
        <p:spPr>
          <a:xfrm>
            <a:off x="1097280" y="12801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03</a:t>
            </a:r>
            <a:endParaRPr lang="en-US" sz="2200" dirty="0"/>
          </a:p>
        </p:txBody>
      </p:sp>
      <p:sp>
        <p:nvSpPr>
          <p:cNvPr id="5" name="text-295"/>
          <p:cNvSpPr txBox="1"/>
          <p:nvPr/>
        </p:nvSpPr>
        <p:spPr>
          <a:xfrm>
            <a:off x="3794760" y="12801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－</a:t>
            </a:r>
            <a:endParaRPr lang="en-US" sz="2200" dirty="0"/>
          </a:p>
        </p:txBody>
      </p:sp>
      <p:sp>
        <p:nvSpPr>
          <p:cNvPr id="6" name="text-296"/>
          <p:cNvSpPr txBox="1"/>
          <p:nvPr/>
        </p:nvSpPr>
        <p:spPr>
          <a:xfrm>
            <a:off x="548640" y="1965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電話番号1：半角数字 2〜5文字</a:t>
            </a:r>
            <a:endParaRPr lang="en-US" sz="1300" dirty="0"/>
          </a:p>
        </p:txBody>
      </p:sp>
      <p:sp>
        <p:nvSpPr>
          <p:cNvPr id="7" name="seg-297"/>
          <p:cNvSpPr/>
          <p:nvPr/>
        </p:nvSpPr>
        <p:spPr>
          <a:xfrm>
            <a:off x="548640" y="2468880"/>
            <a:ext cx="774497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eg-298"/>
          <p:cNvSpPr/>
          <p:nvPr/>
        </p:nvSpPr>
        <p:spPr>
          <a:xfrm>
            <a:off x="1323137" y="2468880"/>
            <a:ext cx="1971446" cy="5029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2〜5文字</a:t>
            </a:r>
            <a:endParaRPr lang="en-US" sz="1300" dirty="0"/>
          </a:p>
        </p:txBody>
      </p:sp>
      <p:sp>
        <p:nvSpPr>
          <p:cNvPr id="9" name="seg-299"/>
          <p:cNvSpPr/>
          <p:nvPr/>
        </p:nvSpPr>
        <p:spPr>
          <a:xfrm>
            <a:off x="3294583" y="2468880"/>
            <a:ext cx="774497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6〜</a:t>
            </a:r>
            <a:endParaRPr lang="en-US" sz="1300" dirty="0"/>
          </a:p>
        </p:txBody>
      </p:sp>
      <p:sp>
        <p:nvSpPr>
          <p:cNvPr id="10" name="tick-300"/>
          <p:cNvSpPr/>
          <p:nvPr/>
        </p:nvSpPr>
        <p:spPr>
          <a:xfrm>
            <a:off x="900684" y="297180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pin-301"/>
          <p:cNvSpPr/>
          <p:nvPr/>
        </p:nvSpPr>
        <p:spPr>
          <a:xfrm>
            <a:off x="717804" y="309067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12" name="text-302"/>
          <p:cNvSpPr txBox="1"/>
          <p:nvPr/>
        </p:nvSpPr>
        <p:spPr>
          <a:xfrm>
            <a:off x="525780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</a:t>
            </a:r>
            <a:endParaRPr lang="en-US" sz="1300" dirty="0"/>
          </a:p>
        </p:txBody>
      </p:sp>
      <p:sp>
        <p:nvSpPr>
          <p:cNvPr id="13" name="tick-303"/>
          <p:cNvSpPr/>
          <p:nvPr/>
        </p:nvSpPr>
        <p:spPr>
          <a:xfrm>
            <a:off x="1675181" y="297180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" name="pin-304"/>
          <p:cNvSpPr/>
          <p:nvPr/>
        </p:nvSpPr>
        <p:spPr>
          <a:xfrm>
            <a:off x="1492301" y="309067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15" name="text-305"/>
          <p:cNvSpPr txBox="1"/>
          <p:nvPr/>
        </p:nvSpPr>
        <p:spPr>
          <a:xfrm>
            <a:off x="1300277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ick-306"/>
          <p:cNvSpPr/>
          <p:nvPr/>
        </p:nvSpPr>
        <p:spPr>
          <a:xfrm>
            <a:off x="2942539" y="297180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" name="pin-307"/>
          <p:cNvSpPr/>
          <p:nvPr/>
        </p:nvSpPr>
        <p:spPr>
          <a:xfrm>
            <a:off x="2759659" y="309067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18" name="text-308"/>
          <p:cNvSpPr txBox="1"/>
          <p:nvPr/>
        </p:nvSpPr>
        <p:spPr>
          <a:xfrm>
            <a:off x="2567635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01234</a:t>
            </a:r>
            <a:endParaRPr lang="en-US" sz="1300" dirty="0"/>
          </a:p>
        </p:txBody>
      </p:sp>
      <p:sp>
        <p:nvSpPr>
          <p:cNvPr id="19" name="tick-309"/>
          <p:cNvSpPr/>
          <p:nvPr/>
        </p:nvSpPr>
        <p:spPr>
          <a:xfrm>
            <a:off x="3717036" y="297180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0" name="pin-310"/>
          <p:cNvSpPr/>
          <p:nvPr/>
        </p:nvSpPr>
        <p:spPr>
          <a:xfrm>
            <a:off x="3534156" y="309067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21" name="text-311"/>
          <p:cNvSpPr txBox="1"/>
          <p:nvPr/>
        </p:nvSpPr>
        <p:spPr>
          <a:xfrm>
            <a:off x="3342132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012345</a:t>
            </a:r>
            <a:endParaRPr lang="en-US" sz="1300" dirty="0"/>
          </a:p>
        </p:txBody>
      </p:sp>
      <p:sp>
        <p:nvSpPr>
          <p:cNvPr id="22" name="input-312"/>
          <p:cNvSpPr/>
          <p:nvPr/>
        </p:nvSpPr>
        <p:spPr>
          <a:xfrm>
            <a:off x="4864608" y="1280160"/>
            <a:ext cx="2423160" cy="5669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3" name="text-313"/>
          <p:cNvSpPr txBox="1"/>
          <p:nvPr/>
        </p:nvSpPr>
        <p:spPr>
          <a:xfrm>
            <a:off x="4864608" y="12801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1234</a:t>
            </a:r>
            <a:endParaRPr lang="en-US" sz="2200" dirty="0"/>
          </a:p>
        </p:txBody>
      </p:sp>
      <p:sp>
        <p:nvSpPr>
          <p:cNvPr id="24" name="text-314"/>
          <p:cNvSpPr txBox="1"/>
          <p:nvPr/>
        </p:nvSpPr>
        <p:spPr>
          <a:xfrm>
            <a:off x="7562088" y="12801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－</a:t>
            </a:r>
            <a:endParaRPr lang="en-US" sz="2200" dirty="0"/>
          </a:p>
        </p:txBody>
      </p:sp>
      <p:sp>
        <p:nvSpPr>
          <p:cNvPr id="25" name="text-315"/>
          <p:cNvSpPr txBox="1"/>
          <p:nvPr/>
        </p:nvSpPr>
        <p:spPr>
          <a:xfrm>
            <a:off x="4315968" y="1965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電話番号2：半角数字 1〜4文字</a:t>
            </a:r>
            <a:endParaRPr lang="en-US" sz="1300" dirty="0"/>
          </a:p>
        </p:txBody>
      </p:sp>
      <p:sp>
        <p:nvSpPr>
          <p:cNvPr id="26" name="seg-316"/>
          <p:cNvSpPr/>
          <p:nvPr/>
        </p:nvSpPr>
        <p:spPr>
          <a:xfrm>
            <a:off x="4315968" y="2468880"/>
            <a:ext cx="774497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</a:t>
            </a:r>
            <a:endParaRPr lang="en-US" sz="1300" dirty="0"/>
          </a:p>
        </p:txBody>
      </p:sp>
      <p:sp>
        <p:nvSpPr>
          <p:cNvPr id="27" name="seg-317"/>
          <p:cNvSpPr/>
          <p:nvPr/>
        </p:nvSpPr>
        <p:spPr>
          <a:xfrm>
            <a:off x="5090465" y="2468880"/>
            <a:ext cx="1971446" cy="5029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1〜4文字</a:t>
            </a:r>
            <a:endParaRPr lang="en-US" sz="1300" dirty="0"/>
          </a:p>
        </p:txBody>
      </p:sp>
      <p:sp>
        <p:nvSpPr>
          <p:cNvPr id="28" name="seg-318"/>
          <p:cNvSpPr/>
          <p:nvPr/>
        </p:nvSpPr>
        <p:spPr>
          <a:xfrm>
            <a:off x="7061911" y="2468880"/>
            <a:ext cx="774497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5〜</a:t>
            </a:r>
            <a:endParaRPr lang="en-US" sz="1300" dirty="0"/>
          </a:p>
        </p:txBody>
      </p:sp>
      <p:sp>
        <p:nvSpPr>
          <p:cNvPr id="29" name="tick-319"/>
          <p:cNvSpPr/>
          <p:nvPr/>
        </p:nvSpPr>
        <p:spPr>
          <a:xfrm>
            <a:off x="4668012" y="297180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0" name="pin-320"/>
          <p:cNvSpPr/>
          <p:nvPr/>
        </p:nvSpPr>
        <p:spPr>
          <a:xfrm>
            <a:off x="4485132" y="309067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31" name="text-321"/>
          <p:cNvSpPr txBox="1"/>
          <p:nvPr/>
        </p:nvSpPr>
        <p:spPr>
          <a:xfrm>
            <a:off x="4293108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空欄</a:t>
            </a:r>
            <a:endParaRPr lang="en-US" sz="1300" dirty="0"/>
          </a:p>
        </p:txBody>
      </p:sp>
      <p:sp>
        <p:nvSpPr>
          <p:cNvPr id="32" name="tick-322"/>
          <p:cNvSpPr/>
          <p:nvPr/>
        </p:nvSpPr>
        <p:spPr>
          <a:xfrm>
            <a:off x="5442509" y="297180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3" name="pin-323"/>
          <p:cNvSpPr/>
          <p:nvPr/>
        </p:nvSpPr>
        <p:spPr>
          <a:xfrm>
            <a:off x="5259629" y="309067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34" name="text-324"/>
          <p:cNvSpPr txBox="1"/>
          <p:nvPr/>
        </p:nvSpPr>
        <p:spPr>
          <a:xfrm>
            <a:off x="5067605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35" name="tick-325"/>
          <p:cNvSpPr/>
          <p:nvPr/>
        </p:nvSpPr>
        <p:spPr>
          <a:xfrm>
            <a:off x="6709867" y="297180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6" name="pin-326"/>
          <p:cNvSpPr/>
          <p:nvPr/>
        </p:nvSpPr>
        <p:spPr>
          <a:xfrm>
            <a:off x="6526987" y="309067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37" name="text-327"/>
          <p:cNvSpPr txBox="1"/>
          <p:nvPr/>
        </p:nvSpPr>
        <p:spPr>
          <a:xfrm>
            <a:off x="6334963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1234</a:t>
            </a:r>
            <a:endParaRPr lang="en-US" sz="1300" dirty="0"/>
          </a:p>
        </p:txBody>
      </p:sp>
      <p:sp>
        <p:nvSpPr>
          <p:cNvPr id="38" name="tick-328"/>
          <p:cNvSpPr/>
          <p:nvPr/>
        </p:nvSpPr>
        <p:spPr>
          <a:xfrm>
            <a:off x="7484364" y="297180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9" name="pin-329"/>
          <p:cNvSpPr/>
          <p:nvPr/>
        </p:nvSpPr>
        <p:spPr>
          <a:xfrm>
            <a:off x="7301484" y="309067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40" name="text-330"/>
          <p:cNvSpPr txBox="1"/>
          <p:nvPr/>
        </p:nvSpPr>
        <p:spPr>
          <a:xfrm>
            <a:off x="7109460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12345</a:t>
            </a:r>
            <a:endParaRPr lang="en-US" sz="1300" dirty="0"/>
          </a:p>
        </p:txBody>
      </p:sp>
      <p:sp>
        <p:nvSpPr>
          <p:cNvPr id="41" name="input-331"/>
          <p:cNvSpPr/>
          <p:nvPr/>
        </p:nvSpPr>
        <p:spPr>
          <a:xfrm>
            <a:off x="8631936" y="1280160"/>
            <a:ext cx="2423160" cy="5669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2" name="text-332"/>
          <p:cNvSpPr txBox="1"/>
          <p:nvPr/>
        </p:nvSpPr>
        <p:spPr>
          <a:xfrm>
            <a:off x="8631936" y="12801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5678</a:t>
            </a:r>
            <a:endParaRPr lang="en-US" sz="2200" dirty="0"/>
          </a:p>
        </p:txBody>
      </p:sp>
      <p:sp>
        <p:nvSpPr>
          <p:cNvPr id="43" name="text-333"/>
          <p:cNvSpPr txBox="1"/>
          <p:nvPr/>
        </p:nvSpPr>
        <p:spPr>
          <a:xfrm>
            <a:off x="8083296" y="1965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電話番号3：半角数字 4文字固定</a:t>
            </a:r>
            <a:endParaRPr lang="en-US" sz="1300" dirty="0"/>
          </a:p>
        </p:txBody>
      </p:sp>
      <p:sp>
        <p:nvSpPr>
          <p:cNvPr id="44" name="seg-334"/>
          <p:cNvSpPr/>
          <p:nvPr/>
        </p:nvSpPr>
        <p:spPr>
          <a:xfrm>
            <a:off x="8083296" y="2468880"/>
            <a:ext cx="1161745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〜3</a:t>
            </a:r>
            <a:endParaRPr lang="en-US" sz="1300" dirty="0"/>
          </a:p>
        </p:txBody>
      </p:sp>
      <p:sp>
        <p:nvSpPr>
          <p:cNvPr id="45" name="seg-335"/>
          <p:cNvSpPr/>
          <p:nvPr/>
        </p:nvSpPr>
        <p:spPr>
          <a:xfrm>
            <a:off x="9245041" y="2468880"/>
            <a:ext cx="1196950" cy="5029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4文字</a:t>
            </a:r>
            <a:endParaRPr lang="en-US" sz="1300" dirty="0"/>
          </a:p>
        </p:txBody>
      </p:sp>
      <p:sp>
        <p:nvSpPr>
          <p:cNvPr id="46" name="seg-336"/>
          <p:cNvSpPr/>
          <p:nvPr/>
        </p:nvSpPr>
        <p:spPr>
          <a:xfrm>
            <a:off x="10441991" y="2468880"/>
            <a:ext cx="1161745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5〜</a:t>
            </a:r>
            <a:endParaRPr lang="en-US" sz="1300" dirty="0"/>
          </a:p>
        </p:txBody>
      </p:sp>
      <p:sp>
        <p:nvSpPr>
          <p:cNvPr id="47" name="tick-337"/>
          <p:cNvSpPr/>
          <p:nvPr/>
        </p:nvSpPr>
        <p:spPr>
          <a:xfrm>
            <a:off x="8681771" y="297180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48" name="pin-338"/>
          <p:cNvSpPr/>
          <p:nvPr/>
        </p:nvSpPr>
        <p:spPr>
          <a:xfrm>
            <a:off x="8498891" y="309067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49" name="text-339"/>
          <p:cNvSpPr txBox="1"/>
          <p:nvPr/>
        </p:nvSpPr>
        <p:spPr>
          <a:xfrm>
            <a:off x="8306867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567</a:t>
            </a:r>
            <a:endParaRPr lang="en-US" sz="1300" dirty="0"/>
          </a:p>
        </p:txBody>
      </p:sp>
      <p:sp>
        <p:nvSpPr>
          <p:cNvPr id="50" name="tick-340"/>
          <p:cNvSpPr/>
          <p:nvPr/>
        </p:nvSpPr>
        <p:spPr>
          <a:xfrm>
            <a:off x="9843516" y="297180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51" name="pin-341"/>
          <p:cNvSpPr/>
          <p:nvPr/>
        </p:nvSpPr>
        <p:spPr>
          <a:xfrm>
            <a:off x="9660636" y="309067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52" name="text-342"/>
          <p:cNvSpPr txBox="1"/>
          <p:nvPr/>
        </p:nvSpPr>
        <p:spPr>
          <a:xfrm>
            <a:off x="9468612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5678</a:t>
            </a:r>
            <a:endParaRPr lang="en-US" sz="1300" dirty="0"/>
          </a:p>
        </p:txBody>
      </p:sp>
      <p:sp>
        <p:nvSpPr>
          <p:cNvPr id="53" name="tick-343"/>
          <p:cNvSpPr/>
          <p:nvPr/>
        </p:nvSpPr>
        <p:spPr>
          <a:xfrm>
            <a:off x="11005261" y="297180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54" name="pin-344"/>
          <p:cNvSpPr/>
          <p:nvPr/>
        </p:nvSpPr>
        <p:spPr>
          <a:xfrm>
            <a:off x="10822381" y="309067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55" name="text-345"/>
          <p:cNvSpPr txBox="1"/>
          <p:nvPr/>
        </p:nvSpPr>
        <p:spPr>
          <a:xfrm>
            <a:off x="10630357" y="34930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56789</a:t>
            </a:r>
            <a:endParaRPr lang="en-US" sz="1300" dirty="0"/>
          </a:p>
        </p:txBody>
      </p:sp>
      <p:sp>
        <p:nvSpPr>
          <p:cNvPr id="56" name="text-346"/>
          <p:cNvSpPr txBox="1"/>
          <p:nvPr/>
        </p:nvSpPr>
        <p:spPr>
          <a:xfrm>
            <a:off x="548640" y="4114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文字の種類（3欄で共通）</a:t>
            </a:r>
            <a:endParaRPr lang="en-US" sz="1600" dirty="0"/>
          </a:p>
        </p:txBody>
      </p:sp>
      <p:sp>
        <p:nvSpPr>
          <p:cNvPr id="57" name="card-347"/>
          <p:cNvSpPr/>
          <p:nvPr/>
        </p:nvSpPr>
        <p:spPr>
          <a:xfrm>
            <a:off x="548640" y="4526280"/>
            <a:ext cx="21031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8" name="text-348"/>
          <p:cNvSpPr txBox="1"/>
          <p:nvPr/>
        </p:nvSpPr>
        <p:spPr>
          <a:xfrm>
            <a:off x="685800" y="4599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全角数字</a:t>
            </a:r>
            <a:endParaRPr lang="en-US" sz="1100" dirty="0"/>
          </a:p>
        </p:txBody>
      </p:sp>
      <p:sp>
        <p:nvSpPr>
          <p:cNvPr id="59" name="input-349"/>
          <p:cNvSpPr/>
          <p:nvPr/>
        </p:nvSpPr>
        <p:spPr>
          <a:xfrm>
            <a:off x="685800" y="4937760"/>
            <a:ext cx="914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60" name="text-350"/>
          <p:cNvSpPr txBox="1"/>
          <p:nvPr/>
        </p:nvSpPr>
        <p:spPr>
          <a:xfrm>
            <a:off x="795528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０３</a:t>
            </a:r>
            <a:endParaRPr lang="en-US" sz="1500" dirty="0"/>
          </a:p>
        </p:txBody>
      </p:sp>
      <p:sp>
        <p:nvSpPr>
          <p:cNvPr id="61" name="chip-351"/>
          <p:cNvSpPr/>
          <p:nvPr/>
        </p:nvSpPr>
        <p:spPr>
          <a:xfrm>
            <a:off x="1737360" y="49651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62" name="card-352"/>
          <p:cNvSpPr/>
          <p:nvPr/>
        </p:nvSpPr>
        <p:spPr>
          <a:xfrm>
            <a:off x="2802636" y="4526280"/>
            <a:ext cx="21031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3" name="text-353"/>
          <p:cNvSpPr txBox="1"/>
          <p:nvPr/>
        </p:nvSpPr>
        <p:spPr>
          <a:xfrm>
            <a:off x="2939796" y="4599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英字が混ざる</a:t>
            </a:r>
            <a:endParaRPr lang="en-US" sz="1100" dirty="0"/>
          </a:p>
        </p:txBody>
      </p:sp>
      <p:sp>
        <p:nvSpPr>
          <p:cNvPr id="64" name="input-354"/>
          <p:cNvSpPr/>
          <p:nvPr/>
        </p:nvSpPr>
        <p:spPr>
          <a:xfrm>
            <a:off x="2939796" y="4937760"/>
            <a:ext cx="914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65" name="text-355"/>
          <p:cNvSpPr txBox="1"/>
          <p:nvPr/>
        </p:nvSpPr>
        <p:spPr>
          <a:xfrm>
            <a:off x="3049524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0a</a:t>
            </a:r>
            <a:endParaRPr lang="en-US" sz="1500" dirty="0"/>
          </a:p>
        </p:txBody>
      </p:sp>
      <p:sp>
        <p:nvSpPr>
          <p:cNvPr id="66" name="chip-356"/>
          <p:cNvSpPr/>
          <p:nvPr/>
        </p:nvSpPr>
        <p:spPr>
          <a:xfrm>
            <a:off x="3991356" y="49651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67" name="card-357"/>
          <p:cNvSpPr/>
          <p:nvPr/>
        </p:nvSpPr>
        <p:spPr>
          <a:xfrm>
            <a:off x="5056632" y="4526280"/>
            <a:ext cx="21031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8" name="text-358"/>
          <p:cNvSpPr txBox="1"/>
          <p:nvPr/>
        </p:nvSpPr>
        <p:spPr>
          <a:xfrm>
            <a:off x="5193792" y="4599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記号が混ざる</a:t>
            </a:r>
            <a:endParaRPr lang="en-US" sz="1100" dirty="0"/>
          </a:p>
        </p:txBody>
      </p:sp>
      <p:sp>
        <p:nvSpPr>
          <p:cNvPr id="69" name="input-359"/>
          <p:cNvSpPr/>
          <p:nvPr/>
        </p:nvSpPr>
        <p:spPr>
          <a:xfrm>
            <a:off x="5193792" y="4937760"/>
            <a:ext cx="914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0" name="text-360"/>
          <p:cNvSpPr txBox="1"/>
          <p:nvPr/>
        </p:nvSpPr>
        <p:spPr>
          <a:xfrm>
            <a:off x="5303520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03-</a:t>
            </a:r>
            <a:endParaRPr lang="en-US" sz="1500" dirty="0"/>
          </a:p>
        </p:txBody>
      </p:sp>
      <p:sp>
        <p:nvSpPr>
          <p:cNvPr id="71" name="chip-361"/>
          <p:cNvSpPr/>
          <p:nvPr/>
        </p:nvSpPr>
        <p:spPr>
          <a:xfrm>
            <a:off x="6245352" y="49651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72" name="card-362"/>
          <p:cNvSpPr/>
          <p:nvPr/>
        </p:nvSpPr>
        <p:spPr>
          <a:xfrm>
            <a:off x="7310628" y="4526280"/>
            <a:ext cx="21031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3" name="text-363"/>
          <p:cNvSpPr txBox="1"/>
          <p:nvPr/>
        </p:nvSpPr>
        <p:spPr>
          <a:xfrm>
            <a:off x="7447788" y="4599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空欄</a:t>
            </a:r>
            <a:endParaRPr lang="en-US" sz="1100" dirty="0"/>
          </a:p>
        </p:txBody>
      </p:sp>
      <p:sp>
        <p:nvSpPr>
          <p:cNvPr id="74" name="input-364"/>
          <p:cNvSpPr/>
          <p:nvPr/>
        </p:nvSpPr>
        <p:spPr>
          <a:xfrm>
            <a:off x="7447788" y="4937760"/>
            <a:ext cx="914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5" name="text-365"/>
          <p:cNvSpPr txBox="1"/>
          <p:nvPr/>
        </p:nvSpPr>
        <p:spPr>
          <a:xfrm>
            <a:off x="7557516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""</a:t>
            </a:r>
            <a:endParaRPr lang="en-US" sz="1500" dirty="0"/>
          </a:p>
        </p:txBody>
      </p:sp>
      <p:sp>
        <p:nvSpPr>
          <p:cNvPr id="76" name="chip-366"/>
          <p:cNvSpPr/>
          <p:nvPr/>
        </p:nvSpPr>
        <p:spPr>
          <a:xfrm>
            <a:off x="8499348" y="49651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77" name="card-367"/>
          <p:cNvSpPr/>
          <p:nvPr/>
        </p:nvSpPr>
        <p:spPr>
          <a:xfrm>
            <a:off x="9564624" y="4526280"/>
            <a:ext cx="21031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8" name="text-368"/>
          <p:cNvSpPr txBox="1"/>
          <p:nvPr/>
        </p:nvSpPr>
        <p:spPr>
          <a:xfrm>
            <a:off x="9701784" y="4599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未指定</a:t>
            </a:r>
            <a:endParaRPr lang="en-US" sz="1100" dirty="0"/>
          </a:p>
        </p:txBody>
      </p:sp>
      <p:sp>
        <p:nvSpPr>
          <p:cNvPr id="79" name="input-369"/>
          <p:cNvSpPr/>
          <p:nvPr/>
        </p:nvSpPr>
        <p:spPr>
          <a:xfrm>
            <a:off x="9701784" y="4937760"/>
            <a:ext cx="914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0" name="text-370"/>
          <p:cNvSpPr txBox="1"/>
          <p:nvPr/>
        </p:nvSpPr>
        <p:spPr>
          <a:xfrm>
            <a:off x="9811512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null</a:t>
            </a:r>
            <a:endParaRPr lang="en-US" sz="1500" dirty="0"/>
          </a:p>
        </p:txBody>
      </p:sp>
      <p:sp>
        <p:nvSpPr>
          <p:cNvPr id="81" name="chip-371"/>
          <p:cNvSpPr/>
          <p:nvPr/>
        </p:nvSpPr>
        <p:spPr>
          <a:xfrm>
            <a:off x="10753344" y="496519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82" name="text-372"/>
          <p:cNvSpPr txBox="1"/>
          <p:nvPr/>
        </p:nvSpPr>
        <p:spPr>
          <a:xfrm>
            <a:off x="54864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電話番号3は「4文字固定」なので、境目は 3／4／5文字 の3点だけ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⑤ メールアドレス：長さと形式の両方をチェック</a:t>
            </a:r>
            <a:endParaRPr lang="en-US" sz="2800" dirty="0"/>
          </a:p>
        </p:txBody>
      </p:sp>
      <p:sp>
        <p:nvSpPr>
          <p:cNvPr id="3" name="text-373"/>
          <p:cNvSpPr txBox="1"/>
          <p:nvPr/>
        </p:nvSpPr>
        <p:spPr>
          <a:xfrm>
            <a:off x="548640" y="12344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長さ</a:t>
            </a:r>
            <a:endParaRPr lang="en-US" sz="1600" dirty="0"/>
          </a:p>
        </p:txBody>
      </p:sp>
      <p:sp>
        <p:nvSpPr>
          <p:cNvPr id="4" name="seg-374"/>
          <p:cNvSpPr/>
          <p:nvPr/>
        </p:nvSpPr>
        <p:spPr>
          <a:xfrm>
            <a:off x="548640" y="1691640"/>
            <a:ext cx="755294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</a:t>
            </a:r>
            <a:endParaRPr lang="en-US" sz="1300" dirty="0"/>
          </a:p>
        </p:txBody>
      </p:sp>
      <p:sp>
        <p:nvSpPr>
          <p:cNvPr id="5" name="seg-375"/>
          <p:cNvSpPr/>
          <p:nvPr/>
        </p:nvSpPr>
        <p:spPr>
          <a:xfrm>
            <a:off x="1303934" y="1691640"/>
            <a:ext cx="3560674" cy="5029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1〜256文字</a:t>
            </a:r>
            <a:endParaRPr lang="en-US" sz="1300" dirty="0"/>
          </a:p>
        </p:txBody>
      </p:sp>
      <p:sp>
        <p:nvSpPr>
          <p:cNvPr id="6" name="seg-376"/>
          <p:cNvSpPr/>
          <p:nvPr/>
        </p:nvSpPr>
        <p:spPr>
          <a:xfrm>
            <a:off x="4864608" y="1691640"/>
            <a:ext cx="1078992" cy="502920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257〜</a:t>
            </a:r>
            <a:endParaRPr lang="en-US" sz="1300" dirty="0"/>
          </a:p>
        </p:txBody>
      </p:sp>
      <p:sp>
        <p:nvSpPr>
          <p:cNvPr id="7" name="tick-377"/>
          <p:cNvSpPr/>
          <p:nvPr/>
        </p:nvSpPr>
        <p:spPr>
          <a:xfrm>
            <a:off x="926287" y="219456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8" name="pin-378"/>
          <p:cNvSpPr/>
          <p:nvPr/>
        </p:nvSpPr>
        <p:spPr>
          <a:xfrm>
            <a:off x="743407" y="231343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9" name="text-379"/>
          <p:cNvSpPr txBox="1"/>
          <p:nvPr/>
        </p:nvSpPr>
        <p:spPr>
          <a:xfrm>
            <a:off x="491947" y="2715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空欄</a:t>
            </a:r>
            <a:endParaRPr lang="en-US" sz="1300" dirty="0"/>
          </a:p>
        </p:txBody>
      </p:sp>
      <p:sp>
        <p:nvSpPr>
          <p:cNvPr id="10" name="tick-380"/>
          <p:cNvSpPr/>
          <p:nvPr/>
        </p:nvSpPr>
        <p:spPr>
          <a:xfrm>
            <a:off x="1789481" y="219456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pin-381"/>
          <p:cNvSpPr/>
          <p:nvPr/>
        </p:nvSpPr>
        <p:spPr>
          <a:xfrm>
            <a:off x="1606601" y="231343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12" name="text-382"/>
          <p:cNvSpPr txBox="1"/>
          <p:nvPr/>
        </p:nvSpPr>
        <p:spPr>
          <a:xfrm>
            <a:off x="1355141" y="2715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1文字</a:t>
            </a:r>
            <a:endParaRPr lang="en-US" sz="1300" dirty="0"/>
          </a:p>
        </p:txBody>
      </p:sp>
      <p:sp>
        <p:nvSpPr>
          <p:cNvPr id="13" name="text-383"/>
          <p:cNvSpPr txBox="1"/>
          <p:nvPr/>
        </p:nvSpPr>
        <p:spPr>
          <a:xfrm>
            <a:off x="1240841" y="3008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a（形式NG）</a:t>
            </a:r>
            <a:endParaRPr lang="en-US" sz="1100" dirty="0"/>
          </a:p>
        </p:txBody>
      </p:sp>
      <p:sp>
        <p:nvSpPr>
          <p:cNvPr id="14" name="tick-384"/>
          <p:cNvSpPr/>
          <p:nvPr/>
        </p:nvSpPr>
        <p:spPr>
          <a:xfrm>
            <a:off x="2922422" y="219456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" name="pin-385"/>
          <p:cNvSpPr/>
          <p:nvPr/>
        </p:nvSpPr>
        <p:spPr>
          <a:xfrm>
            <a:off x="2739542" y="231343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16" name="text-386"/>
          <p:cNvSpPr txBox="1"/>
          <p:nvPr/>
        </p:nvSpPr>
        <p:spPr>
          <a:xfrm>
            <a:off x="2488082" y="2715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6文字</a:t>
            </a:r>
            <a:endParaRPr lang="en-US" sz="1300" dirty="0"/>
          </a:p>
        </p:txBody>
      </p:sp>
      <p:sp>
        <p:nvSpPr>
          <p:cNvPr id="17" name="text-387"/>
          <p:cNvSpPr txBox="1"/>
          <p:nvPr/>
        </p:nvSpPr>
        <p:spPr>
          <a:xfrm>
            <a:off x="2373782" y="3008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a@b.jp</a:t>
            </a:r>
            <a:endParaRPr lang="en-US" sz="1100" dirty="0"/>
          </a:p>
        </p:txBody>
      </p:sp>
      <p:sp>
        <p:nvSpPr>
          <p:cNvPr id="18" name="tick-388"/>
          <p:cNvSpPr/>
          <p:nvPr/>
        </p:nvSpPr>
        <p:spPr>
          <a:xfrm>
            <a:off x="4325112" y="2194560"/>
            <a:ext cx="0" cy="1188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9" name="pin-389"/>
          <p:cNvSpPr/>
          <p:nvPr/>
        </p:nvSpPr>
        <p:spPr>
          <a:xfrm>
            <a:off x="4142232" y="2313432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○</a:t>
            </a:r>
            <a:endParaRPr lang="en-US" sz="1400" dirty="0"/>
          </a:p>
        </p:txBody>
      </p:sp>
      <p:sp>
        <p:nvSpPr>
          <p:cNvPr id="20" name="text-390"/>
          <p:cNvSpPr txBox="1"/>
          <p:nvPr/>
        </p:nvSpPr>
        <p:spPr>
          <a:xfrm>
            <a:off x="3890772" y="2715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256文字</a:t>
            </a:r>
            <a:endParaRPr lang="en-US" sz="1300" dirty="0"/>
          </a:p>
        </p:txBody>
      </p:sp>
      <p:sp>
        <p:nvSpPr>
          <p:cNvPr id="21" name="text-391"/>
          <p:cNvSpPr txBox="1"/>
          <p:nvPr/>
        </p:nvSpPr>
        <p:spPr>
          <a:xfrm>
            <a:off x="3776472" y="3008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上限</a:t>
            </a:r>
            <a:endParaRPr lang="en-US" sz="1100" dirty="0"/>
          </a:p>
        </p:txBody>
      </p:sp>
      <p:sp>
        <p:nvSpPr>
          <p:cNvPr id="22" name="tick-392"/>
          <p:cNvSpPr/>
          <p:nvPr/>
        </p:nvSpPr>
        <p:spPr>
          <a:xfrm>
            <a:off x="5404104" y="2194560"/>
            <a:ext cx="0" cy="11887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3" name="pin-393"/>
          <p:cNvSpPr/>
          <p:nvPr/>
        </p:nvSpPr>
        <p:spPr>
          <a:xfrm>
            <a:off x="5221224" y="2313432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24" name="text-394"/>
          <p:cNvSpPr txBox="1"/>
          <p:nvPr/>
        </p:nvSpPr>
        <p:spPr>
          <a:xfrm>
            <a:off x="4969764" y="2715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257文字</a:t>
            </a:r>
            <a:endParaRPr lang="en-US" sz="1300" dirty="0"/>
          </a:p>
        </p:txBody>
      </p:sp>
      <p:sp>
        <p:nvSpPr>
          <p:cNvPr id="25" name="text-395"/>
          <p:cNvSpPr txBox="1"/>
          <p:nvPr/>
        </p:nvSpPr>
        <p:spPr>
          <a:xfrm>
            <a:off x="4855464" y="3008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上限+1</a:t>
            </a:r>
            <a:endParaRPr lang="en-US" sz="1100" dirty="0"/>
          </a:p>
        </p:txBody>
      </p:sp>
      <p:sp>
        <p:nvSpPr>
          <p:cNvPr id="26" name="text-396"/>
          <p:cNvSpPr txBox="1"/>
          <p:nvPr/>
        </p:nvSpPr>
        <p:spPr>
          <a:xfrm>
            <a:off x="54864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256文字の例：「a」を244個 ＋「@example.com」（12文字）</a:t>
            </a:r>
            <a:endParaRPr lang="en-US" sz="1200" dirty="0"/>
          </a:p>
        </p:txBody>
      </p:sp>
      <p:sp>
        <p:nvSpPr>
          <p:cNvPr id="27" name="callout-397"/>
          <p:cNvSpPr/>
          <p:nvPr/>
        </p:nvSpPr>
        <p:spPr>
          <a:xfrm>
            <a:off x="548640" y="4023360"/>
            <a:ext cx="5394960" cy="1325880"/>
          </a:xfrm>
          <a:prstGeom prst="roundRect">
            <a:avLst>
              <a:gd name="adj" fmla="val 551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-398"/>
          <p:cNvSpPr txBox="1"/>
          <p:nvPr/>
        </p:nvSpPr>
        <p:spPr>
          <a:xfrm>
            <a:off x="777240" y="41605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下限「1文字」は仕様どおりテストする</a:t>
            </a:r>
            <a:endParaRPr lang="en-US" sz="1400" dirty="0"/>
          </a:p>
        </p:txBody>
      </p:sp>
      <p:sp>
        <p:nvSpPr>
          <p:cNvPr id="29" name="text-399"/>
          <p:cNvSpPr txBox="1"/>
          <p:nvPr/>
        </p:nvSpPr>
        <p:spPr>
          <a:xfrm>
            <a:off x="777240" y="455371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1文字は文字数の範囲内だが、メールアドレスの形式を満たせないため 400 になる。</a:t>
            </a:r>
            <a:endParaRPr lang="en-US" sz="1300" dirty="0"/>
          </a:p>
        </p:txBody>
      </p:sp>
      <p:sp>
        <p:nvSpPr>
          <p:cNvPr id="30" name="text-400"/>
          <p:cNvSpPr txBox="1"/>
          <p:nvPr/>
        </p:nvSpPr>
        <p:spPr>
          <a:xfrm>
            <a:off x="6309360" y="12344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形式</a:t>
            </a:r>
            <a:endParaRPr lang="en-US" sz="1600" dirty="0"/>
          </a:p>
        </p:txBody>
      </p:sp>
      <p:sp>
        <p:nvSpPr>
          <p:cNvPr id="31" name="card-401"/>
          <p:cNvSpPr/>
          <p:nvPr/>
        </p:nvSpPr>
        <p:spPr>
          <a:xfrm>
            <a:off x="6309360" y="1691640"/>
            <a:ext cx="53035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-402"/>
          <p:cNvSpPr txBox="1"/>
          <p:nvPr/>
        </p:nvSpPr>
        <p:spPr>
          <a:xfrm>
            <a:off x="6446520" y="16916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正しい形式</a:t>
            </a:r>
            <a:endParaRPr lang="en-US" sz="1200" dirty="0"/>
          </a:p>
        </p:txBody>
      </p:sp>
      <p:sp>
        <p:nvSpPr>
          <p:cNvPr id="33" name="input-403"/>
          <p:cNvSpPr/>
          <p:nvPr/>
        </p:nvSpPr>
        <p:spPr>
          <a:xfrm>
            <a:off x="8092440" y="1773936"/>
            <a:ext cx="2468880" cy="4023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text-404"/>
          <p:cNvSpPr txBox="1"/>
          <p:nvPr/>
        </p:nvSpPr>
        <p:spPr>
          <a:xfrm>
            <a:off x="8202168" y="17739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taro@example.com</a:t>
            </a:r>
            <a:endParaRPr lang="en-US" sz="1400" dirty="0"/>
          </a:p>
        </p:txBody>
      </p:sp>
      <p:sp>
        <p:nvSpPr>
          <p:cNvPr id="35" name="chip-405"/>
          <p:cNvSpPr/>
          <p:nvPr/>
        </p:nvSpPr>
        <p:spPr>
          <a:xfrm>
            <a:off x="10698480" y="1773936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201</a:t>
            </a:r>
            <a:endParaRPr lang="en-US" sz="1400" dirty="0"/>
          </a:p>
        </p:txBody>
      </p:sp>
      <p:sp>
        <p:nvSpPr>
          <p:cNvPr id="36" name="card-406"/>
          <p:cNvSpPr/>
          <p:nvPr/>
        </p:nvSpPr>
        <p:spPr>
          <a:xfrm>
            <a:off x="6309360" y="2350008"/>
            <a:ext cx="53035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-407"/>
          <p:cNvSpPr txBox="1"/>
          <p:nvPr/>
        </p:nvSpPr>
        <p:spPr>
          <a:xfrm>
            <a:off x="6446520" y="23500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@ がない</a:t>
            </a:r>
            <a:endParaRPr lang="en-US" sz="1200" dirty="0"/>
          </a:p>
        </p:txBody>
      </p:sp>
      <p:sp>
        <p:nvSpPr>
          <p:cNvPr id="38" name="input-408"/>
          <p:cNvSpPr/>
          <p:nvPr/>
        </p:nvSpPr>
        <p:spPr>
          <a:xfrm>
            <a:off x="8092440" y="2432304"/>
            <a:ext cx="2468880" cy="4023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9" name="text-409"/>
          <p:cNvSpPr txBox="1"/>
          <p:nvPr/>
        </p:nvSpPr>
        <p:spPr>
          <a:xfrm>
            <a:off x="8202168" y="24323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taro.example.com</a:t>
            </a:r>
            <a:endParaRPr lang="en-US" sz="1400" dirty="0"/>
          </a:p>
        </p:txBody>
      </p:sp>
      <p:sp>
        <p:nvSpPr>
          <p:cNvPr id="40" name="chip-410"/>
          <p:cNvSpPr/>
          <p:nvPr/>
        </p:nvSpPr>
        <p:spPr>
          <a:xfrm>
            <a:off x="10698480" y="2432304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41" name="card-411"/>
          <p:cNvSpPr/>
          <p:nvPr/>
        </p:nvSpPr>
        <p:spPr>
          <a:xfrm>
            <a:off x="6309360" y="3008376"/>
            <a:ext cx="53035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-412"/>
          <p:cNvSpPr txBox="1"/>
          <p:nvPr/>
        </p:nvSpPr>
        <p:spPr>
          <a:xfrm>
            <a:off x="6446520" y="300837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@ の前がない</a:t>
            </a:r>
            <a:endParaRPr lang="en-US" sz="1200" dirty="0"/>
          </a:p>
        </p:txBody>
      </p:sp>
      <p:sp>
        <p:nvSpPr>
          <p:cNvPr id="43" name="input-413"/>
          <p:cNvSpPr/>
          <p:nvPr/>
        </p:nvSpPr>
        <p:spPr>
          <a:xfrm>
            <a:off x="8092440" y="3090672"/>
            <a:ext cx="2468880" cy="4023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4" name="text-414"/>
          <p:cNvSpPr txBox="1"/>
          <p:nvPr/>
        </p:nvSpPr>
        <p:spPr>
          <a:xfrm>
            <a:off x="8202168" y="30906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@example.com</a:t>
            </a:r>
            <a:endParaRPr lang="en-US" sz="1400" dirty="0"/>
          </a:p>
        </p:txBody>
      </p:sp>
      <p:sp>
        <p:nvSpPr>
          <p:cNvPr id="45" name="chip-415"/>
          <p:cNvSpPr/>
          <p:nvPr/>
        </p:nvSpPr>
        <p:spPr>
          <a:xfrm>
            <a:off x="10698480" y="3090672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46" name="card-416"/>
          <p:cNvSpPr/>
          <p:nvPr/>
        </p:nvSpPr>
        <p:spPr>
          <a:xfrm>
            <a:off x="6309360" y="3666744"/>
            <a:ext cx="53035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-417"/>
          <p:cNvSpPr txBox="1"/>
          <p:nvPr/>
        </p:nvSpPr>
        <p:spPr>
          <a:xfrm>
            <a:off x="6446520" y="36667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@ の後ろがない</a:t>
            </a:r>
            <a:endParaRPr lang="en-US" sz="1200" dirty="0"/>
          </a:p>
        </p:txBody>
      </p:sp>
      <p:sp>
        <p:nvSpPr>
          <p:cNvPr id="48" name="input-418"/>
          <p:cNvSpPr/>
          <p:nvPr/>
        </p:nvSpPr>
        <p:spPr>
          <a:xfrm>
            <a:off x="8092440" y="3749040"/>
            <a:ext cx="2468880" cy="4023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9" name="text-419"/>
          <p:cNvSpPr txBox="1"/>
          <p:nvPr/>
        </p:nvSpPr>
        <p:spPr>
          <a:xfrm>
            <a:off x="8202168" y="3749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taro@</a:t>
            </a:r>
            <a:endParaRPr lang="en-US" sz="1400" dirty="0"/>
          </a:p>
        </p:txBody>
      </p:sp>
      <p:sp>
        <p:nvSpPr>
          <p:cNvPr id="50" name="chip-420"/>
          <p:cNvSpPr/>
          <p:nvPr/>
        </p:nvSpPr>
        <p:spPr>
          <a:xfrm>
            <a:off x="10698480" y="3749040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51" name="card-421"/>
          <p:cNvSpPr/>
          <p:nvPr/>
        </p:nvSpPr>
        <p:spPr>
          <a:xfrm>
            <a:off x="6309360" y="4325112"/>
            <a:ext cx="53035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ext-422"/>
          <p:cNvSpPr txBox="1"/>
          <p:nvPr/>
        </p:nvSpPr>
        <p:spPr>
          <a:xfrm>
            <a:off x="6446520" y="43251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@ が2つ</a:t>
            </a:r>
            <a:endParaRPr lang="en-US" sz="1200" dirty="0"/>
          </a:p>
        </p:txBody>
      </p:sp>
      <p:sp>
        <p:nvSpPr>
          <p:cNvPr id="53" name="input-423"/>
          <p:cNvSpPr/>
          <p:nvPr/>
        </p:nvSpPr>
        <p:spPr>
          <a:xfrm>
            <a:off x="8092440" y="4407408"/>
            <a:ext cx="2468880" cy="4023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4" name="text-424"/>
          <p:cNvSpPr txBox="1"/>
          <p:nvPr/>
        </p:nvSpPr>
        <p:spPr>
          <a:xfrm>
            <a:off x="8202168" y="44074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taro@@example.com</a:t>
            </a:r>
            <a:endParaRPr lang="en-US" sz="1400" dirty="0"/>
          </a:p>
        </p:txBody>
      </p:sp>
      <p:sp>
        <p:nvSpPr>
          <p:cNvPr id="55" name="chip-425"/>
          <p:cNvSpPr/>
          <p:nvPr/>
        </p:nvSpPr>
        <p:spPr>
          <a:xfrm>
            <a:off x="10698480" y="4407408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56" name="card-426"/>
          <p:cNvSpPr/>
          <p:nvPr/>
        </p:nvSpPr>
        <p:spPr>
          <a:xfrm>
            <a:off x="6309360" y="4983480"/>
            <a:ext cx="53035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7" name="text-427"/>
          <p:cNvSpPr txBox="1"/>
          <p:nvPr/>
        </p:nvSpPr>
        <p:spPr>
          <a:xfrm>
            <a:off x="6446520" y="4983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全角文字が混ざる</a:t>
            </a:r>
            <a:endParaRPr lang="en-US" sz="1200" dirty="0"/>
          </a:p>
        </p:txBody>
      </p:sp>
      <p:sp>
        <p:nvSpPr>
          <p:cNvPr id="58" name="input-428"/>
          <p:cNvSpPr/>
          <p:nvPr/>
        </p:nvSpPr>
        <p:spPr>
          <a:xfrm>
            <a:off x="8092440" y="5065776"/>
            <a:ext cx="2468880" cy="4023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9" name="text-429"/>
          <p:cNvSpPr txBox="1"/>
          <p:nvPr/>
        </p:nvSpPr>
        <p:spPr>
          <a:xfrm>
            <a:off x="8202168" y="50657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たろう@example.com</a:t>
            </a:r>
            <a:endParaRPr lang="en-US" sz="1400" dirty="0"/>
          </a:p>
        </p:txBody>
      </p:sp>
      <p:sp>
        <p:nvSpPr>
          <p:cNvPr id="60" name="chip-430"/>
          <p:cNvSpPr/>
          <p:nvPr/>
        </p:nvSpPr>
        <p:spPr>
          <a:xfrm>
            <a:off x="10698480" y="5065776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61" name="card-431"/>
          <p:cNvSpPr/>
          <p:nvPr/>
        </p:nvSpPr>
        <p:spPr>
          <a:xfrm>
            <a:off x="6309360" y="5641848"/>
            <a:ext cx="53035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2" name="text-432"/>
          <p:cNvSpPr txBox="1"/>
          <p:nvPr/>
        </p:nvSpPr>
        <p:spPr>
          <a:xfrm>
            <a:off x="6446520" y="5641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1文字</a:t>
            </a:r>
            <a:endParaRPr lang="en-US" sz="1200" dirty="0"/>
          </a:p>
        </p:txBody>
      </p:sp>
      <p:sp>
        <p:nvSpPr>
          <p:cNvPr id="63" name="input-433"/>
          <p:cNvSpPr/>
          <p:nvPr/>
        </p:nvSpPr>
        <p:spPr>
          <a:xfrm>
            <a:off x="8092440" y="5724144"/>
            <a:ext cx="2468880" cy="4023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64" name="text-434"/>
          <p:cNvSpPr txBox="1"/>
          <p:nvPr/>
        </p:nvSpPr>
        <p:spPr>
          <a:xfrm>
            <a:off x="8202168" y="57241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65" name="chip-435"/>
          <p:cNvSpPr/>
          <p:nvPr/>
        </p:nvSpPr>
        <p:spPr>
          <a:xfrm>
            <a:off x="10698480" y="5724144"/>
            <a:ext cx="777240" cy="402336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⑥ 搭乗者情報：1件以上必要、全員分をチェック</a:t>
            </a:r>
            <a:endParaRPr lang="en-US" sz="2800" dirty="0"/>
          </a:p>
        </p:txBody>
      </p:sp>
      <p:sp>
        <p:nvSpPr>
          <p:cNvPr id="3" name="text-436"/>
          <p:cNvSpPr txBox="1"/>
          <p:nvPr/>
        </p:nvSpPr>
        <p:spPr>
          <a:xfrm>
            <a:off x="548640" y="1280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0件（未指定も含む）</a:t>
            </a:r>
            <a:endParaRPr lang="en-US" sz="1600" dirty="0"/>
          </a:p>
        </p:txBody>
      </p:sp>
      <p:sp>
        <p:nvSpPr>
          <p:cNvPr id="4" name="text-437"/>
          <p:cNvSpPr txBox="1"/>
          <p:nvPr/>
        </p:nvSpPr>
        <p:spPr>
          <a:xfrm>
            <a:off x="548640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 ] ／ null</a:t>
            </a:r>
            <a:endParaRPr lang="en-US" sz="1200" dirty="0"/>
          </a:p>
        </p:txBody>
      </p:sp>
      <p:sp>
        <p:nvSpPr>
          <p:cNvPr id="5" name="paxArea-438"/>
          <p:cNvSpPr/>
          <p:nvPr/>
        </p:nvSpPr>
        <p:spPr>
          <a:xfrm>
            <a:off x="548640" y="21031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439"/>
          <p:cNvSpPr txBox="1"/>
          <p:nvPr/>
        </p:nvSpPr>
        <p:spPr>
          <a:xfrm>
            <a:off x="548640" y="2103120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搭乗者なし</a:t>
            </a:r>
            <a:endParaRPr lang="en-US" sz="1400" dirty="0"/>
          </a:p>
        </p:txBody>
      </p:sp>
      <p:sp>
        <p:nvSpPr>
          <p:cNvPr id="7" name="chip-440"/>
          <p:cNvSpPr/>
          <p:nvPr/>
        </p:nvSpPr>
        <p:spPr>
          <a:xfrm>
            <a:off x="548640" y="46634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400　入力エラー</a:t>
            </a:r>
            <a:endParaRPr lang="en-US" sz="1600" dirty="0"/>
          </a:p>
        </p:txBody>
      </p:sp>
      <p:sp>
        <p:nvSpPr>
          <p:cNvPr id="8" name="text-441"/>
          <p:cNvSpPr txBox="1"/>
          <p:nvPr/>
        </p:nvSpPr>
        <p:spPr>
          <a:xfrm>
            <a:off x="548640" y="5349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件数の下限−1。空の配列と、項目なしの両方を確認</a:t>
            </a:r>
            <a:endParaRPr lang="en-US" sz="1200" dirty="0"/>
          </a:p>
        </p:txBody>
      </p:sp>
      <p:sp>
        <p:nvSpPr>
          <p:cNvPr id="9" name="text-442"/>
          <p:cNvSpPr txBox="1"/>
          <p:nvPr/>
        </p:nvSpPr>
        <p:spPr>
          <a:xfrm>
            <a:off x="3364992" y="1280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1件</a:t>
            </a:r>
            <a:endParaRPr lang="en-US" sz="1600" dirty="0"/>
          </a:p>
        </p:txBody>
      </p:sp>
      <p:sp>
        <p:nvSpPr>
          <p:cNvPr id="10" name="text-443"/>
          <p:cNvSpPr txBox="1"/>
          <p:nvPr/>
        </p:nvSpPr>
        <p:spPr>
          <a:xfrm>
            <a:off x="3364992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最小の構成</a:t>
            </a:r>
            <a:endParaRPr lang="en-US" sz="1200" dirty="0"/>
          </a:p>
        </p:txBody>
      </p:sp>
      <p:sp>
        <p:nvSpPr>
          <p:cNvPr id="11" name="paxArea-444"/>
          <p:cNvSpPr/>
          <p:nvPr/>
        </p:nvSpPr>
        <p:spPr>
          <a:xfrm>
            <a:off x="3364992" y="21031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x-445"/>
          <p:cNvSpPr/>
          <p:nvPr/>
        </p:nvSpPr>
        <p:spPr>
          <a:xfrm>
            <a:off x="3502152" y="2240280"/>
            <a:ext cx="233172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-446"/>
          <p:cNvSpPr txBox="1"/>
          <p:nvPr/>
        </p:nvSpPr>
        <p:spPr>
          <a:xfrm>
            <a:off x="3639312" y="23134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搭乗者1</a:t>
            </a:r>
            <a:endParaRPr lang="en-US" sz="1100" dirty="0"/>
          </a:p>
        </p:txBody>
      </p:sp>
      <p:sp>
        <p:nvSpPr>
          <p:cNvPr id="14" name="text-447"/>
          <p:cNvSpPr txBox="1"/>
          <p:nvPr/>
        </p:nvSpPr>
        <p:spPr>
          <a:xfrm>
            <a:off x="3639312" y="25694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スズキ ハナコ</a:t>
            </a:r>
            <a:endParaRPr lang="en-US" sz="1400" dirty="0"/>
          </a:p>
        </p:txBody>
      </p:sp>
      <p:sp>
        <p:nvSpPr>
          <p:cNvPr id="15" name="text-448"/>
          <p:cNvSpPr txBox="1"/>
          <p:nvPr/>
        </p:nvSpPr>
        <p:spPr>
          <a:xfrm>
            <a:off x="3639312" y="28437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10歳 ／ F</a:t>
            </a:r>
            <a:endParaRPr lang="en-US" sz="1100" dirty="0"/>
          </a:p>
        </p:txBody>
      </p:sp>
      <p:sp>
        <p:nvSpPr>
          <p:cNvPr id="16" name="chip-449"/>
          <p:cNvSpPr/>
          <p:nvPr/>
        </p:nvSpPr>
        <p:spPr>
          <a:xfrm>
            <a:off x="3364992" y="46634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201　予約OK</a:t>
            </a:r>
            <a:endParaRPr lang="en-US" sz="1600" dirty="0"/>
          </a:p>
        </p:txBody>
      </p:sp>
      <p:sp>
        <p:nvSpPr>
          <p:cNvPr id="17" name="text-450"/>
          <p:cNvSpPr txBox="1"/>
          <p:nvPr/>
        </p:nvSpPr>
        <p:spPr>
          <a:xfrm>
            <a:off x="3364992" y="5349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件数の下限。1人だけでも予約できる</a:t>
            </a:r>
            <a:endParaRPr lang="en-US" sz="1200" dirty="0"/>
          </a:p>
        </p:txBody>
      </p:sp>
      <p:sp>
        <p:nvSpPr>
          <p:cNvPr id="18" name="text-451"/>
          <p:cNvSpPr txBox="1"/>
          <p:nvPr/>
        </p:nvSpPr>
        <p:spPr>
          <a:xfrm>
            <a:off x="6181344" y="1280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2件</a:t>
            </a:r>
            <a:endParaRPr lang="en-US" sz="1600" dirty="0"/>
          </a:p>
        </p:txBody>
      </p:sp>
      <p:sp>
        <p:nvSpPr>
          <p:cNvPr id="19" name="text-452"/>
          <p:cNvSpPr txBox="1"/>
          <p:nvPr/>
        </p:nvSpPr>
        <p:spPr>
          <a:xfrm>
            <a:off x="6181344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複数の搭乗者</a:t>
            </a:r>
            <a:endParaRPr lang="en-US" sz="1200" dirty="0"/>
          </a:p>
        </p:txBody>
      </p:sp>
      <p:sp>
        <p:nvSpPr>
          <p:cNvPr id="20" name="paxArea-453"/>
          <p:cNvSpPr/>
          <p:nvPr/>
        </p:nvSpPr>
        <p:spPr>
          <a:xfrm>
            <a:off x="6181344" y="21031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x-454"/>
          <p:cNvSpPr/>
          <p:nvPr/>
        </p:nvSpPr>
        <p:spPr>
          <a:xfrm>
            <a:off x="6318504" y="2240280"/>
            <a:ext cx="233172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-455"/>
          <p:cNvSpPr txBox="1"/>
          <p:nvPr/>
        </p:nvSpPr>
        <p:spPr>
          <a:xfrm>
            <a:off x="6455664" y="23134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搭乗者1</a:t>
            </a:r>
            <a:endParaRPr lang="en-US" sz="1100" dirty="0"/>
          </a:p>
        </p:txBody>
      </p:sp>
      <p:sp>
        <p:nvSpPr>
          <p:cNvPr id="23" name="text-456"/>
          <p:cNvSpPr txBox="1"/>
          <p:nvPr/>
        </p:nvSpPr>
        <p:spPr>
          <a:xfrm>
            <a:off x="6455664" y="25694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スズキ ハナコ</a:t>
            </a:r>
            <a:endParaRPr lang="en-US" sz="1400" dirty="0"/>
          </a:p>
        </p:txBody>
      </p:sp>
      <p:sp>
        <p:nvSpPr>
          <p:cNvPr id="24" name="text-457"/>
          <p:cNvSpPr txBox="1"/>
          <p:nvPr/>
        </p:nvSpPr>
        <p:spPr>
          <a:xfrm>
            <a:off x="6455664" y="28437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10歳 ／ F</a:t>
            </a:r>
            <a:endParaRPr lang="en-US" sz="1100" dirty="0"/>
          </a:p>
        </p:txBody>
      </p:sp>
      <p:sp>
        <p:nvSpPr>
          <p:cNvPr id="25" name="pax-458"/>
          <p:cNvSpPr/>
          <p:nvPr/>
        </p:nvSpPr>
        <p:spPr>
          <a:xfrm>
            <a:off x="6318504" y="3291840"/>
            <a:ext cx="233172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-459"/>
          <p:cNvSpPr txBox="1"/>
          <p:nvPr/>
        </p:nvSpPr>
        <p:spPr>
          <a:xfrm>
            <a:off x="6455664" y="33649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搭乗者2</a:t>
            </a:r>
            <a:endParaRPr lang="en-US" sz="1100" dirty="0"/>
          </a:p>
        </p:txBody>
      </p:sp>
      <p:sp>
        <p:nvSpPr>
          <p:cNvPr id="27" name="text-460"/>
          <p:cNvSpPr txBox="1"/>
          <p:nvPr/>
        </p:nvSpPr>
        <p:spPr>
          <a:xfrm>
            <a:off x="6455664" y="36210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スズキ イチロウ</a:t>
            </a:r>
            <a:endParaRPr lang="en-US" sz="1400" dirty="0"/>
          </a:p>
        </p:txBody>
      </p:sp>
      <p:sp>
        <p:nvSpPr>
          <p:cNvPr id="28" name="text-461"/>
          <p:cNvSpPr txBox="1"/>
          <p:nvPr/>
        </p:nvSpPr>
        <p:spPr>
          <a:xfrm>
            <a:off x="6455664" y="38953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40歳 ／ M</a:t>
            </a:r>
            <a:endParaRPr lang="en-US" sz="1100" dirty="0"/>
          </a:p>
        </p:txBody>
      </p:sp>
      <p:sp>
        <p:nvSpPr>
          <p:cNvPr id="29" name="chip-462"/>
          <p:cNvSpPr/>
          <p:nvPr/>
        </p:nvSpPr>
        <p:spPr>
          <a:xfrm>
            <a:off x="6181344" y="46634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201　予約OK</a:t>
            </a:r>
            <a:endParaRPr lang="en-US" sz="1600" dirty="0"/>
          </a:p>
        </p:txBody>
      </p:sp>
      <p:sp>
        <p:nvSpPr>
          <p:cNvPr id="30" name="text-463"/>
          <p:cNvSpPr txBox="1"/>
          <p:nvPr/>
        </p:nvSpPr>
        <p:spPr>
          <a:xfrm>
            <a:off x="6181344" y="5349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複数人を正しく受け付けられる</a:t>
            </a:r>
            <a:endParaRPr lang="en-US" sz="1200" dirty="0"/>
          </a:p>
        </p:txBody>
      </p:sp>
      <p:sp>
        <p:nvSpPr>
          <p:cNvPr id="31" name="text-464"/>
          <p:cNvSpPr txBox="1"/>
          <p:nvPr/>
        </p:nvSpPr>
        <p:spPr>
          <a:xfrm>
            <a:off x="8997696" y="1280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2件目だけ不正</a:t>
            </a:r>
            <a:endParaRPr lang="en-US" sz="1600" dirty="0"/>
          </a:p>
        </p:txBody>
      </p:sp>
      <p:sp>
        <p:nvSpPr>
          <p:cNvPr id="32" name="text-465"/>
          <p:cNvSpPr txBox="1"/>
          <p:nvPr/>
        </p:nvSpPr>
        <p:spPr>
          <a:xfrm>
            <a:off x="8997696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1件目は正しい値</a:t>
            </a:r>
            <a:endParaRPr lang="en-US" sz="1200" dirty="0"/>
          </a:p>
        </p:txBody>
      </p:sp>
      <p:sp>
        <p:nvSpPr>
          <p:cNvPr id="33" name="paxArea-466"/>
          <p:cNvSpPr/>
          <p:nvPr/>
        </p:nvSpPr>
        <p:spPr>
          <a:xfrm>
            <a:off x="8997696" y="21031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pax-467"/>
          <p:cNvSpPr/>
          <p:nvPr/>
        </p:nvSpPr>
        <p:spPr>
          <a:xfrm>
            <a:off x="9134856" y="2240280"/>
            <a:ext cx="233172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-468"/>
          <p:cNvSpPr txBox="1"/>
          <p:nvPr/>
        </p:nvSpPr>
        <p:spPr>
          <a:xfrm>
            <a:off x="9272016" y="23134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搭乗者1</a:t>
            </a:r>
            <a:endParaRPr lang="en-US" sz="1100" dirty="0"/>
          </a:p>
        </p:txBody>
      </p:sp>
      <p:sp>
        <p:nvSpPr>
          <p:cNvPr id="36" name="text-469"/>
          <p:cNvSpPr txBox="1"/>
          <p:nvPr/>
        </p:nvSpPr>
        <p:spPr>
          <a:xfrm>
            <a:off x="9272016" y="25694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スズキ ハナコ</a:t>
            </a:r>
            <a:endParaRPr lang="en-US" sz="1400" dirty="0"/>
          </a:p>
        </p:txBody>
      </p:sp>
      <p:sp>
        <p:nvSpPr>
          <p:cNvPr id="37" name="text-470"/>
          <p:cNvSpPr txBox="1"/>
          <p:nvPr/>
        </p:nvSpPr>
        <p:spPr>
          <a:xfrm>
            <a:off x="9272016" y="28437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10歳 ／ F</a:t>
            </a:r>
            <a:endParaRPr lang="en-US" sz="1100" dirty="0"/>
          </a:p>
        </p:txBody>
      </p:sp>
      <p:sp>
        <p:nvSpPr>
          <p:cNvPr id="38" name="pax-471"/>
          <p:cNvSpPr/>
          <p:nvPr/>
        </p:nvSpPr>
        <p:spPr>
          <a:xfrm>
            <a:off x="9134856" y="3291840"/>
            <a:ext cx="233172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9" name="text-472"/>
          <p:cNvSpPr txBox="1"/>
          <p:nvPr/>
        </p:nvSpPr>
        <p:spPr>
          <a:xfrm>
            <a:off x="9272016" y="33649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搭乗者2</a:t>
            </a:r>
            <a:endParaRPr lang="en-US" sz="1100" dirty="0"/>
          </a:p>
        </p:txBody>
      </p:sp>
      <p:sp>
        <p:nvSpPr>
          <p:cNvPr id="40" name="text-473"/>
          <p:cNvSpPr txBox="1"/>
          <p:nvPr/>
        </p:nvSpPr>
        <p:spPr>
          <a:xfrm>
            <a:off x="9272016" y="36210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セイが空欄</a:t>
            </a:r>
            <a:endParaRPr lang="en-US" sz="1400" dirty="0"/>
          </a:p>
        </p:txBody>
      </p:sp>
      <p:sp>
        <p:nvSpPr>
          <p:cNvPr id="41" name="text-474"/>
          <p:cNvSpPr txBox="1"/>
          <p:nvPr/>
        </p:nvSpPr>
        <p:spPr>
          <a:xfrm>
            <a:off x="9272016" y="38953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40歳 ／ M</a:t>
            </a:r>
            <a:endParaRPr lang="en-US" sz="1100" dirty="0"/>
          </a:p>
        </p:txBody>
      </p:sp>
      <p:sp>
        <p:nvSpPr>
          <p:cNvPr id="42" name="chip-475"/>
          <p:cNvSpPr/>
          <p:nvPr/>
        </p:nvSpPr>
        <p:spPr>
          <a:xfrm>
            <a:off x="8997696" y="46634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400　入力エラー</a:t>
            </a:r>
            <a:endParaRPr lang="en-US" sz="1600" dirty="0"/>
          </a:p>
        </p:txBody>
      </p:sp>
      <p:sp>
        <p:nvSpPr>
          <p:cNvPr id="43" name="text-476"/>
          <p:cNvSpPr txBox="1"/>
          <p:nvPr/>
        </p:nvSpPr>
        <p:spPr>
          <a:xfrm>
            <a:off x="8997696" y="5349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1件目だけでなく、全員分の項目がチェックされるか</a:t>
            </a:r>
            <a:endParaRPr lang="en-US" sz="1200" dirty="0"/>
          </a:p>
        </p:txBody>
      </p:sp>
      <p:sp>
        <p:nvSpPr>
          <p:cNvPr id="44" name="text-477"/>
          <p:cNvSpPr txBox="1"/>
          <p:nvPr/>
        </p:nvSpPr>
        <p:spPr>
          <a:xfrm>
            <a:off x="5486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搭乗者の件数の上限は仕様で決まっていないため、上限側の境界値テストは未作成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テスト条件は全134件、その多くは入力エラーになる値</a:t>
            </a:r>
            <a:endParaRPr lang="en-US" sz="2800" dirty="0"/>
          </a:p>
        </p:txBody>
      </p:sp>
      <p:sp>
        <p:nvSpPr>
          <p:cNvPr id="3" name="stat-478"/>
          <p:cNvSpPr/>
          <p:nvPr/>
        </p:nvSpPr>
        <p:spPr>
          <a:xfrm>
            <a:off x="548640" y="1280160"/>
            <a:ext cx="3291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479"/>
          <p:cNvSpPr txBox="1"/>
          <p:nvPr/>
        </p:nvSpPr>
        <p:spPr>
          <a:xfrm>
            <a:off x="777240" y="138988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134</a:t>
            </a:r>
            <a:endParaRPr lang="en-US" sz="4000" dirty="0"/>
          </a:p>
        </p:txBody>
      </p:sp>
      <p:sp>
        <p:nvSpPr>
          <p:cNvPr id="5" name="text-480"/>
          <p:cNvSpPr txBox="1"/>
          <p:nvPr/>
        </p:nvSpPr>
        <p:spPr>
          <a:xfrm>
            <a:off x="2148840" y="138988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テスト条件の合計</a:t>
            </a:r>
            <a:endParaRPr lang="en-US" sz="1400" dirty="0"/>
          </a:p>
        </p:txBody>
      </p:sp>
      <p:sp>
        <p:nvSpPr>
          <p:cNvPr id="6" name="stat-481"/>
          <p:cNvSpPr/>
          <p:nvPr/>
        </p:nvSpPr>
        <p:spPr>
          <a:xfrm>
            <a:off x="548640" y="2560320"/>
            <a:ext cx="3291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482"/>
          <p:cNvSpPr txBox="1"/>
          <p:nvPr/>
        </p:nvSpPr>
        <p:spPr>
          <a:xfrm>
            <a:off x="777240" y="267004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38</a:t>
            </a:r>
            <a:endParaRPr lang="en-US" sz="4000" dirty="0"/>
          </a:p>
        </p:txBody>
      </p:sp>
      <p:sp>
        <p:nvSpPr>
          <p:cNvPr id="8" name="text-483"/>
          <p:cNvSpPr txBox="1"/>
          <p:nvPr/>
        </p:nvSpPr>
        <p:spPr>
          <a:xfrm>
            <a:off x="2148840" y="267004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正常 → 201</a:t>
            </a:r>
            <a:endParaRPr lang="en-US" sz="1400" dirty="0"/>
          </a:p>
        </p:txBody>
      </p:sp>
      <p:sp>
        <p:nvSpPr>
          <p:cNvPr id="9" name="stat-484"/>
          <p:cNvSpPr/>
          <p:nvPr/>
        </p:nvSpPr>
        <p:spPr>
          <a:xfrm>
            <a:off x="548640" y="3840480"/>
            <a:ext cx="3291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485"/>
          <p:cNvSpPr txBox="1"/>
          <p:nvPr/>
        </p:nvSpPr>
        <p:spPr>
          <a:xfrm>
            <a:off x="777240" y="395020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94</a:t>
            </a:r>
            <a:endParaRPr lang="en-US" sz="4000" dirty="0"/>
          </a:p>
        </p:txBody>
      </p:sp>
      <p:sp>
        <p:nvSpPr>
          <p:cNvPr id="11" name="text-486"/>
          <p:cNvSpPr txBox="1"/>
          <p:nvPr/>
        </p:nvSpPr>
        <p:spPr>
          <a:xfrm>
            <a:off x="2148840" y="395020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入力エラー → 400</a:t>
            </a:r>
            <a:endParaRPr lang="en-US" sz="1400" dirty="0"/>
          </a:p>
        </p:txBody>
      </p:sp>
      <p:sp>
        <p:nvSpPr>
          <p:cNvPr id="12" name="stat-487"/>
          <p:cNvSpPr/>
          <p:nvPr/>
        </p:nvSpPr>
        <p:spPr>
          <a:xfrm>
            <a:off x="548640" y="5120640"/>
            <a:ext cx="3291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488"/>
          <p:cNvSpPr txBox="1"/>
          <p:nvPr/>
        </p:nvSpPr>
        <p:spPr>
          <a:xfrm>
            <a:off x="777240" y="52303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2</a:t>
            </a:r>
            <a:endParaRPr lang="en-US" sz="4000" dirty="0"/>
          </a:p>
        </p:txBody>
      </p:sp>
      <p:sp>
        <p:nvSpPr>
          <p:cNvPr id="14" name="text-489"/>
          <p:cNvSpPr txBox="1"/>
          <p:nvPr/>
        </p:nvSpPr>
        <p:spPr>
          <a:xfrm>
            <a:off x="2148840" y="52303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ルール違反 → 409</a:t>
            </a:r>
            <a:endParaRPr lang="en-US" sz="1400" dirty="0"/>
          </a:p>
        </p:txBody>
      </p:sp>
      <p:graphicFrame>
        <p:nvGraphicFramePr>
          <p:cNvPr id="15" name="chart-breakdown" descr=""/>
          <p:cNvGraphicFramePr/>
          <p:nvPr/>
        </p:nvGraphicFramePr>
        <p:xfrm>
          <a:off x="4206240" y="1280160"/>
          <a:ext cx="74066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仕様の確認結果と、今回のテスト方針</a:t>
            </a:r>
            <a:endParaRPr lang="en-US" sz="2800" dirty="0"/>
          </a:p>
        </p:txBody>
      </p:sp>
      <p:sp>
        <p:nvSpPr>
          <p:cNvPr id="3" name="policy-490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badge-491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492"/>
          <p:cNvSpPr txBox="1"/>
          <p:nvPr/>
        </p:nvSpPr>
        <p:spPr>
          <a:xfrm>
            <a:off x="77724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カタカナの範囲</a:t>
            </a:r>
            <a:endParaRPr lang="en-US" sz="1600" dirty="0"/>
          </a:p>
        </p:txBody>
      </p:sp>
      <p:sp>
        <p:nvSpPr>
          <p:cNvPr id="6" name="text-493"/>
          <p:cNvSpPr txBox="1"/>
          <p:nvPr/>
        </p:nvSpPr>
        <p:spPr>
          <a:xfrm>
            <a:off x="777240" y="2560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長音「ー」・「ヴ」・小書き文字「ァ」は使える → 201</a:t>
            </a:r>
            <a:endParaRPr lang="en-US" sz="1300" dirty="0"/>
          </a:p>
        </p:txBody>
      </p:sp>
      <p:sp>
        <p:nvSpPr>
          <p:cNvPr id="7" name="policy-494"/>
          <p:cNvSpPr/>
          <p:nvPr/>
        </p:nvSpPr>
        <p:spPr>
          <a:xfrm>
            <a:off x="3355848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badge-495"/>
          <p:cNvSpPr/>
          <p:nvPr/>
        </p:nvSpPr>
        <p:spPr>
          <a:xfrm>
            <a:off x="3584448" y="160020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-496"/>
          <p:cNvSpPr txBox="1"/>
          <p:nvPr/>
        </p:nvSpPr>
        <p:spPr>
          <a:xfrm>
            <a:off x="3584448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全角スペース</a:t>
            </a:r>
            <a:endParaRPr lang="en-US" sz="1600" dirty="0"/>
          </a:p>
        </p:txBody>
      </p:sp>
      <p:sp>
        <p:nvSpPr>
          <p:cNvPr id="10" name="text-497"/>
          <p:cNvSpPr txBox="1"/>
          <p:nvPr/>
        </p:nvSpPr>
        <p:spPr>
          <a:xfrm>
            <a:off x="3584448" y="2560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カタカナではない文字として扱う → 400</a:t>
            </a:r>
            <a:endParaRPr lang="en-US" sz="1300" dirty="0"/>
          </a:p>
        </p:txBody>
      </p:sp>
      <p:sp>
        <p:nvSpPr>
          <p:cNvPr id="11" name="policy-498"/>
          <p:cNvSpPr/>
          <p:nvPr/>
        </p:nvSpPr>
        <p:spPr>
          <a:xfrm>
            <a:off x="6163056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badge-499"/>
          <p:cNvSpPr/>
          <p:nvPr/>
        </p:nvSpPr>
        <p:spPr>
          <a:xfrm>
            <a:off x="6391656" y="160020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-500"/>
          <p:cNvSpPr txBox="1"/>
          <p:nvPr/>
        </p:nvSpPr>
        <p:spPr>
          <a:xfrm>
            <a:off x="6391656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中黒「・」</a:t>
            </a:r>
            <a:endParaRPr lang="en-US" sz="1600" dirty="0"/>
          </a:p>
        </p:txBody>
      </p:sp>
      <p:sp>
        <p:nvSpPr>
          <p:cNvPr id="14" name="text-501"/>
          <p:cNvSpPr txBox="1"/>
          <p:nvPr/>
        </p:nvSpPr>
        <p:spPr>
          <a:xfrm>
            <a:off x="6391656" y="2560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記号として扱う → 400</a:t>
            </a:r>
            <a:endParaRPr lang="en-US" sz="1300" dirty="0"/>
          </a:p>
        </p:txBody>
      </p:sp>
      <p:sp>
        <p:nvSpPr>
          <p:cNvPr id="15" name="policy-502"/>
          <p:cNvSpPr/>
          <p:nvPr/>
        </p:nvSpPr>
        <p:spPr>
          <a:xfrm>
            <a:off x="8970264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badge-503"/>
          <p:cNvSpPr/>
          <p:nvPr/>
        </p:nvSpPr>
        <p:spPr>
          <a:xfrm>
            <a:off x="9198864" y="160020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-504"/>
          <p:cNvSpPr txBox="1"/>
          <p:nvPr/>
        </p:nvSpPr>
        <p:spPr>
          <a:xfrm>
            <a:off x="9198864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メールの下限</a:t>
            </a:r>
            <a:endParaRPr lang="en-US" sz="1600" dirty="0"/>
          </a:p>
        </p:txBody>
      </p:sp>
      <p:sp>
        <p:nvSpPr>
          <p:cNvPr id="18" name="text-505"/>
          <p:cNvSpPr txBox="1"/>
          <p:nvPr/>
        </p:nvSpPr>
        <p:spPr>
          <a:xfrm>
            <a:off x="9198864" y="2560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仕様どおり1文字を境界値としてテスト。形式を満たさないので 400</a:t>
            </a:r>
            <a:endParaRPr lang="en-US" sz="1300" dirty="0"/>
          </a:p>
        </p:txBody>
      </p:sp>
      <p:sp>
        <p:nvSpPr>
          <p:cNvPr id="19" name="policy-506"/>
          <p:cNvSpPr/>
          <p:nvPr/>
        </p:nvSpPr>
        <p:spPr>
          <a:xfrm>
            <a:off x="548640" y="38862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badge-507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-508"/>
          <p:cNvSpPr txBox="1"/>
          <p:nvPr/>
        </p:nvSpPr>
        <p:spPr>
          <a:xfrm>
            <a:off x="777240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年齢の先頭ゼロ</a:t>
            </a:r>
            <a:endParaRPr lang="en-US" sz="1600" dirty="0"/>
          </a:p>
        </p:txBody>
      </p:sp>
      <p:sp>
        <p:nvSpPr>
          <p:cNvPr id="22" name="text-509"/>
          <p:cNvSpPr txBox="1"/>
          <p:nvPr/>
        </p:nvSpPr>
        <p:spPr>
          <a:xfrm>
            <a:off x="777240" y="5074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UIで取り除かれるため、APIのテスト対象外</a:t>
            </a:r>
            <a:endParaRPr lang="en-US" sz="1300" dirty="0"/>
          </a:p>
        </p:txBody>
      </p:sp>
      <p:sp>
        <p:nvSpPr>
          <p:cNvPr id="23" name="policy-510"/>
          <p:cNvSpPr/>
          <p:nvPr/>
        </p:nvSpPr>
        <p:spPr>
          <a:xfrm>
            <a:off x="3355848" y="38862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badge-511"/>
          <p:cNvSpPr/>
          <p:nvPr/>
        </p:nvSpPr>
        <p:spPr>
          <a:xfrm>
            <a:off x="3584448" y="411480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-512"/>
          <p:cNvSpPr txBox="1"/>
          <p:nvPr/>
        </p:nvSpPr>
        <p:spPr>
          <a:xfrm>
            <a:off x="3584448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年齢の型</a:t>
            </a:r>
            <a:endParaRPr lang="en-US" sz="1600" dirty="0"/>
          </a:p>
        </p:txBody>
      </p:sp>
      <p:sp>
        <p:nvSpPr>
          <p:cNvPr id="26" name="text-513"/>
          <p:cNvSpPr txBox="1"/>
          <p:nvPr/>
        </p:nvSpPr>
        <p:spPr>
          <a:xfrm>
            <a:off x="3584448" y="5074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数値で送られる。文字列の "18" は 400</a:t>
            </a:r>
            <a:endParaRPr lang="en-US" sz="1300" dirty="0"/>
          </a:p>
        </p:txBody>
      </p:sp>
      <p:sp>
        <p:nvSpPr>
          <p:cNvPr id="27" name="policy-514"/>
          <p:cNvSpPr/>
          <p:nvPr/>
        </p:nvSpPr>
        <p:spPr>
          <a:xfrm>
            <a:off x="6163056" y="38862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badge-515"/>
          <p:cNvSpPr/>
          <p:nvPr/>
        </p:nvSpPr>
        <p:spPr>
          <a:xfrm>
            <a:off x="6391656" y="411480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text-516"/>
          <p:cNvSpPr txBox="1"/>
          <p:nvPr/>
        </p:nvSpPr>
        <p:spPr>
          <a:xfrm>
            <a:off x="6391656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ステータスコード</a:t>
            </a:r>
            <a:endParaRPr lang="en-US" sz="1600" dirty="0"/>
          </a:p>
        </p:txBody>
      </p:sp>
      <p:sp>
        <p:nvSpPr>
          <p:cNvPr id="30" name="text-517"/>
          <p:cNvSpPr txBox="1"/>
          <p:nvPr/>
        </p:nvSpPr>
        <p:spPr>
          <a:xfrm>
            <a:off x="6391656" y="5074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正常 201 ／ 入力エラー 400 ／ ルール違反 409</a:t>
            </a:r>
            <a:endParaRPr lang="en-US" sz="1300" dirty="0"/>
          </a:p>
        </p:txBody>
      </p:sp>
      <p:sp>
        <p:nvSpPr>
          <p:cNvPr id="31" name="policy-518"/>
          <p:cNvSpPr/>
          <p:nvPr/>
        </p:nvSpPr>
        <p:spPr>
          <a:xfrm>
            <a:off x="8970264" y="38862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accent1">
              <a:alpha val="2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2" name="badge-519"/>
          <p:cNvSpPr/>
          <p:nvPr/>
        </p:nvSpPr>
        <p:spPr>
          <a:xfrm>
            <a:off x="9198864" y="411480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33" name="text-520"/>
          <p:cNvSpPr txBox="1"/>
          <p:nvPr/>
        </p:nvSpPr>
        <p:spPr>
          <a:xfrm>
            <a:off x="9198864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残る確認事項</a:t>
            </a:r>
            <a:endParaRPr lang="en-US" sz="1600" dirty="0"/>
          </a:p>
        </p:txBody>
      </p:sp>
      <p:sp>
        <p:nvSpPr>
          <p:cNvPr id="34" name="text-521"/>
          <p:cNvSpPr txBox="1"/>
          <p:nvPr/>
        </p:nvSpPr>
        <p:spPr>
          <a:xfrm>
            <a:off x="9198864" y="5074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搭乗者の件数の上限（上限側の境界値テストが未作成）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cket QA">
  <a:themeElements>
    <a:clrScheme name="Ticket QA">
      <a:dk1>
        <a:srgbClr val="1B2A3A"/>
      </a:dk1>
      <a:lt1>
        <a:srgbClr val="FFFFFF"/>
      </a:lt1>
      <a:dk2>
        <a:srgbClr val="0B3954"/>
      </a:dk2>
      <a:lt2>
        <a:srgbClr val="EEF3F7"/>
      </a:lt2>
      <a:accent1>
        <a:srgbClr val="F26B21"/>
      </a:accent1>
      <a:accent2>
        <a:srgbClr val="1E8A5A"/>
      </a:accent2>
      <a:accent3>
        <a:srgbClr val="C8323C"/>
      </a:accent3>
      <a:accent4>
        <a:srgbClr val="5B7083"/>
      </a:accent4>
      <a:accent5>
        <a:srgbClr val="C9D5E0"/>
      </a:accent5>
      <a:accent6>
        <a:srgbClr val="6A4C9C"/>
      </a:accent6>
      <a:hlink>
        <a:srgbClr val="0B5394"/>
      </a:hlink>
      <a:folHlink>
        <a:srgbClr val="6D4C8D"/>
      </a:folHlink>
    </a:clrScheme>
    <a:fontScheme name="Ticket QA">
      <a:majorFont>
        <a:latin typeface="Meiryo UI"/>
        <a:ea typeface="Meiryo U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Meiryo U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チケット予約API 入力チェックのテスト観点</dc:title>
  <dc:subject>PptxGenJS Presentation</dc:subject>
  <dc:creator>PptxGenJS</dc:creator>
  <cp:lastModifiedBy>PptxGenJS</cp:lastModifiedBy>
  <cp:revision>1</cp:revision>
  <dcterms:created xsi:type="dcterms:W3CDTF">2026-10-06T06:28:15Z</dcterms:created>
  <dcterms:modified xsi:type="dcterms:W3CDTF">2026-10-06T06:28:15Z</dcterms:modified>
</cp:coreProperties>
</file>