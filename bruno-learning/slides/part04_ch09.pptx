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slideLayout" Target="../slideLayouts/slideLayout1.xml"/><Relationship Id="rId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731520" y="1097280"/>
            <a:ext cx="10515600" cy="548640"/>
          </a:xfrm>
          <a:prstGeom prst="rect">
            <a:avLst/>
          </a:prstGeom>
          <a:noFill/>
          <a:ln/>
        </p:spPr>
        <p:txBody>
          <a:bodyPr wrap="square" rtlCol="0" anchor="ctr"/>
          <a:lstStyle/>
          <a:p>
            <a:pPr indent="0" marL="0">
              <a:buNone/>
            </a:pPr>
            <a:r>
              <a:rPr lang="en-US" sz="2200" b="1" dirty="0">
                <a:solidFill>
                  <a:srgbClr val="FBBF24"/>
                </a:solidFill>
                <a:latin typeface="Meiryo UI" pitchFamily="34" charset="0"/>
                <a:ea typeface="Meiryo UI" pitchFamily="34" charset="-122"/>
                <a:cs typeface="Meiryo UI" pitchFamily="34" charset="-120"/>
              </a:rPr>
              <a:t>第9章</a:t>
            </a:r>
            <a:endParaRPr lang="en-US" sz="2200" dirty="0"/>
          </a:p>
        </p:txBody>
      </p:sp>
      <p:sp>
        <p:nvSpPr>
          <p:cNvPr id="3" name="Text 1"/>
          <p:cNvSpPr/>
          <p:nvPr/>
        </p:nvSpPr>
        <p:spPr>
          <a:xfrm>
            <a:off x="731520" y="1645920"/>
            <a:ext cx="10515600" cy="914400"/>
          </a:xfrm>
          <a:prstGeom prst="rect">
            <a:avLst/>
          </a:prstGeom>
          <a:noFill/>
          <a:ln/>
        </p:spPr>
        <p:txBody>
          <a:bodyPr wrap="square" rtlCol="0" anchor="ctr"/>
          <a:lstStyle/>
          <a:p>
            <a:pPr indent="0" marL="0">
              <a:buNone/>
            </a:pPr>
            <a:r>
              <a:rPr lang="en-US" sz="4000" b="1" dirty="0">
                <a:solidFill>
                  <a:srgbClr val="FFFFFF"/>
                </a:solidFill>
                <a:latin typeface="Meiryo UI" pitchFamily="34" charset="0"/>
                <a:ea typeface="Meiryo UI" pitchFamily="34" charset="-122"/>
                <a:cs typeface="Meiryo UI" pitchFamily="34" charset="-120"/>
              </a:rPr>
              <a:t>Bruno の便利機能と効率化</a:t>
            </a:r>
            <a:endParaRPr lang="en-US" sz="4000" dirty="0"/>
          </a:p>
        </p:txBody>
      </p:sp>
      <p:sp>
        <p:nvSpPr>
          <p:cNvPr id="4" name="Text 2"/>
          <p:cNvSpPr/>
          <p:nvPr/>
        </p:nvSpPr>
        <p:spPr>
          <a:xfrm>
            <a:off x="731520" y="2880360"/>
            <a:ext cx="10515600" cy="411480"/>
          </a:xfrm>
          <a:prstGeom prst="rect">
            <a:avLst/>
          </a:prstGeom>
          <a:noFill/>
          <a:ln/>
        </p:spPr>
        <p:txBody>
          <a:bodyPr wrap="square" rtlCol="0" anchor="ctr"/>
          <a:lstStyle/>
          <a:p>
            <a:pPr indent="0" marL="0">
              <a:buNone/>
            </a:pPr>
            <a:r>
              <a:rPr lang="en-US" sz="1800" b="1" dirty="0">
                <a:solidFill>
                  <a:srgbClr val="FBBF24"/>
                </a:solidFill>
                <a:latin typeface="Meiryo UI" pitchFamily="34" charset="0"/>
                <a:ea typeface="Meiryo UI" pitchFamily="34" charset="-122"/>
                <a:cs typeface="Meiryo UI" pitchFamily="34" charset="-120"/>
              </a:rPr>
              <a:t>この章で学ぶこと</a:t>
            </a:r>
            <a:endParaRPr lang="en-US" sz="1800" dirty="0"/>
          </a:p>
        </p:txBody>
      </p:sp>
      <p:sp>
        <p:nvSpPr>
          <p:cNvPr id="5" name="Text 3"/>
          <p:cNvSpPr/>
          <p:nvPr/>
        </p:nvSpPr>
        <p:spPr>
          <a:xfrm>
            <a:off x="731520" y="3291840"/>
            <a:ext cx="10515600" cy="2103120"/>
          </a:xfrm>
          <a:prstGeom prst="rect">
            <a:avLst/>
          </a:prstGeom>
          <a:noFill/>
          <a:ln/>
        </p:spPr>
        <p:txBody>
          <a:bodyPr wrap="square" rtlCol="0" anchor="t"/>
          <a:lstStyle/>
          <a:p>
            <a:pPr marL="342900" indent="-342900">
              <a:spcAft>
                <a:spcPts val="600"/>
              </a:spcAft>
              <a:buSzPct val="100000"/>
              <a:buChar char="■"/>
            </a:pPr>
            <a:r>
              <a:rPr lang="en-US" sz="2000" dirty="0">
                <a:solidFill>
                  <a:srgbClr val="FFFFFF"/>
                </a:solidFill>
                <a:latin typeface="Meiryo UI" pitchFamily="34" charset="0"/>
                <a:ea typeface="Meiryo UI" pitchFamily="34" charset="-122"/>
                <a:cs typeface="Meiryo UI" pitchFamily="34" charset="-120"/>
              </a:rPr>
              <a:t>フォルダでの整理</a:t>
            </a:r>
            <a:endParaRPr lang="en-US" sz="2000" dirty="0"/>
          </a:p>
          <a:p>
            <a:pPr marL="342900" indent="-342900">
              <a:spcAft>
                <a:spcPts val="600"/>
              </a:spcAft>
              <a:buSzPct val="100000"/>
              <a:buChar char="■"/>
            </a:pPr>
            <a:r>
              <a:rPr lang="en-US" sz="2000" dirty="0">
                <a:solidFill>
                  <a:srgbClr val="FFFFFF"/>
                </a:solidFill>
                <a:latin typeface="Meiryo UI" pitchFamily="34" charset="0"/>
                <a:ea typeface="Meiryo UI" pitchFamily="34" charset="-122"/>
                <a:cs typeface="Meiryo UI" pitchFamily="34" charset="-120"/>
              </a:rPr>
              <a:t>アサーション（Assert）とテスト（Tests）</a:t>
            </a:r>
            <a:endParaRPr lang="en-US" sz="2000" dirty="0"/>
          </a:p>
          <a:p>
            <a:pPr marL="342900" indent="-342900">
              <a:spcAft>
                <a:spcPts val="600"/>
              </a:spcAft>
              <a:buSzPct val="100000"/>
              <a:buChar char="■"/>
            </a:pPr>
            <a:r>
              <a:rPr lang="en-US" sz="2000" dirty="0">
                <a:solidFill>
                  <a:srgbClr val="FFFFFF"/>
                </a:solidFill>
                <a:latin typeface="Meiryo UI" pitchFamily="34" charset="0"/>
                <a:ea typeface="Meiryo UI" pitchFamily="34" charset="-122"/>
                <a:cs typeface="Meiryo UI" pitchFamily="34" charset="-120"/>
              </a:rPr>
              <a:t>Collection Runner と CLI でまとめて実行する</a:t>
            </a:r>
            <a:endParaRPr lang="en-US" sz="2000" dirty="0"/>
          </a:p>
          <a:p>
            <a:pPr marL="342900" indent="-342900">
              <a:spcAft>
                <a:spcPts val="600"/>
              </a:spcAft>
              <a:buSzPct val="100000"/>
              <a:buChar char="■"/>
            </a:pPr>
            <a:r>
              <a:rPr lang="en-US" sz="2000" dirty="0">
                <a:solidFill>
                  <a:srgbClr val="FFFFFF"/>
                </a:solidFill>
                <a:latin typeface="Meiryo UI" pitchFamily="34" charset="0"/>
                <a:ea typeface="Meiryo UI" pitchFamily="34" charset="-122"/>
                <a:cs typeface="Meiryo UI" pitchFamily="34" charset="-120"/>
              </a:rPr>
              <a:t>Git で管理する意味、スクリプトの安全性</a:t>
            </a:r>
            <a:endParaRPr lang="en-US" sz="2000" dirty="0"/>
          </a:p>
          <a:p>
            <a:pPr marL="342900" indent="-342900">
              <a:spcAft>
                <a:spcPts val="600"/>
              </a:spcAft>
              <a:buSzPct val="100000"/>
              <a:buChar char="■"/>
            </a:pPr>
            <a:r>
              <a:rPr lang="en-US" sz="2000" dirty="0">
                <a:solidFill>
                  <a:srgbClr val="FFFFFF"/>
                </a:solidFill>
                <a:latin typeface="Meiryo UI" pitchFamily="34" charset="0"/>
                <a:ea typeface="Meiryo UI" pitchFamily="34" charset="-122"/>
                <a:cs typeface="Meiryo UI" pitchFamily="34" charset="-120"/>
              </a:rPr>
              <a:t>TIPS：外部ファイルの値・値の受け渡し・ランダムな値</a:t>
            </a:r>
            <a:endParaRPr lang="en-US" sz="2000" dirty="0"/>
          </a:p>
        </p:txBody>
      </p:sp>
      <p:sp>
        <p:nvSpPr>
          <p:cNvPr id="6" name="Text 4"/>
          <p:cNvSpPr/>
          <p:nvPr/>
        </p:nvSpPr>
        <p:spPr>
          <a:xfrm>
            <a:off x="731520" y="5669280"/>
            <a:ext cx="10515600" cy="365760"/>
          </a:xfrm>
          <a:prstGeom prst="rect">
            <a:avLst/>
          </a:prstGeom>
          <a:noFill/>
          <a:ln/>
        </p:spPr>
        <p:txBody>
          <a:bodyPr wrap="square" rtlCol="0" anchor="ctr"/>
          <a:lstStyle/>
          <a:p>
            <a:pPr indent="0" marL="0">
              <a:buNone/>
            </a:pPr>
            <a:r>
              <a:rPr lang="en-US" sz="1400" dirty="0">
                <a:solidFill>
                  <a:srgbClr val="CBD5E1"/>
                </a:solidFill>
                <a:latin typeface="Meiryo UI" pitchFamily="34" charset="0"/>
                <a:ea typeface="Meiryo UI" pitchFamily="34" charset="-122"/>
                <a:cs typeface="Meiryo UI" pitchFamily="34" charset="-120"/>
              </a:rPr>
              <a:t>目安時間：約 100 分　｜　対応する学習目標：A2, A3, A4, B2</a:t>
            </a:r>
            <a:endParaRPr lang="en-US" sz="1400" dirty="0"/>
          </a:p>
        </p:txBody>
      </p:sp>
      <p:sp>
        <p:nvSpPr>
          <p:cNvPr id="7" name="Text 5"/>
          <p:cNvSpPr/>
          <p:nvPr/>
        </p:nvSpPr>
        <p:spPr>
          <a:xfrm>
            <a:off x="731520" y="6080760"/>
            <a:ext cx="7315200" cy="274320"/>
          </a:xfrm>
          <a:prstGeom prst="rect">
            <a:avLst/>
          </a:prstGeom>
          <a:noFill/>
          <a:ln/>
        </p:spPr>
        <p:txBody>
          <a:bodyPr wrap="square" rtlCol="0" anchor="ctr"/>
          <a:lstStyle/>
          <a:p>
            <a:pPr indent="0" marL="0">
              <a:buNone/>
            </a:pPr>
            <a:r>
              <a:rPr lang="en-US" sz="1000" dirty="0">
                <a:solidFill>
                  <a:srgbClr val="CBD5E1"/>
                </a:solidFill>
                <a:latin typeface="Meiryo UI" pitchFamily="34" charset="0"/>
                <a:ea typeface="Meiryo UI" pitchFamily="34" charset="-122"/>
                <a:cs typeface="Meiryo UI" pitchFamily="34" charset="-120"/>
              </a:rPr>
              <a:t>Bruno v4.2.1｜確認日 2026-10-09</a:t>
            </a:r>
            <a:endParaRPr lang="en-US" sz="10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BD5E1"/>
                </a:solidFill>
                <a:latin typeface="Meiryo UI"/>
                <a:ea typeface="Meiryo UI"/>
                <a:cs typeface="Meiryo U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この章で扱う機能とエディション条件</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5" name="Text 3"/>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出典：https://www.usebruno.com/pricing ／ https://docs.usebruno.com/get-started/bruno-basics/run-a-collection（2026-10-09 確認）と画面表示</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64240" cy="914400"/>
        </p:xfrm>
        <a:graphic>
          <a:graphicData uri="http://schemas.openxmlformats.org/drawingml/2006/table">
            <a:tbl>
              <a:tblPr/>
              <a:tblGrid>
                <a:gridCol w="4937760"/>
                <a:gridCol w="3291840"/>
                <a:gridCol w="2834640"/>
              </a:tblGrid>
              <a:tr h="548640">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機能</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無料版</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本教材での扱い</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54864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フォルダ、Assert、Tests、Script</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使える</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画面で操作</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Collection Runner（まとめて実行）</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使える</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画面で操作</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54864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Runner で CSV・JSON ファイルの値を使う（Run with Parameters）</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使えない（画面に UPGRADE と表示）</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CLI で実行（TIPS）</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Runner の結果の Download Report</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公式の料金表では Ultimate の機能</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紹介しない（CLI の HTML レポートを使う）</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54864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CLI（bru コマンド）</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使える（MIT ライセンス）</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コマンドで操作</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画面からの Git コミット・履歴（History タブ）</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使えない</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扱わない</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bl>
          </a:graphicData>
        </a:graphic>
      </p:graphicFrame>
      <p:sp>
        <p:nvSpPr>
          <p:cNvPr id="7" name="Text 4"/>
          <p:cNvSpPr/>
          <p:nvPr/>
        </p:nvSpPr>
        <p:spPr>
          <a:xfrm>
            <a:off x="548640" y="5120640"/>
            <a:ext cx="11064240" cy="457200"/>
          </a:xfrm>
          <a:prstGeom prst="rect">
            <a:avLst/>
          </a:prstGeom>
          <a:noFill/>
          <a:ln/>
        </p:spPr>
        <p:txBody>
          <a:bodyPr wrap="square" lIns="50800" tIns="50800" rIns="50800" bIns="50800" rtlCol="0" anchor="t"/>
          <a:lstStyle/>
          <a:p>
            <a:pPr algn="l" indent="0" marL="0">
              <a:buNone/>
            </a:pPr>
            <a:r>
              <a:rPr lang="en-US" sz="1200" dirty="0">
                <a:solidFill>
                  <a:srgbClr val="6B7280"/>
                </a:solidFill>
                <a:latin typeface="Meiryo UI" pitchFamily="34" charset="0"/>
                <a:ea typeface="Meiryo UI" pitchFamily="34" charset="-122"/>
                <a:cs typeface="Meiryo UI" pitchFamily="34" charset="-120"/>
              </a:rPr>
              <a:t>※ CLI でのデータファイル実行が無料版で使えることは作成環境で確認しましたが、公式資料での明記は確認できていません。</a:t>
            </a:r>
            <a:endParaRPr lang="en-US" sz="12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フォルダでリクエストを整理する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5" name="Image 0" descr="実画面（Bruno v4.2.1、Windows 11、2026-10-09 撮影）　フォルダの右クリックメニュー">    </p:cNvPr>
          <p:cNvPicPr>
            <a:picLocks noChangeAspect="1"/>
          </p:cNvPicPr>
          <p:nvPr/>
        </p:nvPicPr>
        <p:blipFill>
          <a:blip r:embed="rId1"/>
          <a:stretch>
            <a:fillRect/>
          </a:stretch>
        </p:blipFill>
        <p:spPr>
          <a:xfrm>
            <a:off x="548640" y="1097280"/>
            <a:ext cx="3291840" cy="3785616"/>
          </a:xfrm>
          <a:prstGeom prst="rect">
            <a:avLst/>
          </a:prstGeom>
        </p:spPr>
      </p:pic>
      <p:sp>
        <p:nvSpPr>
          <p:cNvPr id="6" name="Shape 3"/>
          <p:cNvSpPr/>
          <p:nvPr/>
        </p:nvSpPr>
        <p:spPr>
          <a:xfrm>
            <a:off x="548640" y="1097280"/>
            <a:ext cx="3291840" cy="3785616"/>
          </a:xfrm>
          <a:prstGeom prst="rect">
            <a:avLst/>
          </a:prstGeom>
          <a:ln w="9525">
            <a:solidFill>
              <a:srgbClr val="D1D5DB"/>
            </a:solidFill>
            <a:prstDash val="solid"/>
          </a:ln>
        </p:spPr>
      </p:sp>
      <p:sp>
        <p:nvSpPr>
          <p:cNvPr id="7" name="Text 4"/>
          <p:cNvSpPr/>
          <p:nvPr/>
        </p:nvSpPr>
        <p:spPr>
          <a:xfrm>
            <a:off x="548640" y="4901184"/>
            <a:ext cx="365760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　フォルダの右クリックメニュー</a:t>
            </a:r>
            <a:endParaRPr lang="en-US" sz="1000" dirty="0"/>
          </a:p>
        </p:txBody>
      </p:sp>
      <p:sp>
        <p:nvSpPr>
          <p:cNvPr id="8" name="Shape 5"/>
          <p:cNvSpPr/>
          <p:nvPr/>
        </p:nvSpPr>
        <p:spPr>
          <a:xfrm>
            <a:off x="736092" y="4617720"/>
            <a:ext cx="1888236" cy="262890"/>
          </a:xfrm>
          <a:prstGeom prst="rect">
            <a:avLst/>
          </a:prstGeom>
          <a:ln w="28575">
            <a:solidFill>
              <a:srgbClr val="E11D2E"/>
            </a:solidFill>
            <a:prstDash val="solid"/>
          </a:ln>
        </p:spPr>
      </p:sp>
      <p:sp>
        <p:nvSpPr>
          <p:cNvPr id="9" name="Shape 6"/>
          <p:cNvSpPr/>
          <p:nvPr/>
        </p:nvSpPr>
        <p:spPr>
          <a:xfrm>
            <a:off x="2361438" y="1276502"/>
            <a:ext cx="1456182" cy="225857"/>
          </a:xfrm>
          <a:prstGeom prst="rect">
            <a:avLst/>
          </a:prstGeom>
          <a:ln w="28575">
            <a:solidFill>
              <a:srgbClr val="E11D2E"/>
            </a:solidFill>
            <a:prstDash val="solid"/>
          </a:ln>
        </p:spPr>
      </p:sp>
      <p:sp>
        <p:nvSpPr>
          <p:cNvPr id="10" name="Shape 7"/>
          <p:cNvSpPr/>
          <p:nvPr/>
        </p:nvSpPr>
        <p:spPr>
          <a:xfrm>
            <a:off x="2068830" y="1252271"/>
            <a:ext cx="274320" cy="274320"/>
          </a:xfrm>
          <a:prstGeom prst="ellipse">
            <a:avLst/>
          </a:prstGeom>
          <a:solidFill>
            <a:srgbClr val="E11D2E"/>
          </a:solidFill>
          <a:ln w="15875">
            <a:solidFill>
              <a:srgbClr val="FFFFFF"/>
            </a:solidFill>
            <a:prstDash val="solid"/>
          </a:ln>
        </p:spPr>
      </p:sp>
      <p:sp>
        <p:nvSpPr>
          <p:cNvPr id="11" name="Text 8"/>
          <p:cNvSpPr/>
          <p:nvPr/>
        </p:nvSpPr>
        <p:spPr>
          <a:xfrm>
            <a:off x="2068830" y="1252271"/>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2361438" y="2198218"/>
            <a:ext cx="1456182" cy="225857"/>
          </a:xfrm>
          <a:prstGeom prst="rect">
            <a:avLst/>
          </a:prstGeom>
          <a:ln w="28575">
            <a:solidFill>
              <a:srgbClr val="E11D2E"/>
            </a:solidFill>
            <a:prstDash val="solid"/>
          </a:ln>
        </p:spPr>
      </p:sp>
      <p:sp>
        <p:nvSpPr>
          <p:cNvPr id="13" name="Shape 10"/>
          <p:cNvSpPr/>
          <p:nvPr/>
        </p:nvSpPr>
        <p:spPr>
          <a:xfrm>
            <a:off x="2068830" y="2173986"/>
            <a:ext cx="274320" cy="274320"/>
          </a:xfrm>
          <a:prstGeom prst="ellipse">
            <a:avLst/>
          </a:prstGeom>
          <a:solidFill>
            <a:srgbClr val="E11D2E"/>
          </a:solidFill>
          <a:ln w="15875">
            <a:solidFill>
              <a:srgbClr val="FFFFFF"/>
            </a:solidFill>
            <a:prstDash val="solid"/>
          </a:ln>
        </p:spPr>
      </p:sp>
      <p:sp>
        <p:nvSpPr>
          <p:cNvPr id="14" name="Text 11"/>
          <p:cNvSpPr/>
          <p:nvPr/>
        </p:nvSpPr>
        <p:spPr>
          <a:xfrm>
            <a:off x="2068830" y="217398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4114800" y="1097280"/>
            <a:ext cx="7498080" cy="1645920"/>
          </a:xfrm>
          <a:prstGeom prst="rect">
            <a:avLst/>
          </a:prstGeom>
          <a:noFill/>
          <a:ln/>
        </p:spPr>
        <p:txBody>
          <a:bodyPr wrap="square" rtlCol="0" anchor="t"/>
          <a:lstStyle/>
          <a:p>
            <a:pPr indent="0" marL="0">
              <a:spcAft>
                <a:spcPts val="800"/>
              </a:spcAft>
              <a:buNone/>
            </a:pPr>
            <a:r>
              <a:rPr lang="en-US" sz="16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600" dirty="0">
                <a:solidFill>
                  <a:srgbClr val="1F2937"/>
                </a:solidFill>
                <a:latin typeface="Meiryo UI" pitchFamily="34" charset="0"/>
                <a:ea typeface="Meiryo UI" pitchFamily="34" charset="-122"/>
                <a:cs typeface="Meiryo UI" pitchFamily="34" charset="-120"/>
              </a:rPr>
              <a:t>コレクションを右クリック →「New Folder」で作る</a:t>
            </a:r>
            <a:endParaRPr lang="en-US" sz="1600" dirty="0"/>
          </a:p>
          <a:p>
            <a:pPr indent="0" marL="0">
              <a:spcAft>
                <a:spcPts val="800"/>
              </a:spcAft>
              <a:buNone/>
            </a:pPr>
            <a:r>
              <a:rPr lang="en-US" sz="16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600" dirty="0">
                <a:solidFill>
                  <a:srgbClr val="1F2937"/>
                </a:solidFill>
                <a:latin typeface="Meiryo UI" pitchFamily="34" charset="0"/>
                <a:ea typeface="Meiryo UI" pitchFamily="34" charset="-122"/>
                <a:cs typeface="Meiryo UI" pitchFamily="34" charset="-120"/>
              </a:rPr>
              <a:t>フォルダを右クリック →「New Request」で中に作る</a:t>
            </a:r>
            <a:endParaRPr lang="en-US" sz="1600" dirty="0"/>
          </a:p>
        </p:txBody>
      </p:sp>
      <p:sp>
        <p:nvSpPr>
          <p:cNvPr id="16" name="Text 13"/>
          <p:cNvSpPr/>
          <p:nvPr/>
        </p:nvSpPr>
        <p:spPr>
          <a:xfrm>
            <a:off x="4114800" y="2926080"/>
            <a:ext cx="7498080" cy="1828800"/>
          </a:xfrm>
          <a:prstGeom prst="rect">
            <a:avLst/>
          </a:prstGeom>
          <a:noFill/>
          <a:ln/>
        </p:spPr>
        <p:txBody>
          <a:bodyPr wrap="square" rtlCol="0" anchor="t"/>
          <a:lstStyle/>
          <a:p>
            <a:pPr marL="228600" indent="-228600">
              <a:spcAft>
                <a:spcPts val="800"/>
              </a:spcAft>
              <a:buSzPct val="100000"/>
              <a:buChar char="•"/>
            </a:pPr>
            <a:r>
              <a:rPr lang="en-US" sz="1500" dirty="0">
                <a:solidFill>
                  <a:srgbClr val="1F2937"/>
                </a:solidFill>
                <a:latin typeface="Meiryo UI" pitchFamily="34" charset="0"/>
                <a:ea typeface="Meiryo UI" pitchFamily="34" charset="-122"/>
                <a:cs typeface="Meiryo UI" pitchFamily="34" charset="-120"/>
              </a:rPr>
              <a:t>名前の先頭に番号を付けると、並び順が分かりやすい（例：04_GET、01 Get Posts）</a:t>
            </a:r>
            <a:endParaRPr lang="en-US" sz="1500" dirty="0"/>
          </a:p>
          <a:p>
            <a:pPr marL="228600" indent="-228600">
              <a:spcAft>
                <a:spcPts val="800"/>
              </a:spcAft>
              <a:buSzPct val="100000"/>
              <a:buChar char="•"/>
            </a:pPr>
            <a:r>
              <a:rPr lang="en-US" sz="1500" dirty="0">
                <a:solidFill>
                  <a:srgbClr val="1F2937"/>
                </a:solidFill>
                <a:latin typeface="Meiryo UI" pitchFamily="34" charset="0"/>
                <a:ea typeface="Meiryo UI" pitchFamily="34" charset="-122"/>
                <a:cs typeface="Meiryo UI" pitchFamily="34" charset="-120"/>
              </a:rPr>
              <a:t>フォルダ単位でまとめて実行できる（9-12）</a:t>
            </a:r>
            <a:endParaRPr lang="en-US" sz="1500" dirty="0"/>
          </a:p>
          <a:p>
            <a:pPr marL="228600" indent="-228600">
              <a:spcAft>
                <a:spcPts val="800"/>
              </a:spcAft>
              <a:buSzPct val="100000"/>
              <a:buChar char="•"/>
            </a:pPr>
            <a:r>
              <a:rPr lang="en-US" sz="1500" dirty="0">
                <a:solidFill>
                  <a:srgbClr val="1F2937"/>
                </a:solidFill>
                <a:latin typeface="Meiryo UI" pitchFamily="34" charset="0"/>
                <a:ea typeface="Meiryo UI" pitchFamily="34" charset="-122"/>
                <a:cs typeface="Meiryo UI" pitchFamily="34" charset="-120"/>
              </a:rPr>
              <a:t>フォルダはディスク上でもフォルダになる（フォルダの設定は folder.yml に保存される：公式ドキュメント）</a:t>
            </a:r>
            <a:endParaRPr lang="en-US" sz="15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9-A　フォルダでリクエストを整理する（手順）</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5" name="Text 3"/>
          <p:cNvSpPr/>
          <p:nvPr/>
        </p:nvSpPr>
        <p:spPr>
          <a:xfrm>
            <a:off x="548640" y="1188720"/>
            <a:ext cx="10972800" cy="411480"/>
          </a:xfrm>
          <a:prstGeom prst="rect">
            <a:avLst/>
          </a:prstGeom>
          <a:noFill/>
          <a:ln/>
        </p:spPr>
        <p:txBody>
          <a:bodyPr wrap="square" lIns="50800" tIns="50800" rIns="50800" bIns="50800" rtlCol="0" anchor="t"/>
          <a:lstStyle/>
          <a:p>
            <a:pPr algn="l" indent="0" marL="0">
              <a:buNone/>
            </a:pPr>
            <a:r>
              <a:rPr lang="en-US" sz="1800" b="1" dirty="0">
                <a:solidFill>
                  <a:srgbClr val="D97706"/>
                </a:solidFill>
                <a:latin typeface="Meiryo UI" pitchFamily="34" charset="0"/>
                <a:ea typeface="Meiryo UI" pitchFamily="34" charset="-122"/>
                <a:cs typeface="Meiryo UI" pitchFamily="34" charset="-120"/>
              </a:rPr>
              <a:t>この節で行うこと</a:t>
            </a:r>
            <a:endParaRPr lang="en-US" sz="1800" dirty="0"/>
          </a:p>
        </p:txBody>
      </p:sp>
      <p:sp>
        <p:nvSpPr>
          <p:cNvPr id="6" name="Text 4"/>
          <p:cNvSpPr/>
          <p:nvPr/>
        </p:nvSpPr>
        <p:spPr>
          <a:xfrm>
            <a:off x="548640" y="1691640"/>
            <a:ext cx="11064240" cy="3291840"/>
          </a:xfrm>
          <a:prstGeom prst="rect">
            <a:avLst/>
          </a:prstGeom>
          <a:noFill/>
          <a:ln/>
        </p:spPr>
        <p:txBody>
          <a:bodyPr wrap="square" rtlCol="0" anchor="t"/>
          <a:lstStyle/>
          <a:p>
            <a:pPr indent="0" marL="0">
              <a:spcAft>
                <a:spcPts val="1200"/>
              </a:spcAft>
              <a:buNone/>
            </a:pPr>
            <a:r>
              <a:rPr lang="en-US" sz="1800" b="1" dirty="0">
                <a:solidFill>
                  <a:srgbClr val="E11D2E"/>
                </a:solidFill>
                <a:latin typeface="Meiryo UI" pitchFamily="34" charset="0"/>
                <a:ea typeface="Meiryo UI" pitchFamily="34" charset="-122"/>
                <a:cs typeface="Meiryo UI" pitchFamily="34" charset="-120"/>
              </a:rPr>
              <a:t>① </a:t>
            </a:r>
            <a:pPr indent="0" marL="0">
              <a:spcAft>
                <a:spcPts val="1200"/>
              </a:spcAft>
              <a:buNone/>
            </a:pPr>
            <a:r>
              <a:rPr lang="en-US" sz="1800" dirty="0">
                <a:solidFill>
                  <a:srgbClr val="1F2937"/>
                </a:solidFill>
                <a:latin typeface="Meiryo UI" pitchFamily="34" charset="0"/>
                <a:ea typeface="Meiryo UI" pitchFamily="34" charset="-122"/>
                <a:cs typeface="Meiryo UI" pitchFamily="34" charset="-120"/>
              </a:rPr>
              <a:t>コレクションにフォルダを作る</a:t>
            </a:r>
            <a:endParaRPr lang="en-US" sz="1800" dirty="0"/>
          </a:p>
          <a:p>
            <a:pPr indent="0" marL="0">
              <a:spcAft>
                <a:spcPts val="1200"/>
              </a:spcAft>
              <a:buNone/>
            </a:pPr>
            <a:r>
              <a:rPr lang="en-US" sz="1800" b="1" dirty="0">
                <a:solidFill>
                  <a:srgbClr val="E11D2E"/>
                </a:solidFill>
                <a:latin typeface="Meiryo UI" pitchFamily="34" charset="0"/>
                <a:ea typeface="Meiryo UI" pitchFamily="34" charset="-122"/>
                <a:cs typeface="Meiryo UI" pitchFamily="34" charset="-120"/>
              </a:rPr>
              <a:t>② </a:t>
            </a:r>
            <a:pPr indent="0" marL="0">
              <a:spcAft>
                <a:spcPts val="1200"/>
              </a:spcAft>
              <a:buNone/>
            </a:pPr>
            <a:r>
              <a:rPr lang="en-US" sz="1800" dirty="0">
                <a:solidFill>
                  <a:srgbClr val="1F2937"/>
                </a:solidFill>
                <a:latin typeface="Meiryo UI" pitchFamily="34" charset="0"/>
                <a:ea typeface="Meiryo UI" pitchFamily="34" charset="-122"/>
                <a:cs typeface="Meiryo UI" pitchFamily="34" charset="-120"/>
              </a:rPr>
              <a:t>フォルダの中にリクエストを作る</a:t>
            </a:r>
            <a:endParaRPr lang="en-US" sz="1800" dirty="0"/>
          </a:p>
          <a:p>
            <a:pPr indent="0" marL="0">
              <a:spcAft>
                <a:spcPts val="1200"/>
              </a:spcAft>
              <a:buNone/>
            </a:pPr>
            <a:r>
              <a:rPr lang="en-US" sz="1800" b="1" dirty="0">
                <a:solidFill>
                  <a:srgbClr val="E11D2E"/>
                </a:solidFill>
                <a:latin typeface="Meiryo UI" pitchFamily="34" charset="0"/>
                <a:ea typeface="Meiryo UI" pitchFamily="34" charset="-122"/>
                <a:cs typeface="Meiryo UI" pitchFamily="34" charset="-120"/>
              </a:rPr>
              <a:t>③ </a:t>
            </a:r>
            <a:pPr indent="0" marL="0">
              <a:spcAft>
                <a:spcPts val="1200"/>
              </a:spcAft>
              <a:buNone/>
            </a:pPr>
            <a:r>
              <a:rPr lang="en-US" sz="1800" dirty="0">
                <a:solidFill>
                  <a:srgbClr val="1F2937"/>
                </a:solidFill>
                <a:latin typeface="Meiryo UI" pitchFamily="34" charset="0"/>
                <a:ea typeface="Meiryo UI" pitchFamily="34" charset="-122"/>
                <a:cs typeface="Meiryo UI" pitchFamily="34" charset="-120"/>
              </a:rPr>
              <a:t>作ったリクエストを送信して確認する</a:t>
            </a:r>
            <a:endParaRPr lang="en-US" sz="18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【手順 1/3】フォルダを作る：右クリック → New Folder</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5" name="Image 0" descr="実画面（Bruno v4.2.1、Windows 11、2026-10-09 撮影）（右クリックメニュー）">    </p:cNvPr>
          <p:cNvPicPr>
            <a:picLocks noChangeAspect="1"/>
          </p:cNvPicPr>
          <p:nvPr/>
        </p:nvPicPr>
        <p:blipFill>
          <a:blip r:embed="rId1"/>
          <a:stretch>
            <a:fillRect/>
          </a:stretch>
        </p:blipFill>
        <p:spPr>
          <a:xfrm>
            <a:off x="411480" y="1051560"/>
            <a:ext cx="4220918" cy="4343400"/>
          </a:xfrm>
          <a:prstGeom prst="rect">
            <a:avLst/>
          </a:prstGeom>
        </p:spPr>
      </p:pic>
      <p:sp>
        <p:nvSpPr>
          <p:cNvPr id="6" name="Shape 3"/>
          <p:cNvSpPr/>
          <p:nvPr/>
        </p:nvSpPr>
        <p:spPr>
          <a:xfrm>
            <a:off x="411480" y="1051560"/>
            <a:ext cx="4220918" cy="4343400"/>
          </a:xfrm>
          <a:prstGeom prst="rect">
            <a:avLst/>
          </a:prstGeom>
          <a:ln w="9525">
            <a:solidFill>
              <a:srgbClr val="D1D5DB"/>
            </a:solidFill>
            <a:prstDash val="solid"/>
          </a:ln>
        </p:spPr>
      </p:sp>
      <p:sp>
        <p:nvSpPr>
          <p:cNvPr id="7" name="Text 4"/>
          <p:cNvSpPr/>
          <p:nvPr/>
        </p:nvSpPr>
        <p:spPr>
          <a:xfrm>
            <a:off x="411480" y="5413248"/>
            <a:ext cx="4220918"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撮影）（右クリックメニュー）</a:t>
            </a:r>
            <a:endParaRPr lang="en-US" sz="1000" dirty="0"/>
          </a:p>
        </p:txBody>
      </p:sp>
      <p:sp>
        <p:nvSpPr>
          <p:cNvPr id="8" name="Shape 5"/>
          <p:cNvSpPr/>
          <p:nvPr/>
        </p:nvSpPr>
        <p:spPr>
          <a:xfrm>
            <a:off x="393192" y="5156833"/>
            <a:ext cx="1591155" cy="181042"/>
          </a:xfrm>
          <a:prstGeom prst="rect">
            <a:avLst/>
          </a:prstGeom>
          <a:ln w="28575">
            <a:solidFill>
              <a:srgbClr val="E11D2E"/>
            </a:solidFill>
            <a:prstDash val="solid"/>
          </a:ln>
        </p:spPr>
      </p:sp>
      <p:sp>
        <p:nvSpPr>
          <p:cNvPr id="9" name="Shape 6"/>
          <p:cNvSpPr/>
          <p:nvPr/>
        </p:nvSpPr>
        <p:spPr>
          <a:xfrm>
            <a:off x="100584" y="5110193"/>
            <a:ext cx="274320" cy="274320"/>
          </a:xfrm>
          <a:prstGeom prst="ellipse">
            <a:avLst/>
          </a:prstGeom>
          <a:solidFill>
            <a:srgbClr val="E11D2E"/>
          </a:solidFill>
          <a:ln w="15875">
            <a:solidFill>
              <a:srgbClr val="FFFFFF"/>
            </a:solidFill>
            <a:prstDash val="solid"/>
          </a:ln>
        </p:spPr>
      </p:sp>
      <p:sp>
        <p:nvSpPr>
          <p:cNvPr id="10" name="Text 7"/>
          <p:cNvSpPr/>
          <p:nvPr/>
        </p:nvSpPr>
        <p:spPr>
          <a:xfrm>
            <a:off x="100584" y="5110193"/>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1" name="Shape 8"/>
          <p:cNvSpPr/>
          <p:nvPr/>
        </p:nvSpPr>
        <p:spPr>
          <a:xfrm>
            <a:off x="1840992" y="2251811"/>
            <a:ext cx="1217428" cy="155917"/>
          </a:xfrm>
          <a:prstGeom prst="rect">
            <a:avLst/>
          </a:prstGeom>
          <a:ln w="28575">
            <a:solidFill>
              <a:srgbClr val="E11D2E"/>
            </a:solidFill>
            <a:prstDash val="solid"/>
          </a:ln>
        </p:spPr>
      </p:sp>
      <p:sp>
        <p:nvSpPr>
          <p:cNvPr id="12" name="Shape 9"/>
          <p:cNvSpPr/>
          <p:nvPr/>
        </p:nvSpPr>
        <p:spPr>
          <a:xfrm>
            <a:off x="1548384" y="2192610"/>
            <a:ext cx="274320" cy="274320"/>
          </a:xfrm>
          <a:prstGeom prst="ellipse">
            <a:avLst/>
          </a:prstGeom>
          <a:solidFill>
            <a:srgbClr val="E11D2E"/>
          </a:solidFill>
          <a:ln w="15875">
            <a:solidFill>
              <a:srgbClr val="FFFFFF"/>
            </a:solidFill>
            <a:prstDash val="solid"/>
          </a:ln>
        </p:spPr>
      </p:sp>
      <p:sp>
        <p:nvSpPr>
          <p:cNvPr id="13" name="Text 10"/>
          <p:cNvSpPr/>
          <p:nvPr/>
        </p:nvSpPr>
        <p:spPr>
          <a:xfrm>
            <a:off x="1548384" y="219261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4" name="Text 11"/>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サイドバーで bruno-hands-on（コレクション名）を右クリック</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メニューから「New Folder」をクリック</a:t>
            </a:r>
            <a:endParaRPr lang="en-US" sz="1400" dirty="0"/>
          </a:p>
        </p:txBody>
      </p:sp>
      <p:sp>
        <p:nvSpPr>
          <p:cNvPr id="15" name="Shape 12"/>
          <p:cNvSpPr/>
          <p:nvPr/>
        </p:nvSpPr>
        <p:spPr>
          <a:xfrm>
            <a:off x="8275320" y="4206240"/>
            <a:ext cx="3520440" cy="1417320"/>
          </a:xfrm>
          <a:prstGeom prst="rect">
            <a:avLst/>
          </a:prstGeom>
          <a:solidFill>
            <a:srgbClr val="EFF6FF"/>
          </a:solidFill>
          <a:ln w="15875">
            <a:solidFill>
              <a:srgbClr val="1D4ED8"/>
            </a:solidFill>
            <a:prstDash val="solid"/>
          </a:ln>
        </p:spPr>
      </p:sp>
      <p:sp>
        <p:nvSpPr>
          <p:cNvPr id="16" name="Shape 13"/>
          <p:cNvSpPr/>
          <p:nvPr/>
        </p:nvSpPr>
        <p:spPr>
          <a:xfrm>
            <a:off x="8275320" y="4206240"/>
            <a:ext cx="82296" cy="1417320"/>
          </a:xfrm>
          <a:prstGeom prst="rect">
            <a:avLst/>
          </a:prstGeom>
          <a:solidFill>
            <a:srgbClr val="1D4ED8"/>
          </a:solidFill>
          <a:ln w="12700">
            <a:solidFill>
              <a:srgbClr val="1D4ED8"/>
            </a:solidFill>
            <a:prstDash val="solid"/>
          </a:ln>
        </p:spPr>
      </p:sp>
      <p:sp>
        <p:nvSpPr>
          <p:cNvPr id="17" name="Text 14"/>
          <p:cNvSpPr/>
          <p:nvPr/>
        </p:nvSpPr>
        <p:spPr>
          <a:xfrm>
            <a:off x="8439912" y="4251960"/>
            <a:ext cx="3291840" cy="1325880"/>
          </a:xfrm>
          <a:prstGeom prst="rect">
            <a:avLst/>
          </a:prstGeom>
          <a:noFill/>
          <a:ln/>
        </p:spPr>
        <p:txBody>
          <a:bodyPr wrap="square" rtlCol="0" anchor="ctr"/>
          <a:lstStyle/>
          <a:p>
            <a:pPr indent="0" marL="0">
              <a:spcAft>
                <a:spcPts val="200"/>
              </a:spcAft>
              <a:buNone/>
            </a:pPr>
            <a:r>
              <a:rPr lang="en-US" sz="1200" b="1" dirty="0">
                <a:solidFill>
                  <a:srgbClr val="1D4ED8"/>
                </a:solidFill>
                <a:latin typeface="Meiryo UI" pitchFamily="34" charset="0"/>
                <a:ea typeface="Meiryo UI" pitchFamily="34" charset="-122"/>
                <a:cs typeface="Meiryo UI" pitchFamily="34" charset="-120"/>
              </a:rPr>
              <a:t>【ヒント】</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メニューの「New Request」はコレクション直下にリクエストを作ります。整理したいときは先にフォルダを作ります。</a:t>
            </a:r>
            <a:endParaRPr lang="en-US" sz="12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【手順 2/3】フォルダ名を入力して Create</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5" name="Image 0" descr="実画面（Bruno v4.2.1、Windows 11、2026-10-09 撮影）">    </p:cNvPr>
          <p:cNvPicPr>
            <a:picLocks noChangeAspect="1"/>
          </p:cNvPicPr>
          <p:nvPr/>
        </p:nvPicPr>
        <p:blipFill>
          <a:blip r:embed="rId1"/>
          <a:stretch>
            <a:fillRect/>
          </a:stretch>
        </p:blipFill>
        <p:spPr>
          <a:xfrm>
            <a:off x="411480" y="1051560"/>
            <a:ext cx="7680960" cy="2495312"/>
          </a:xfrm>
          <a:prstGeom prst="rect">
            <a:avLst/>
          </a:prstGeom>
        </p:spPr>
      </p:pic>
      <p:sp>
        <p:nvSpPr>
          <p:cNvPr id="6" name="Shape 3"/>
          <p:cNvSpPr/>
          <p:nvPr/>
        </p:nvSpPr>
        <p:spPr>
          <a:xfrm>
            <a:off x="411480" y="1051560"/>
            <a:ext cx="7680960" cy="2495312"/>
          </a:xfrm>
          <a:prstGeom prst="rect">
            <a:avLst/>
          </a:prstGeom>
          <a:ln w="9525">
            <a:solidFill>
              <a:srgbClr val="D1D5DB"/>
            </a:solidFill>
            <a:prstDash val="solid"/>
          </a:ln>
        </p:spPr>
      </p:sp>
      <p:sp>
        <p:nvSpPr>
          <p:cNvPr id="7" name="Text 4"/>
          <p:cNvSpPr/>
          <p:nvPr/>
        </p:nvSpPr>
        <p:spPr>
          <a:xfrm>
            <a:off x="411480" y="3565160"/>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a:t>
            </a:r>
            <a:endParaRPr lang="en-US" sz="1000" dirty="0"/>
          </a:p>
        </p:txBody>
      </p:sp>
      <p:sp>
        <p:nvSpPr>
          <p:cNvPr id="8" name="Shape 5"/>
          <p:cNvSpPr/>
          <p:nvPr/>
        </p:nvSpPr>
        <p:spPr>
          <a:xfrm>
            <a:off x="1898380" y="1993392"/>
            <a:ext cx="4707160" cy="381619"/>
          </a:xfrm>
          <a:prstGeom prst="rect">
            <a:avLst/>
          </a:prstGeom>
          <a:ln w="28575">
            <a:solidFill>
              <a:srgbClr val="E11D2E"/>
            </a:solidFill>
            <a:prstDash val="solid"/>
          </a:ln>
        </p:spPr>
      </p:sp>
      <p:sp>
        <p:nvSpPr>
          <p:cNvPr id="9" name="Shape 6"/>
          <p:cNvSpPr/>
          <p:nvPr/>
        </p:nvSpPr>
        <p:spPr>
          <a:xfrm>
            <a:off x="1605772" y="2047042"/>
            <a:ext cx="274320" cy="274320"/>
          </a:xfrm>
          <a:prstGeom prst="ellipse">
            <a:avLst/>
          </a:prstGeom>
          <a:solidFill>
            <a:srgbClr val="E11D2E"/>
          </a:solidFill>
          <a:ln w="15875">
            <a:solidFill>
              <a:srgbClr val="FFFFFF"/>
            </a:solidFill>
            <a:prstDash val="solid"/>
          </a:ln>
        </p:spPr>
      </p:sp>
      <p:sp>
        <p:nvSpPr>
          <p:cNvPr id="10" name="Text 7"/>
          <p:cNvSpPr/>
          <p:nvPr/>
        </p:nvSpPr>
        <p:spPr>
          <a:xfrm>
            <a:off x="1605772" y="204704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1" name="Shape 8"/>
          <p:cNvSpPr/>
          <p:nvPr/>
        </p:nvSpPr>
        <p:spPr>
          <a:xfrm>
            <a:off x="5838873" y="2653475"/>
            <a:ext cx="766667" cy="336614"/>
          </a:xfrm>
          <a:prstGeom prst="rect">
            <a:avLst/>
          </a:prstGeom>
          <a:ln w="28575">
            <a:solidFill>
              <a:srgbClr val="E11D2E"/>
            </a:solidFill>
            <a:prstDash val="solid"/>
          </a:ln>
        </p:spPr>
      </p:sp>
      <p:sp>
        <p:nvSpPr>
          <p:cNvPr id="12" name="Shape 9"/>
          <p:cNvSpPr/>
          <p:nvPr/>
        </p:nvSpPr>
        <p:spPr>
          <a:xfrm>
            <a:off x="5546265" y="2684621"/>
            <a:ext cx="274320" cy="274320"/>
          </a:xfrm>
          <a:prstGeom prst="ellipse">
            <a:avLst/>
          </a:prstGeom>
          <a:solidFill>
            <a:srgbClr val="E11D2E"/>
          </a:solidFill>
          <a:ln w="15875">
            <a:solidFill>
              <a:srgbClr val="FFFFFF"/>
            </a:solidFill>
            <a:prstDash val="solid"/>
          </a:ln>
        </p:spPr>
      </p:sp>
      <p:sp>
        <p:nvSpPr>
          <p:cNvPr id="13" name="Text 10"/>
          <p:cNvSpPr/>
          <p:nvPr/>
        </p:nvSpPr>
        <p:spPr>
          <a:xfrm>
            <a:off x="5546265" y="2684621"/>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4" name="Text 11"/>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Folder Name に 10_MyFolder と入力</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「Create」をクリック → サイドバーに 10_MyFolder が追加される</a:t>
            </a:r>
            <a:endParaRPr lang="en-US" sz="1400" dirty="0"/>
          </a:p>
        </p:txBody>
      </p:sp>
      <p:sp>
        <p:nvSpPr>
          <p:cNvPr id="15" name="Shape 12"/>
          <p:cNvSpPr/>
          <p:nvPr/>
        </p:nvSpPr>
        <p:spPr>
          <a:xfrm>
            <a:off x="8275320" y="4206240"/>
            <a:ext cx="3520440" cy="1417320"/>
          </a:xfrm>
          <a:prstGeom prst="rect">
            <a:avLst/>
          </a:prstGeom>
          <a:solidFill>
            <a:srgbClr val="EFF6FF"/>
          </a:solidFill>
          <a:ln w="15875">
            <a:solidFill>
              <a:srgbClr val="1D4ED8"/>
            </a:solidFill>
            <a:prstDash val="solid"/>
          </a:ln>
        </p:spPr>
      </p:sp>
      <p:sp>
        <p:nvSpPr>
          <p:cNvPr id="16" name="Shape 13"/>
          <p:cNvSpPr/>
          <p:nvPr/>
        </p:nvSpPr>
        <p:spPr>
          <a:xfrm>
            <a:off x="8275320" y="4206240"/>
            <a:ext cx="82296" cy="1417320"/>
          </a:xfrm>
          <a:prstGeom prst="rect">
            <a:avLst/>
          </a:prstGeom>
          <a:solidFill>
            <a:srgbClr val="1D4ED8"/>
          </a:solidFill>
          <a:ln w="12700">
            <a:solidFill>
              <a:srgbClr val="1D4ED8"/>
            </a:solidFill>
            <a:prstDash val="solid"/>
          </a:ln>
        </p:spPr>
      </p:sp>
      <p:sp>
        <p:nvSpPr>
          <p:cNvPr id="17" name="Text 14"/>
          <p:cNvSpPr/>
          <p:nvPr/>
        </p:nvSpPr>
        <p:spPr>
          <a:xfrm>
            <a:off x="8439912" y="4251960"/>
            <a:ext cx="3291840" cy="1325880"/>
          </a:xfrm>
          <a:prstGeom prst="rect">
            <a:avLst/>
          </a:prstGeom>
          <a:noFill/>
          <a:ln/>
        </p:spPr>
        <p:txBody>
          <a:bodyPr wrap="square" rtlCol="0" anchor="ctr"/>
          <a:lstStyle/>
          <a:p>
            <a:pPr indent="0" marL="0">
              <a:spcAft>
                <a:spcPts val="200"/>
              </a:spcAft>
              <a:buNone/>
            </a:pPr>
            <a:r>
              <a:rPr lang="en-US" sz="1200" b="1" dirty="0">
                <a:solidFill>
                  <a:srgbClr val="1D4ED8"/>
                </a:solidFill>
                <a:latin typeface="Meiryo UI" pitchFamily="34" charset="0"/>
                <a:ea typeface="Meiryo UI" pitchFamily="34" charset="-122"/>
                <a:cs typeface="Meiryo UI" pitchFamily="34" charset="-120"/>
              </a:rPr>
              <a:t>【ヒント】</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名前の先頭に番号を付けると、並び順が分かりやすくなります。</a:t>
            </a:r>
            <a:endParaRPr lang="en-US" sz="1200" dirty="0"/>
          </a:p>
        </p:txBody>
      </p:sp>
      <p:sp>
        <p:nvSpPr>
          <p:cNvPr id="18" name="Shape 15"/>
          <p:cNvSpPr/>
          <p:nvPr/>
        </p:nvSpPr>
        <p:spPr>
          <a:xfrm>
            <a:off x="548640" y="5788152"/>
            <a:ext cx="11064240" cy="329184"/>
          </a:xfrm>
          <a:prstGeom prst="rect">
            <a:avLst/>
          </a:prstGeom>
          <a:solidFill>
            <a:srgbClr val="ECFDF5"/>
          </a:solidFill>
          <a:ln w="12700">
            <a:solidFill>
              <a:srgbClr val="047857"/>
            </a:solidFill>
            <a:prstDash val="solid"/>
          </a:ln>
        </p:spPr>
      </p:sp>
      <p:sp>
        <p:nvSpPr>
          <p:cNvPr id="19" name="Text 16"/>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10_MyFolder フォルダで完成形を確認できます</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【手順 3/3】フォルダの中にリクエストを作って送信する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5" name="Image 0" descr="実画面（Bruno v4.2.1、Windows 11、2026-10-09 撮影）">    </p:cNvPr>
          <p:cNvPicPr>
            <a:picLocks noChangeAspect="1"/>
          </p:cNvPicPr>
          <p:nvPr/>
        </p:nvPicPr>
        <p:blipFill>
          <a:blip r:embed="rId1"/>
          <a:stretch>
            <a:fillRect/>
          </a:stretch>
        </p:blipFill>
        <p:spPr>
          <a:xfrm>
            <a:off x="411480" y="1051560"/>
            <a:ext cx="7680960" cy="3935492"/>
          </a:xfrm>
          <a:prstGeom prst="rect">
            <a:avLst/>
          </a:prstGeom>
        </p:spPr>
      </p:pic>
      <p:sp>
        <p:nvSpPr>
          <p:cNvPr id="6" name="Shape 3"/>
          <p:cNvSpPr/>
          <p:nvPr/>
        </p:nvSpPr>
        <p:spPr>
          <a:xfrm>
            <a:off x="411480" y="1051560"/>
            <a:ext cx="7680960" cy="3935492"/>
          </a:xfrm>
          <a:prstGeom prst="rect">
            <a:avLst/>
          </a:prstGeom>
          <a:ln w="9525">
            <a:solidFill>
              <a:srgbClr val="D1D5DB"/>
            </a:solidFill>
            <a:prstDash val="solid"/>
          </a:ln>
        </p:spPr>
      </p:sp>
      <p:sp>
        <p:nvSpPr>
          <p:cNvPr id="7" name="Text 4"/>
          <p:cNvSpPr/>
          <p:nvPr/>
        </p:nvSpPr>
        <p:spPr>
          <a:xfrm>
            <a:off x="411480" y="5005340"/>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a:t>
            </a:r>
            <a:endParaRPr lang="en-US" sz="1000" dirty="0"/>
          </a:p>
        </p:txBody>
      </p:sp>
      <p:sp>
        <p:nvSpPr>
          <p:cNvPr id="8" name="Shape 5"/>
          <p:cNvSpPr/>
          <p:nvPr/>
        </p:nvSpPr>
        <p:spPr>
          <a:xfrm>
            <a:off x="1898380" y="2893505"/>
            <a:ext cx="4707160" cy="386620"/>
          </a:xfrm>
          <a:prstGeom prst="rect">
            <a:avLst/>
          </a:prstGeom>
          <a:ln w="28575">
            <a:solidFill>
              <a:srgbClr val="E11D2E"/>
            </a:solidFill>
            <a:prstDash val="solid"/>
          </a:ln>
        </p:spPr>
      </p:sp>
      <p:sp>
        <p:nvSpPr>
          <p:cNvPr id="9" name="Shape 6"/>
          <p:cNvSpPr/>
          <p:nvPr/>
        </p:nvSpPr>
        <p:spPr>
          <a:xfrm>
            <a:off x="1605772" y="2949654"/>
            <a:ext cx="274320" cy="274320"/>
          </a:xfrm>
          <a:prstGeom prst="ellipse">
            <a:avLst/>
          </a:prstGeom>
          <a:solidFill>
            <a:srgbClr val="E11D2E"/>
          </a:solidFill>
          <a:ln w="15875">
            <a:solidFill>
              <a:srgbClr val="FFFFFF"/>
            </a:solidFill>
            <a:prstDash val="solid"/>
          </a:ln>
        </p:spPr>
      </p:sp>
      <p:sp>
        <p:nvSpPr>
          <p:cNvPr id="10" name="Text 7"/>
          <p:cNvSpPr/>
          <p:nvPr/>
        </p:nvSpPr>
        <p:spPr>
          <a:xfrm>
            <a:off x="1605772" y="294965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1" name="Shape 8"/>
          <p:cNvSpPr/>
          <p:nvPr/>
        </p:nvSpPr>
        <p:spPr>
          <a:xfrm>
            <a:off x="1898380" y="3663601"/>
            <a:ext cx="4707160" cy="381619"/>
          </a:xfrm>
          <a:prstGeom prst="rect">
            <a:avLst/>
          </a:prstGeom>
          <a:ln w="28575">
            <a:solidFill>
              <a:srgbClr val="E11D2E"/>
            </a:solidFill>
            <a:prstDash val="solid"/>
          </a:ln>
        </p:spPr>
      </p:sp>
      <p:sp>
        <p:nvSpPr>
          <p:cNvPr id="12" name="Shape 9"/>
          <p:cNvSpPr/>
          <p:nvPr/>
        </p:nvSpPr>
        <p:spPr>
          <a:xfrm>
            <a:off x="1605772" y="3717250"/>
            <a:ext cx="274320" cy="274320"/>
          </a:xfrm>
          <a:prstGeom prst="ellipse">
            <a:avLst/>
          </a:prstGeom>
          <a:solidFill>
            <a:srgbClr val="E11D2E"/>
          </a:solidFill>
          <a:ln w="15875">
            <a:solidFill>
              <a:srgbClr val="FFFFFF"/>
            </a:solidFill>
            <a:prstDash val="solid"/>
          </a:ln>
        </p:spPr>
      </p:sp>
      <p:sp>
        <p:nvSpPr>
          <p:cNvPr id="13" name="Text 10"/>
          <p:cNvSpPr/>
          <p:nvPr/>
        </p:nvSpPr>
        <p:spPr>
          <a:xfrm>
            <a:off x="1605772" y="371725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4" name="Shape 11"/>
          <p:cNvSpPr/>
          <p:nvPr/>
        </p:nvSpPr>
        <p:spPr>
          <a:xfrm>
            <a:off x="5838873" y="4328684"/>
            <a:ext cx="766667" cy="331613"/>
          </a:xfrm>
          <a:prstGeom prst="rect">
            <a:avLst/>
          </a:prstGeom>
          <a:ln w="28575">
            <a:solidFill>
              <a:srgbClr val="E11D2E"/>
            </a:solidFill>
            <a:prstDash val="solid"/>
          </a:ln>
        </p:spPr>
      </p:sp>
      <p:sp>
        <p:nvSpPr>
          <p:cNvPr id="15" name="Shape 12"/>
          <p:cNvSpPr/>
          <p:nvPr/>
        </p:nvSpPr>
        <p:spPr>
          <a:xfrm>
            <a:off x="5546265" y="4357330"/>
            <a:ext cx="274320" cy="274320"/>
          </a:xfrm>
          <a:prstGeom prst="ellipse">
            <a:avLst/>
          </a:prstGeom>
          <a:solidFill>
            <a:srgbClr val="E11D2E"/>
          </a:solidFill>
          <a:ln w="15875">
            <a:solidFill>
              <a:srgbClr val="FFFFFF"/>
            </a:solidFill>
            <a:prstDash val="solid"/>
          </a:ln>
        </p:spPr>
      </p:sp>
      <p:sp>
        <p:nvSpPr>
          <p:cNvPr id="16" name="Text 13"/>
          <p:cNvSpPr/>
          <p:nvPr/>
        </p:nvSpPr>
        <p:spPr>
          <a:xfrm>
            <a:off x="5546265" y="435733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7" name="Text 14"/>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10_MyFolder を右クリック →「New Request」</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Request Name：My Request</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URL：{{baseUrl}}/users/1</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④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「Create」→ 開いたリクエストで Send → 200 OK</a:t>
            </a:r>
            <a:endParaRPr lang="en-US" sz="1400" dirty="0"/>
          </a:p>
        </p:txBody>
      </p:sp>
      <p:sp>
        <p:nvSpPr>
          <p:cNvPr id="18" name="Shape 15"/>
          <p:cNvSpPr/>
          <p:nvPr/>
        </p:nvSpPr>
        <p:spPr>
          <a:xfrm>
            <a:off x="8275320" y="4206240"/>
            <a:ext cx="3520440" cy="1417320"/>
          </a:xfrm>
          <a:prstGeom prst="rect">
            <a:avLst/>
          </a:prstGeom>
          <a:solidFill>
            <a:srgbClr val="EFF6FF"/>
          </a:solidFill>
          <a:ln w="15875">
            <a:solidFill>
              <a:srgbClr val="1D4ED8"/>
            </a:solidFill>
            <a:prstDash val="solid"/>
          </a:ln>
        </p:spPr>
      </p:sp>
      <p:sp>
        <p:nvSpPr>
          <p:cNvPr id="19" name="Shape 16"/>
          <p:cNvSpPr/>
          <p:nvPr/>
        </p:nvSpPr>
        <p:spPr>
          <a:xfrm>
            <a:off x="8275320" y="4206240"/>
            <a:ext cx="82296" cy="1417320"/>
          </a:xfrm>
          <a:prstGeom prst="rect">
            <a:avLst/>
          </a:prstGeom>
          <a:solidFill>
            <a:srgbClr val="1D4ED8"/>
          </a:solidFill>
          <a:ln w="12700">
            <a:solidFill>
              <a:srgbClr val="1D4ED8"/>
            </a:solidFill>
            <a:prstDash val="solid"/>
          </a:ln>
        </p:spPr>
      </p:sp>
      <p:sp>
        <p:nvSpPr>
          <p:cNvPr id="20" name="Text 17"/>
          <p:cNvSpPr/>
          <p:nvPr/>
        </p:nvSpPr>
        <p:spPr>
          <a:xfrm>
            <a:off x="8439912" y="4251960"/>
            <a:ext cx="3291840" cy="1325880"/>
          </a:xfrm>
          <a:prstGeom prst="rect">
            <a:avLst/>
          </a:prstGeom>
          <a:noFill/>
          <a:ln/>
        </p:spPr>
        <p:txBody>
          <a:bodyPr wrap="square" rtlCol="0" anchor="ctr"/>
          <a:lstStyle/>
          <a:p>
            <a:pPr indent="0" marL="0">
              <a:spcAft>
                <a:spcPts val="200"/>
              </a:spcAft>
              <a:buNone/>
            </a:pPr>
            <a:r>
              <a:rPr lang="en-US" sz="1200" b="1" dirty="0">
                <a:solidFill>
                  <a:srgbClr val="1D4ED8"/>
                </a:solidFill>
                <a:latin typeface="Meiryo UI" pitchFamily="34" charset="0"/>
                <a:ea typeface="Meiryo UI" pitchFamily="34" charset="-122"/>
                <a:cs typeface="Meiryo UI" pitchFamily="34" charset="-120"/>
              </a:rPr>
              <a:t>【ヒント】</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作られたファイル：bruno-hands-on\10_MyFolder\My Request.yml（作成環境で確認）</a:t>
            </a:r>
            <a:endParaRPr lang="en-US" sz="1200" dirty="0"/>
          </a:p>
        </p:txBody>
      </p:sp>
      <p:sp>
        <p:nvSpPr>
          <p:cNvPr id="21" name="Shape 18"/>
          <p:cNvSpPr/>
          <p:nvPr/>
        </p:nvSpPr>
        <p:spPr>
          <a:xfrm>
            <a:off x="548640" y="5788152"/>
            <a:ext cx="11064240" cy="329184"/>
          </a:xfrm>
          <a:prstGeom prst="rect">
            <a:avLst/>
          </a:prstGeom>
          <a:solidFill>
            <a:srgbClr val="ECFDF5"/>
          </a:solidFill>
          <a:ln w="12700">
            <a:solidFill>
              <a:srgbClr val="047857"/>
            </a:solidFill>
            <a:prstDash val="solid"/>
          </a:ln>
        </p:spPr>
      </p:sp>
      <p:sp>
        <p:nvSpPr>
          <p:cNvPr id="22" name="Text 19"/>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10_MyFolder\My Request.yml を開いて Send</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アサーション（Assert）とは</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5" name="Text 3"/>
          <p:cNvSpPr/>
          <p:nvPr/>
        </p:nvSpPr>
        <p:spPr>
          <a:xfrm>
            <a:off x="548640" y="1097280"/>
            <a:ext cx="11064240" cy="685800"/>
          </a:xfrm>
          <a:prstGeom prst="rect">
            <a:avLst/>
          </a:prstGeom>
          <a:noFill/>
          <a:ln/>
        </p:spPr>
        <p:txBody>
          <a:bodyPr wrap="square" lIns="50800" tIns="50800" rIns="50800" bIns="50800" rtlCol="0" anchor="t"/>
          <a:lstStyle/>
          <a:p>
            <a:pPr algn="l" indent="0" marL="0">
              <a:buNone/>
            </a:pPr>
            <a:r>
              <a:rPr lang="en-US" sz="1700" dirty="0">
                <a:solidFill>
                  <a:srgbClr val="1F2937"/>
                </a:solidFill>
                <a:latin typeface="Meiryo UI" pitchFamily="34" charset="0"/>
                <a:ea typeface="Meiryo UI" pitchFamily="34" charset="-122"/>
                <a:cs typeface="Meiryo UI" pitchFamily="34" charset="-120"/>
              </a:rPr>
              <a:t>アサーションは「レスポンスがこうなっているはず」という条件です。送信するたびに Bruno が自動でチェックします。</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914400"/>
        </p:xfrm>
        <a:graphic>
          <a:graphicData uri="http://schemas.openxmlformats.org/drawingml/2006/table">
            <a:tbl>
              <a:tblPr/>
              <a:tblGrid>
                <a:gridCol w="4572000"/>
                <a:gridCol w="6492240"/>
              </a:tblGrid>
              <a:tr h="548640">
                <a:tc>
                  <a:txBody>
                    <a:bodyPr/>
                    <a:lstStyle/>
                    <a:p>
                      <a:pPr indent="0" marL="0">
                        <a:buNone/>
                      </a:pPr>
                      <a:r>
                        <a:rPr lang="en-US" sz="1500" b="1" dirty="0">
                          <a:solidFill>
                            <a:srgbClr val="FFFFFF"/>
                          </a:solidFill>
                          <a:latin typeface="Meiryo UI" pitchFamily="34" charset="0"/>
                          <a:ea typeface="Meiryo UI" pitchFamily="34" charset="-122"/>
                          <a:cs typeface="Meiryo UI" pitchFamily="34" charset="-120"/>
                        </a:rPr>
                        <a:t>確認したいこと（第1章 1-16）</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Meiryo UI" pitchFamily="34" charset="0"/>
                          <a:ea typeface="Meiryo UI" pitchFamily="34" charset="-122"/>
                          <a:cs typeface="Meiryo UI" pitchFamily="34" charset="-120"/>
                        </a:rPr>
                        <a:t>Assert の書き方の例</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548640">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ステータスコードが 200</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Consolas" pitchFamily="34" charset="0"/>
                          <a:ea typeface="Consolas" pitchFamily="34" charset="-122"/>
                          <a:cs typeface="Consolas" pitchFamily="34" charset="-120"/>
                        </a:rPr>
                        <a:t>res.status   equals   200</a:t>
                      </a:r>
                      <a:endParaRPr lang="en-US" sz="1500" dirty="0">
                        <a:latin typeface="Consolas" charset="0"/>
                        <a:ea typeface="Consolas" charset="0"/>
                        <a:cs typeface="Consolas"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ボディの id が 1</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Consolas" pitchFamily="34" charset="0"/>
                          <a:ea typeface="Consolas" pitchFamily="34" charset="-122"/>
                          <a:cs typeface="Consolas" pitchFamily="34" charset="-120"/>
                        </a:rPr>
                        <a:t>res.body.id   equals   1</a:t>
                      </a:r>
                      <a:endParaRPr lang="en-US" sz="1500" dirty="0">
                        <a:latin typeface="Consolas" charset="0"/>
                        <a:ea typeface="Consolas" charset="0"/>
                        <a:cs typeface="Consolas"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548640">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title がある</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Consolas" pitchFamily="34" charset="0"/>
                          <a:ea typeface="Consolas" pitchFamily="34" charset="-122"/>
                          <a:cs typeface="Consolas" pitchFamily="34" charset="-120"/>
                        </a:rPr>
                        <a:t>res.body.title   isDefined</a:t>
                      </a:r>
                      <a:endParaRPr lang="en-US" sz="1500" dirty="0">
                        <a:latin typeface="Consolas" charset="0"/>
                        <a:ea typeface="Consolas" charset="0"/>
                        <a:cs typeface="Consolas"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7" name="Text 4"/>
          <p:cNvSpPr/>
          <p:nvPr/>
        </p:nvSpPr>
        <p:spPr>
          <a:xfrm>
            <a:off x="548640" y="4343400"/>
            <a:ext cx="11064240" cy="1097280"/>
          </a:xfrm>
          <a:prstGeom prst="rect">
            <a:avLst/>
          </a:prstGeom>
          <a:noFill/>
          <a:ln/>
        </p:spPr>
        <p:txBody>
          <a:bodyPr wrap="square" rtlCol="0" anchor="t"/>
          <a:lstStyle/>
          <a:p>
            <a:pPr marL="228600" indent="-228600">
              <a:spcAft>
                <a:spcPts val="800"/>
              </a:spcAft>
              <a:buSzPct val="100000"/>
              <a:buChar char="•"/>
            </a:pPr>
            <a:r>
              <a:rPr lang="en-US" sz="1500" dirty="0">
                <a:solidFill>
                  <a:srgbClr val="1F2937"/>
                </a:solidFill>
                <a:latin typeface="Meiryo UI" pitchFamily="34" charset="0"/>
                <a:ea typeface="Meiryo UI" pitchFamily="34" charset="-122"/>
                <a:cs typeface="Meiryo UI" pitchFamily="34" charset="-120"/>
              </a:rPr>
              <a:t>コードを書かずに、表に入力するだけで設定できる</a:t>
            </a:r>
            <a:endParaRPr lang="en-US" sz="1500" dirty="0"/>
          </a:p>
          <a:p>
            <a:pPr marL="228600" indent="-228600">
              <a:spcAft>
                <a:spcPts val="800"/>
              </a:spcAft>
              <a:buSzPct val="100000"/>
              <a:buChar char="•"/>
            </a:pPr>
            <a:r>
              <a:rPr lang="en-US" sz="1500" dirty="0">
                <a:solidFill>
                  <a:srgbClr val="1F2937"/>
                </a:solidFill>
                <a:latin typeface="Meiryo UI" pitchFamily="34" charset="0"/>
                <a:ea typeface="Meiryo UI" pitchFamily="34" charset="-122"/>
                <a:cs typeface="Meiryo UI" pitchFamily="34" charset="-120"/>
              </a:rPr>
              <a:t>res は「レスポンス」、res.body はボディ、res.status はステータスコード</a:t>
            </a:r>
            <a:endParaRPr lang="en-US" sz="15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【操作】アサーションを確認する（09_Features/01 Assert Example）</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5" name="Image 0" descr="実画面（Bruno v4.2.1、Windows 11、2026-10-09 撮影）">    </p:cNvPr>
          <p:cNvPicPr>
            <a:picLocks noChangeAspect="1"/>
          </p:cNvPicPr>
          <p:nvPr/>
        </p:nvPicPr>
        <p:blipFill>
          <a:blip r:embed="rId1"/>
          <a:stretch>
            <a:fillRect/>
          </a:stretch>
        </p:blipFill>
        <p:spPr>
          <a:xfrm>
            <a:off x="548640" y="1097280"/>
            <a:ext cx="6400800" cy="1863524"/>
          </a:xfrm>
          <a:prstGeom prst="rect">
            <a:avLst/>
          </a:prstGeom>
        </p:spPr>
      </p:pic>
      <p:sp>
        <p:nvSpPr>
          <p:cNvPr id="6" name="Shape 3"/>
          <p:cNvSpPr/>
          <p:nvPr/>
        </p:nvSpPr>
        <p:spPr>
          <a:xfrm>
            <a:off x="548640" y="1097280"/>
            <a:ext cx="6400800" cy="1863524"/>
          </a:xfrm>
          <a:prstGeom prst="rect">
            <a:avLst/>
          </a:prstGeom>
          <a:ln w="9525">
            <a:solidFill>
              <a:srgbClr val="D1D5DB"/>
            </a:solidFill>
            <a:prstDash val="solid"/>
          </a:ln>
        </p:spPr>
      </p:sp>
      <p:sp>
        <p:nvSpPr>
          <p:cNvPr id="7" name="Text 4"/>
          <p:cNvSpPr/>
          <p:nvPr/>
        </p:nvSpPr>
        <p:spPr>
          <a:xfrm>
            <a:off x="548640" y="2979092"/>
            <a:ext cx="640080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a:t>
            </a:r>
            <a:endParaRPr lang="en-US" sz="1000" dirty="0"/>
          </a:p>
        </p:txBody>
      </p:sp>
      <p:sp>
        <p:nvSpPr>
          <p:cNvPr id="8" name="Shape 5"/>
          <p:cNvSpPr/>
          <p:nvPr/>
        </p:nvSpPr>
        <p:spPr>
          <a:xfrm>
            <a:off x="3155490" y="1544873"/>
            <a:ext cx="409281" cy="267491"/>
          </a:xfrm>
          <a:prstGeom prst="rect">
            <a:avLst/>
          </a:prstGeom>
          <a:ln w="28575">
            <a:solidFill>
              <a:srgbClr val="E11D2E"/>
            </a:solidFill>
            <a:prstDash val="solid"/>
          </a:ln>
        </p:spPr>
      </p:sp>
      <p:sp>
        <p:nvSpPr>
          <p:cNvPr id="9" name="Shape 6"/>
          <p:cNvSpPr/>
          <p:nvPr/>
        </p:nvSpPr>
        <p:spPr>
          <a:xfrm>
            <a:off x="2862882" y="1541458"/>
            <a:ext cx="274320" cy="274320"/>
          </a:xfrm>
          <a:prstGeom prst="ellipse">
            <a:avLst/>
          </a:prstGeom>
          <a:solidFill>
            <a:srgbClr val="E11D2E"/>
          </a:solidFill>
          <a:ln w="15875">
            <a:solidFill>
              <a:srgbClr val="FFFFFF"/>
            </a:solidFill>
            <a:prstDash val="solid"/>
          </a:ln>
        </p:spPr>
      </p:sp>
      <p:sp>
        <p:nvSpPr>
          <p:cNvPr id="10" name="Text 7"/>
          <p:cNvSpPr/>
          <p:nvPr/>
        </p:nvSpPr>
        <p:spPr>
          <a:xfrm>
            <a:off x="2862882" y="154145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1" name="Shape 8"/>
          <p:cNvSpPr/>
          <p:nvPr/>
        </p:nvSpPr>
        <p:spPr>
          <a:xfrm>
            <a:off x="570863" y="2164697"/>
            <a:ext cx="1373452" cy="320156"/>
          </a:xfrm>
          <a:prstGeom prst="rect">
            <a:avLst/>
          </a:prstGeom>
          <a:ln w="28575">
            <a:solidFill>
              <a:srgbClr val="E11D2E"/>
            </a:solidFill>
            <a:prstDash val="solid"/>
          </a:ln>
        </p:spPr>
      </p:sp>
      <p:sp>
        <p:nvSpPr>
          <p:cNvPr id="12" name="Shape 9"/>
          <p:cNvSpPr/>
          <p:nvPr/>
        </p:nvSpPr>
        <p:spPr>
          <a:xfrm>
            <a:off x="278255" y="2187615"/>
            <a:ext cx="274320" cy="274320"/>
          </a:xfrm>
          <a:prstGeom prst="ellipse">
            <a:avLst/>
          </a:prstGeom>
          <a:solidFill>
            <a:srgbClr val="E11D2E"/>
          </a:solidFill>
          <a:ln w="15875">
            <a:solidFill>
              <a:srgbClr val="FFFFFF"/>
            </a:solidFill>
            <a:prstDash val="solid"/>
          </a:ln>
        </p:spPr>
      </p:sp>
      <p:sp>
        <p:nvSpPr>
          <p:cNvPr id="13" name="Text 10"/>
          <p:cNvSpPr/>
          <p:nvPr/>
        </p:nvSpPr>
        <p:spPr>
          <a:xfrm>
            <a:off x="278255" y="218761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4" name="Shape 11"/>
          <p:cNvSpPr/>
          <p:nvPr/>
        </p:nvSpPr>
        <p:spPr>
          <a:xfrm>
            <a:off x="1907739" y="2164697"/>
            <a:ext cx="1008849" cy="320156"/>
          </a:xfrm>
          <a:prstGeom prst="rect">
            <a:avLst/>
          </a:prstGeom>
          <a:ln w="28575">
            <a:solidFill>
              <a:srgbClr val="E11D2E"/>
            </a:solidFill>
            <a:prstDash val="solid"/>
          </a:ln>
        </p:spPr>
      </p:sp>
      <p:sp>
        <p:nvSpPr>
          <p:cNvPr id="15" name="Shape 12"/>
          <p:cNvSpPr/>
          <p:nvPr/>
        </p:nvSpPr>
        <p:spPr>
          <a:xfrm>
            <a:off x="1615131" y="2187615"/>
            <a:ext cx="274320" cy="274320"/>
          </a:xfrm>
          <a:prstGeom prst="ellipse">
            <a:avLst/>
          </a:prstGeom>
          <a:solidFill>
            <a:srgbClr val="E11D2E"/>
          </a:solidFill>
          <a:ln w="15875">
            <a:solidFill>
              <a:srgbClr val="FFFFFF"/>
            </a:solidFill>
            <a:prstDash val="solid"/>
          </a:ln>
        </p:spPr>
      </p:sp>
      <p:sp>
        <p:nvSpPr>
          <p:cNvPr id="16" name="Text 13"/>
          <p:cNvSpPr/>
          <p:nvPr/>
        </p:nvSpPr>
        <p:spPr>
          <a:xfrm>
            <a:off x="1615131" y="218761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7" name="Shape 14"/>
          <p:cNvSpPr/>
          <p:nvPr/>
        </p:nvSpPr>
        <p:spPr>
          <a:xfrm>
            <a:off x="2880013" y="2164697"/>
            <a:ext cx="1725901" cy="320156"/>
          </a:xfrm>
          <a:prstGeom prst="rect">
            <a:avLst/>
          </a:prstGeom>
          <a:ln w="28575">
            <a:solidFill>
              <a:srgbClr val="E11D2E"/>
            </a:solidFill>
            <a:prstDash val="solid"/>
          </a:ln>
        </p:spPr>
      </p:sp>
      <p:sp>
        <p:nvSpPr>
          <p:cNvPr id="18" name="Shape 15"/>
          <p:cNvSpPr/>
          <p:nvPr/>
        </p:nvSpPr>
        <p:spPr>
          <a:xfrm>
            <a:off x="2587405" y="2187615"/>
            <a:ext cx="274320" cy="274320"/>
          </a:xfrm>
          <a:prstGeom prst="ellipse">
            <a:avLst/>
          </a:prstGeom>
          <a:solidFill>
            <a:srgbClr val="E11D2E"/>
          </a:solidFill>
          <a:ln w="15875">
            <a:solidFill>
              <a:srgbClr val="FFFFFF"/>
            </a:solidFill>
            <a:prstDash val="solid"/>
          </a:ln>
        </p:spPr>
      </p:sp>
      <p:sp>
        <p:nvSpPr>
          <p:cNvPr id="19" name="Text 16"/>
          <p:cNvSpPr/>
          <p:nvPr/>
        </p:nvSpPr>
        <p:spPr>
          <a:xfrm>
            <a:off x="2587405" y="218761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4</a:t>
            </a:r>
            <a:endParaRPr lang="en-US" sz="1200" dirty="0"/>
          </a:p>
        </p:txBody>
      </p:sp>
      <p:sp>
        <p:nvSpPr>
          <p:cNvPr id="20" name="Text 17"/>
          <p:cNvSpPr/>
          <p:nvPr/>
        </p:nvSpPr>
        <p:spPr>
          <a:xfrm>
            <a:off x="7223760" y="1097280"/>
            <a:ext cx="438912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09_Features → 01 Assert Example を開き「Assert」タブ（配布済みで 3 行入っている）</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Expr：調べる場所（res.status・res.body.id・res.body.title）</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Operator：比べ方（equals・isDefined）</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④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Value：期待する値（200・1。isDefined は空）</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⑤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9-8 の表と同じ 3 行であることを確かめて Send</a:t>
            </a:r>
            <a:endParaRPr lang="en-US" sz="1400" dirty="0"/>
          </a:p>
        </p:txBody>
      </p:sp>
      <p:sp>
        <p:nvSpPr>
          <p:cNvPr id="21" name="Shape 18"/>
          <p:cNvSpPr/>
          <p:nvPr/>
        </p:nvSpPr>
        <p:spPr>
          <a:xfrm>
            <a:off x="548640" y="3291840"/>
            <a:ext cx="6400800" cy="1005840"/>
          </a:xfrm>
          <a:prstGeom prst="rect">
            <a:avLst/>
          </a:prstGeom>
          <a:solidFill>
            <a:srgbClr val="EFF6FF"/>
          </a:solidFill>
          <a:ln w="15875">
            <a:solidFill>
              <a:srgbClr val="1D4ED8"/>
            </a:solidFill>
            <a:prstDash val="solid"/>
          </a:ln>
        </p:spPr>
      </p:sp>
      <p:sp>
        <p:nvSpPr>
          <p:cNvPr id="22" name="Shape 19"/>
          <p:cNvSpPr/>
          <p:nvPr/>
        </p:nvSpPr>
        <p:spPr>
          <a:xfrm>
            <a:off x="548640" y="3291840"/>
            <a:ext cx="82296" cy="1005840"/>
          </a:xfrm>
          <a:prstGeom prst="rect">
            <a:avLst/>
          </a:prstGeom>
          <a:solidFill>
            <a:srgbClr val="1D4ED8"/>
          </a:solidFill>
          <a:ln w="12700">
            <a:solidFill>
              <a:srgbClr val="1D4ED8"/>
            </a:solidFill>
            <a:prstDash val="solid"/>
          </a:ln>
        </p:spPr>
      </p:sp>
      <p:sp>
        <p:nvSpPr>
          <p:cNvPr id="23" name="Text 20"/>
          <p:cNvSpPr/>
          <p:nvPr/>
        </p:nvSpPr>
        <p:spPr>
          <a:xfrm>
            <a:off x="713232" y="3337560"/>
            <a:ext cx="6172200" cy="914400"/>
          </a:xfrm>
          <a:prstGeom prst="rect">
            <a:avLst/>
          </a:prstGeom>
          <a:noFill/>
          <a:ln/>
        </p:spPr>
        <p:txBody>
          <a:bodyPr wrap="square" rtlCol="0" anchor="ctr"/>
          <a:lstStyle/>
          <a:p>
            <a:pPr indent="0" marL="0">
              <a:spcAft>
                <a:spcPts val="200"/>
              </a:spcAft>
              <a:buNone/>
            </a:pPr>
            <a:r>
              <a:rPr lang="en-US" sz="1300" b="1" dirty="0">
                <a:solidFill>
                  <a:srgbClr val="1D4ED8"/>
                </a:solidFill>
                <a:latin typeface="Meiryo UI" pitchFamily="34" charset="0"/>
                <a:ea typeface="Meiryo UI" pitchFamily="34" charset="-122"/>
                <a:cs typeface="Meiryo UI" pitchFamily="34" charset="-120"/>
              </a:rPr>
              <a:t>【ヒント】</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Operator には equals 以外に、contains（含む）、isDefined（ある）、gt（より大きい）などがあります。ファイル上では equals は eq と保存されます。</a:t>
            </a:r>
            <a:endParaRPr lang="en-US" sz="1300" dirty="0"/>
          </a:p>
        </p:txBody>
      </p:sp>
      <p:sp>
        <p:nvSpPr>
          <p:cNvPr id="24" name="Shape 21"/>
          <p:cNvSpPr/>
          <p:nvPr/>
        </p:nvSpPr>
        <p:spPr>
          <a:xfrm>
            <a:off x="548640" y="5788152"/>
            <a:ext cx="11064240" cy="329184"/>
          </a:xfrm>
          <a:prstGeom prst="rect">
            <a:avLst/>
          </a:prstGeom>
          <a:solidFill>
            <a:srgbClr val="ECFDF5"/>
          </a:solidFill>
          <a:ln w="12700">
            <a:solidFill>
              <a:srgbClr val="047857"/>
            </a:solidFill>
            <a:prstDash val="solid"/>
          </a:ln>
        </p:spPr>
      </p:sp>
      <p:sp>
        <p:nvSpPr>
          <p:cNvPr id="25" name="Text 22"/>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09_Features\01 Assert Example.yml を開いて Send</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9-B　アサーションを自分で作る（手順）</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5" name="Text 3"/>
          <p:cNvSpPr/>
          <p:nvPr/>
        </p:nvSpPr>
        <p:spPr>
          <a:xfrm>
            <a:off x="548640" y="1188720"/>
            <a:ext cx="10972800" cy="411480"/>
          </a:xfrm>
          <a:prstGeom prst="rect">
            <a:avLst/>
          </a:prstGeom>
          <a:noFill/>
          <a:ln/>
        </p:spPr>
        <p:txBody>
          <a:bodyPr wrap="square" lIns="50800" tIns="50800" rIns="50800" bIns="50800" rtlCol="0" anchor="t"/>
          <a:lstStyle/>
          <a:p>
            <a:pPr algn="l" indent="0" marL="0">
              <a:buNone/>
            </a:pPr>
            <a:r>
              <a:rPr lang="en-US" sz="1800" b="1" dirty="0">
                <a:solidFill>
                  <a:srgbClr val="D97706"/>
                </a:solidFill>
                <a:latin typeface="Meiryo UI" pitchFamily="34" charset="0"/>
                <a:ea typeface="Meiryo UI" pitchFamily="34" charset="-122"/>
                <a:cs typeface="Meiryo UI" pitchFamily="34" charset="-120"/>
              </a:rPr>
              <a:t>この節で行うこと</a:t>
            </a:r>
            <a:endParaRPr lang="en-US" sz="1800" dirty="0"/>
          </a:p>
        </p:txBody>
      </p:sp>
      <p:sp>
        <p:nvSpPr>
          <p:cNvPr id="6" name="Text 4"/>
          <p:cNvSpPr/>
          <p:nvPr/>
        </p:nvSpPr>
        <p:spPr>
          <a:xfrm>
            <a:off x="548640" y="1691640"/>
            <a:ext cx="11064240" cy="3291840"/>
          </a:xfrm>
          <a:prstGeom prst="rect">
            <a:avLst/>
          </a:prstGeom>
          <a:noFill/>
          <a:ln/>
        </p:spPr>
        <p:txBody>
          <a:bodyPr wrap="square" rtlCol="0" anchor="t"/>
          <a:lstStyle/>
          <a:p>
            <a:pPr indent="0" marL="0">
              <a:spcAft>
                <a:spcPts val="1200"/>
              </a:spcAft>
              <a:buNone/>
            </a:pPr>
            <a:r>
              <a:rPr lang="en-US" sz="1800" b="1" dirty="0">
                <a:solidFill>
                  <a:srgbClr val="E11D2E"/>
                </a:solidFill>
                <a:latin typeface="Meiryo UI" pitchFamily="34" charset="0"/>
                <a:ea typeface="Meiryo UI" pitchFamily="34" charset="-122"/>
                <a:cs typeface="Meiryo UI" pitchFamily="34" charset="-120"/>
              </a:rPr>
              <a:t>① </a:t>
            </a:r>
            <a:pPr indent="0" marL="0">
              <a:spcAft>
                <a:spcPts val="1200"/>
              </a:spcAft>
              <a:buNone/>
            </a:pPr>
            <a:r>
              <a:rPr lang="en-US" sz="1800" dirty="0">
                <a:solidFill>
                  <a:srgbClr val="1F2937"/>
                </a:solidFill>
                <a:latin typeface="Meiryo UI" pitchFamily="34" charset="0"/>
                <a:ea typeface="Meiryo UI" pitchFamily="34" charset="-122"/>
                <a:cs typeface="Meiryo UI" pitchFamily="34" charset="-120"/>
              </a:rPr>
              <a:t>Assert タブを開く</a:t>
            </a:r>
            <a:endParaRPr lang="en-US" sz="1800" dirty="0"/>
          </a:p>
          <a:p>
            <a:pPr indent="0" marL="0">
              <a:spcAft>
                <a:spcPts val="1200"/>
              </a:spcAft>
              <a:buNone/>
            </a:pPr>
            <a:r>
              <a:rPr lang="en-US" sz="1800" b="1" dirty="0">
                <a:solidFill>
                  <a:srgbClr val="E11D2E"/>
                </a:solidFill>
                <a:latin typeface="Meiryo UI" pitchFamily="34" charset="0"/>
                <a:ea typeface="Meiryo UI" pitchFamily="34" charset="-122"/>
                <a:cs typeface="Meiryo UI" pitchFamily="34" charset="-120"/>
              </a:rPr>
              <a:t>② </a:t>
            </a:r>
            <a:pPr indent="0" marL="0">
              <a:spcAft>
                <a:spcPts val="1200"/>
              </a:spcAft>
              <a:buNone/>
            </a:pPr>
            <a:r>
              <a:rPr lang="en-US" sz="1800" dirty="0">
                <a:solidFill>
                  <a:srgbClr val="1F2937"/>
                </a:solidFill>
                <a:latin typeface="Meiryo UI" pitchFamily="34" charset="0"/>
                <a:ea typeface="Meiryo UI" pitchFamily="34" charset="-122"/>
                <a:cs typeface="Meiryo UI" pitchFamily="34" charset="-120"/>
              </a:rPr>
              <a:t>Expr・Operator・Value を入力する</a:t>
            </a:r>
            <a:endParaRPr lang="en-US" sz="1800" dirty="0"/>
          </a:p>
          <a:p>
            <a:pPr indent="0" marL="0">
              <a:spcAft>
                <a:spcPts val="1200"/>
              </a:spcAft>
              <a:buNone/>
            </a:pPr>
            <a:r>
              <a:rPr lang="en-US" sz="1800" b="1" dirty="0">
                <a:solidFill>
                  <a:srgbClr val="E11D2E"/>
                </a:solidFill>
                <a:latin typeface="Meiryo UI" pitchFamily="34" charset="0"/>
                <a:ea typeface="Meiryo UI" pitchFamily="34" charset="-122"/>
                <a:cs typeface="Meiryo UI" pitchFamily="34" charset="-120"/>
              </a:rPr>
              <a:t>③ </a:t>
            </a:r>
            <a:pPr indent="0" marL="0">
              <a:spcAft>
                <a:spcPts val="1200"/>
              </a:spcAft>
              <a:buNone/>
            </a:pPr>
            <a:r>
              <a:rPr lang="en-US" sz="1800" dirty="0">
                <a:solidFill>
                  <a:srgbClr val="1F2937"/>
                </a:solidFill>
                <a:latin typeface="Meiryo UI" pitchFamily="34" charset="0"/>
                <a:ea typeface="Meiryo UI" pitchFamily="34" charset="-122"/>
                <a:cs typeface="Meiryo UI" pitchFamily="34" charset="-120"/>
              </a:rPr>
              <a:t>保存して送信し、結果を確認する</a:t>
            </a:r>
            <a:endParaRPr lang="en-US" sz="18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【手順 1/4】Assert タブを開く</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5" name="Image 0" descr="実画面（Bruno v4.2.1、Windows 11、2026-10-09 撮影）">    </p:cNvPr>
          <p:cNvPicPr>
            <a:picLocks noChangeAspect="1"/>
          </p:cNvPicPr>
          <p:nvPr/>
        </p:nvPicPr>
        <p:blipFill>
          <a:blip r:embed="rId1"/>
          <a:stretch>
            <a:fillRect/>
          </a:stretch>
        </p:blipFill>
        <p:spPr>
          <a:xfrm>
            <a:off x="411480" y="1051560"/>
            <a:ext cx="7680960" cy="2751558"/>
          </a:xfrm>
          <a:prstGeom prst="rect">
            <a:avLst/>
          </a:prstGeom>
        </p:spPr>
      </p:pic>
      <p:sp>
        <p:nvSpPr>
          <p:cNvPr id="6" name="Shape 3"/>
          <p:cNvSpPr/>
          <p:nvPr/>
        </p:nvSpPr>
        <p:spPr>
          <a:xfrm>
            <a:off x="411480" y="1051560"/>
            <a:ext cx="7680960" cy="2751558"/>
          </a:xfrm>
          <a:prstGeom prst="rect">
            <a:avLst/>
          </a:prstGeom>
          <a:ln w="9525">
            <a:solidFill>
              <a:srgbClr val="D1D5DB"/>
            </a:solidFill>
            <a:prstDash val="solid"/>
          </a:ln>
        </p:spPr>
      </p:sp>
      <p:sp>
        <p:nvSpPr>
          <p:cNvPr id="7" name="Text 4"/>
          <p:cNvSpPr/>
          <p:nvPr/>
        </p:nvSpPr>
        <p:spPr>
          <a:xfrm>
            <a:off x="411480" y="3821406"/>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a:t>
            </a:r>
            <a:endParaRPr lang="en-US" sz="1000" dirty="0"/>
          </a:p>
        </p:txBody>
      </p:sp>
      <p:sp>
        <p:nvSpPr>
          <p:cNvPr id="8" name="Shape 5"/>
          <p:cNvSpPr/>
          <p:nvPr/>
        </p:nvSpPr>
        <p:spPr>
          <a:xfrm>
            <a:off x="551718" y="2844997"/>
            <a:ext cx="1746392" cy="217749"/>
          </a:xfrm>
          <a:prstGeom prst="rect">
            <a:avLst/>
          </a:prstGeom>
          <a:ln w="28575">
            <a:solidFill>
              <a:srgbClr val="E11D2E"/>
            </a:solidFill>
            <a:prstDash val="solid"/>
          </a:ln>
        </p:spPr>
      </p:sp>
      <p:sp>
        <p:nvSpPr>
          <p:cNvPr id="9" name="Shape 6"/>
          <p:cNvSpPr/>
          <p:nvPr/>
        </p:nvSpPr>
        <p:spPr>
          <a:xfrm>
            <a:off x="259110" y="2816711"/>
            <a:ext cx="274320" cy="274320"/>
          </a:xfrm>
          <a:prstGeom prst="ellipse">
            <a:avLst/>
          </a:prstGeom>
          <a:solidFill>
            <a:srgbClr val="E11D2E"/>
          </a:solidFill>
          <a:ln w="15875">
            <a:solidFill>
              <a:srgbClr val="FFFFFF"/>
            </a:solidFill>
            <a:prstDash val="solid"/>
          </a:ln>
        </p:spPr>
      </p:sp>
      <p:sp>
        <p:nvSpPr>
          <p:cNvPr id="10" name="Text 7"/>
          <p:cNvSpPr/>
          <p:nvPr/>
        </p:nvSpPr>
        <p:spPr>
          <a:xfrm>
            <a:off x="259110" y="2816711"/>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1" name="Shape 8"/>
          <p:cNvSpPr/>
          <p:nvPr/>
        </p:nvSpPr>
        <p:spPr>
          <a:xfrm>
            <a:off x="4797949" y="2135405"/>
            <a:ext cx="414019" cy="195102"/>
          </a:xfrm>
          <a:prstGeom prst="rect">
            <a:avLst/>
          </a:prstGeom>
          <a:ln w="28575">
            <a:solidFill>
              <a:srgbClr val="E11D2E"/>
            </a:solidFill>
            <a:prstDash val="solid"/>
          </a:ln>
        </p:spPr>
      </p:sp>
      <p:sp>
        <p:nvSpPr>
          <p:cNvPr id="12" name="Shape 9"/>
          <p:cNvSpPr/>
          <p:nvPr/>
        </p:nvSpPr>
        <p:spPr>
          <a:xfrm>
            <a:off x="4505341" y="2095796"/>
            <a:ext cx="274320" cy="274320"/>
          </a:xfrm>
          <a:prstGeom prst="ellipse">
            <a:avLst/>
          </a:prstGeom>
          <a:solidFill>
            <a:srgbClr val="E11D2E"/>
          </a:solidFill>
          <a:ln w="15875">
            <a:solidFill>
              <a:srgbClr val="FFFFFF"/>
            </a:solidFill>
            <a:prstDash val="solid"/>
          </a:ln>
        </p:spPr>
      </p:sp>
      <p:sp>
        <p:nvSpPr>
          <p:cNvPr id="13" name="Text 10"/>
          <p:cNvSpPr/>
          <p:nvPr/>
        </p:nvSpPr>
        <p:spPr>
          <a:xfrm>
            <a:off x="4505341" y="20957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4" name="Text 11"/>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10_MyFolder → My Request を開く（9-A で作ったもの）</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リクエスト側の「Assert」タブをクリック → 空の行が 1 行ある</a:t>
            </a:r>
            <a:endParaRPr lang="en-US" sz="1400" dirty="0"/>
          </a:p>
        </p:txBody>
      </p:sp>
      <p:sp>
        <p:nvSpPr>
          <p:cNvPr id="15" name="Shape 12"/>
          <p:cNvSpPr/>
          <p:nvPr/>
        </p:nvSpPr>
        <p:spPr>
          <a:xfrm>
            <a:off x="548640" y="5788152"/>
            <a:ext cx="11064240" cy="329184"/>
          </a:xfrm>
          <a:prstGeom prst="rect">
            <a:avLst/>
          </a:prstGeom>
          <a:solidFill>
            <a:srgbClr val="ECFDF5"/>
          </a:solidFill>
          <a:ln w="12700">
            <a:solidFill>
              <a:srgbClr val="047857"/>
            </a:solidFill>
            <a:prstDash val="solid"/>
          </a:ln>
        </p:spPr>
      </p:sp>
      <p:sp>
        <p:nvSpPr>
          <p:cNvPr id="16" name="Text 13"/>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10_MyFolder\My Request.yml を開く（アサーション入りの完成形）</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【手順 2/4】Expr に res.status と入力</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5" name="Image 0" descr="実画面（Bruno v4.2.1、Windows 11、2026-10-09 撮影）">    </p:cNvPr>
          <p:cNvPicPr>
            <a:picLocks noChangeAspect="1"/>
          </p:cNvPicPr>
          <p:nvPr/>
        </p:nvPicPr>
        <p:blipFill>
          <a:blip r:embed="rId1"/>
          <a:stretch>
            <a:fillRect/>
          </a:stretch>
        </p:blipFill>
        <p:spPr>
          <a:xfrm>
            <a:off x="411480" y="1051560"/>
            <a:ext cx="7680960" cy="2780348"/>
          </a:xfrm>
          <a:prstGeom prst="rect">
            <a:avLst/>
          </a:prstGeom>
        </p:spPr>
      </p:pic>
      <p:sp>
        <p:nvSpPr>
          <p:cNvPr id="6" name="Shape 3"/>
          <p:cNvSpPr/>
          <p:nvPr/>
        </p:nvSpPr>
        <p:spPr>
          <a:xfrm>
            <a:off x="411480" y="1051560"/>
            <a:ext cx="7680960" cy="2780348"/>
          </a:xfrm>
          <a:prstGeom prst="rect">
            <a:avLst/>
          </a:prstGeom>
          <a:ln w="9525">
            <a:solidFill>
              <a:srgbClr val="D1D5DB"/>
            </a:solidFill>
            <a:prstDash val="solid"/>
          </a:ln>
        </p:spPr>
      </p:sp>
      <p:sp>
        <p:nvSpPr>
          <p:cNvPr id="7" name="Text 4"/>
          <p:cNvSpPr/>
          <p:nvPr/>
        </p:nvSpPr>
        <p:spPr>
          <a:xfrm>
            <a:off x="411480" y="3850196"/>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a:t>
            </a:r>
            <a:endParaRPr lang="en-US" sz="1000" dirty="0"/>
          </a:p>
        </p:txBody>
      </p:sp>
      <p:sp>
        <p:nvSpPr>
          <p:cNvPr id="8" name="Shape 5"/>
          <p:cNvSpPr/>
          <p:nvPr/>
        </p:nvSpPr>
        <p:spPr>
          <a:xfrm>
            <a:off x="583216" y="2328434"/>
            <a:ext cx="2726912" cy="371618"/>
          </a:xfrm>
          <a:prstGeom prst="rect">
            <a:avLst/>
          </a:prstGeom>
          <a:ln w="28575">
            <a:solidFill>
              <a:srgbClr val="E11D2E"/>
            </a:solidFill>
            <a:prstDash val="solid"/>
          </a:ln>
        </p:spPr>
      </p:sp>
      <p:sp>
        <p:nvSpPr>
          <p:cNvPr id="9" name="Shape 6"/>
          <p:cNvSpPr/>
          <p:nvPr/>
        </p:nvSpPr>
        <p:spPr>
          <a:xfrm>
            <a:off x="290608" y="2377083"/>
            <a:ext cx="274320" cy="274320"/>
          </a:xfrm>
          <a:prstGeom prst="ellipse">
            <a:avLst/>
          </a:prstGeom>
          <a:solidFill>
            <a:srgbClr val="E11D2E"/>
          </a:solidFill>
          <a:ln w="15875">
            <a:solidFill>
              <a:srgbClr val="FFFFFF"/>
            </a:solidFill>
            <a:prstDash val="solid"/>
          </a:ln>
        </p:spPr>
      </p:sp>
      <p:sp>
        <p:nvSpPr>
          <p:cNvPr id="10" name="Text 7"/>
          <p:cNvSpPr/>
          <p:nvPr/>
        </p:nvSpPr>
        <p:spPr>
          <a:xfrm>
            <a:off x="290608" y="2377083"/>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1" name="Text 8"/>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Expr の欄をクリックし、res.status と入力</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入力すると、下に次の空の行が追加される</a:t>
            </a:r>
            <a:endParaRPr lang="en-US" sz="1400" dirty="0"/>
          </a:p>
        </p:txBody>
      </p:sp>
      <p:sp>
        <p:nvSpPr>
          <p:cNvPr id="12" name="Shape 9"/>
          <p:cNvSpPr/>
          <p:nvPr/>
        </p:nvSpPr>
        <p:spPr>
          <a:xfrm>
            <a:off x="8275320" y="4206240"/>
            <a:ext cx="3520440" cy="1417320"/>
          </a:xfrm>
          <a:prstGeom prst="rect">
            <a:avLst/>
          </a:prstGeom>
          <a:solidFill>
            <a:srgbClr val="EFF6FF"/>
          </a:solidFill>
          <a:ln w="15875">
            <a:solidFill>
              <a:srgbClr val="1D4ED8"/>
            </a:solidFill>
            <a:prstDash val="solid"/>
          </a:ln>
        </p:spPr>
      </p:sp>
      <p:sp>
        <p:nvSpPr>
          <p:cNvPr id="13" name="Shape 10"/>
          <p:cNvSpPr/>
          <p:nvPr/>
        </p:nvSpPr>
        <p:spPr>
          <a:xfrm>
            <a:off x="8275320" y="4206240"/>
            <a:ext cx="82296" cy="1417320"/>
          </a:xfrm>
          <a:prstGeom prst="rect">
            <a:avLst/>
          </a:prstGeom>
          <a:solidFill>
            <a:srgbClr val="1D4ED8"/>
          </a:solidFill>
          <a:ln w="12700">
            <a:solidFill>
              <a:srgbClr val="1D4ED8"/>
            </a:solidFill>
            <a:prstDash val="solid"/>
          </a:ln>
        </p:spPr>
      </p:sp>
      <p:sp>
        <p:nvSpPr>
          <p:cNvPr id="14" name="Text 11"/>
          <p:cNvSpPr/>
          <p:nvPr/>
        </p:nvSpPr>
        <p:spPr>
          <a:xfrm>
            <a:off x="8439912" y="4251960"/>
            <a:ext cx="3291840" cy="1325880"/>
          </a:xfrm>
          <a:prstGeom prst="rect">
            <a:avLst/>
          </a:prstGeom>
          <a:noFill/>
          <a:ln/>
        </p:spPr>
        <p:txBody>
          <a:bodyPr wrap="square" rtlCol="0" anchor="ctr"/>
          <a:lstStyle/>
          <a:p>
            <a:pPr indent="0" marL="0">
              <a:spcAft>
                <a:spcPts val="200"/>
              </a:spcAft>
              <a:buNone/>
            </a:pPr>
            <a:r>
              <a:rPr lang="en-US" sz="1200" b="1" dirty="0">
                <a:solidFill>
                  <a:srgbClr val="1D4ED8"/>
                </a:solidFill>
                <a:latin typeface="Meiryo UI" pitchFamily="34" charset="0"/>
                <a:ea typeface="Meiryo UI" pitchFamily="34" charset="-122"/>
                <a:cs typeface="Meiryo UI" pitchFamily="34" charset="-120"/>
              </a:rPr>
              <a:t>【ヒント】</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res.status ＝ レスポンスのステータスコード。res.body.name のように書くとボディの値を確認できます。</a:t>
            </a:r>
            <a:endParaRPr lang="en-US" sz="12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【手順 3/4】Operator を選び、Value を入力</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5" name="Image 0" descr="実画面（Bruno v4.2.1、Windows 11、2026-10-09 撮影）">    </p:cNvPr>
          <p:cNvPicPr>
            <a:picLocks noChangeAspect="1"/>
          </p:cNvPicPr>
          <p:nvPr/>
        </p:nvPicPr>
        <p:blipFill>
          <a:blip r:embed="rId1"/>
          <a:stretch>
            <a:fillRect/>
          </a:stretch>
        </p:blipFill>
        <p:spPr>
          <a:xfrm>
            <a:off x="411480" y="1051560"/>
            <a:ext cx="7680960" cy="2780348"/>
          </a:xfrm>
          <a:prstGeom prst="rect">
            <a:avLst/>
          </a:prstGeom>
        </p:spPr>
      </p:pic>
      <p:sp>
        <p:nvSpPr>
          <p:cNvPr id="6" name="Shape 3"/>
          <p:cNvSpPr/>
          <p:nvPr/>
        </p:nvSpPr>
        <p:spPr>
          <a:xfrm>
            <a:off x="411480" y="1051560"/>
            <a:ext cx="7680960" cy="2780348"/>
          </a:xfrm>
          <a:prstGeom prst="rect">
            <a:avLst/>
          </a:prstGeom>
          <a:ln w="9525">
            <a:solidFill>
              <a:srgbClr val="D1D5DB"/>
            </a:solidFill>
            <a:prstDash val="solid"/>
          </a:ln>
        </p:spPr>
      </p:sp>
      <p:sp>
        <p:nvSpPr>
          <p:cNvPr id="7" name="Text 4"/>
          <p:cNvSpPr/>
          <p:nvPr/>
        </p:nvSpPr>
        <p:spPr>
          <a:xfrm>
            <a:off x="411480" y="3850196"/>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a:t>
            </a:r>
            <a:endParaRPr lang="en-US" sz="1000" dirty="0"/>
          </a:p>
        </p:txBody>
      </p:sp>
      <p:sp>
        <p:nvSpPr>
          <p:cNvPr id="8" name="Shape 5"/>
          <p:cNvSpPr/>
          <p:nvPr/>
        </p:nvSpPr>
        <p:spPr>
          <a:xfrm>
            <a:off x="3273552" y="2328434"/>
            <a:ext cx="1956816" cy="371618"/>
          </a:xfrm>
          <a:prstGeom prst="rect">
            <a:avLst/>
          </a:prstGeom>
          <a:ln w="28575">
            <a:solidFill>
              <a:srgbClr val="E11D2E"/>
            </a:solidFill>
            <a:prstDash val="solid"/>
          </a:ln>
        </p:spPr>
      </p:sp>
      <p:sp>
        <p:nvSpPr>
          <p:cNvPr id="9" name="Shape 6"/>
          <p:cNvSpPr/>
          <p:nvPr/>
        </p:nvSpPr>
        <p:spPr>
          <a:xfrm>
            <a:off x="2980944" y="2377083"/>
            <a:ext cx="274320" cy="274320"/>
          </a:xfrm>
          <a:prstGeom prst="ellipse">
            <a:avLst/>
          </a:prstGeom>
          <a:solidFill>
            <a:srgbClr val="E11D2E"/>
          </a:solidFill>
          <a:ln w="15875">
            <a:solidFill>
              <a:srgbClr val="FFFFFF"/>
            </a:solidFill>
            <a:prstDash val="solid"/>
          </a:ln>
        </p:spPr>
      </p:sp>
      <p:sp>
        <p:nvSpPr>
          <p:cNvPr id="10" name="Text 7"/>
          <p:cNvSpPr/>
          <p:nvPr/>
        </p:nvSpPr>
        <p:spPr>
          <a:xfrm>
            <a:off x="2980944" y="2377083"/>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1" name="Shape 8"/>
          <p:cNvSpPr/>
          <p:nvPr/>
        </p:nvSpPr>
        <p:spPr>
          <a:xfrm>
            <a:off x="5193792" y="2328434"/>
            <a:ext cx="2726912" cy="371618"/>
          </a:xfrm>
          <a:prstGeom prst="rect">
            <a:avLst/>
          </a:prstGeom>
          <a:ln w="28575">
            <a:solidFill>
              <a:srgbClr val="E11D2E"/>
            </a:solidFill>
            <a:prstDash val="solid"/>
          </a:ln>
        </p:spPr>
      </p:sp>
      <p:sp>
        <p:nvSpPr>
          <p:cNvPr id="12" name="Shape 9"/>
          <p:cNvSpPr/>
          <p:nvPr/>
        </p:nvSpPr>
        <p:spPr>
          <a:xfrm>
            <a:off x="4901184" y="2377083"/>
            <a:ext cx="274320" cy="274320"/>
          </a:xfrm>
          <a:prstGeom prst="ellipse">
            <a:avLst/>
          </a:prstGeom>
          <a:solidFill>
            <a:srgbClr val="E11D2E"/>
          </a:solidFill>
          <a:ln w="15875">
            <a:solidFill>
              <a:srgbClr val="FFFFFF"/>
            </a:solidFill>
            <a:prstDash val="solid"/>
          </a:ln>
        </p:spPr>
      </p:sp>
      <p:sp>
        <p:nvSpPr>
          <p:cNvPr id="13" name="Text 10"/>
          <p:cNvSpPr/>
          <p:nvPr/>
        </p:nvSpPr>
        <p:spPr>
          <a:xfrm>
            <a:off x="4901184" y="2377083"/>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4" name="Text 11"/>
          <p:cNvSpPr/>
          <p:nvPr/>
        </p:nvSpPr>
        <p:spPr>
          <a:xfrm>
            <a:off x="8275320" y="1097280"/>
            <a:ext cx="3520440" cy="3291840"/>
          </a:xfrm>
          <a:prstGeom prst="rect">
            <a:avLst/>
          </a:prstGeom>
          <a:noFill/>
          <a:ln/>
        </p:spPr>
        <p:txBody>
          <a:bodyPr wrap="square" rtlCol="0" anchor="t"/>
          <a:lstStyle/>
          <a:p>
            <a:pPr indent="0" marL="0">
              <a:spcAft>
                <a:spcPts val="800"/>
              </a:spcAft>
              <a:buNone/>
            </a:pPr>
            <a:endParaRPr lang="en-US" sz="1400" dirty="0"/>
          </a:p>
        </p:txBody>
      </p:sp>
      <p:sp>
        <p:nvSpPr>
          <p:cNvPr id="15" name="Text 12"/>
          <p:cNvSpPr/>
          <p:nvPr/>
        </p:nvSpPr>
        <p:spPr>
          <a:xfrm>
            <a:off x="8275320" y="1097280"/>
            <a:ext cx="3520440" cy="164592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Operator は初期値の equals（等しい）のまま</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Value に 200 と入力</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Ctrl + S で保存</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75320" y="2834640"/>
          <a:ext cx="3520440" cy="914400"/>
        </p:xfrm>
        <a:graphic>
          <a:graphicData uri="http://schemas.openxmlformats.org/drawingml/2006/table">
            <a:tbl>
              <a:tblPr/>
              <a:tblGrid>
                <a:gridCol w="1783080"/>
                <a:gridCol w="1737360"/>
              </a:tblGrid>
              <a:tr h="384048">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Operator（画面の表示）</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意味</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384048">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equals / notEquals</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等しい／等しくない</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gt / lt</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より大きい／小さい</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384048">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contains</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含む</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isDefined</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値がある</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384048">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isArray</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配列である</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17" name="Text 13"/>
          <p:cNvSpPr/>
          <p:nvPr/>
        </p:nvSpPr>
        <p:spPr>
          <a:xfrm>
            <a:off x="8275320" y="5212080"/>
            <a:ext cx="3520440" cy="274320"/>
          </a:xfrm>
          <a:prstGeom prst="rect">
            <a:avLst/>
          </a:prstGeom>
          <a:noFill/>
          <a:ln/>
        </p:spPr>
        <p:txBody>
          <a:bodyPr wrap="square" lIns="50800" tIns="50800" rIns="50800" bIns="50800" rtlCol="0" anchor="t"/>
          <a:lstStyle/>
          <a:p>
            <a:pPr algn="l" indent="0" marL="0">
              <a:buNone/>
            </a:pPr>
            <a:r>
              <a:rPr lang="en-US" sz="1000" dirty="0">
                <a:solidFill>
                  <a:srgbClr val="6B7280"/>
                </a:solidFill>
                <a:latin typeface="Meiryo UI" pitchFamily="34" charset="0"/>
                <a:ea typeface="Meiryo UI" pitchFamily="34" charset="-122"/>
                <a:cs typeface="Meiryo UI" pitchFamily="34" charset="-120"/>
              </a:rPr>
              <a:t>一覧は作成環境の画面で確認（全 28 種類）</a:t>
            </a:r>
            <a:endParaRPr lang="en-US" sz="10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【手順 4/4】Send して結果を確認する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5" name="Image 0" descr="実画面（Bruno v4.2.1、Windows 11、2026-10-09 撮影）">    </p:cNvPr>
          <p:cNvPicPr>
            <a:picLocks noChangeAspect="1"/>
          </p:cNvPicPr>
          <p:nvPr/>
        </p:nvPicPr>
        <p:blipFill>
          <a:blip r:embed="rId1"/>
          <a:stretch>
            <a:fillRect/>
          </a:stretch>
        </p:blipFill>
        <p:spPr>
          <a:xfrm>
            <a:off x="411480" y="1051560"/>
            <a:ext cx="7680960" cy="2451099"/>
          </a:xfrm>
          <a:prstGeom prst="rect">
            <a:avLst/>
          </a:prstGeom>
        </p:spPr>
      </p:pic>
      <p:sp>
        <p:nvSpPr>
          <p:cNvPr id="6" name="Shape 3"/>
          <p:cNvSpPr/>
          <p:nvPr/>
        </p:nvSpPr>
        <p:spPr>
          <a:xfrm>
            <a:off x="411480" y="1051560"/>
            <a:ext cx="7680960" cy="2451099"/>
          </a:xfrm>
          <a:prstGeom prst="rect">
            <a:avLst/>
          </a:prstGeom>
          <a:ln w="9525">
            <a:solidFill>
              <a:srgbClr val="D1D5DB"/>
            </a:solidFill>
            <a:prstDash val="solid"/>
          </a:ln>
        </p:spPr>
      </p:sp>
      <p:sp>
        <p:nvSpPr>
          <p:cNvPr id="7" name="Text 4"/>
          <p:cNvSpPr/>
          <p:nvPr/>
        </p:nvSpPr>
        <p:spPr>
          <a:xfrm>
            <a:off x="411480" y="3520947"/>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a:t>
            </a:r>
            <a:endParaRPr lang="en-US" sz="1000" dirty="0"/>
          </a:p>
        </p:txBody>
      </p:sp>
      <p:sp>
        <p:nvSpPr>
          <p:cNvPr id="8" name="Shape 5"/>
          <p:cNvSpPr/>
          <p:nvPr/>
        </p:nvSpPr>
        <p:spPr>
          <a:xfrm>
            <a:off x="7363504" y="1148167"/>
            <a:ext cx="615308" cy="338708"/>
          </a:xfrm>
          <a:prstGeom prst="rect">
            <a:avLst/>
          </a:prstGeom>
          <a:ln w="28575">
            <a:solidFill>
              <a:srgbClr val="E11D2E"/>
            </a:solidFill>
            <a:prstDash val="solid"/>
          </a:ln>
        </p:spPr>
      </p:sp>
      <p:sp>
        <p:nvSpPr>
          <p:cNvPr id="9" name="Shape 6"/>
          <p:cNvSpPr/>
          <p:nvPr/>
        </p:nvSpPr>
        <p:spPr>
          <a:xfrm>
            <a:off x="7070896" y="1180361"/>
            <a:ext cx="274320" cy="274320"/>
          </a:xfrm>
          <a:prstGeom prst="ellipse">
            <a:avLst/>
          </a:prstGeom>
          <a:solidFill>
            <a:srgbClr val="E11D2E"/>
          </a:solidFill>
          <a:ln w="15875">
            <a:solidFill>
              <a:srgbClr val="FFFFFF"/>
            </a:solidFill>
            <a:prstDash val="solid"/>
          </a:ln>
        </p:spPr>
      </p:sp>
      <p:sp>
        <p:nvSpPr>
          <p:cNvPr id="10" name="Text 7"/>
          <p:cNvSpPr/>
          <p:nvPr/>
        </p:nvSpPr>
        <p:spPr>
          <a:xfrm>
            <a:off x="7070896" y="1180361"/>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1" name="Shape 8"/>
          <p:cNvSpPr/>
          <p:nvPr/>
        </p:nvSpPr>
        <p:spPr>
          <a:xfrm>
            <a:off x="2452796" y="1603493"/>
            <a:ext cx="364240" cy="232323"/>
          </a:xfrm>
          <a:prstGeom prst="rect">
            <a:avLst/>
          </a:prstGeom>
          <a:ln w="28575">
            <a:solidFill>
              <a:srgbClr val="E11D2E"/>
            </a:solidFill>
            <a:prstDash val="solid"/>
          </a:ln>
        </p:spPr>
      </p:sp>
      <p:sp>
        <p:nvSpPr>
          <p:cNvPr id="12" name="Shape 9"/>
          <p:cNvSpPr/>
          <p:nvPr/>
        </p:nvSpPr>
        <p:spPr>
          <a:xfrm>
            <a:off x="2160188" y="1582495"/>
            <a:ext cx="274320" cy="274320"/>
          </a:xfrm>
          <a:prstGeom prst="ellipse">
            <a:avLst/>
          </a:prstGeom>
          <a:solidFill>
            <a:srgbClr val="E11D2E"/>
          </a:solidFill>
          <a:ln w="15875">
            <a:solidFill>
              <a:srgbClr val="FFFFFF"/>
            </a:solidFill>
            <a:prstDash val="solid"/>
          </a:ln>
        </p:spPr>
      </p:sp>
      <p:sp>
        <p:nvSpPr>
          <p:cNvPr id="13" name="Text 10"/>
          <p:cNvSpPr/>
          <p:nvPr/>
        </p:nvSpPr>
        <p:spPr>
          <a:xfrm>
            <a:off x="2160188" y="158249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4" name="Shape 11"/>
          <p:cNvSpPr/>
          <p:nvPr/>
        </p:nvSpPr>
        <p:spPr>
          <a:xfrm>
            <a:off x="554896" y="2012009"/>
            <a:ext cx="3062151" cy="530200"/>
          </a:xfrm>
          <a:prstGeom prst="rect">
            <a:avLst/>
          </a:prstGeom>
          <a:ln w="28575">
            <a:solidFill>
              <a:srgbClr val="E11D2E"/>
            </a:solidFill>
            <a:prstDash val="solid"/>
          </a:ln>
        </p:spPr>
      </p:sp>
      <p:sp>
        <p:nvSpPr>
          <p:cNvPr id="15" name="Shape 12"/>
          <p:cNvSpPr/>
          <p:nvPr/>
        </p:nvSpPr>
        <p:spPr>
          <a:xfrm>
            <a:off x="262288" y="2139949"/>
            <a:ext cx="274320" cy="274320"/>
          </a:xfrm>
          <a:prstGeom prst="ellipse">
            <a:avLst/>
          </a:prstGeom>
          <a:solidFill>
            <a:srgbClr val="E11D2E"/>
          </a:solidFill>
          <a:ln w="15875">
            <a:solidFill>
              <a:srgbClr val="FFFFFF"/>
            </a:solidFill>
            <a:prstDash val="solid"/>
          </a:ln>
        </p:spPr>
      </p:sp>
      <p:sp>
        <p:nvSpPr>
          <p:cNvPr id="16" name="Text 13"/>
          <p:cNvSpPr/>
          <p:nvPr/>
        </p:nvSpPr>
        <p:spPr>
          <a:xfrm>
            <a:off x="262288" y="2139949"/>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7" name="Text 14"/>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「Send」をクリック</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レスポンス側の「Tests」タブを開く</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「Assertions (1), Passed: 1」と res.status: eq 200 が緑で表示されれば成功</a:t>
            </a:r>
            <a:endParaRPr lang="en-US" sz="1400" dirty="0"/>
          </a:p>
        </p:txBody>
      </p:sp>
      <p:sp>
        <p:nvSpPr>
          <p:cNvPr id="18" name="Shape 15"/>
          <p:cNvSpPr/>
          <p:nvPr/>
        </p:nvSpPr>
        <p:spPr>
          <a:xfrm>
            <a:off x="548640" y="5788152"/>
            <a:ext cx="11064240" cy="329184"/>
          </a:xfrm>
          <a:prstGeom prst="rect">
            <a:avLst/>
          </a:prstGeom>
          <a:solidFill>
            <a:srgbClr val="ECFDF5"/>
          </a:solidFill>
          <a:ln w="12700">
            <a:solidFill>
              <a:srgbClr val="047857"/>
            </a:solidFill>
            <a:prstDash val="solid"/>
          </a:ln>
        </p:spPr>
      </p:sp>
      <p:sp>
        <p:nvSpPr>
          <p:cNvPr id="19" name="Text 16"/>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10_MyFolder\My Request.yml を開いて Send</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結果を確認する（成功と失敗）</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5" name="Text 3"/>
          <p:cNvSpPr/>
          <p:nvPr/>
        </p:nvSpPr>
        <p:spPr>
          <a:xfrm>
            <a:off x="548640" y="1051560"/>
            <a:ext cx="11064240" cy="365760"/>
          </a:xfrm>
          <a:prstGeom prst="rect">
            <a:avLst/>
          </a:prstGeom>
          <a:noFill/>
          <a:ln/>
        </p:spPr>
        <p:txBody>
          <a:bodyPr wrap="square" lIns="50800" tIns="50800" rIns="50800" bIns="50800" rtlCol="0" anchor="t"/>
          <a:lstStyle/>
          <a:p>
            <a:pPr algn="l" indent="0" marL="0">
              <a:buNone/>
            </a:pPr>
            <a:r>
              <a:rPr lang="en-US" sz="1600" dirty="0">
                <a:solidFill>
                  <a:srgbClr val="1F2937"/>
                </a:solidFill>
                <a:latin typeface="Meiryo UI" pitchFamily="34" charset="0"/>
                <a:ea typeface="Meiryo UI" pitchFamily="34" charset="-122"/>
                <a:cs typeface="Meiryo UI" pitchFamily="34" charset="-120"/>
              </a:rPr>
              <a:t>レスポンス側の「Tests」タブに結果が表示されます。</a:t>
            </a:r>
            <a:endParaRPr lang="en-US" sz="1600" dirty="0"/>
          </a:p>
        </p:txBody>
      </p:sp>
      <p:pic>
        <p:nvPicPr>
          <p:cNvPr id="6" name="Image 0" descr="すべて成功（Passed: 3）">    </p:cNvPr>
          <p:cNvPicPr>
            <a:picLocks noChangeAspect="1"/>
          </p:cNvPicPr>
          <p:nvPr/>
        </p:nvPicPr>
        <p:blipFill>
          <a:blip r:embed="rId1"/>
          <a:stretch>
            <a:fillRect/>
          </a:stretch>
        </p:blipFill>
        <p:spPr>
          <a:xfrm>
            <a:off x="548640" y="1554480"/>
            <a:ext cx="5486400" cy="1239864"/>
          </a:xfrm>
          <a:prstGeom prst="rect">
            <a:avLst/>
          </a:prstGeom>
        </p:spPr>
      </p:pic>
      <p:sp>
        <p:nvSpPr>
          <p:cNvPr id="7" name="Shape 4"/>
          <p:cNvSpPr/>
          <p:nvPr/>
        </p:nvSpPr>
        <p:spPr>
          <a:xfrm>
            <a:off x="548640" y="1554480"/>
            <a:ext cx="5486400" cy="1239864"/>
          </a:xfrm>
          <a:prstGeom prst="rect">
            <a:avLst/>
          </a:prstGeom>
          <a:ln w="9525">
            <a:solidFill>
              <a:srgbClr val="D1D5DB"/>
            </a:solidFill>
            <a:prstDash val="solid"/>
          </a:ln>
        </p:spPr>
      </p:sp>
      <p:sp>
        <p:nvSpPr>
          <p:cNvPr id="8" name="Text 5"/>
          <p:cNvSpPr/>
          <p:nvPr/>
        </p:nvSpPr>
        <p:spPr>
          <a:xfrm>
            <a:off x="548640" y="2812632"/>
            <a:ext cx="548640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すべて成功（Passed: 3）</a:t>
            </a:r>
            <a:endParaRPr lang="en-US" sz="1000" dirty="0"/>
          </a:p>
        </p:txBody>
      </p:sp>
      <p:sp>
        <p:nvSpPr>
          <p:cNvPr id="9" name="Shape 6"/>
          <p:cNvSpPr/>
          <p:nvPr/>
        </p:nvSpPr>
        <p:spPr>
          <a:xfrm>
            <a:off x="1909701" y="1551690"/>
            <a:ext cx="300047" cy="225655"/>
          </a:xfrm>
          <a:prstGeom prst="rect">
            <a:avLst/>
          </a:prstGeom>
          <a:ln w="28575">
            <a:solidFill>
              <a:srgbClr val="E11D2E"/>
            </a:solidFill>
            <a:prstDash val="solid"/>
          </a:ln>
        </p:spPr>
      </p:sp>
      <p:sp>
        <p:nvSpPr>
          <p:cNvPr id="10" name="Shape 7"/>
          <p:cNvSpPr/>
          <p:nvPr/>
        </p:nvSpPr>
        <p:spPr>
          <a:xfrm>
            <a:off x="545850" y="1861656"/>
            <a:ext cx="1632901" cy="207057"/>
          </a:xfrm>
          <a:prstGeom prst="rect">
            <a:avLst/>
          </a:prstGeom>
          <a:ln w="28575">
            <a:solidFill>
              <a:srgbClr val="E11D2E"/>
            </a:solidFill>
            <a:prstDash val="solid"/>
          </a:ln>
        </p:spPr>
      </p:sp>
      <p:pic>
        <p:nvPicPr>
          <p:cNvPr id="11" name="Image 1" descr="わざと Value を 2 に変えた例（Failed: 1）">    </p:cNvPr>
          <p:cNvPicPr>
            <a:picLocks noChangeAspect="1"/>
          </p:cNvPicPr>
          <p:nvPr/>
        </p:nvPicPr>
        <p:blipFill>
          <a:blip r:embed="rId2"/>
          <a:stretch>
            <a:fillRect/>
          </a:stretch>
        </p:blipFill>
        <p:spPr>
          <a:xfrm>
            <a:off x="6217920" y="1554480"/>
            <a:ext cx="5394960" cy="1219200"/>
          </a:xfrm>
          <a:prstGeom prst="rect">
            <a:avLst/>
          </a:prstGeom>
        </p:spPr>
      </p:pic>
      <p:sp>
        <p:nvSpPr>
          <p:cNvPr id="12" name="Shape 8"/>
          <p:cNvSpPr/>
          <p:nvPr/>
        </p:nvSpPr>
        <p:spPr>
          <a:xfrm>
            <a:off x="6217920" y="1554480"/>
            <a:ext cx="5394960" cy="1219200"/>
          </a:xfrm>
          <a:prstGeom prst="rect">
            <a:avLst/>
          </a:prstGeom>
          <a:ln w="9525">
            <a:solidFill>
              <a:srgbClr val="D1D5DB"/>
            </a:solidFill>
            <a:prstDash val="solid"/>
          </a:ln>
        </p:spPr>
      </p:sp>
      <p:sp>
        <p:nvSpPr>
          <p:cNvPr id="13" name="Text 9"/>
          <p:cNvSpPr/>
          <p:nvPr/>
        </p:nvSpPr>
        <p:spPr>
          <a:xfrm>
            <a:off x="6217920" y="2791968"/>
            <a:ext cx="5394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わざと Value を 2 に変えた例（Failed: 1）</a:t>
            </a:r>
            <a:endParaRPr lang="en-US" sz="1000" dirty="0"/>
          </a:p>
        </p:txBody>
      </p:sp>
      <p:sp>
        <p:nvSpPr>
          <p:cNvPr id="14" name="Shape 10"/>
          <p:cNvSpPr/>
          <p:nvPr/>
        </p:nvSpPr>
        <p:spPr>
          <a:xfrm>
            <a:off x="7555992" y="1551432"/>
            <a:ext cx="295656" cy="222504"/>
          </a:xfrm>
          <a:prstGeom prst="rect">
            <a:avLst/>
          </a:prstGeom>
          <a:ln w="28575">
            <a:solidFill>
              <a:srgbClr val="E11D2E"/>
            </a:solidFill>
            <a:prstDash val="solid"/>
          </a:ln>
        </p:spPr>
      </p:sp>
      <p:sp>
        <p:nvSpPr>
          <p:cNvPr id="15" name="Shape 11"/>
          <p:cNvSpPr/>
          <p:nvPr/>
        </p:nvSpPr>
        <p:spPr>
          <a:xfrm>
            <a:off x="6321552" y="2231136"/>
            <a:ext cx="1072896" cy="271272"/>
          </a:xfrm>
          <a:prstGeom prst="rect">
            <a:avLst/>
          </a:prstGeom>
          <a:ln w="28575">
            <a:solidFill>
              <a:srgbClr val="E11D2E"/>
            </a:solidFill>
            <a:prstDash val="solid"/>
          </a:ln>
        </p:spPr>
      </p:sp>
      <p:sp>
        <p:nvSpPr>
          <p:cNvPr id="16" name="Text 12"/>
          <p:cNvSpPr/>
          <p:nvPr/>
        </p:nvSpPr>
        <p:spPr>
          <a:xfrm>
            <a:off x="548640" y="3154680"/>
            <a:ext cx="7315200" cy="274320"/>
          </a:xfrm>
          <a:prstGeom prst="rect">
            <a:avLst/>
          </a:prstGeom>
          <a:noFill/>
          <a:ln/>
        </p:spPr>
        <p:txBody>
          <a:bodyPr wrap="square" lIns="50800" tIns="50800" rIns="50800" bIns="50800" rtlCol="0" anchor="t"/>
          <a:lstStyle/>
          <a:p>
            <a:pPr algn="l"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a:t>
            </a:r>
            <a:endParaRPr lang="en-US" sz="1000" dirty="0"/>
          </a:p>
        </p:txBody>
      </p:sp>
      <p:sp>
        <p:nvSpPr>
          <p:cNvPr id="17" name="Shape 13"/>
          <p:cNvSpPr/>
          <p:nvPr/>
        </p:nvSpPr>
        <p:spPr>
          <a:xfrm>
            <a:off x="548640" y="3566160"/>
            <a:ext cx="11064240" cy="777240"/>
          </a:xfrm>
          <a:prstGeom prst="rect">
            <a:avLst/>
          </a:prstGeom>
          <a:solidFill>
            <a:srgbClr val="ECFDF5"/>
          </a:solidFill>
          <a:ln w="15875">
            <a:solidFill>
              <a:srgbClr val="047857"/>
            </a:solidFill>
            <a:prstDash val="solid"/>
          </a:ln>
        </p:spPr>
      </p:sp>
      <p:sp>
        <p:nvSpPr>
          <p:cNvPr id="18" name="Shape 14"/>
          <p:cNvSpPr/>
          <p:nvPr/>
        </p:nvSpPr>
        <p:spPr>
          <a:xfrm>
            <a:off x="548640" y="3566160"/>
            <a:ext cx="82296" cy="777240"/>
          </a:xfrm>
          <a:prstGeom prst="rect">
            <a:avLst/>
          </a:prstGeom>
          <a:solidFill>
            <a:srgbClr val="047857"/>
          </a:solidFill>
          <a:ln w="12700">
            <a:solidFill>
              <a:srgbClr val="047857"/>
            </a:solidFill>
            <a:prstDash val="solid"/>
          </a:ln>
        </p:spPr>
      </p:sp>
      <p:sp>
        <p:nvSpPr>
          <p:cNvPr id="19" name="Text 15"/>
          <p:cNvSpPr/>
          <p:nvPr/>
        </p:nvSpPr>
        <p:spPr>
          <a:xfrm>
            <a:off x="713232" y="3611880"/>
            <a:ext cx="10835640" cy="685800"/>
          </a:xfrm>
          <a:prstGeom prst="rect">
            <a:avLst/>
          </a:prstGeom>
          <a:noFill/>
          <a:ln/>
        </p:spPr>
        <p:txBody>
          <a:bodyPr wrap="square" rtlCol="0" anchor="ctr"/>
          <a:lstStyle/>
          <a:p>
            <a:pPr indent="0" marL="0">
              <a:spcAft>
                <a:spcPts val="200"/>
              </a:spcAft>
              <a:buNone/>
            </a:pPr>
            <a:r>
              <a:rPr lang="en-US" sz="1500" b="1" dirty="0">
                <a:solidFill>
                  <a:srgbClr val="047857"/>
                </a:solidFill>
                <a:latin typeface="Meiryo UI" pitchFamily="34" charset="0"/>
                <a:ea typeface="Meiryo UI" pitchFamily="34" charset="-122"/>
                <a:cs typeface="Meiryo UI" pitchFamily="34" charset="-120"/>
              </a:rPr>
              <a:t>【練習】</a:t>
            </a:r>
            <a:endParaRPr lang="en-US" sz="1500" dirty="0"/>
          </a:p>
          <a:p>
            <a:pPr indent="0" marL="0">
              <a:spcAft>
                <a:spcPts val="200"/>
              </a:spcAft>
              <a:buNone/>
            </a:pPr>
            <a:r>
              <a:rPr lang="en-US" sz="1500" dirty="0">
                <a:solidFill>
                  <a:srgbClr val="1F2937"/>
                </a:solidFill>
                <a:latin typeface="Meiryo UI" pitchFamily="34" charset="0"/>
                <a:ea typeface="Meiryo UI" pitchFamily="34" charset="-122"/>
                <a:cs typeface="Meiryo UI" pitchFamily="34" charset="-120"/>
              </a:rPr>
              <a:t>値をわざと間違えて、失敗の表示を確かめてみましょう。確かめたら元に戻して保存します。</a:t>
            </a:r>
            <a:endParaRPr lang="en-US" sz="15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テストスクリプト（Tests タブ）</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5" name="Text 3"/>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出典：https://docs.usebruno.com/testing/tests/introduction</a:t>
            </a:r>
            <a:endParaRPr lang="en-US" sz="1000" dirty="0"/>
          </a:p>
        </p:txBody>
      </p:sp>
      <p:sp>
        <p:nvSpPr>
          <p:cNvPr id="6" name="Text 4"/>
          <p:cNvSpPr/>
          <p:nvPr/>
        </p:nvSpPr>
        <p:spPr>
          <a:xfrm>
            <a:off x="548640" y="1188720"/>
            <a:ext cx="6309360" cy="274320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400" dirty="0">
                <a:solidFill>
                  <a:srgbClr val="111827"/>
                </a:solidFill>
                <a:latin typeface="Consolas" pitchFamily="34" charset="0"/>
                <a:ea typeface="Consolas" pitchFamily="34" charset="-122"/>
                <a:cs typeface="Consolas" pitchFamily="34" charset="-120"/>
              </a:rPr>
              <a:t>test("ステータスコードが 200 である", function () {</a:t>
            </a:r>
            <a:endParaRPr lang="en-US" sz="1400" dirty="0"/>
          </a:p>
          <a:p>
            <a:pPr indent="0" marL="0">
              <a:buNone/>
            </a:pPr>
            <a:r>
              <a:rPr lang="en-US" sz="1400" dirty="0">
                <a:solidFill>
                  <a:srgbClr val="111827"/>
                </a:solidFill>
                <a:latin typeface="Consolas" pitchFamily="34" charset="0"/>
                <a:ea typeface="Consolas" pitchFamily="34" charset="-122"/>
                <a:cs typeface="Consolas" pitchFamily="34" charset="-120"/>
              </a:rPr>
              <a:t>  expect(res.getStatus()).to.equal(200);</a:t>
            </a:r>
            <a:endParaRPr lang="en-US" sz="1400" dirty="0"/>
          </a:p>
          <a:p>
            <a:pPr indent="0" marL="0">
              <a:buNone/>
            </a:pPr>
            <a:r>
              <a:rPr lang="en-US" sz="1400" dirty="0">
                <a:solidFill>
                  <a:srgbClr val="111827"/>
                </a:solidFill>
                <a:latin typeface="Consolas" pitchFamily="34" charset="0"/>
                <a:ea typeface="Consolas" pitchFamily="34" charset="-122"/>
                <a:cs typeface="Consolas" pitchFamily="34" charset="-120"/>
              </a:rPr>
              <a:t>});</a:t>
            </a:r>
            <a:endParaRPr lang="en-US" sz="1400" dirty="0"/>
          </a:p>
          <a:p>
            <a:pPr indent="0" marL="0">
              <a:buNone/>
            </a:pPr>
            <a:endParaRPr lang="en-US" sz="1400" dirty="0"/>
          </a:p>
          <a:p>
            <a:pPr indent="0" marL="0">
              <a:buNone/>
            </a:pPr>
            <a:r>
              <a:rPr lang="en-US" sz="1400" dirty="0">
                <a:solidFill>
                  <a:srgbClr val="111827"/>
                </a:solidFill>
                <a:latin typeface="Consolas" pitchFamily="34" charset="0"/>
                <a:ea typeface="Consolas" pitchFamily="34" charset="-122"/>
                <a:cs typeface="Consolas" pitchFamily="34" charset="-120"/>
              </a:rPr>
              <a:t>test("id が 1 である", function () {</a:t>
            </a:r>
            <a:endParaRPr lang="en-US" sz="1400" dirty="0"/>
          </a:p>
          <a:p>
            <a:pPr indent="0" marL="0">
              <a:buNone/>
            </a:pPr>
            <a:r>
              <a:rPr lang="en-US" sz="1400" dirty="0">
                <a:solidFill>
                  <a:srgbClr val="111827"/>
                </a:solidFill>
                <a:latin typeface="Consolas" pitchFamily="34" charset="0"/>
                <a:ea typeface="Consolas" pitchFamily="34" charset="-122"/>
                <a:cs typeface="Consolas" pitchFamily="34" charset="-120"/>
              </a:rPr>
              <a:t>  const data = res.getBody();</a:t>
            </a:r>
            <a:endParaRPr lang="en-US" sz="1400" dirty="0"/>
          </a:p>
          <a:p>
            <a:pPr indent="0" marL="0">
              <a:buNone/>
            </a:pPr>
            <a:r>
              <a:rPr lang="en-US" sz="1400" dirty="0">
                <a:solidFill>
                  <a:srgbClr val="111827"/>
                </a:solidFill>
                <a:latin typeface="Consolas" pitchFamily="34" charset="0"/>
                <a:ea typeface="Consolas" pitchFamily="34" charset="-122"/>
                <a:cs typeface="Consolas" pitchFamily="34" charset="-120"/>
              </a:rPr>
              <a:t>  expect(data.id).to.equal(1);</a:t>
            </a:r>
            <a:endParaRPr lang="en-US" sz="1400" dirty="0"/>
          </a:p>
          <a:p>
            <a:pPr indent="0" marL="0">
              <a:buNone/>
            </a:pPr>
            <a:r>
              <a:rPr lang="en-US" sz="1400" dirty="0">
                <a:solidFill>
                  <a:srgbClr val="111827"/>
                </a:solidFill>
                <a:latin typeface="Consolas" pitchFamily="34" charset="0"/>
                <a:ea typeface="Consolas" pitchFamily="34" charset="-122"/>
                <a:cs typeface="Consolas" pitchFamily="34" charset="-120"/>
              </a:rPr>
              <a:t>});</a:t>
            </a:r>
            <a:endParaRPr lang="en-US" sz="1400" dirty="0"/>
          </a:p>
        </p:txBody>
      </p:sp>
      <p:sp>
        <p:nvSpPr>
          <p:cNvPr id="7" name="Text 5"/>
          <p:cNvSpPr/>
          <p:nvPr/>
        </p:nvSpPr>
        <p:spPr>
          <a:xfrm>
            <a:off x="548640" y="914400"/>
            <a:ext cx="630936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09_Features/02 Test Script Example の Tests タブ</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132320" y="1188720"/>
          <a:ext cx="4480560" cy="914400"/>
        </p:xfrm>
        <a:graphic>
          <a:graphicData uri="http://schemas.openxmlformats.org/drawingml/2006/table">
            <a:tbl>
              <a:tblPr/>
              <a:tblGrid>
                <a:gridCol w="2377440"/>
                <a:gridCol w="2103120"/>
              </a:tblGrid>
              <a:tr h="502920">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書き方</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意味</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502920">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test("名前", function () { … })</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テストを 1 つ定義する</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res.getStatus()</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ステータスコードを取り出す</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502920">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res.getBody()</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ボディを取り出す</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expect(A).to.equal(B)</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A が B と等しいことを確かめる</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bl>
          </a:graphicData>
        </a:graphic>
      </p:graphicFrame>
      <p:pic>
        <p:nvPicPr>
          <p:cNvPr id="9" name="Image 0" descr="実画面（Bruno v4.2.1、Windows 11、2026-10-09 撮影）　結果（Passed: 2）">    </p:cNvPr>
          <p:cNvPicPr>
            <a:picLocks noChangeAspect="1"/>
          </p:cNvPicPr>
          <p:nvPr/>
        </p:nvPicPr>
        <p:blipFill>
          <a:blip r:embed="rId1"/>
          <a:stretch>
            <a:fillRect/>
          </a:stretch>
        </p:blipFill>
        <p:spPr>
          <a:xfrm>
            <a:off x="548640" y="4251960"/>
            <a:ext cx="6309360" cy="1140675"/>
          </a:xfrm>
          <a:prstGeom prst="rect">
            <a:avLst/>
          </a:prstGeom>
        </p:spPr>
      </p:pic>
      <p:sp>
        <p:nvSpPr>
          <p:cNvPr id="10" name="Shape 6"/>
          <p:cNvSpPr/>
          <p:nvPr/>
        </p:nvSpPr>
        <p:spPr>
          <a:xfrm>
            <a:off x="548640" y="4251960"/>
            <a:ext cx="6309360" cy="1140675"/>
          </a:xfrm>
          <a:prstGeom prst="rect">
            <a:avLst/>
          </a:prstGeom>
          <a:ln w="9525">
            <a:solidFill>
              <a:srgbClr val="D1D5DB"/>
            </a:solidFill>
            <a:prstDash val="solid"/>
          </a:ln>
        </p:spPr>
      </p:sp>
      <p:sp>
        <p:nvSpPr>
          <p:cNvPr id="11" name="Text 7"/>
          <p:cNvSpPr/>
          <p:nvPr/>
        </p:nvSpPr>
        <p:spPr>
          <a:xfrm>
            <a:off x="548640" y="5410923"/>
            <a:ext cx="63093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　結果（Passed: 2）</a:t>
            </a:r>
            <a:endParaRPr lang="en-US" sz="1000" dirty="0"/>
          </a:p>
        </p:txBody>
      </p:sp>
      <p:sp>
        <p:nvSpPr>
          <p:cNvPr id="12" name="Shape 8"/>
          <p:cNvSpPr/>
          <p:nvPr/>
        </p:nvSpPr>
        <p:spPr>
          <a:xfrm>
            <a:off x="2116604" y="4251495"/>
            <a:ext cx="339568" cy="254017"/>
          </a:xfrm>
          <a:prstGeom prst="rect">
            <a:avLst/>
          </a:prstGeom>
          <a:ln w="28575">
            <a:solidFill>
              <a:srgbClr val="E11D2E"/>
            </a:solidFill>
            <a:prstDash val="solid"/>
          </a:ln>
        </p:spPr>
      </p:sp>
      <p:sp>
        <p:nvSpPr>
          <p:cNvPr id="13" name="Shape 9"/>
          <p:cNvSpPr/>
          <p:nvPr/>
        </p:nvSpPr>
        <p:spPr>
          <a:xfrm>
            <a:off x="548640" y="5788152"/>
            <a:ext cx="11064240" cy="329184"/>
          </a:xfrm>
          <a:prstGeom prst="rect">
            <a:avLst/>
          </a:prstGeom>
          <a:solidFill>
            <a:srgbClr val="ECFDF5"/>
          </a:solidFill>
          <a:ln w="12700">
            <a:solidFill>
              <a:srgbClr val="047857"/>
            </a:solidFill>
            <a:prstDash val="solid"/>
          </a:ln>
        </p:spPr>
      </p:sp>
      <p:sp>
        <p:nvSpPr>
          <p:cNvPr id="14" name="Text 10"/>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09_Features\02 Test Script Example.yml を開いて Send</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9-C　テストスクリプトを自分で書く（手順）</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5" name="Text 3"/>
          <p:cNvSpPr/>
          <p:nvPr/>
        </p:nvSpPr>
        <p:spPr>
          <a:xfrm>
            <a:off x="548640" y="1188720"/>
            <a:ext cx="10972800" cy="411480"/>
          </a:xfrm>
          <a:prstGeom prst="rect">
            <a:avLst/>
          </a:prstGeom>
          <a:noFill/>
          <a:ln/>
        </p:spPr>
        <p:txBody>
          <a:bodyPr wrap="square" lIns="50800" tIns="50800" rIns="50800" bIns="50800" rtlCol="0" anchor="t"/>
          <a:lstStyle/>
          <a:p>
            <a:pPr algn="l" indent="0" marL="0">
              <a:buNone/>
            </a:pPr>
            <a:r>
              <a:rPr lang="en-US" sz="1800" b="1" dirty="0">
                <a:solidFill>
                  <a:srgbClr val="D97706"/>
                </a:solidFill>
                <a:latin typeface="Meiryo UI" pitchFamily="34" charset="0"/>
                <a:ea typeface="Meiryo UI" pitchFamily="34" charset="-122"/>
                <a:cs typeface="Meiryo UI" pitchFamily="34" charset="-120"/>
              </a:rPr>
              <a:t>この節で行うこと</a:t>
            </a:r>
            <a:endParaRPr lang="en-US" sz="1800" dirty="0"/>
          </a:p>
        </p:txBody>
      </p:sp>
      <p:sp>
        <p:nvSpPr>
          <p:cNvPr id="6" name="Text 4"/>
          <p:cNvSpPr/>
          <p:nvPr/>
        </p:nvSpPr>
        <p:spPr>
          <a:xfrm>
            <a:off x="548640" y="1691640"/>
            <a:ext cx="11064240" cy="3291840"/>
          </a:xfrm>
          <a:prstGeom prst="rect">
            <a:avLst/>
          </a:prstGeom>
          <a:noFill/>
          <a:ln/>
        </p:spPr>
        <p:txBody>
          <a:bodyPr wrap="square" rtlCol="0" anchor="t"/>
          <a:lstStyle/>
          <a:p>
            <a:pPr indent="0" marL="0">
              <a:spcAft>
                <a:spcPts val="1200"/>
              </a:spcAft>
              <a:buNone/>
            </a:pPr>
            <a:r>
              <a:rPr lang="en-US" sz="1800" b="1" dirty="0">
                <a:solidFill>
                  <a:srgbClr val="E11D2E"/>
                </a:solidFill>
                <a:latin typeface="Meiryo UI" pitchFamily="34" charset="0"/>
                <a:ea typeface="Meiryo UI" pitchFamily="34" charset="-122"/>
                <a:cs typeface="Meiryo UI" pitchFamily="34" charset="-120"/>
              </a:rPr>
              <a:t>① </a:t>
            </a:r>
            <a:pPr indent="0" marL="0">
              <a:spcAft>
                <a:spcPts val="1200"/>
              </a:spcAft>
              <a:buNone/>
            </a:pPr>
            <a:r>
              <a:rPr lang="en-US" sz="1800" dirty="0">
                <a:solidFill>
                  <a:srgbClr val="1F2937"/>
                </a:solidFill>
                <a:latin typeface="Meiryo UI" pitchFamily="34" charset="0"/>
                <a:ea typeface="Meiryo UI" pitchFamily="34" charset="-122"/>
                <a:cs typeface="Meiryo UI" pitchFamily="34" charset="-120"/>
              </a:rPr>
              <a:t>Tests タブにコードを書く</a:t>
            </a:r>
            <a:endParaRPr lang="en-US" sz="1800" dirty="0"/>
          </a:p>
          <a:p>
            <a:pPr indent="0" marL="0">
              <a:spcAft>
                <a:spcPts val="1200"/>
              </a:spcAft>
              <a:buNone/>
            </a:pPr>
            <a:r>
              <a:rPr lang="en-US" sz="1800" b="1" dirty="0">
                <a:solidFill>
                  <a:srgbClr val="E11D2E"/>
                </a:solidFill>
                <a:latin typeface="Meiryo UI" pitchFamily="34" charset="0"/>
                <a:ea typeface="Meiryo UI" pitchFamily="34" charset="-122"/>
                <a:cs typeface="Meiryo UI" pitchFamily="34" charset="-120"/>
              </a:rPr>
              <a:t>② </a:t>
            </a:r>
            <a:pPr indent="0" marL="0">
              <a:spcAft>
                <a:spcPts val="1200"/>
              </a:spcAft>
              <a:buNone/>
            </a:pPr>
            <a:r>
              <a:rPr lang="en-US" sz="1800" dirty="0">
                <a:solidFill>
                  <a:srgbClr val="1F2937"/>
                </a:solidFill>
                <a:latin typeface="Meiryo UI" pitchFamily="34" charset="0"/>
                <a:ea typeface="Meiryo UI" pitchFamily="34" charset="-122"/>
                <a:cs typeface="Meiryo UI" pitchFamily="34" charset="-120"/>
              </a:rPr>
              <a:t>保存して送信する</a:t>
            </a:r>
            <a:endParaRPr lang="en-US" sz="1800" dirty="0"/>
          </a:p>
          <a:p>
            <a:pPr indent="0" marL="0">
              <a:spcAft>
                <a:spcPts val="1200"/>
              </a:spcAft>
              <a:buNone/>
            </a:pPr>
            <a:r>
              <a:rPr lang="en-US" sz="1800" b="1" dirty="0">
                <a:solidFill>
                  <a:srgbClr val="E11D2E"/>
                </a:solidFill>
                <a:latin typeface="Meiryo UI" pitchFamily="34" charset="0"/>
                <a:ea typeface="Meiryo UI" pitchFamily="34" charset="-122"/>
                <a:cs typeface="Meiryo UI" pitchFamily="34" charset="-120"/>
              </a:rPr>
              <a:t>③ </a:t>
            </a:r>
            <a:pPr indent="0" marL="0">
              <a:spcAft>
                <a:spcPts val="1200"/>
              </a:spcAft>
              <a:buNone/>
            </a:pPr>
            <a:r>
              <a:rPr lang="en-US" sz="1800" dirty="0">
                <a:solidFill>
                  <a:srgbClr val="1F2937"/>
                </a:solidFill>
                <a:latin typeface="Meiryo UI" pitchFamily="34" charset="0"/>
                <a:ea typeface="Meiryo UI" pitchFamily="34" charset="-122"/>
                <a:cs typeface="Meiryo UI" pitchFamily="34" charset="-120"/>
              </a:rPr>
              <a:t>結果を確認する（失敗も試す）</a:t>
            </a:r>
            <a:endParaRPr lang="en-US" sz="18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【手順 1/3】Tests タブにコードを書く</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5" name="Image 0" descr="実画面（Bruno v4.2.1、Windows 11、2026-10-09 撮影）">    </p:cNvPr>
          <p:cNvPicPr>
            <a:picLocks noChangeAspect="1"/>
          </p:cNvPicPr>
          <p:nvPr/>
        </p:nvPicPr>
        <p:blipFill>
          <a:blip r:embed="rId1"/>
          <a:stretch>
            <a:fillRect/>
          </a:stretch>
        </p:blipFill>
        <p:spPr>
          <a:xfrm>
            <a:off x="411480" y="1051560"/>
            <a:ext cx="7680960" cy="2780348"/>
          </a:xfrm>
          <a:prstGeom prst="rect">
            <a:avLst/>
          </a:prstGeom>
        </p:spPr>
      </p:pic>
      <p:sp>
        <p:nvSpPr>
          <p:cNvPr id="6" name="Shape 3"/>
          <p:cNvSpPr/>
          <p:nvPr/>
        </p:nvSpPr>
        <p:spPr>
          <a:xfrm>
            <a:off x="411480" y="1051560"/>
            <a:ext cx="7680960" cy="2780348"/>
          </a:xfrm>
          <a:prstGeom prst="rect">
            <a:avLst/>
          </a:prstGeom>
          <a:ln w="9525">
            <a:solidFill>
              <a:srgbClr val="D1D5DB"/>
            </a:solidFill>
            <a:prstDash val="solid"/>
          </a:ln>
        </p:spPr>
      </p:sp>
      <p:sp>
        <p:nvSpPr>
          <p:cNvPr id="7" name="Text 4"/>
          <p:cNvSpPr/>
          <p:nvPr/>
        </p:nvSpPr>
        <p:spPr>
          <a:xfrm>
            <a:off x="411480" y="3850196"/>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a:t>
            </a:r>
            <a:endParaRPr lang="en-US" sz="1000" dirty="0"/>
          </a:p>
        </p:txBody>
      </p:sp>
      <p:sp>
        <p:nvSpPr>
          <p:cNvPr id="8" name="Shape 5"/>
          <p:cNvSpPr/>
          <p:nvPr/>
        </p:nvSpPr>
        <p:spPr>
          <a:xfrm>
            <a:off x="4388691" y="1628346"/>
            <a:ext cx="496634" cy="266605"/>
          </a:xfrm>
          <a:prstGeom prst="rect">
            <a:avLst/>
          </a:prstGeom>
          <a:ln w="28575">
            <a:solidFill>
              <a:srgbClr val="E11D2E"/>
            </a:solidFill>
            <a:prstDash val="solid"/>
          </a:ln>
        </p:spPr>
      </p:sp>
      <p:sp>
        <p:nvSpPr>
          <p:cNvPr id="9" name="Shape 6"/>
          <p:cNvSpPr/>
          <p:nvPr/>
        </p:nvSpPr>
        <p:spPr>
          <a:xfrm>
            <a:off x="4096083" y="1624489"/>
            <a:ext cx="274320" cy="274320"/>
          </a:xfrm>
          <a:prstGeom prst="ellipse">
            <a:avLst/>
          </a:prstGeom>
          <a:solidFill>
            <a:srgbClr val="E11D2E"/>
          </a:solidFill>
          <a:ln w="15875">
            <a:solidFill>
              <a:srgbClr val="FFFFFF"/>
            </a:solidFill>
            <a:prstDash val="solid"/>
          </a:ln>
        </p:spPr>
      </p:sp>
      <p:sp>
        <p:nvSpPr>
          <p:cNvPr id="10" name="Text 7"/>
          <p:cNvSpPr/>
          <p:nvPr/>
        </p:nvSpPr>
        <p:spPr>
          <a:xfrm>
            <a:off x="4096083" y="1624489"/>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1" name="Shape 8"/>
          <p:cNvSpPr/>
          <p:nvPr/>
        </p:nvSpPr>
        <p:spPr>
          <a:xfrm>
            <a:off x="583216" y="2108406"/>
            <a:ext cx="7337488" cy="806672"/>
          </a:xfrm>
          <a:prstGeom prst="rect">
            <a:avLst/>
          </a:prstGeom>
          <a:ln w="28575">
            <a:solidFill>
              <a:srgbClr val="E11D2E"/>
            </a:solidFill>
            <a:prstDash val="solid"/>
          </a:ln>
        </p:spPr>
      </p:sp>
      <p:sp>
        <p:nvSpPr>
          <p:cNvPr id="12" name="Shape 9"/>
          <p:cNvSpPr/>
          <p:nvPr/>
        </p:nvSpPr>
        <p:spPr>
          <a:xfrm>
            <a:off x="290608" y="2374583"/>
            <a:ext cx="274320" cy="274320"/>
          </a:xfrm>
          <a:prstGeom prst="ellipse">
            <a:avLst/>
          </a:prstGeom>
          <a:solidFill>
            <a:srgbClr val="E11D2E"/>
          </a:solidFill>
          <a:ln w="15875">
            <a:solidFill>
              <a:srgbClr val="FFFFFF"/>
            </a:solidFill>
            <a:prstDash val="solid"/>
          </a:ln>
        </p:spPr>
      </p:sp>
      <p:sp>
        <p:nvSpPr>
          <p:cNvPr id="13" name="Text 10"/>
          <p:cNvSpPr/>
          <p:nvPr/>
        </p:nvSpPr>
        <p:spPr>
          <a:xfrm>
            <a:off x="290608" y="2374583"/>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4" name="Text 11"/>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リクエスト側の「Tests」タブをクリック</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右のコードを入力（コピーして貼り付けてよい）</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Ctrl + S で保存</a:t>
            </a:r>
            <a:endParaRPr lang="en-US" sz="1400" dirty="0"/>
          </a:p>
        </p:txBody>
      </p:sp>
      <p:sp>
        <p:nvSpPr>
          <p:cNvPr id="15" name="Shape 12"/>
          <p:cNvSpPr/>
          <p:nvPr/>
        </p:nvSpPr>
        <p:spPr>
          <a:xfrm>
            <a:off x="8275320" y="4206240"/>
            <a:ext cx="3520440" cy="1417320"/>
          </a:xfrm>
          <a:prstGeom prst="rect">
            <a:avLst/>
          </a:prstGeom>
          <a:solidFill>
            <a:srgbClr val="EFF6FF"/>
          </a:solidFill>
          <a:ln w="15875">
            <a:solidFill>
              <a:srgbClr val="1D4ED8"/>
            </a:solidFill>
            <a:prstDash val="solid"/>
          </a:ln>
        </p:spPr>
      </p:sp>
      <p:sp>
        <p:nvSpPr>
          <p:cNvPr id="16" name="Shape 13"/>
          <p:cNvSpPr/>
          <p:nvPr/>
        </p:nvSpPr>
        <p:spPr>
          <a:xfrm>
            <a:off x="8275320" y="4206240"/>
            <a:ext cx="82296" cy="1417320"/>
          </a:xfrm>
          <a:prstGeom prst="rect">
            <a:avLst/>
          </a:prstGeom>
          <a:solidFill>
            <a:srgbClr val="1D4ED8"/>
          </a:solidFill>
          <a:ln w="12700">
            <a:solidFill>
              <a:srgbClr val="1D4ED8"/>
            </a:solidFill>
            <a:prstDash val="solid"/>
          </a:ln>
        </p:spPr>
      </p:sp>
      <p:sp>
        <p:nvSpPr>
          <p:cNvPr id="17" name="Text 14"/>
          <p:cNvSpPr/>
          <p:nvPr/>
        </p:nvSpPr>
        <p:spPr>
          <a:xfrm>
            <a:off x="8439912" y="4251960"/>
            <a:ext cx="3291840" cy="1325880"/>
          </a:xfrm>
          <a:prstGeom prst="rect">
            <a:avLst/>
          </a:prstGeom>
          <a:noFill/>
          <a:ln/>
        </p:spPr>
        <p:txBody>
          <a:bodyPr wrap="square" rtlCol="0" anchor="ctr"/>
          <a:lstStyle/>
          <a:p>
            <a:pPr indent="0" marL="0">
              <a:spcAft>
                <a:spcPts val="200"/>
              </a:spcAft>
              <a:buNone/>
            </a:pPr>
            <a:r>
              <a:rPr lang="en-US" sz="1200" b="1" dirty="0">
                <a:solidFill>
                  <a:srgbClr val="1D4ED8"/>
                </a:solidFill>
                <a:latin typeface="Meiryo UI" pitchFamily="34" charset="0"/>
                <a:ea typeface="Meiryo UI" pitchFamily="34" charset="-122"/>
                <a:cs typeface="Meiryo UI" pitchFamily="34" charset="-120"/>
              </a:rPr>
              <a:t>【入力するコード】</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test("name が Leanne Graham である", function () {</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  const data = res.getBody();</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  expect(data.name).to.equal("Leanne Graham");</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a:t>
            </a:r>
            <a:endParaRPr lang="en-US" sz="12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【手順 2/3】Send して結果を確認する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5" name="Image 0" descr="実画面（Bruno v4.2.1、Windows 11、2026-10-09 撮影）">    </p:cNvPr>
          <p:cNvPicPr>
            <a:picLocks noChangeAspect="1"/>
          </p:cNvPicPr>
          <p:nvPr/>
        </p:nvPicPr>
        <p:blipFill>
          <a:blip r:embed="rId1"/>
          <a:stretch>
            <a:fillRect/>
          </a:stretch>
        </p:blipFill>
        <p:spPr>
          <a:xfrm>
            <a:off x="411480" y="1051560"/>
            <a:ext cx="7680960" cy="2451099"/>
          </a:xfrm>
          <a:prstGeom prst="rect">
            <a:avLst/>
          </a:prstGeom>
        </p:spPr>
      </p:pic>
      <p:sp>
        <p:nvSpPr>
          <p:cNvPr id="6" name="Shape 3"/>
          <p:cNvSpPr/>
          <p:nvPr/>
        </p:nvSpPr>
        <p:spPr>
          <a:xfrm>
            <a:off x="411480" y="1051560"/>
            <a:ext cx="7680960" cy="2451099"/>
          </a:xfrm>
          <a:prstGeom prst="rect">
            <a:avLst/>
          </a:prstGeom>
          <a:ln w="9525">
            <a:solidFill>
              <a:srgbClr val="D1D5DB"/>
            </a:solidFill>
            <a:prstDash val="solid"/>
          </a:ln>
        </p:spPr>
      </p:sp>
      <p:sp>
        <p:nvSpPr>
          <p:cNvPr id="7" name="Text 4"/>
          <p:cNvSpPr/>
          <p:nvPr/>
        </p:nvSpPr>
        <p:spPr>
          <a:xfrm>
            <a:off x="411480" y="3520947"/>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a:t>
            </a:r>
            <a:endParaRPr lang="en-US" sz="1000" dirty="0"/>
          </a:p>
        </p:txBody>
      </p:sp>
      <p:sp>
        <p:nvSpPr>
          <p:cNvPr id="8" name="Shape 5"/>
          <p:cNvSpPr/>
          <p:nvPr/>
        </p:nvSpPr>
        <p:spPr>
          <a:xfrm>
            <a:off x="7363504" y="1148167"/>
            <a:ext cx="615308" cy="338708"/>
          </a:xfrm>
          <a:prstGeom prst="rect">
            <a:avLst/>
          </a:prstGeom>
          <a:ln w="28575">
            <a:solidFill>
              <a:srgbClr val="E11D2E"/>
            </a:solidFill>
            <a:prstDash val="solid"/>
          </a:ln>
        </p:spPr>
      </p:sp>
      <p:sp>
        <p:nvSpPr>
          <p:cNvPr id="9" name="Shape 6"/>
          <p:cNvSpPr/>
          <p:nvPr/>
        </p:nvSpPr>
        <p:spPr>
          <a:xfrm>
            <a:off x="7070896" y="1180361"/>
            <a:ext cx="274320" cy="274320"/>
          </a:xfrm>
          <a:prstGeom prst="ellipse">
            <a:avLst/>
          </a:prstGeom>
          <a:solidFill>
            <a:srgbClr val="E11D2E"/>
          </a:solidFill>
          <a:ln w="15875">
            <a:solidFill>
              <a:srgbClr val="FFFFFF"/>
            </a:solidFill>
            <a:prstDash val="solid"/>
          </a:ln>
        </p:spPr>
      </p:sp>
      <p:sp>
        <p:nvSpPr>
          <p:cNvPr id="10" name="Text 7"/>
          <p:cNvSpPr/>
          <p:nvPr/>
        </p:nvSpPr>
        <p:spPr>
          <a:xfrm>
            <a:off x="7070896" y="1180361"/>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1" name="Shape 8"/>
          <p:cNvSpPr/>
          <p:nvPr/>
        </p:nvSpPr>
        <p:spPr>
          <a:xfrm>
            <a:off x="2452796" y="1603493"/>
            <a:ext cx="364240" cy="232323"/>
          </a:xfrm>
          <a:prstGeom prst="rect">
            <a:avLst/>
          </a:prstGeom>
          <a:ln w="28575">
            <a:solidFill>
              <a:srgbClr val="E11D2E"/>
            </a:solidFill>
            <a:prstDash val="solid"/>
          </a:ln>
        </p:spPr>
      </p:sp>
      <p:sp>
        <p:nvSpPr>
          <p:cNvPr id="12" name="Shape 9"/>
          <p:cNvSpPr/>
          <p:nvPr/>
        </p:nvSpPr>
        <p:spPr>
          <a:xfrm>
            <a:off x="2160188" y="1582495"/>
            <a:ext cx="274320" cy="274320"/>
          </a:xfrm>
          <a:prstGeom prst="ellipse">
            <a:avLst/>
          </a:prstGeom>
          <a:solidFill>
            <a:srgbClr val="E11D2E"/>
          </a:solidFill>
          <a:ln w="15875">
            <a:solidFill>
              <a:srgbClr val="FFFFFF"/>
            </a:solidFill>
            <a:prstDash val="solid"/>
          </a:ln>
        </p:spPr>
      </p:sp>
      <p:sp>
        <p:nvSpPr>
          <p:cNvPr id="13" name="Text 10"/>
          <p:cNvSpPr/>
          <p:nvPr/>
        </p:nvSpPr>
        <p:spPr>
          <a:xfrm>
            <a:off x="2160188" y="158249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4" name="Shape 11"/>
          <p:cNvSpPr/>
          <p:nvPr/>
        </p:nvSpPr>
        <p:spPr>
          <a:xfrm>
            <a:off x="554896" y="2012009"/>
            <a:ext cx="3470667" cy="772757"/>
          </a:xfrm>
          <a:prstGeom prst="rect">
            <a:avLst/>
          </a:prstGeom>
          <a:ln w="28575">
            <a:solidFill>
              <a:srgbClr val="E11D2E"/>
            </a:solidFill>
            <a:prstDash val="solid"/>
          </a:ln>
        </p:spPr>
      </p:sp>
      <p:sp>
        <p:nvSpPr>
          <p:cNvPr id="15" name="Shape 12"/>
          <p:cNvSpPr/>
          <p:nvPr/>
        </p:nvSpPr>
        <p:spPr>
          <a:xfrm>
            <a:off x="262288" y="2261228"/>
            <a:ext cx="274320" cy="274320"/>
          </a:xfrm>
          <a:prstGeom prst="ellipse">
            <a:avLst/>
          </a:prstGeom>
          <a:solidFill>
            <a:srgbClr val="E11D2E"/>
          </a:solidFill>
          <a:ln w="15875">
            <a:solidFill>
              <a:srgbClr val="FFFFFF"/>
            </a:solidFill>
            <a:prstDash val="solid"/>
          </a:ln>
        </p:spPr>
      </p:sp>
      <p:sp>
        <p:nvSpPr>
          <p:cNvPr id="16" name="Text 13"/>
          <p:cNvSpPr/>
          <p:nvPr/>
        </p:nvSpPr>
        <p:spPr>
          <a:xfrm>
            <a:off x="262288" y="22612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7" name="Text 14"/>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「Send」をクリック</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レスポンス側の「Tests」タブを開く</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「Tests (1), Passed: 1」と、テスト名が緑で表示されれば成功</a:t>
            </a:r>
            <a:endParaRPr lang="en-US" sz="1400" dirty="0"/>
          </a:p>
        </p:txBody>
      </p:sp>
      <p:sp>
        <p:nvSpPr>
          <p:cNvPr id="18" name="Shape 15"/>
          <p:cNvSpPr/>
          <p:nvPr/>
        </p:nvSpPr>
        <p:spPr>
          <a:xfrm>
            <a:off x="548640" y="5788152"/>
            <a:ext cx="11064240" cy="329184"/>
          </a:xfrm>
          <a:prstGeom prst="rect">
            <a:avLst/>
          </a:prstGeom>
          <a:solidFill>
            <a:srgbClr val="ECFDF5"/>
          </a:solidFill>
          <a:ln w="12700">
            <a:solidFill>
              <a:srgbClr val="047857"/>
            </a:solidFill>
            <a:prstDash val="solid"/>
          </a:ln>
        </p:spPr>
      </p:sp>
      <p:sp>
        <p:nvSpPr>
          <p:cNvPr id="19" name="Text 16"/>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10_MyFolder\My Request.yml を開いて Send</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【手順 3/3】わざと失敗させて、表示を確かめる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5" name="Text 3"/>
          <p:cNvSpPr/>
          <p:nvPr/>
        </p:nvSpPr>
        <p:spPr>
          <a:xfrm>
            <a:off x="548640" y="1188720"/>
            <a:ext cx="11064240" cy="1645920"/>
          </a:xfrm>
          <a:prstGeom prst="rect">
            <a:avLst/>
          </a:prstGeom>
          <a:noFill/>
          <a:ln/>
        </p:spPr>
        <p:txBody>
          <a:bodyPr wrap="square" rtlCol="0" anchor="t"/>
          <a:lstStyle/>
          <a:p>
            <a:pPr indent="0" marL="0">
              <a:spcAft>
                <a:spcPts val="1000"/>
              </a:spcAft>
              <a:buNone/>
            </a:pPr>
            <a:r>
              <a:rPr lang="en-US" sz="1600" b="1" dirty="0">
                <a:solidFill>
                  <a:srgbClr val="E11D2E"/>
                </a:solidFill>
                <a:latin typeface="Meiryo UI" pitchFamily="34" charset="0"/>
                <a:ea typeface="Meiryo UI" pitchFamily="34" charset="-122"/>
                <a:cs typeface="Meiryo UI" pitchFamily="34" charset="-120"/>
              </a:rPr>
              <a:t>① </a:t>
            </a:r>
            <a:pPr indent="0" marL="0">
              <a:spcAft>
                <a:spcPts val="1000"/>
              </a:spcAft>
              <a:buNone/>
            </a:pPr>
            <a:r>
              <a:rPr lang="en-US" sz="1600" dirty="0">
                <a:solidFill>
                  <a:srgbClr val="1F2937"/>
                </a:solidFill>
                <a:latin typeface="Meiryo UI" pitchFamily="34" charset="0"/>
                <a:ea typeface="Meiryo UI" pitchFamily="34" charset="-122"/>
                <a:cs typeface="Meiryo UI" pitchFamily="34" charset="-120"/>
              </a:rPr>
              <a:t>コードの "Leanne Graham" を "Taro" に書き換える</a:t>
            </a:r>
            <a:endParaRPr lang="en-US" sz="1600" dirty="0"/>
          </a:p>
          <a:p>
            <a:pPr indent="0" marL="0">
              <a:spcAft>
                <a:spcPts val="1000"/>
              </a:spcAft>
              <a:buNone/>
            </a:pPr>
            <a:r>
              <a:rPr lang="en-US" sz="1600" b="1" dirty="0">
                <a:solidFill>
                  <a:srgbClr val="E11D2E"/>
                </a:solidFill>
                <a:latin typeface="Meiryo UI" pitchFamily="34" charset="0"/>
                <a:ea typeface="Meiryo UI" pitchFamily="34" charset="-122"/>
                <a:cs typeface="Meiryo UI" pitchFamily="34" charset="-120"/>
              </a:rPr>
              <a:t>② </a:t>
            </a:r>
            <a:pPr indent="0" marL="0">
              <a:spcAft>
                <a:spcPts val="1000"/>
              </a:spcAft>
              <a:buNone/>
            </a:pPr>
            <a:r>
              <a:rPr lang="en-US" sz="1600" dirty="0">
                <a:solidFill>
                  <a:srgbClr val="1F2937"/>
                </a:solidFill>
                <a:latin typeface="Meiryo UI" pitchFamily="34" charset="0"/>
                <a:ea typeface="Meiryo UI" pitchFamily="34" charset="-122"/>
                <a:cs typeface="Meiryo UI" pitchFamily="34" charset="-120"/>
              </a:rPr>
              <a:t>Send → Tests タブで Failed: 1、テスト名が赤で表示される</a:t>
            </a:r>
            <a:endParaRPr lang="en-US" sz="1600" dirty="0"/>
          </a:p>
          <a:p>
            <a:pPr indent="0" marL="0">
              <a:spcAft>
                <a:spcPts val="1000"/>
              </a:spcAft>
              <a:buNone/>
            </a:pPr>
            <a:r>
              <a:rPr lang="en-US" sz="1600" b="1" dirty="0">
                <a:solidFill>
                  <a:srgbClr val="E11D2E"/>
                </a:solidFill>
                <a:latin typeface="Meiryo UI" pitchFamily="34" charset="0"/>
                <a:ea typeface="Meiryo UI" pitchFamily="34" charset="-122"/>
                <a:cs typeface="Meiryo UI" pitchFamily="34" charset="-120"/>
              </a:rPr>
              <a:t>③ </a:t>
            </a:r>
            <a:pPr indent="0" marL="0">
              <a:spcAft>
                <a:spcPts val="1000"/>
              </a:spcAft>
              <a:buNone/>
            </a:pPr>
            <a:r>
              <a:rPr lang="en-US" sz="1600" dirty="0">
                <a:solidFill>
                  <a:srgbClr val="1F2937"/>
                </a:solidFill>
                <a:latin typeface="Meiryo UI" pitchFamily="34" charset="0"/>
                <a:ea typeface="Meiryo UI" pitchFamily="34" charset="-122"/>
                <a:cs typeface="Meiryo UI" pitchFamily="34" charset="-120"/>
              </a:rPr>
              <a:t>確かめたら "Leanne Graham" に戻して Ctrl + S</a:t>
            </a:r>
            <a:endParaRPr lang="en-US" sz="1600" dirty="0"/>
          </a:p>
        </p:txBody>
      </p:sp>
      <p:pic>
        <p:nvPicPr>
          <p:cNvPr id="6" name="Image 0" descr="失敗したときの表示の例（アサーションの場合。テストも同じく赤で表示される）">    </p:cNvPr>
          <p:cNvPicPr>
            <a:picLocks noChangeAspect="1"/>
          </p:cNvPicPr>
          <p:nvPr/>
        </p:nvPicPr>
        <p:blipFill>
          <a:blip r:embed="rId1"/>
          <a:stretch>
            <a:fillRect/>
          </a:stretch>
        </p:blipFill>
        <p:spPr>
          <a:xfrm>
            <a:off x="548640" y="3017520"/>
            <a:ext cx="5943600" cy="1343186"/>
          </a:xfrm>
          <a:prstGeom prst="rect">
            <a:avLst/>
          </a:prstGeom>
        </p:spPr>
      </p:pic>
      <p:sp>
        <p:nvSpPr>
          <p:cNvPr id="7" name="Shape 4"/>
          <p:cNvSpPr/>
          <p:nvPr/>
        </p:nvSpPr>
        <p:spPr>
          <a:xfrm>
            <a:off x="548640" y="3017520"/>
            <a:ext cx="5943600" cy="1343186"/>
          </a:xfrm>
          <a:prstGeom prst="rect">
            <a:avLst/>
          </a:prstGeom>
          <a:ln w="9525">
            <a:solidFill>
              <a:srgbClr val="D1D5DB"/>
            </a:solidFill>
            <a:prstDash val="solid"/>
          </a:ln>
        </p:spPr>
      </p:sp>
      <p:sp>
        <p:nvSpPr>
          <p:cNvPr id="8" name="Text 5"/>
          <p:cNvSpPr/>
          <p:nvPr/>
        </p:nvSpPr>
        <p:spPr>
          <a:xfrm>
            <a:off x="548640" y="4378994"/>
            <a:ext cx="594360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失敗したときの表示の例（アサーションの場合。テストも同じく赤で表示される）</a:t>
            </a:r>
            <a:endParaRPr lang="en-US" sz="1000" dirty="0"/>
          </a:p>
        </p:txBody>
      </p:sp>
      <p:sp>
        <p:nvSpPr>
          <p:cNvPr id="9" name="Shape 6"/>
          <p:cNvSpPr/>
          <p:nvPr/>
        </p:nvSpPr>
        <p:spPr>
          <a:xfrm>
            <a:off x="6766560" y="3017520"/>
            <a:ext cx="4846320" cy="1463040"/>
          </a:xfrm>
          <a:prstGeom prst="rect">
            <a:avLst/>
          </a:prstGeom>
          <a:solidFill>
            <a:srgbClr val="EFF6FF"/>
          </a:solidFill>
          <a:ln w="15875">
            <a:solidFill>
              <a:srgbClr val="1D4ED8"/>
            </a:solidFill>
            <a:prstDash val="solid"/>
          </a:ln>
        </p:spPr>
      </p:sp>
      <p:sp>
        <p:nvSpPr>
          <p:cNvPr id="10" name="Shape 7"/>
          <p:cNvSpPr/>
          <p:nvPr/>
        </p:nvSpPr>
        <p:spPr>
          <a:xfrm>
            <a:off x="6766560" y="3017520"/>
            <a:ext cx="82296" cy="1463040"/>
          </a:xfrm>
          <a:prstGeom prst="rect">
            <a:avLst/>
          </a:prstGeom>
          <a:solidFill>
            <a:srgbClr val="1D4ED8"/>
          </a:solidFill>
          <a:ln w="12700">
            <a:solidFill>
              <a:srgbClr val="1D4ED8"/>
            </a:solidFill>
            <a:prstDash val="solid"/>
          </a:ln>
        </p:spPr>
      </p:sp>
      <p:sp>
        <p:nvSpPr>
          <p:cNvPr id="11" name="Text 8"/>
          <p:cNvSpPr/>
          <p:nvPr/>
        </p:nvSpPr>
        <p:spPr>
          <a:xfrm>
            <a:off x="6931152" y="3063240"/>
            <a:ext cx="4617720" cy="1371600"/>
          </a:xfrm>
          <a:prstGeom prst="rect">
            <a:avLst/>
          </a:prstGeom>
          <a:noFill/>
          <a:ln/>
        </p:spPr>
        <p:txBody>
          <a:bodyPr wrap="square" rtlCol="0" anchor="ctr"/>
          <a:lstStyle/>
          <a:p>
            <a:pPr indent="0" marL="0">
              <a:spcAft>
                <a:spcPts val="200"/>
              </a:spcAft>
              <a:buNone/>
            </a:pPr>
            <a:r>
              <a:rPr lang="en-US" sz="1300" b="1" dirty="0">
                <a:solidFill>
                  <a:srgbClr val="1D4ED8"/>
                </a:solidFill>
                <a:latin typeface="Meiryo UI" pitchFamily="34" charset="0"/>
                <a:ea typeface="Meiryo UI" pitchFamily="34" charset="-122"/>
                <a:cs typeface="Meiryo UI" pitchFamily="34" charset="-120"/>
              </a:rPr>
              <a:t>【ヒント】</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テストが失敗しても、リクエスト自体は送信されています。「期待どおりの結果だったか」を Bruno が判定している、という点がポイントです。</a:t>
            </a:r>
            <a:endParaRPr lang="en-US" sz="1300" dirty="0"/>
          </a:p>
        </p:txBody>
      </p:sp>
      <p:sp>
        <p:nvSpPr>
          <p:cNvPr id="12" name="Text 9"/>
          <p:cNvSpPr/>
          <p:nvPr/>
        </p:nvSpPr>
        <p:spPr>
          <a:xfrm>
            <a:off x="548640" y="5029200"/>
            <a:ext cx="10972800" cy="365760"/>
          </a:xfrm>
          <a:prstGeom prst="rect">
            <a:avLst/>
          </a:prstGeom>
          <a:noFill/>
          <a:ln/>
        </p:spPr>
        <p:txBody>
          <a:bodyPr wrap="square" lIns="50800" tIns="50800" rIns="50800" bIns="50800" rtlCol="0" anchor="t"/>
          <a:lstStyle/>
          <a:p>
            <a:pPr algn="l" indent="0" marL="0">
              <a:buNone/>
            </a:pPr>
            <a:r>
              <a:rPr lang="en-US" sz="1100" dirty="0">
                <a:solidFill>
                  <a:srgbClr val="6B7280"/>
                </a:solidFill>
                <a:latin typeface="Meiryo UI" pitchFamily="34" charset="0"/>
                <a:ea typeface="Meiryo UI" pitchFamily="34" charset="-122"/>
                <a:cs typeface="Meiryo UI" pitchFamily="34" charset="-120"/>
              </a:rPr>
              <a:t>※ テストを失敗させた画面は撮影していません（アサーションの失敗画面で代用）。</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【操作】Collection Runner でまとめて実行する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5" name="Text 3"/>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出典：https://docs.usebruno.com/get-started/bruno-basics/run-a-collection</a:t>
            </a:r>
            <a:endParaRPr lang="en-US" sz="1000" dirty="0"/>
          </a:p>
        </p:txBody>
      </p:sp>
      <p:sp>
        <p:nvSpPr>
          <p:cNvPr id="6" name="Text 4"/>
          <p:cNvSpPr/>
          <p:nvPr/>
        </p:nvSpPr>
        <p:spPr>
          <a:xfrm>
            <a:off x="548640" y="1097280"/>
            <a:ext cx="4754880" cy="1097280"/>
          </a:xfrm>
          <a:prstGeom prst="rect">
            <a:avLst/>
          </a:prstGeom>
          <a:noFill/>
          <a:ln/>
        </p:spPr>
        <p:txBody>
          <a:bodyPr wrap="square" rtlCol="0" anchor="t"/>
          <a:lstStyle/>
          <a:p>
            <a:pPr indent="0" marL="0">
              <a:spcAft>
                <a:spcPts val="700"/>
              </a:spcAft>
              <a:buNone/>
            </a:pPr>
            <a:r>
              <a:rPr lang="en-US" sz="15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500" dirty="0">
                <a:solidFill>
                  <a:srgbClr val="1F2937"/>
                </a:solidFill>
                <a:latin typeface="Meiryo UI" pitchFamily="34" charset="0"/>
                <a:ea typeface="Meiryo UI" pitchFamily="34" charset="-122"/>
                <a:cs typeface="Meiryo UI" pitchFamily="34" charset="-120"/>
              </a:rPr>
              <a:t>フォルダ（例：09_Features）を右クリック →「Run」</a:t>
            </a:r>
            <a:endParaRPr lang="en-US" sz="1500" dirty="0"/>
          </a:p>
          <a:p>
            <a:pPr indent="0" marL="0">
              <a:spcAft>
                <a:spcPts val="700"/>
              </a:spcAft>
              <a:buNone/>
            </a:pPr>
            <a:r>
              <a:rPr lang="en-US" sz="15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500" dirty="0">
                <a:solidFill>
                  <a:srgbClr val="1F2937"/>
                </a:solidFill>
                <a:latin typeface="Meiryo UI" pitchFamily="34" charset="0"/>
                <a:ea typeface="Meiryo UI" pitchFamily="34" charset="-122"/>
                <a:cs typeface="Meiryo UI" pitchFamily="34" charset="-120"/>
              </a:rPr>
              <a:t>Collection Runner の画面で「Run」をクリック</a:t>
            </a:r>
            <a:endParaRPr lang="en-US" sz="1500" dirty="0"/>
          </a:p>
        </p:txBody>
      </p:sp>
      <p:pic>
        <p:nvPicPr>
          <p:cNvPr id="7" name="Image 0" descr="実画面（Bruno v4.2.1、Windows 11、2026-10-09 撮影）">    </p:cNvPr>
          <p:cNvPicPr>
            <a:picLocks noChangeAspect="1"/>
          </p:cNvPicPr>
          <p:nvPr/>
        </p:nvPicPr>
        <p:blipFill>
          <a:blip r:embed="rId1"/>
          <a:stretch>
            <a:fillRect/>
          </a:stretch>
        </p:blipFill>
        <p:spPr>
          <a:xfrm>
            <a:off x="5486400" y="1097280"/>
            <a:ext cx="3410857" cy="4297680"/>
          </a:xfrm>
          <a:prstGeom prst="rect">
            <a:avLst/>
          </a:prstGeom>
        </p:spPr>
      </p:pic>
      <p:sp>
        <p:nvSpPr>
          <p:cNvPr id="8" name="Shape 5"/>
          <p:cNvSpPr/>
          <p:nvPr/>
        </p:nvSpPr>
        <p:spPr>
          <a:xfrm>
            <a:off x="5486400" y="1097280"/>
            <a:ext cx="3410857" cy="4297680"/>
          </a:xfrm>
          <a:prstGeom prst="rect">
            <a:avLst/>
          </a:prstGeom>
          <a:ln w="9525">
            <a:solidFill>
              <a:srgbClr val="D1D5DB"/>
            </a:solidFill>
            <a:prstDash val="solid"/>
          </a:ln>
        </p:spPr>
      </p:sp>
      <p:sp>
        <p:nvSpPr>
          <p:cNvPr id="9" name="Text 6"/>
          <p:cNvSpPr/>
          <p:nvPr/>
        </p:nvSpPr>
        <p:spPr>
          <a:xfrm>
            <a:off x="5486400" y="5413248"/>
            <a:ext cx="365760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a:t>
            </a:r>
            <a:endParaRPr lang="en-US" sz="1000" dirty="0"/>
          </a:p>
        </p:txBody>
      </p:sp>
      <p:sp>
        <p:nvSpPr>
          <p:cNvPr id="10" name="Shape 7"/>
          <p:cNvSpPr/>
          <p:nvPr/>
        </p:nvSpPr>
        <p:spPr>
          <a:xfrm>
            <a:off x="8380984" y="5035586"/>
            <a:ext cx="418592" cy="241227"/>
          </a:xfrm>
          <a:prstGeom prst="rect">
            <a:avLst/>
          </a:prstGeom>
          <a:ln w="28575">
            <a:solidFill>
              <a:srgbClr val="E11D2E"/>
            </a:solidFill>
            <a:prstDash val="solid"/>
          </a:ln>
        </p:spPr>
      </p:sp>
      <p:sp>
        <p:nvSpPr>
          <p:cNvPr id="11" name="Shape 8"/>
          <p:cNvSpPr/>
          <p:nvPr/>
        </p:nvSpPr>
        <p:spPr>
          <a:xfrm>
            <a:off x="8088376" y="5019040"/>
            <a:ext cx="274320" cy="274320"/>
          </a:xfrm>
          <a:prstGeom prst="ellipse">
            <a:avLst/>
          </a:prstGeom>
          <a:solidFill>
            <a:srgbClr val="E11D2E"/>
          </a:solidFill>
          <a:ln w="15875">
            <a:solidFill>
              <a:srgbClr val="FFFFFF"/>
            </a:solidFill>
            <a:prstDash val="solid"/>
          </a:ln>
        </p:spPr>
      </p:sp>
      <p:sp>
        <p:nvSpPr>
          <p:cNvPr id="12" name="Text 9"/>
          <p:cNvSpPr/>
          <p:nvPr/>
        </p:nvSpPr>
        <p:spPr>
          <a:xfrm>
            <a:off x="8088376" y="50190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3" name="Shape 10"/>
          <p:cNvSpPr/>
          <p:nvPr/>
        </p:nvSpPr>
        <p:spPr>
          <a:xfrm>
            <a:off x="5570438" y="3678065"/>
            <a:ext cx="1469136" cy="183243"/>
          </a:xfrm>
          <a:prstGeom prst="rect">
            <a:avLst/>
          </a:prstGeom>
          <a:ln w="28575">
            <a:solidFill>
              <a:srgbClr val="E11D2E"/>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4754880" cy="914400"/>
        </p:xfrm>
        <a:graphic>
          <a:graphicData uri="http://schemas.openxmlformats.org/drawingml/2006/table">
            <a:tbl>
              <a:tblPr/>
              <a:tblGrid>
                <a:gridCol w="1828800"/>
                <a:gridCol w="2926080"/>
              </a:tblGrid>
              <a:tr h="457200">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項目</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意味</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57200">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Run</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このフォルダ内のリクエストだけ</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Recursive Run</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サブフォルダも含めて全部</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Delay</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リクエストの間の待ち時間</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Run with Parameters</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 無料版では使えない（UPGRADE）</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bl>
          </a:graphicData>
        </a:graphic>
      </p:graphicFrame>
      <p:sp>
        <p:nvSpPr>
          <p:cNvPr id="15" name="Shape 11"/>
          <p:cNvSpPr/>
          <p:nvPr/>
        </p:nvSpPr>
        <p:spPr>
          <a:xfrm>
            <a:off x="548640" y="4937760"/>
            <a:ext cx="4754880" cy="731520"/>
          </a:xfrm>
          <a:prstGeom prst="rect">
            <a:avLst/>
          </a:prstGeom>
          <a:solidFill>
            <a:srgbClr val="EFF6FF"/>
          </a:solidFill>
          <a:ln w="15875">
            <a:solidFill>
              <a:srgbClr val="1D4ED8"/>
            </a:solidFill>
            <a:prstDash val="solid"/>
          </a:ln>
        </p:spPr>
      </p:sp>
      <p:sp>
        <p:nvSpPr>
          <p:cNvPr id="16" name="Shape 12"/>
          <p:cNvSpPr/>
          <p:nvPr/>
        </p:nvSpPr>
        <p:spPr>
          <a:xfrm>
            <a:off x="548640" y="4937760"/>
            <a:ext cx="82296" cy="731520"/>
          </a:xfrm>
          <a:prstGeom prst="rect">
            <a:avLst/>
          </a:prstGeom>
          <a:solidFill>
            <a:srgbClr val="1D4ED8"/>
          </a:solidFill>
          <a:ln w="12700">
            <a:solidFill>
              <a:srgbClr val="1D4ED8"/>
            </a:solidFill>
            <a:prstDash val="solid"/>
          </a:ln>
        </p:spPr>
      </p:sp>
      <p:sp>
        <p:nvSpPr>
          <p:cNvPr id="17" name="Text 13"/>
          <p:cNvSpPr/>
          <p:nvPr/>
        </p:nvSpPr>
        <p:spPr>
          <a:xfrm>
            <a:off x="713232" y="4983480"/>
            <a:ext cx="4526280" cy="640080"/>
          </a:xfrm>
          <a:prstGeom prst="rect">
            <a:avLst/>
          </a:prstGeom>
          <a:noFill/>
          <a:ln/>
        </p:spPr>
        <p:txBody>
          <a:bodyPr wrap="square" rtlCol="0" anchor="ctr"/>
          <a:lstStyle/>
          <a:p>
            <a:pPr indent="0" marL="0">
              <a:spcAft>
                <a:spcPts val="200"/>
              </a:spcAft>
              <a:buNone/>
            </a:pPr>
            <a:r>
              <a:rPr lang="en-US" sz="1200" b="1" dirty="0">
                <a:solidFill>
                  <a:srgbClr val="1D4ED8"/>
                </a:solidFill>
                <a:latin typeface="Meiryo UI" pitchFamily="34" charset="0"/>
                <a:ea typeface="Meiryo UI" pitchFamily="34" charset="-122"/>
                <a:cs typeface="Meiryo UI" pitchFamily="34" charset="-120"/>
              </a:rPr>
              <a:t>【ヒント】</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コレクションを右クリック →「Run」なら、コレクション全体を実行できます。</a:t>
            </a:r>
            <a:endParaRPr lang="en-US" sz="1200" dirty="0"/>
          </a:p>
        </p:txBody>
      </p:sp>
      <p:sp>
        <p:nvSpPr>
          <p:cNvPr id="18" name="Shape 14"/>
          <p:cNvSpPr/>
          <p:nvPr/>
        </p:nvSpPr>
        <p:spPr>
          <a:xfrm>
            <a:off x="548640" y="5788152"/>
            <a:ext cx="11064240" cy="329184"/>
          </a:xfrm>
          <a:prstGeom prst="rect">
            <a:avLst/>
          </a:prstGeom>
          <a:solidFill>
            <a:srgbClr val="ECFDF5"/>
          </a:solidFill>
          <a:ln w="12700">
            <a:solidFill>
              <a:srgbClr val="047857"/>
            </a:solidFill>
            <a:prstDash val="solid"/>
          </a:ln>
        </p:spPr>
      </p:sp>
      <p:sp>
        <p:nvSpPr>
          <p:cNvPr id="19" name="Text 15"/>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09_Features フォルダを右クリック → Run</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Runner の結果を見る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5" name="Image 0" descr="実画面（Bruno v4.2.1、Windows 11、2026-10-09 撮影）">    </p:cNvPr>
          <p:cNvPicPr>
            <a:picLocks noChangeAspect="1"/>
          </p:cNvPicPr>
          <p:nvPr/>
        </p:nvPicPr>
        <p:blipFill>
          <a:blip r:embed="rId1"/>
          <a:stretch>
            <a:fillRect/>
          </a:stretch>
        </p:blipFill>
        <p:spPr>
          <a:xfrm>
            <a:off x="548640" y="1097280"/>
            <a:ext cx="11064240" cy="2402368"/>
          </a:xfrm>
          <a:prstGeom prst="rect">
            <a:avLst/>
          </a:prstGeom>
        </p:spPr>
      </p:pic>
      <p:sp>
        <p:nvSpPr>
          <p:cNvPr id="6" name="Shape 3"/>
          <p:cNvSpPr/>
          <p:nvPr/>
        </p:nvSpPr>
        <p:spPr>
          <a:xfrm>
            <a:off x="548640" y="1097280"/>
            <a:ext cx="11064240" cy="2402368"/>
          </a:xfrm>
          <a:prstGeom prst="rect">
            <a:avLst/>
          </a:prstGeom>
          <a:ln w="9525">
            <a:solidFill>
              <a:srgbClr val="D1D5DB"/>
            </a:solidFill>
            <a:prstDash val="solid"/>
          </a:ln>
        </p:spPr>
      </p:sp>
      <p:sp>
        <p:nvSpPr>
          <p:cNvPr id="7" name="Text 4"/>
          <p:cNvSpPr/>
          <p:nvPr/>
        </p:nvSpPr>
        <p:spPr>
          <a:xfrm>
            <a:off x="548640" y="3517936"/>
            <a:ext cx="1106424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a:t>
            </a:r>
            <a:endParaRPr lang="en-US" sz="1000" dirty="0"/>
          </a:p>
        </p:txBody>
      </p:sp>
      <p:sp>
        <p:nvSpPr>
          <p:cNvPr id="8" name="Text 5"/>
          <p:cNvSpPr/>
          <p:nvPr/>
        </p:nvSpPr>
        <p:spPr>
          <a:xfrm>
            <a:off x="548640" y="3794760"/>
            <a:ext cx="11064240" cy="1828800"/>
          </a:xfrm>
          <a:prstGeom prst="rect">
            <a:avLst/>
          </a:prstGeom>
          <a:noFill/>
          <a:ln/>
        </p:spPr>
        <p:txBody>
          <a:bodyPr wrap="square" rtlCol="0" anchor="t"/>
          <a:lstStyle/>
          <a:p>
            <a:pPr marL="228600" indent="-228600">
              <a:spcAft>
                <a:spcPts val="800"/>
              </a:spcAft>
              <a:buSzPct val="100000"/>
              <a:buChar char="•"/>
            </a:pPr>
            <a:r>
              <a:rPr lang="en-US" sz="1500" dirty="0">
                <a:solidFill>
                  <a:srgbClr val="1F2937"/>
                </a:solidFill>
                <a:latin typeface="Meiryo UI" pitchFamily="34" charset="0"/>
                <a:ea typeface="Meiryo UI" pitchFamily="34" charset="-122"/>
                <a:cs typeface="Meiryo UI" pitchFamily="34" charset="-120"/>
              </a:rPr>
              <a:t>上部の Filter：All・Passed・Failed・Skipped の件数</a:t>
            </a:r>
            <a:endParaRPr lang="en-US" sz="1500" dirty="0"/>
          </a:p>
          <a:p>
            <a:pPr marL="228600" indent="-228600">
              <a:spcAft>
                <a:spcPts val="800"/>
              </a:spcAft>
              <a:buSzPct val="100000"/>
              <a:buChar char="•"/>
            </a:pPr>
            <a:r>
              <a:rPr lang="en-US" sz="1500" dirty="0">
                <a:solidFill>
                  <a:srgbClr val="1F2937"/>
                </a:solidFill>
                <a:latin typeface="Meiryo UI" pitchFamily="34" charset="0"/>
                <a:ea typeface="Meiryo UI" pitchFamily="34" charset="-122"/>
                <a:cs typeface="Meiryo UI" pitchFamily="34" charset="-120"/>
              </a:rPr>
              <a:t>各リクエストのステータスと、アサーション・テストの結果</a:t>
            </a:r>
            <a:endParaRPr lang="en-US" sz="1500" dirty="0"/>
          </a:p>
          <a:p>
            <a:pPr marL="228600" indent="-228600">
              <a:spcAft>
                <a:spcPts val="800"/>
              </a:spcAft>
              <a:buSzPct val="100000"/>
              <a:buChar char="•"/>
            </a:pPr>
            <a:r>
              <a:rPr lang="en-US" sz="1500" dirty="0">
                <a:solidFill>
                  <a:srgbClr val="1F2937"/>
                </a:solidFill>
                <a:latin typeface="Meiryo UI" pitchFamily="34" charset="0"/>
                <a:ea typeface="Meiryo UI" pitchFamily="34" charset="-122"/>
                <a:cs typeface="Meiryo UI" pitchFamily="34" charset="-120"/>
              </a:rPr>
              <a:t>ステータスコード（200 - OK など）をクリックするとレスポンスを確認できる</a:t>
            </a:r>
            <a:endParaRPr lang="en-US" sz="1500" dirty="0"/>
          </a:p>
          <a:p>
            <a:pPr marL="228600" indent="-228600">
              <a:spcAft>
                <a:spcPts val="800"/>
              </a:spcAft>
              <a:buSzPct val="100000"/>
              <a:buChar char="•"/>
            </a:pPr>
            <a:r>
              <a:rPr lang="en-US" sz="1500" dirty="0">
                <a:solidFill>
                  <a:srgbClr val="1F2937"/>
                </a:solidFill>
                <a:latin typeface="Meiryo UI" pitchFamily="34" charset="0"/>
                <a:ea typeface="Meiryo UI" pitchFamily="34" charset="-122"/>
                <a:cs typeface="Meiryo UI" pitchFamily="34" charset="-120"/>
              </a:rPr>
              <a:t>「Run Again」で再実行。実行順はサイドバーの並び順（作成環境で確認）</a:t>
            </a:r>
            <a:endParaRPr lang="en-US" sz="15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9-D　Collection Runner でまとめて実行する（手順）</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5" name="Text 3"/>
          <p:cNvSpPr/>
          <p:nvPr/>
        </p:nvSpPr>
        <p:spPr>
          <a:xfrm>
            <a:off x="548640" y="1188720"/>
            <a:ext cx="10972800" cy="411480"/>
          </a:xfrm>
          <a:prstGeom prst="rect">
            <a:avLst/>
          </a:prstGeom>
          <a:noFill/>
          <a:ln/>
        </p:spPr>
        <p:txBody>
          <a:bodyPr wrap="square" lIns="50800" tIns="50800" rIns="50800" bIns="50800" rtlCol="0" anchor="t"/>
          <a:lstStyle/>
          <a:p>
            <a:pPr algn="l" indent="0" marL="0">
              <a:buNone/>
            </a:pPr>
            <a:r>
              <a:rPr lang="en-US" sz="1800" b="1" dirty="0">
                <a:solidFill>
                  <a:srgbClr val="D97706"/>
                </a:solidFill>
                <a:latin typeface="Meiryo UI" pitchFamily="34" charset="0"/>
                <a:ea typeface="Meiryo UI" pitchFamily="34" charset="-122"/>
                <a:cs typeface="Meiryo UI" pitchFamily="34" charset="-120"/>
              </a:rPr>
              <a:t>この節で行うこと</a:t>
            </a:r>
            <a:endParaRPr lang="en-US" sz="1800" dirty="0"/>
          </a:p>
        </p:txBody>
      </p:sp>
      <p:sp>
        <p:nvSpPr>
          <p:cNvPr id="6" name="Text 4"/>
          <p:cNvSpPr/>
          <p:nvPr/>
        </p:nvSpPr>
        <p:spPr>
          <a:xfrm>
            <a:off x="548640" y="1691640"/>
            <a:ext cx="11064240" cy="3291840"/>
          </a:xfrm>
          <a:prstGeom prst="rect">
            <a:avLst/>
          </a:prstGeom>
          <a:noFill/>
          <a:ln/>
        </p:spPr>
        <p:txBody>
          <a:bodyPr wrap="square" rtlCol="0" anchor="t"/>
          <a:lstStyle/>
          <a:p>
            <a:pPr indent="0" marL="0">
              <a:spcAft>
                <a:spcPts val="1200"/>
              </a:spcAft>
              <a:buNone/>
            </a:pPr>
            <a:r>
              <a:rPr lang="en-US" sz="1800" b="1" dirty="0">
                <a:solidFill>
                  <a:srgbClr val="E11D2E"/>
                </a:solidFill>
                <a:latin typeface="Meiryo UI" pitchFamily="34" charset="0"/>
                <a:ea typeface="Meiryo UI" pitchFamily="34" charset="-122"/>
                <a:cs typeface="Meiryo UI" pitchFamily="34" charset="-120"/>
              </a:rPr>
              <a:t>① </a:t>
            </a:r>
            <a:pPr indent="0" marL="0">
              <a:spcAft>
                <a:spcPts val="1200"/>
              </a:spcAft>
              <a:buNone/>
            </a:pPr>
            <a:r>
              <a:rPr lang="en-US" sz="1800" dirty="0">
                <a:solidFill>
                  <a:srgbClr val="1F2937"/>
                </a:solidFill>
                <a:latin typeface="Meiryo UI" pitchFamily="34" charset="0"/>
                <a:ea typeface="Meiryo UI" pitchFamily="34" charset="-122"/>
                <a:cs typeface="Meiryo UI" pitchFamily="34" charset="-120"/>
              </a:rPr>
              <a:t>フォルダを右クリックして Run を選ぶ</a:t>
            </a:r>
            <a:endParaRPr lang="en-US" sz="1800" dirty="0"/>
          </a:p>
          <a:p>
            <a:pPr indent="0" marL="0">
              <a:spcAft>
                <a:spcPts val="1200"/>
              </a:spcAft>
              <a:buNone/>
            </a:pPr>
            <a:r>
              <a:rPr lang="en-US" sz="1800" b="1" dirty="0">
                <a:solidFill>
                  <a:srgbClr val="E11D2E"/>
                </a:solidFill>
                <a:latin typeface="Meiryo UI" pitchFamily="34" charset="0"/>
                <a:ea typeface="Meiryo UI" pitchFamily="34" charset="-122"/>
                <a:cs typeface="Meiryo UI" pitchFamily="34" charset="-120"/>
              </a:rPr>
              <a:t>② </a:t>
            </a:r>
            <a:pPr indent="0" marL="0">
              <a:spcAft>
                <a:spcPts val="1200"/>
              </a:spcAft>
              <a:buNone/>
            </a:pPr>
            <a:r>
              <a:rPr lang="en-US" sz="1800" dirty="0">
                <a:solidFill>
                  <a:srgbClr val="1F2937"/>
                </a:solidFill>
                <a:latin typeface="Meiryo UI" pitchFamily="34" charset="0"/>
                <a:ea typeface="Meiryo UI" pitchFamily="34" charset="-122"/>
                <a:cs typeface="Meiryo UI" pitchFamily="34" charset="-120"/>
              </a:rPr>
              <a:t>Runner の設定を確認して実行する</a:t>
            </a:r>
            <a:endParaRPr lang="en-US" sz="1800" dirty="0"/>
          </a:p>
          <a:p>
            <a:pPr indent="0" marL="0">
              <a:spcAft>
                <a:spcPts val="1200"/>
              </a:spcAft>
              <a:buNone/>
            </a:pPr>
            <a:r>
              <a:rPr lang="en-US" sz="1800" b="1" dirty="0">
                <a:solidFill>
                  <a:srgbClr val="E11D2E"/>
                </a:solidFill>
                <a:latin typeface="Meiryo UI" pitchFamily="34" charset="0"/>
                <a:ea typeface="Meiryo UI" pitchFamily="34" charset="-122"/>
                <a:cs typeface="Meiryo UI" pitchFamily="34" charset="-120"/>
              </a:rPr>
              <a:t>③ </a:t>
            </a:r>
            <a:pPr indent="0" marL="0">
              <a:spcAft>
                <a:spcPts val="1200"/>
              </a:spcAft>
              <a:buNone/>
            </a:pPr>
            <a:r>
              <a:rPr lang="en-US" sz="1800" dirty="0">
                <a:solidFill>
                  <a:srgbClr val="1F2937"/>
                </a:solidFill>
                <a:latin typeface="Meiryo UI" pitchFamily="34" charset="0"/>
                <a:ea typeface="Meiryo UI" pitchFamily="34" charset="-122"/>
                <a:cs typeface="Meiryo UI" pitchFamily="34" charset="-120"/>
              </a:rPr>
              <a:t>結果の一覧と、1 件ずつの詳細を確認する</a:t>
            </a:r>
            <a:endParaRPr lang="en-US" sz="18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【手順 1/3】フォルダを右クリック → Run</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5" name="Image 0" descr="実画面（Bruno v4.2.1、Windows 11、2026-10-09 撮影）">    </p:cNvPr>
          <p:cNvPicPr>
            <a:picLocks noChangeAspect="1"/>
          </p:cNvPicPr>
          <p:nvPr/>
        </p:nvPicPr>
        <p:blipFill>
          <a:blip r:embed="rId1"/>
          <a:stretch>
            <a:fillRect/>
          </a:stretch>
        </p:blipFill>
        <p:spPr>
          <a:xfrm>
            <a:off x="411480" y="1051560"/>
            <a:ext cx="4749821" cy="4343400"/>
          </a:xfrm>
          <a:prstGeom prst="rect">
            <a:avLst/>
          </a:prstGeom>
        </p:spPr>
      </p:pic>
      <p:sp>
        <p:nvSpPr>
          <p:cNvPr id="6" name="Shape 3"/>
          <p:cNvSpPr/>
          <p:nvPr/>
        </p:nvSpPr>
        <p:spPr>
          <a:xfrm>
            <a:off x="411480" y="1051560"/>
            <a:ext cx="4749821" cy="4343400"/>
          </a:xfrm>
          <a:prstGeom prst="rect">
            <a:avLst/>
          </a:prstGeom>
          <a:ln w="9525">
            <a:solidFill>
              <a:srgbClr val="D1D5DB"/>
            </a:solidFill>
            <a:prstDash val="solid"/>
          </a:ln>
        </p:spPr>
      </p:sp>
      <p:sp>
        <p:nvSpPr>
          <p:cNvPr id="7" name="Text 4"/>
          <p:cNvSpPr/>
          <p:nvPr/>
        </p:nvSpPr>
        <p:spPr>
          <a:xfrm>
            <a:off x="411480" y="5413248"/>
            <a:ext cx="4749821"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a:t>
            </a:r>
            <a:endParaRPr lang="en-US" sz="1000" dirty="0"/>
          </a:p>
        </p:txBody>
      </p:sp>
      <p:sp>
        <p:nvSpPr>
          <p:cNvPr id="8" name="Shape 5"/>
          <p:cNvSpPr/>
          <p:nvPr/>
        </p:nvSpPr>
        <p:spPr>
          <a:xfrm>
            <a:off x="541624" y="4129137"/>
            <a:ext cx="1637520" cy="206212"/>
          </a:xfrm>
          <a:prstGeom prst="rect">
            <a:avLst/>
          </a:prstGeom>
          <a:ln w="28575">
            <a:solidFill>
              <a:srgbClr val="E11D2E"/>
            </a:solidFill>
            <a:prstDash val="solid"/>
          </a:ln>
        </p:spPr>
      </p:sp>
      <p:sp>
        <p:nvSpPr>
          <p:cNvPr id="9" name="Shape 6"/>
          <p:cNvSpPr/>
          <p:nvPr/>
        </p:nvSpPr>
        <p:spPr>
          <a:xfrm>
            <a:off x="249016" y="4095083"/>
            <a:ext cx="274320" cy="274320"/>
          </a:xfrm>
          <a:prstGeom prst="ellipse">
            <a:avLst/>
          </a:prstGeom>
          <a:solidFill>
            <a:srgbClr val="E11D2E"/>
          </a:solidFill>
          <a:ln w="15875">
            <a:solidFill>
              <a:srgbClr val="FFFFFF"/>
            </a:solidFill>
            <a:prstDash val="solid"/>
          </a:ln>
        </p:spPr>
      </p:sp>
      <p:sp>
        <p:nvSpPr>
          <p:cNvPr id="10" name="Text 7"/>
          <p:cNvSpPr/>
          <p:nvPr/>
        </p:nvSpPr>
        <p:spPr>
          <a:xfrm>
            <a:off x="249016" y="4095083"/>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1" name="Shape 8"/>
          <p:cNvSpPr/>
          <p:nvPr/>
        </p:nvSpPr>
        <p:spPr>
          <a:xfrm>
            <a:off x="1965863" y="2015750"/>
            <a:ext cx="1231099" cy="220349"/>
          </a:xfrm>
          <a:prstGeom prst="rect">
            <a:avLst/>
          </a:prstGeom>
          <a:ln w="28575">
            <a:solidFill>
              <a:srgbClr val="E11D2E"/>
            </a:solidFill>
            <a:prstDash val="solid"/>
          </a:ln>
        </p:spPr>
      </p:sp>
      <p:sp>
        <p:nvSpPr>
          <p:cNvPr id="12" name="Shape 9"/>
          <p:cNvSpPr/>
          <p:nvPr/>
        </p:nvSpPr>
        <p:spPr>
          <a:xfrm>
            <a:off x="1673255" y="1988764"/>
            <a:ext cx="274320" cy="274320"/>
          </a:xfrm>
          <a:prstGeom prst="ellipse">
            <a:avLst/>
          </a:prstGeom>
          <a:solidFill>
            <a:srgbClr val="E11D2E"/>
          </a:solidFill>
          <a:ln w="15875">
            <a:solidFill>
              <a:srgbClr val="FFFFFF"/>
            </a:solidFill>
            <a:prstDash val="solid"/>
          </a:ln>
        </p:spPr>
      </p:sp>
      <p:sp>
        <p:nvSpPr>
          <p:cNvPr id="13" name="Text 10"/>
          <p:cNvSpPr/>
          <p:nvPr/>
        </p:nvSpPr>
        <p:spPr>
          <a:xfrm>
            <a:off x="1673255" y="19887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4" name="Text 11"/>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サイドバーで 09_Features を右クリック</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メニューの「Run」をクリック → Runner タブが開く</a:t>
            </a:r>
            <a:endParaRPr lang="en-US" sz="1400" dirty="0"/>
          </a:p>
        </p:txBody>
      </p:sp>
      <p:sp>
        <p:nvSpPr>
          <p:cNvPr id="15" name="Shape 12"/>
          <p:cNvSpPr/>
          <p:nvPr/>
        </p:nvSpPr>
        <p:spPr>
          <a:xfrm>
            <a:off x="548640" y="5788152"/>
            <a:ext cx="11064240" cy="329184"/>
          </a:xfrm>
          <a:prstGeom prst="rect">
            <a:avLst/>
          </a:prstGeom>
          <a:solidFill>
            <a:srgbClr val="ECFDF5"/>
          </a:solidFill>
          <a:ln w="12700">
            <a:solidFill>
              <a:srgbClr val="047857"/>
            </a:solidFill>
            <a:prstDash val="solid"/>
          </a:ln>
        </p:spPr>
      </p:sp>
      <p:sp>
        <p:nvSpPr>
          <p:cNvPr id="16" name="Text 13"/>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09_Features フォルダを右クリック → Run でも同じ結果になります</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【手順 2/3】設定を確認して Run</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5" name="Image 0" descr="実画面（Bruno v4.2.1、Windows 11、2026-10-09 撮影）">    </p:cNvPr>
          <p:cNvPicPr>
            <a:picLocks noChangeAspect="1"/>
          </p:cNvPicPr>
          <p:nvPr/>
        </p:nvPicPr>
        <p:blipFill>
          <a:blip r:embed="rId1"/>
          <a:stretch>
            <a:fillRect/>
          </a:stretch>
        </p:blipFill>
        <p:spPr>
          <a:xfrm>
            <a:off x="411480" y="1051560"/>
            <a:ext cx="3834174" cy="4343400"/>
          </a:xfrm>
          <a:prstGeom prst="rect">
            <a:avLst/>
          </a:prstGeom>
        </p:spPr>
      </p:pic>
      <p:sp>
        <p:nvSpPr>
          <p:cNvPr id="6" name="Shape 3"/>
          <p:cNvSpPr/>
          <p:nvPr/>
        </p:nvSpPr>
        <p:spPr>
          <a:xfrm>
            <a:off x="411480" y="1051560"/>
            <a:ext cx="3834174" cy="4343400"/>
          </a:xfrm>
          <a:prstGeom prst="rect">
            <a:avLst/>
          </a:prstGeom>
          <a:ln w="9525">
            <a:solidFill>
              <a:srgbClr val="D1D5DB"/>
            </a:solidFill>
            <a:prstDash val="solid"/>
          </a:ln>
        </p:spPr>
      </p:sp>
      <p:sp>
        <p:nvSpPr>
          <p:cNvPr id="7" name="Text 4"/>
          <p:cNvSpPr/>
          <p:nvPr/>
        </p:nvSpPr>
        <p:spPr>
          <a:xfrm>
            <a:off x="411480" y="5413248"/>
            <a:ext cx="3834174"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a:t>
            </a:r>
            <a:endParaRPr lang="en-US" sz="1000" dirty="0"/>
          </a:p>
        </p:txBody>
      </p:sp>
      <p:sp>
        <p:nvSpPr>
          <p:cNvPr id="8" name="Shape 5"/>
          <p:cNvSpPr/>
          <p:nvPr/>
        </p:nvSpPr>
        <p:spPr>
          <a:xfrm>
            <a:off x="726020" y="1479261"/>
            <a:ext cx="3185125" cy="708888"/>
          </a:xfrm>
          <a:prstGeom prst="rect">
            <a:avLst/>
          </a:prstGeom>
          <a:ln w="28575">
            <a:solidFill>
              <a:srgbClr val="E11D2E"/>
            </a:solidFill>
            <a:prstDash val="solid"/>
          </a:ln>
        </p:spPr>
      </p:sp>
      <p:sp>
        <p:nvSpPr>
          <p:cNvPr id="9" name="Shape 6"/>
          <p:cNvSpPr/>
          <p:nvPr/>
        </p:nvSpPr>
        <p:spPr>
          <a:xfrm>
            <a:off x="433412" y="1696545"/>
            <a:ext cx="274320" cy="274320"/>
          </a:xfrm>
          <a:prstGeom prst="ellipse">
            <a:avLst/>
          </a:prstGeom>
          <a:solidFill>
            <a:srgbClr val="E11D2E"/>
          </a:solidFill>
          <a:ln w="15875">
            <a:solidFill>
              <a:srgbClr val="FFFFFF"/>
            </a:solidFill>
            <a:prstDash val="solid"/>
          </a:ln>
        </p:spPr>
      </p:sp>
      <p:sp>
        <p:nvSpPr>
          <p:cNvPr id="10" name="Text 7"/>
          <p:cNvSpPr/>
          <p:nvPr/>
        </p:nvSpPr>
        <p:spPr>
          <a:xfrm>
            <a:off x="433412" y="169654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1" name="Shape 8"/>
          <p:cNvSpPr/>
          <p:nvPr/>
        </p:nvSpPr>
        <p:spPr>
          <a:xfrm>
            <a:off x="726020" y="3639312"/>
            <a:ext cx="1494361" cy="472580"/>
          </a:xfrm>
          <a:prstGeom prst="rect">
            <a:avLst/>
          </a:prstGeom>
          <a:ln w="28575">
            <a:solidFill>
              <a:srgbClr val="E11D2E"/>
            </a:solidFill>
            <a:prstDash val="solid"/>
          </a:ln>
        </p:spPr>
      </p:sp>
      <p:sp>
        <p:nvSpPr>
          <p:cNvPr id="12" name="Shape 9"/>
          <p:cNvSpPr/>
          <p:nvPr/>
        </p:nvSpPr>
        <p:spPr>
          <a:xfrm>
            <a:off x="433412" y="3738442"/>
            <a:ext cx="274320" cy="274320"/>
          </a:xfrm>
          <a:prstGeom prst="ellipse">
            <a:avLst/>
          </a:prstGeom>
          <a:solidFill>
            <a:srgbClr val="E11D2E"/>
          </a:solidFill>
          <a:ln w="15875">
            <a:solidFill>
              <a:srgbClr val="FFFFFF"/>
            </a:solidFill>
            <a:prstDash val="solid"/>
          </a:ln>
        </p:spPr>
      </p:sp>
      <p:sp>
        <p:nvSpPr>
          <p:cNvPr id="13" name="Text 10"/>
          <p:cNvSpPr/>
          <p:nvPr/>
        </p:nvSpPr>
        <p:spPr>
          <a:xfrm>
            <a:off x="433412" y="373844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4" name="Shape 11"/>
          <p:cNvSpPr/>
          <p:nvPr/>
        </p:nvSpPr>
        <p:spPr>
          <a:xfrm>
            <a:off x="3471847" y="4963966"/>
            <a:ext cx="439297" cy="252914"/>
          </a:xfrm>
          <a:prstGeom prst="rect">
            <a:avLst/>
          </a:prstGeom>
          <a:ln w="28575">
            <a:solidFill>
              <a:srgbClr val="E11D2E"/>
            </a:solidFill>
            <a:prstDash val="solid"/>
          </a:ln>
        </p:spPr>
      </p:sp>
      <p:sp>
        <p:nvSpPr>
          <p:cNvPr id="15" name="Shape 12"/>
          <p:cNvSpPr/>
          <p:nvPr/>
        </p:nvSpPr>
        <p:spPr>
          <a:xfrm>
            <a:off x="3179239" y="4953263"/>
            <a:ext cx="274320" cy="274320"/>
          </a:xfrm>
          <a:prstGeom prst="ellipse">
            <a:avLst/>
          </a:prstGeom>
          <a:solidFill>
            <a:srgbClr val="E11D2E"/>
          </a:solidFill>
          <a:ln w="15875">
            <a:solidFill>
              <a:srgbClr val="FFFFFF"/>
            </a:solidFill>
            <a:prstDash val="solid"/>
          </a:ln>
        </p:spPr>
      </p:sp>
      <p:sp>
        <p:nvSpPr>
          <p:cNvPr id="16" name="Text 13"/>
          <p:cNvSpPr/>
          <p:nvPr/>
        </p:nvSpPr>
        <p:spPr>
          <a:xfrm>
            <a:off x="3179239" y="4953263"/>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7" name="Text 14"/>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Run（このフォルダだけ）／Recursive Run（サブフォルダも）を確認</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Run with Parameters は UPGRADE 表示（無料版では使えない）</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一番下の「Run」をクリック</a:t>
            </a:r>
            <a:endParaRPr lang="en-US" sz="1400" dirty="0"/>
          </a:p>
        </p:txBody>
      </p:sp>
      <p:sp>
        <p:nvSpPr>
          <p:cNvPr id="18" name="Shape 15"/>
          <p:cNvSpPr/>
          <p:nvPr/>
        </p:nvSpPr>
        <p:spPr>
          <a:xfrm>
            <a:off x="8275320" y="4206240"/>
            <a:ext cx="3520440" cy="1417320"/>
          </a:xfrm>
          <a:prstGeom prst="rect">
            <a:avLst/>
          </a:prstGeom>
          <a:solidFill>
            <a:srgbClr val="EFF6FF"/>
          </a:solidFill>
          <a:ln w="15875">
            <a:solidFill>
              <a:srgbClr val="1D4ED8"/>
            </a:solidFill>
            <a:prstDash val="solid"/>
          </a:ln>
        </p:spPr>
      </p:sp>
      <p:sp>
        <p:nvSpPr>
          <p:cNvPr id="19" name="Shape 16"/>
          <p:cNvSpPr/>
          <p:nvPr/>
        </p:nvSpPr>
        <p:spPr>
          <a:xfrm>
            <a:off x="8275320" y="4206240"/>
            <a:ext cx="82296" cy="1417320"/>
          </a:xfrm>
          <a:prstGeom prst="rect">
            <a:avLst/>
          </a:prstGeom>
          <a:solidFill>
            <a:srgbClr val="1D4ED8"/>
          </a:solidFill>
          <a:ln w="12700">
            <a:solidFill>
              <a:srgbClr val="1D4ED8"/>
            </a:solidFill>
            <a:prstDash val="solid"/>
          </a:ln>
        </p:spPr>
      </p:sp>
      <p:sp>
        <p:nvSpPr>
          <p:cNvPr id="20" name="Text 17"/>
          <p:cNvSpPr/>
          <p:nvPr/>
        </p:nvSpPr>
        <p:spPr>
          <a:xfrm>
            <a:off x="8439912" y="4251960"/>
            <a:ext cx="3291840" cy="1325880"/>
          </a:xfrm>
          <a:prstGeom prst="rect">
            <a:avLst/>
          </a:prstGeom>
          <a:noFill/>
          <a:ln/>
        </p:spPr>
        <p:txBody>
          <a:bodyPr wrap="square" rtlCol="0" anchor="ctr"/>
          <a:lstStyle/>
          <a:p>
            <a:pPr indent="0" marL="0">
              <a:spcAft>
                <a:spcPts val="200"/>
              </a:spcAft>
              <a:buNone/>
            </a:pPr>
            <a:r>
              <a:rPr lang="en-US" sz="1200" b="1" dirty="0">
                <a:solidFill>
                  <a:srgbClr val="1D4ED8"/>
                </a:solidFill>
                <a:latin typeface="Meiryo UI" pitchFamily="34" charset="0"/>
                <a:ea typeface="Meiryo UI" pitchFamily="34" charset="-122"/>
                <a:cs typeface="Meiryo UI" pitchFamily="34" charset="-120"/>
              </a:rPr>
              <a:t>【ヒント】</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Delay は、リクエストとリクエストの間に入れる待ち時間（ミリ秒）です。練習用 API に負荷をかけないよう、必要なら設定します。</a:t>
            </a:r>
            <a:endParaRPr lang="en-US" sz="12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【手順 3/3】結果を確認し、1 件ずつ開く</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5" name="Image 0" descr="実画面（Bruno v4.2.1、Windows 11、2026-10-09 撮影）">    </p:cNvPr>
          <p:cNvPicPr>
            <a:picLocks noChangeAspect="1"/>
          </p:cNvPicPr>
          <p:nvPr/>
        </p:nvPicPr>
        <p:blipFill>
          <a:blip r:embed="rId1"/>
          <a:stretch>
            <a:fillRect/>
          </a:stretch>
        </p:blipFill>
        <p:spPr>
          <a:xfrm>
            <a:off x="411480" y="1051560"/>
            <a:ext cx="7680960" cy="1675971"/>
          </a:xfrm>
          <a:prstGeom prst="rect">
            <a:avLst/>
          </a:prstGeom>
        </p:spPr>
      </p:pic>
      <p:sp>
        <p:nvSpPr>
          <p:cNvPr id="6" name="Shape 3"/>
          <p:cNvSpPr/>
          <p:nvPr/>
        </p:nvSpPr>
        <p:spPr>
          <a:xfrm>
            <a:off x="411480" y="1051560"/>
            <a:ext cx="7680960" cy="1675971"/>
          </a:xfrm>
          <a:prstGeom prst="rect">
            <a:avLst/>
          </a:prstGeom>
          <a:ln w="9525">
            <a:solidFill>
              <a:srgbClr val="D1D5DB"/>
            </a:solidFill>
            <a:prstDash val="solid"/>
          </a:ln>
        </p:spPr>
      </p:sp>
      <p:sp>
        <p:nvSpPr>
          <p:cNvPr id="7" name="Text 4"/>
          <p:cNvSpPr/>
          <p:nvPr/>
        </p:nvSpPr>
        <p:spPr>
          <a:xfrm>
            <a:off x="411480" y="2745819"/>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a:t>
            </a:r>
            <a:endParaRPr lang="en-US" sz="1000" dirty="0"/>
          </a:p>
        </p:txBody>
      </p:sp>
      <p:sp>
        <p:nvSpPr>
          <p:cNvPr id="8" name="Shape 5"/>
          <p:cNvSpPr/>
          <p:nvPr/>
        </p:nvSpPr>
        <p:spPr>
          <a:xfrm>
            <a:off x="469059" y="1104541"/>
            <a:ext cx="1889570" cy="181413"/>
          </a:xfrm>
          <a:prstGeom prst="rect">
            <a:avLst/>
          </a:prstGeom>
          <a:ln w="28575">
            <a:solidFill>
              <a:srgbClr val="E11D2E"/>
            </a:solidFill>
            <a:prstDash val="solid"/>
          </a:ln>
        </p:spPr>
      </p:sp>
      <p:sp>
        <p:nvSpPr>
          <p:cNvPr id="9" name="Shape 6"/>
          <p:cNvSpPr/>
          <p:nvPr/>
        </p:nvSpPr>
        <p:spPr>
          <a:xfrm>
            <a:off x="176451" y="1058088"/>
            <a:ext cx="274320" cy="274320"/>
          </a:xfrm>
          <a:prstGeom prst="ellipse">
            <a:avLst/>
          </a:prstGeom>
          <a:solidFill>
            <a:srgbClr val="E11D2E"/>
          </a:solidFill>
          <a:ln w="15875">
            <a:solidFill>
              <a:srgbClr val="FFFFFF"/>
            </a:solidFill>
            <a:prstDash val="solid"/>
          </a:ln>
        </p:spPr>
      </p:sp>
      <p:sp>
        <p:nvSpPr>
          <p:cNvPr id="10" name="Text 7"/>
          <p:cNvSpPr/>
          <p:nvPr/>
        </p:nvSpPr>
        <p:spPr>
          <a:xfrm>
            <a:off x="176451" y="105808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1" name="Shape 8"/>
          <p:cNvSpPr/>
          <p:nvPr/>
        </p:nvSpPr>
        <p:spPr>
          <a:xfrm>
            <a:off x="1496712" y="1408009"/>
            <a:ext cx="291765" cy="112443"/>
          </a:xfrm>
          <a:prstGeom prst="rect">
            <a:avLst/>
          </a:prstGeom>
          <a:ln w="28575">
            <a:solidFill>
              <a:srgbClr val="E11D2E"/>
            </a:solidFill>
            <a:prstDash val="solid"/>
          </a:ln>
        </p:spPr>
      </p:sp>
      <p:sp>
        <p:nvSpPr>
          <p:cNvPr id="12" name="Shape 9"/>
          <p:cNvSpPr/>
          <p:nvPr/>
        </p:nvSpPr>
        <p:spPr>
          <a:xfrm>
            <a:off x="1204104" y="1327071"/>
            <a:ext cx="274320" cy="274320"/>
          </a:xfrm>
          <a:prstGeom prst="ellipse">
            <a:avLst/>
          </a:prstGeom>
          <a:solidFill>
            <a:srgbClr val="E11D2E"/>
          </a:solidFill>
          <a:ln w="15875">
            <a:solidFill>
              <a:srgbClr val="FFFFFF"/>
            </a:solidFill>
            <a:prstDash val="solid"/>
          </a:ln>
        </p:spPr>
      </p:sp>
      <p:sp>
        <p:nvSpPr>
          <p:cNvPr id="13" name="Text 10"/>
          <p:cNvSpPr/>
          <p:nvPr/>
        </p:nvSpPr>
        <p:spPr>
          <a:xfrm>
            <a:off x="1204104" y="1327071"/>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4" name="Shape 11"/>
          <p:cNvSpPr/>
          <p:nvPr/>
        </p:nvSpPr>
        <p:spPr>
          <a:xfrm>
            <a:off x="4303792" y="1364328"/>
            <a:ext cx="3735667" cy="411313"/>
          </a:xfrm>
          <a:prstGeom prst="rect">
            <a:avLst/>
          </a:prstGeom>
          <a:ln w="28575">
            <a:solidFill>
              <a:srgbClr val="E11D2E"/>
            </a:solidFill>
            <a:prstDash val="solid"/>
          </a:ln>
        </p:spPr>
      </p:sp>
      <p:sp>
        <p:nvSpPr>
          <p:cNvPr id="15" name="Shape 12"/>
          <p:cNvSpPr/>
          <p:nvPr/>
        </p:nvSpPr>
        <p:spPr>
          <a:xfrm>
            <a:off x="4011184" y="1432825"/>
            <a:ext cx="274320" cy="274320"/>
          </a:xfrm>
          <a:prstGeom prst="ellipse">
            <a:avLst/>
          </a:prstGeom>
          <a:solidFill>
            <a:srgbClr val="E11D2E"/>
          </a:solidFill>
          <a:ln w="15875">
            <a:solidFill>
              <a:srgbClr val="FFFFFF"/>
            </a:solidFill>
            <a:prstDash val="solid"/>
          </a:ln>
        </p:spPr>
      </p:sp>
      <p:sp>
        <p:nvSpPr>
          <p:cNvPr id="16" name="Text 13"/>
          <p:cNvSpPr/>
          <p:nvPr/>
        </p:nvSpPr>
        <p:spPr>
          <a:xfrm>
            <a:off x="4011184" y="143282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7" name="Text 14"/>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上の Filter で All・Passed・Failed の件数を確認</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各リクエストの「200 - OK」をクリック</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右側にレスポンス・ヘッダー・Timeline・Tests が表示される</a:t>
            </a:r>
            <a:endParaRPr lang="en-US" sz="1400" dirty="0"/>
          </a:p>
        </p:txBody>
      </p:sp>
      <p:sp>
        <p:nvSpPr>
          <p:cNvPr id="18" name="Shape 15"/>
          <p:cNvSpPr/>
          <p:nvPr/>
        </p:nvSpPr>
        <p:spPr>
          <a:xfrm>
            <a:off x="8275320" y="4206240"/>
            <a:ext cx="3520440" cy="1417320"/>
          </a:xfrm>
          <a:prstGeom prst="rect">
            <a:avLst/>
          </a:prstGeom>
          <a:solidFill>
            <a:srgbClr val="EFF6FF"/>
          </a:solidFill>
          <a:ln w="15875">
            <a:solidFill>
              <a:srgbClr val="1D4ED8"/>
            </a:solidFill>
            <a:prstDash val="solid"/>
          </a:ln>
        </p:spPr>
      </p:sp>
      <p:sp>
        <p:nvSpPr>
          <p:cNvPr id="19" name="Shape 16"/>
          <p:cNvSpPr/>
          <p:nvPr/>
        </p:nvSpPr>
        <p:spPr>
          <a:xfrm>
            <a:off x="8275320" y="4206240"/>
            <a:ext cx="82296" cy="1417320"/>
          </a:xfrm>
          <a:prstGeom prst="rect">
            <a:avLst/>
          </a:prstGeom>
          <a:solidFill>
            <a:srgbClr val="1D4ED8"/>
          </a:solidFill>
          <a:ln w="12700">
            <a:solidFill>
              <a:srgbClr val="1D4ED8"/>
            </a:solidFill>
            <a:prstDash val="solid"/>
          </a:ln>
        </p:spPr>
      </p:sp>
      <p:sp>
        <p:nvSpPr>
          <p:cNvPr id="20" name="Text 17"/>
          <p:cNvSpPr/>
          <p:nvPr/>
        </p:nvSpPr>
        <p:spPr>
          <a:xfrm>
            <a:off x="8439912" y="4251960"/>
            <a:ext cx="3291840" cy="1325880"/>
          </a:xfrm>
          <a:prstGeom prst="rect">
            <a:avLst/>
          </a:prstGeom>
          <a:noFill/>
          <a:ln/>
        </p:spPr>
        <p:txBody>
          <a:bodyPr wrap="square" rtlCol="0" anchor="ctr"/>
          <a:lstStyle/>
          <a:p>
            <a:pPr indent="0" marL="0">
              <a:spcAft>
                <a:spcPts val="200"/>
              </a:spcAft>
              <a:buNone/>
            </a:pPr>
            <a:r>
              <a:rPr lang="en-US" sz="1200" b="1" dirty="0">
                <a:solidFill>
                  <a:srgbClr val="1D4ED8"/>
                </a:solidFill>
                <a:latin typeface="Meiryo UI" pitchFamily="34" charset="0"/>
                <a:ea typeface="Meiryo UI" pitchFamily="34" charset="-122"/>
                <a:cs typeface="Meiryo UI" pitchFamily="34" charset="-120"/>
              </a:rPr>
              <a:t>【ヒント】</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Run Again で再実行、Reset で結果を消去します。Download Report は有料版の機能です（公式料金表）。</a:t>
            </a:r>
            <a:endParaRPr lang="en-US" sz="12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CLI（コマンドでの実行）とは・インストール</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5" name="Text 3"/>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出典：https://docs.usebruno.com/bru-cli/installation ／ https://docs.usebruno.com/bru-cli/overview</a:t>
            </a:r>
            <a:endParaRPr lang="en-US" sz="1000" dirty="0"/>
          </a:p>
        </p:txBody>
      </p:sp>
      <p:sp>
        <p:nvSpPr>
          <p:cNvPr id="6" name="Text 4"/>
          <p:cNvSpPr/>
          <p:nvPr/>
        </p:nvSpPr>
        <p:spPr>
          <a:xfrm>
            <a:off x="548640" y="1097280"/>
            <a:ext cx="11064240" cy="685800"/>
          </a:xfrm>
          <a:prstGeom prst="rect">
            <a:avLst/>
          </a:prstGeom>
          <a:noFill/>
          <a:ln/>
        </p:spPr>
        <p:txBody>
          <a:bodyPr wrap="square" lIns="50800" tIns="50800" rIns="50800" bIns="50800" rtlCol="0" anchor="t"/>
          <a:lstStyle/>
          <a:p>
            <a:pPr algn="l" indent="0" marL="0">
              <a:buNone/>
            </a:pPr>
            <a:r>
              <a:rPr lang="en-US" sz="1600" dirty="0">
                <a:solidFill>
                  <a:srgbClr val="1F2937"/>
                </a:solidFill>
                <a:latin typeface="Meiryo UI" pitchFamily="34" charset="0"/>
                <a:ea typeface="Meiryo UI" pitchFamily="34" charset="-122"/>
                <a:cs typeface="Meiryo UI" pitchFamily="34" charset="-120"/>
              </a:rPr>
              <a:t>CLI（Command Line Interface）は、画面を使わずにコマンドで操作する方法です。Bruno CLI を使うと、コレクションを bru コマンドで実行できます。</a:t>
            </a:r>
            <a:endParaRPr lang="en-US" sz="1600" dirty="0"/>
          </a:p>
        </p:txBody>
      </p:sp>
      <p:sp>
        <p:nvSpPr>
          <p:cNvPr id="7" name="Text 5"/>
          <p:cNvSpPr/>
          <p:nvPr/>
        </p:nvSpPr>
        <p:spPr>
          <a:xfrm>
            <a:off x="548640" y="1920240"/>
            <a:ext cx="11064240" cy="1280160"/>
          </a:xfrm>
          <a:prstGeom prst="rect">
            <a:avLst/>
          </a:prstGeom>
          <a:noFill/>
          <a:ln/>
        </p:spPr>
        <p:txBody>
          <a:bodyPr wrap="square" rtlCol="0" anchor="t"/>
          <a:lstStyle/>
          <a:p>
            <a:pPr indent="0" marL="0">
              <a:spcAft>
                <a:spcPts val="700"/>
              </a:spcAft>
              <a:buNone/>
            </a:pPr>
            <a:r>
              <a:rPr lang="en-US" sz="15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500" dirty="0">
                <a:solidFill>
                  <a:srgbClr val="1F2937"/>
                </a:solidFill>
                <a:latin typeface="Meiryo UI" pitchFamily="34" charset="0"/>
                <a:ea typeface="Meiryo UI" pitchFamily="34" charset="-122"/>
                <a:cs typeface="Meiryo UI" pitchFamily="34" charset="-120"/>
              </a:rPr>
              <a:t>Node.js（LTS 版）を https://nodejs.org/ からインストールする</a:t>
            </a:r>
            <a:endParaRPr lang="en-US" sz="1500" dirty="0"/>
          </a:p>
          <a:p>
            <a:pPr indent="0" marL="0">
              <a:spcAft>
                <a:spcPts val="700"/>
              </a:spcAft>
              <a:buNone/>
            </a:pPr>
            <a:r>
              <a:rPr lang="en-US" sz="15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500" dirty="0">
                <a:solidFill>
                  <a:srgbClr val="1F2937"/>
                </a:solidFill>
                <a:latin typeface="Meiryo UI" pitchFamily="34" charset="0"/>
                <a:ea typeface="Meiryo UI" pitchFamily="34" charset="-122"/>
                <a:cs typeface="Meiryo UI" pitchFamily="34" charset="-120"/>
              </a:rPr>
              <a:t>ターミナルで次のコマンドを実行する</a:t>
            </a:r>
            <a:endParaRPr lang="en-US" sz="1500" dirty="0"/>
          </a:p>
          <a:p>
            <a:pPr indent="0" marL="0">
              <a:spcAft>
                <a:spcPts val="700"/>
              </a:spcAft>
              <a:buNone/>
            </a:pPr>
            <a:r>
              <a:rPr lang="en-US" sz="15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500" dirty="0">
                <a:solidFill>
                  <a:srgbClr val="1F2937"/>
                </a:solidFill>
                <a:latin typeface="Meiryo UI" pitchFamily="34" charset="0"/>
                <a:ea typeface="Meiryo UI" pitchFamily="34" charset="-122"/>
                <a:cs typeface="Meiryo UI" pitchFamily="34" charset="-120"/>
              </a:rPr>
              <a:t>bru --version でバージョン（4.2.1）が表示されれば完了</a:t>
            </a:r>
            <a:endParaRPr lang="en-US" sz="1500" dirty="0"/>
          </a:p>
        </p:txBody>
      </p:sp>
      <p:sp>
        <p:nvSpPr>
          <p:cNvPr id="8" name="Text 6"/>
          <p:cNvSpPr/>
          <p:nvPr/>
        </p:nvSpPr>
        <p:spPr>
          <a:xfrm>
            <a:off x="548640" y="3291840"/>
            <a:ext cx="5943600" cy="86868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600" dirty="0">
                <a:solidFill>
                  <a:srgbClr val="111827"/>
                </a:solidFill>
                <a:latin typeface="Consolas" pitchFamily="34" charset="0"/>
                <a:ea typeface="Consolas" pitchFamily="34" charset="-122"/>
                <a:cs typeface="Consolas" pitchFamily="34" charset="-120"/>
              </a:rPr>
              <a:t>npm install -g @usebruno/cli</a:t>
            </a:r>
            <a:endParaRPr lang="en-US" sz="1600" dirty="0"/>
          </a:p>
          <a:p>
            <a:pPr indent="0" marL="0">
              <a:buNone/>
            </a:pPr>
            <a:r>
              <a:rPr lang="en-US" sz="1600" dirty="0">
                <a:solidFill>
                  <a:srgbClr val="111827"/>
                </a:solidFill>
                <a:latin typeface="Consolas" pitchFamily="34" charset="0"/>
                <a:ea typeface="Consolas" pitchFamily="34" charset="-122"/>
                <a:cs typeface="Consolas" pitchFamily="34" charset="-120"/>
              </a:rPr>
              <a:t>bru --version</a:t>
            </a:r>
            <a:endParaRPr lang="en-US" sz="1600" dirty="0"/>
          </a:p>
        </p:txBody>
      </p:sp>
      <p:sp>
        <p:nvSpPr>
          <p:cNvPr id="9" name="Shape 7"/>
          <p:cNvSpPr/>
          <p:nvPr/>
        </p:nvSpPr>
        <p:spPr>
          <a:xfrm>
            <a:off x="548640" y="4389120"/>
            <a:ext cx="11064240" cy="1005840"/>
          </a:xfrm>
          <a:prstGeom prst="rect">
            <a:avLst/>
          </a:prstGeom>
          <a:solidFill>
            <a:srgbClr val="FEF2F2"/>
          </a:solidFill>
          <a:ln w="15875">
            <a:solidFill>
              <a:srgbClr val="B91C1C"/>
            </a:solidFill>
            <a:prstDash val="solid"/>
          </a:ln>
        </p:spPr>
      </p:sp>
      <p:sp>
        <p:nvSpPr>
          <p:cNvPr id="10" name="Shape 8"/>
          <p:cNvSpPr/>
          <p:nvPr/>
        </p:nvSpPr>
        <p:spPr>
          <a:xfrm>
            <a:off x="548640" y="4389120"/>
            <a:ext cx="82296" cy="1005840"/>
          </a:xfrm>
          <a:prstGeom prst="rect">
            <a:avLst/>
          </a:prstGeom>
          <a:solidFill>
            <a:srgbClr val="B91C1C"/>
          </a:solidFill>
          <a:ln w="12700">
            <a:solidFill>
              <a:srgbClr val="B91C1C"/>
            </a:solidFill>
            <a:prstDash val="solid"/>
          </a:ln>
        </p:spPr>
      </p:sp>
      <p:sp>
        <p:nvSpPr>
          <p:cNvPr id="11" name="Text 9"/>
          <p:cNvSpPr/>
          <p:nvPr/>
        </p:nvSpPr>
        <p:spPr>
          <a:xfrm>
            <a:off x="713232" y="4434840"/>
            <a:ext cx="10835640" cy="914400"/>
          </a:xfrm>
          <a:prstGeom prst="rect">
            <a:avLst/>
          </a:prstGeom>
          <a:noFill/>
          <a:ln/>
        </p:spPr>
        <p:txBody>
          <a:bodyPr wrap="square" rtlCol="0" anchor="ctr"/>
          <a:lstStyle/>
          <a:p>
            <a:pPr indent="0" marL="0">
              <a:spcAft>
                <a:spcPts val="200"/>
              </a:spcAft>
              <a:buNone/>
            </a:pPr>
            <a:r>
              <a:rPr lang="en-US" sz="1300" b="1" dirty="0">
                <a:solidFill>
                  <a:srgbClr val="B91C1C"/>
                </a:solidFill>
                <a:latin typeface="Meiryo UI" pitchFamily="34" charset="0"/>
                <a:ea typeface="Meiryo UI" pitchFamily="34" charset="-122"/>
                <a:cs typeface="Meiryo UI" pitchFamily="34" charset="-120"/>
              </a:rPr>
              <a:t>【検証状況】</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作成環境では、PC 全体へのインストール（-g）は行わず、作業用フォルダにインストールして bru 4.2.1 の動作を確認しました。会社の PC ではインストールの可否を確認してください。</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9-E　CLI（コマンド）で実行する（手順）</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5" name="Text 3"/>
          <p:cNvSpPr/>
          <p:nvPr/>
        </p:nvSpPr>
        <p:spPr>
          <a:xfrm>
            <a:off x="548640" y="1188720"/>
            <a:ext cx="10972800" cy="411480"/>
          </a:xfrm>
          <a:prstGeom prst="rect">
            <a:avLst/>
          </a:prstGeom>
          <a:noFill/>
          <a:ln/>
        </p:spPr>
        <p:txBody>
          <a:bodyPr wrap="square" lIns="50800" tIns="50800" rIns="50800" bIns="50800" rtlCol="0" anchor="t"/>
          <a:lstStyle/>
          <a:p>
            <a:pPr algn="l" indent="0" marL="0">
              <a:buNone/>
            </a:pPr>
            <a:r>
              <a:rPr lang="en-US" sz="1800" b="1" dirty="0">
                <a:solidFill>
                  <a:srgbClr val="D97706"/>
                </a:solidFill>
                <a:latin typeface="Meiryo UI" pitchFamily="34" charset="0"/>
                <a:ea typeface="Meiryo UI" pitchFamily="34" charset="-122"/>
                <a:cs typeface="Meiryo UI" pitchFamily="34" charset="-120"/>
              </a:rPr>
              <a:t>この節で行うこと</a:t>
            </a:r>
            <a:endParaRPr lang="en-US" sz="1800" dirty="0"/>
          </a:p>
        </p:txBody>
      </p:sp>
      <p:sp>
        <p:nvSpPr>
          <p:cNvPr id="6" name="Text 4"/>
          <p:cNvSpPr/>
          <p:nvPr/>
        </p:nvSpPr>
        <p:spPr>
          <a:xfrm>
            <a:off x="548640" y="1691640"/>
            <a:ext cx="11064240" cy="3291840"/>
          </a:xfrm>
          <a:prstGeom prst="rect">
            <a:avLst/>
          </a:prstGeom>
          <a:noFill/>
          <a:ln/>
        </p:spPr>
        <p:txBody>
          <a:bodyPr wrap="square" rtlCol="0" anchor="t"/>
          <a:lstStyle/>
          <a:p>
            <a:pPr indent="0" marL="0">
              <a:spcAft>
                <a:spcPts val="1200"/>
              </a:spcAft>
              <a:buNone/>
            </a:pPr>
            <a:r>
              <a:rPr lang="en-US" sz="1800" b="1" dirty="0">
                <a:solidFill>
                  <a:srgbClr val="E11D2E"/>
                </a:solidFill>
                <a:latin typeface="Meiryo UI" pitchFamily="34" charset="0"/>
                <a:ea typeface="Meiryo UI" pitchFamily="34" charset="-122"/>
                <a:cs typeface="Meiryo UI" pitchFamily="34" charset="-120"/>
              </a:rPr>
              <a:t>① </a:t>
            </a:r>
            <a:pPr indent="0" marL="0">
              <a:spcAft>
                <a:spcPts val="1200"/>
              </a:spcAft>
              <a:buNone/>
            </a:pPr>
            <a:r>
              <a:rPr lang="en-US" sz="1800" dirty="0">
                <a:solidFill>
                  <a:srgbClr val="1F2937"/>
                </a:solidFill>
                <a:latin typeface="Meiryo UI" pitchFamily="34" charset="0"/>
                <a:ea typeface="Meiryo UI" pitchFamily="34" charset="-122"/>
                <a:cs typeface="Meiryo UI" pitchFamily="34" charset="-120"/>
              </a:rPr>
              <a:t>Node.js を用意する</a:t>
            </a:r>
            <a:endParaRPr lang="en-US" sz="1800" dirty="0"/>
          </a:p>
          <a:p>
            <a:pPr indent="0" marL="0">
              <a:spcAft>
                <a:spcPts val="1200"/>
              </a:spcAft>
              <a:buNone/>
            </a:pPr>
            <a:r>
              <a:rPr lang="en-US" sz="1800" b="1" dirty="0">
                <a:solidFill>
                  <a:srgbClr val="E11D2E"/>
                </a:solidFill>
                <a:latin typeface="Meiryo UI" pitchFamily="34" charset="0"/>
                <a:ea typeface="Meiryo UI" pitchFamily="34" charset="-122"/>
                <a:cs typeface="Meiryo UI" pitchFamily="34" charset="-120"/>
              </a:rPr>
              <a:t>② </a:t>
            </a:r>
            <a:pPr indent="0" marL="0">
              <a:spcAft>
                <a:spcPts val="1200"/>
              </a:spcAft>
              <a:buNone/>
            </a:pPr>
            <a:r>
              <a:rPr lang="en-US" sz="1800" dirty="0">
                <a:solidFill>
                  <a:srgbClr val="1F2937"/>
                </a:solidFill>
                <a:latin typeface="Meiryo UI" pitchFamily="34" charset="0"/>
                <a:ea typeface="Meiryo UI" pitchFamily="34" charset="-122"/>
                <a:cs typeface="Meiryo UI" pitchFamily="34" charset="-120"/>
              </a:rPr>
              <a:t>Bruno CLI をインストールする</a:t>
            </a:r>
            <a:endParaRPr lang="en-US" sz="1800" dirty="0"/>
          </a:p>
          <a:p>
            <a:pPr indent="0" marL="0">
              <a:spcAft>
                <a:spcPts val="1200"/>
              </a:spcAft>
              <a:buNone/>
            </a:pPr>
            <a:r>
              <a:rPr lang="en-US" sz="1800" b="1" dirty="0">
                <a:solidFill>
                  <a:srgbClr val="E11D2E"/>
                </a:solidFill>
                <a:latin typeface="Meiryo UI" pitchFamily="34" charset="0"/>
                <a:ea typeface="Meiryo UI" pitchFamily="34" charset="-122"/>
                <a:cs typeface="Meiryo UI" pitchFamily="34" charset="-120"/>
              </a:rPr>
              <a:t>③ </a:t>
            </a:r>
            <a:pPr indent="0" marL="0">
              <a:spcAft>
                <a:spcPts val="1200"/>
              </a:spcAft>
              <a:buNone/>
            </a:pPr>
            <a:r>
              <a:rPr lang="en-US" sz="1800" dirty="0">
                <a:solidFill>
                  <a:srgbClr val="1F2937"/>
                </a:solidFill>
                <a:latin typeface="Meiryo UI" pitchFamily="34" charset="0"/>
                <a:ea typeface="Meiryo UI" pitchFamily="34" charset="-122"/>
                <a:cs typeface="Meiryo UI" pitchFamily="34" charset="-120"/>
              </a:rPr>
              <a:t>ターミナルでコレクションのフォルダに移動して実行する</a:t>
            </a:r>
            <a:endParaRPr lang="en-US" sz="1800" dirty="0"/>
          </a:p>
          <a:p>
            <a:pPr indent="0" marL="0">
              <a:spcAft>
                <a:spcPts val="1200"/>
              </a:spcAft>
              <a:buNone/>
            </a:pPr>
            <a:r>
              <a:rPr lang="en-US" sz="1800" b="1" dirty="0">
                <a:solidFill>
                  <a:srgbClr val="E11D2E"/>
                </a:solidFill>
                <a:latin typeface="Meiryo UI" pitchFamily="34" charset="0"/>
                <a:ea typeface="Meiryo UI" pitchFamily="34" charset="-122"/>
                <a:cs typeface="Meiryo UI" pitchFamily="34" charset="-120"/>
              </a:rPr>
              <a:t>④ </a:t>
            </a:r>
            <a:pPr indent="0" marL="0">
              <a:spcAft>
                <a:spcPts val="1200"/>
              </a:spcAft>
              <a:buNone/>
            </a:pPr>
            <a:r>
              <a:rPr lang="en-US" sz="1800" dirty="0">
                <a:solidFill>
                  <a:srgbClr val="1F2937"/>
                </a:solidFill>
                <a:latin typeface="Meiryo UI" pitchFamily="34" charset="0"/>
                <a:ea typeface="Meiryo UI" pitchFamily="34" charset="-122"/>
                <a:cs typeface="Meiryo UI" pitchFamily="34" charset="-120"/>
              </a:rPr>
              <a:t>HTML レポートを作る</a:t>
            </a:r>
            <a:endParaRPr lang="en-US" sz="18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【手順 1/4】Node.js を用意する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5" name="Text 3"/>
          <p:cNvSpPr/>
          <p:nvPr/>
        </p:nvSpPr>
        <p:spPr>
          <a:xfrm>
            <a:off x="548640" y="1188720"/>
            <a:ext cx="11064240" cy="1737360"/>
          </a:xfrm>
          <a:prstGeom prst="rect">
            <a:avLst/>
          </a:prstGeom>
          <a:noFill/>
          <a:ln/>
        </p:spPr>
        <p:txBody>
          <a:bodyPr wrap="square" rtlCol="0" anchor="t"/>
          <a:lstStyle/>
          <a:p>
            <a:pPr indent="0" marL="0">
              <a:spcAft>
                <a:spcPts val="1000"/>
              </a:spcAft>
              <a:buNone/>
            </a:pPr>
            <a:r>
              <a:rPr lang="en-US" sz="1600" b="1" dirty="0">
                <a:solidFill>
                  <a:srgbClr val="E11D2E"/>
                </a:solidFill>
                <a:latin typeface="Meiryo UI" pitchFamily="34" charset="0"/>
                <a:ea typeface="Meiryo UI" pitchFamily="34" charset="-122"/>
                <a:cs typeface="Meiryo UI" pitchFamily="34" charset="-120"/>
              </a:rPr>
              <a:t>① </a:t>
            </a:r>
            <a:pPr indent="0" marL="0">
              <a:spcAft>
                <a:spcPts val="1000"/>
              </a:spcAft>
              <a:buNone/>
            </a:pPr>
            <a:r>
              <a:rPr lang="en-US" sz="1600" dirty="0">
                <a:solidFill>
                  <a:srgbClr val="1F2937"/>
                </a:solidFill>
                <a:latin typeface="Meiryo UI" pitchFamily="34" charset="0"/>
                <a:ea typeface="Meiryo UI" pitchFamily="34" charset="-122"/>
                <a:cs typeface="Meiryo UI" pitchFamily="34" charset="-120"/>
              </a:rPr>
              <a:t>ブラウザで https://nodejs.org/ を開き、LTS（推奨版）をダウンロードしてインストール</a:t>
            </a:r>
            <a:endParaRPr lang="en-US" sz="1600" dirty="0"/>
          </a:p>
          <a:p>
            <a:pPr indent="0" marL="0">
              <a:spcAft>
                <a:spcPts val="1000"/>
              </a:spcAft>
              <a:buNone/>
            </a:pPr>
            <a:r>
              <a:rPr lang="en-US" sz="1600" b="1" dirty="0">
                <a:solidFill>
                  <a:srgbClr val="E11D2E"/>
                </a:solidFill>
                <a:latin typeface="Meiryo UI" pitchFamily="34" charset="0"/>
                <a:ea typeface="Meiryo UI" pitchFamily="34" charset="-122"/>
                <a:cs typeface="Meiryo UI" pitchFamily="34" charset="-120"/>
              </a:rPr>
              <a:t>② </a:t>
            </a:r>
            <a:pPr indent="0" marL="0">
              <a:spcAft>
                <a:spcPts val="1000"/>
              </a:spcAft>
              <a:buNone/>
            </a:pPr>
            <a:r>
              <a:rPr lang="en-US" sz="1600" dirty="0">
                <a:solidFill>
                  <a:srgbClr val="1F2937"/>
                </a:solidFill>
                <a:latin typeface="Meiryo UI" pitchFamily="34" charset="0"/>
                <a:ea typeface="Meiryo UI" pitchFamily="34" charset="-122"/>
                <a:cs typeface="Meiryo UI" pitchFamily="34" charset="-120"/>
              </a:rPr>
              <a:t>スタートボタンを右クリック →「ターミナル」を開く</a:t>
            </a:r>
            <a:endParaRPr lang="en-US" sz="1600" dirty="0"/>
          </a:p>
          <a:p>
            <a:pPr indent="0" marL="0">
              <a:spcAft>
                <a:spcPts val="1000"/>
              </a:spcAft>
              <a:buNone/>
            </a:pPr>
            <a:r>
              <a:rPr lang="en-US" sz="1600" b="1" dirty="0">
                <a:solidFill>
                  <a:srgbClr val="E11D2E"/>
                </a:solidFill>
                <a:latin typeface="Meiryo UI" pitchFamily="34" charset="0"/>
                <a:ea typeface="Meiryo UI" pitchFamily="34" charset="-122"/>
                <a:cs typeface="Meiryo UI" pitchFamily="34" charset="-120"/>
              </a:rPr>
              <a:t>③ </a:t>
            </a:r>
            <a:pPr indent="0" marL="0">
              <a:spcAft>
                <a:spcPts val="1000"/>
              </a:spcAft>
              <a:buNone/>
            </a:pPr>
            <a:r>
              <a:rPr lang="en-US" sz="1600" dirty="0">
                <a:solidFill>
                  <a:srgbClr val="1F2937"/>
                </a:solidFill>
                <a:latin typeface="Meiryo UI" pitchFamily="34" charset="0"/>
                <a:ea typeface="Meiryo UI" pitchFamily="34" charset="-122"/>
                <a:cs typeface="Meiryo UI" pitchFamily="34" charset="-120"/>
              </a:rPr>
              <a:t>次のコマンドで、バージョンが表示されることを確認</a:t>
            </a:r>
            <a:endParaRPr lang="en-US" sz="1600" dirty="0"/>
          </a:p>
        </p:txBody>
      </p:sp>
      <p:sp>
        <p:nvSpPr>
          <p:cNvPr id="6" name="Text 4"/>
          <p:cNvSpPr/>
          <p:nvPr/>
        </p:nvSpPr>
        <p:spPr>
          <a:xfrm>
            <a:off x="548640" y="3108960"/>
            <a:ext cx="4572000" cy="86868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800" dirty="0">
                <a:solidFill>
                  <a:srgbClr val="111827"/>
                </a:solidFill>
                <a:latin typeface="Consolas" pitchFamily="34" charset="0"/>
                <a:ea typeface="Consolas" pitchFamily="34" charset="-122"/>
                <a:cs typeface="Consolas" pitchFamily="34" charset="-120"/>
              </a:rPr>
              <a:t>node -v</a:t>
            </a:r>
            <a:endParaRPr lang="en-US" sz="1800" dirty="0"/>
          </a:p>
          <a:p>
            <a:pPr indent="0" marL="0">
              <a:buNone/>
            </a:pPr>
            <a:r>
              <a:rPr lang="en-US" sz="1800" dirty="0">
                <a:solidFill>
                  <a:srgbClr val="111827"/>
                </a:solidFill>
                <a:latin typeface="Consolas" pitchFamily="34" charset="0"/>
                <a:ea typeface="Consolas" pitchFamily="34" charset="-122"/>
                <a:cs typeface="Consolas" pitchFamily="34" charset="-120"/>
              </a:rPr>
              <a:t>npm -v</a:t>
            </a:r>
            <a:endParaRPr lang="en-US" sz="1800" dirty="0"/>
          </a:p>
        </p:txBody>
      </p:sp>
      <p:sp>
        <p:nvSpPr>
          <p:cNvPr id="7" name="Text 5"/>
          <p:cNvSpPr/>
          <p:nvPr/>
        </p:nvSpPr>
        <p:spPr>
          <a:xfrm>
            <a:off x="5486400" y="3108960"/>
            <a:ext cx="4572000" cy="86868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800" dirty="0">
                <a:solidFill>
                  <a:srgbClr val="111827"/>
                </a:solidFill>
                <a:latin typeface="Consolas" pitchFamily="34" charset="0"/>
                <a:ea typeface="Consolas" pitchFamily="34" charset="-122"/>
                <a:cs typeface="Consolas" pitchFamily="34" charset="-120"/>
              </a:rPr>
              <a:t>v24.21.0</a:t>
            </a:r>
            <a:endParaRPr lang="en-US" sz="1800" dirty="0"/>
          </a:p>
          <a:p>
            <a:pPr indent="0" marL="0">
              <a:buNone/>
            </a:pPr>
            <a:r>
              <a:rPr lang="en-US" sz="1800" dirty="0">
                <a:solidFill>
                  <a:srgbClr val="111827"/>
                </a:solidFill>
                <a:latin typeface="Consolas" pitchFamily="34" charset="0"/>
                <a:ea typeface="Consolas" pitchFamily="34" charset="-122"/>
                <a:cs typeface="Consolas" pitchFamily="34" charset="-120"/>
              </a:rPr>
              <a:t>12.2.0</a:t>
            </a:r>
            <a:endParaRPr lang="en-US" sz="1800" dirty="0"/>
          </a:p>
        </p:txBody>
      </p:sp>
      <p:sp>
        <p:nvSpPr>
          <p:cNvPr id="8" name="Text 6"/>
          <p:cNvSpPr/>
          <p:nvPr/>
        </p:nvSpPr>
        <p:spPr>
          <a:xfrm>
            <a:off x="5486400" y="2834640"/>
            <a:ext cx="457200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作成環境での表示（2026-10-09）</a:t>
            </a:r>
            <a:endParaRPr lang="en-US" sz="1100" dirty="0"/>
          </a:p>
        </p:txBody>
      </p:sp>
      <p:sp>
        <p:nvSpPr>
          <p:cNvPr id="9" name="Shape 7"/>
          <p:cNvSpPr/>
          <p:nvPr/>
        </p:nvSpPr>
        <p:spPr>
          <a:xfrm>
            <a:off x="548640" y="4343400"/>
            <a:ext cx="11064240" cy="914400"/>
          </a:xfrm>
          <a:prstGeom prst="rect">
            <a:avLst/>
          </a:prstGeom>
          <a:solidFill>
            <a:srgbClr val="FEF2F2"/>
          </a:solidFill>
          <a:ln w="15875">
            <a:solidFill>
              <a:srgbClr val="B91C1C"/>
            </a:solidFill>
            <a:prstDash val="solid"/>
          </a:ln>
        </p:spPr>
      </p:sp>
      <p:sp>
        <p:nvSpPr>
          <p:cNvPr id="10" name="Shape 8"/>
          <p:cNvSpPr/>
          <p:nvPr/>
        </p:nvSpPr>
        <p:spPr>
          <a:xfrm>
            <a:off x="548640" y="4343400"/>
            <a:ext cx="82296" cy="914400"/>
          </a:xfrm>
          <a:prstGeom prst="rect">
            <a:avLst/>
          </a:prstGeom>
          <a:solidFill>
            <a:srgbClr val="B91C1C"/>
          </a:solidFill>
          <a:ln w="12700">
            <a:solidFill>
              <a:srgbClr val="B91C1C"/>
            </a:solidFill>
            <a:prstDash val="solid"/>
          </a:ln>
        </p:spPr>
      </p:sp>
      <p:sp>
        <p:nvSpPr>
          <p:cNvPr id="11" name="Text 9"/>
          <p:cNvSpPr/>
          <p:nvPr/>
        </p:nvSpPr>
        <p:spPr>
          <a:xfrm>
            <a:off x="713232" y="4389120"/>
            <a:ext cx="10835640" cy="822960"/>
          </a:xfrm>
          <a:prstGeom prst="rect">
            <a:avLst/>
          </a:prstGeom>
          <a:noFill/>
          <a:ln/>
        </p:spPr>
        <p:txBody>
          <a:bodyPr wrap="square" rtlCol="0" anchor="ctr"/>
          <a:lstStyle/>
          <a:p>
            <a:pPr indent="0" marL="0">
              <a:spcAft>
                <a:spcPts val="200"/>
              </a:spcAft>
              <a:buNone/>
            </a:pPr>
            <a:r>
              <a:rPr lang="en-US" sz="1300" b="1" dirty="0">
                <a:solidFill>
                  <a:srgbClr val="B91C1C"/>
                </a:solidFill>
                <a:latin typeface="Meiryo UI" pitchFamily="34" charset="0"/>
                <a:ea typeface="Meiryo UI" pitchFamily="34" charset="-122"/>
                <a:cs typeface="Meiryo UI" pitchFamily="34" charset="-120"/>
              </a:rPr>
              <a:t>【検証状況】</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Node.js のインストール手順そのものは、作成環境では実行していません（作成環境には既にインストール済み）。会社の PC ではインストールの可否を確認してください。</a:t>
            </a:r>
            <a:endParaRPr lang="en-US" sz="1300" dirty="0"/>
          </a:p>
        </p:txBody>
      </p:sp>
      <p:sp>
        <p:nvSpPr>
          <p:cNvPr id="12" name="Shape 10"/>
          <p:cNvSpPr/>
          <p:nvPr/>
        </p:nvSpPr>
        <p:spPr>
          <a:xfrm>
            <a:off x="548640" y="5788152"/>
            <a:ext cx="11064240" cy="329184"/>
          </a:xfrm>
          <a:prstGeom prst="rect">
            <a:avLst/>
          </a:prstGeom>
          <a:solidFill>
            <a:srgbClr val="ECFDF5"/>
          </a:solidFill>
          <a:ln w="12700">
            <a:solidFill>
              <a:srgbClr val="047857"/>
            </a:solidFill>
            <a:prstDash val="solid"/>
          </a:ln>
        </p:spPr>
      </p:sp>
      <p:sp>
        <p:nvSpPr>
          <p:cNvPr id="13" name="Text 11"/>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CLI を使えない場合は、9-D の Collection Runner（画面）で同じ実行ができます</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【手順 2/4】Bruno CLI をインストールする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5" name="Text 3"/>
          <p:cNvSpPr/>
          <p:nvPr/>
        </p:nvSpPr>
        <p:spPr>
          <a:xfrm>
            <a:off x="548640" y="1188720"/>
            <a:ext cx="11064240" cy="1097280"/>
          </a:xfrm>
          <a:prstGeom prst="rect">
            <a:avLst/>
          </a:prstGeom>
          <a:noFill/>
          <a:ln/>
        </p:spPr>
        <p:txBody>
          <a:bodyPr wrap="square" rtlCol="0" anchor="t"/>
          <a:lstStyle/>
          <a:p>
            <a:pPr indent="0" marL="0">
              <a:spcAft>
                <a:spcPts val="1000"/>
              </a:spcAft>
              <a:buNone/>
            </a:pPr>
            <a:r>
              <a:rPr lang="en-US" sz="1600" b="1" dirty="0">
                <a:solidFill>
                  <a:srgbClr val="E11D2E"/>
                </a:solidFill>
                <a:latin typeface="Meiryo UI" pitchFamily="34" charset="0"/>
                <a:ea typeface="Meiryo UI" pitchFamily="34" charset="-122"/>
                <a:cs typeface="Meiryo UI" pitchFamily="34" charset="-120"/>
              </a:rPr>
              <a:t>① </a:t>
            </a:r>
            <a:pPr indent="0" marL="0">
              <a:spcAft>
                <a:spcPts val="1000"/>
              </a:spcAft>
              <a:buNone/>
            </a:pPr>
            <a:r>
              <a:rPr lang="en-US" sz="1600" dirty="0">
                <a:solidFill>
                  <a:srgbClr val="1F2937"/>
                </a:solidFill>
                <a:latin typeface="Meiryo UI" pitchFamily="34" charset="0"/>
                <a:ea typeface="Meiryo UI" pitchFamily="34" charset="-122"/>
                <a:cs typeface="Meiryo UI" pitchFamily="34" charset="-120"/>
              </a:rPr>
              <a:t>ターミナルで次のコマンドを実行</a:t>
            </a:r>
            <a:endParaRPr lang="en-US" sz="1600" dirty="0"/>
          </a:p>
          <a:p>
            <a:pPr indent="0" marL="0">
              <a:spcAft>
                <a:spcPts val="1000"/>
              </a:spcAft>
              <a:buNone/>
            </a:pPr>
            <a:r>
              <a:rPr lang="en-US" sz="1600" b="1" dirty="0">
                <a:solidFill>
                  <a:srgbClr val="E11D2E"/>
                </a:solidFill>
                <a:latin typeface="Meiryo UI" pitchFamily="34" charset="0"/>
                <a:ea typeface="Meiryo UI" pitchFamily="34" charset="-122"/>
                <a:cs typeface="Meiryo UI" pitchFamily="34" charset="-120"/>
              </a:rPr>
              <a:t>② </a:t>
            </a:r>
            <a:pPr indent="0" marL="0">
              <a:spcAft>
                <a:spcPts val="1000"/>
              </a:spcAft>
              <a:buNone/>
            </a:pPr>
            <a:r>
              <a:rPr lang="en-US" sz="1600" dirty="0">
                <a:solidFill>
                  <a:srgbClr val="1F2937"/>
                </a:solidFill>
                <a:latin typeface="Meiryo UI" pitchFamily="34" charset="0"/>
                <a:ea typeface="Meiryo UI" pitchFamily="34" charset="-122"/>
                <a:cs typeface="Meiryo UI" pitchFamily="34" charset="-120"/>
              </a:rPr>
              <a:t>終わったら bru --version を実行し、4.2.1 などのバージョンが表示されれば完了</a:t>
            </a:r>
            <a:endParaRPr lang="en-US" sz="1600" dirty="0"/>
          </a:p>
        </p:txBody>
      </p:sp>
      <p:sp>
        <p:nvSpPr>
          <p:cNvPr id="6" name="Text 4"/>
          <p:cNvSpPr/>
          <p:nvPr/>
        </p:nvSpPr>
        <p:spPr>
          <a:xfrm>
            <a:off x="548640" y="2468880"/>
            <a:ext cx="6400800" cy="86868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800" dirty="0">
                <a:solidFill>
                  <a:srgbClr val="111827"/>
                </a:solidFill>
                <a:latin typeface="Consolas" pitchFamily="34" charset="0"/>
                <a:ea typeface="Consolas" pitchFamily="34" charset="-122"/>
                <a:cs typeface="Consolas" pitchFamily="34" charset="-120"/>
              </a:rPr>
              <a:t>npm install -g @usebruno/cli</a:t>
            </a:r>
            <a:endParaRPr lang="en-US" sz="1800" dirty="0"/>
          </a:p>
          <a:p>
            <a:pPr indent="0" marL="0">
              <a:buNone/>
            </a:pPr>
            <a:r>
              <a:rPr lang="en-US" sz="1800" dirty="0">
                <a:solidFill>
                  <a:srgbClr val="111827"/>
                </a:solidFill>
                <a:latin typeface="Consolas" pitchFamily="34" charset="0"/>
                <a:ea typeface="Consolas" pitchFamily="34" charset="-122"/>
                <a:cs typeface="Consolas" pitchFamily="34" charset="-120"/>
              </a:rPr>
              <a:t>bru --version</a:t>
            </a:r>
            <a:endParaRPr lang="en-US" sz="1800" dirty="0"/>
          </a:p>
        </p:txBody>
      </p:sp>
      <p:sp>
        <p:nvSpPr>
          <p:cNvPr id="7" name="Shape 5"/>
          <p:cNvSpPr/>
          <p:nvPr/>
        </p:nvSpPr>
        <p:spPr>
          <a:xfrm>
            <a:off x="548640" y="3657600"/>
            <a:ext cx="11064240" cy="822960"/>
          </a:xfrm>
          <a:prstGeom prst="rect">
            <a:avLst/>
          </a:prstGeom>
          <a:solidFill>
            <a:srgbClr val="FEF2F2"/>
          </a:solidFill>
          <a:ln w="15875">
            <a:solidFill>
              <a:srgbClr val="B91C1C"/>
            </a:solidFill>
            <a:prstDash val="solid"/>
          </a:ln>
        </p:spPr>
      </p:sp>
      <p:sp>
        <p:nvSpPr>
          <p:cNvPr id="8" name="Shape 6"/>
          <p:cNvSpPr/>
          <p:nvPr/>
        </p:nvSpPr>
        <p:spPr>
          <a:xfrm>
            <a:off x="548640" y="3657600"/>
            <a:ext cx="82296" cy="822960"/>
          </a:xfrm>
          <a:prstGeom prst="rect">
            <a:avLst/>
          </a:prstGeom>
          <a:solidFill>
            <a:srgbClr val="B91C1C"/>
          </a:solidFill>
          <a:ln w="12700">
            <a:solidFill>
              <a:srgbClr val="B91C1C"/>
            </a:solidFill>
            <a:prstDash val="solid"/>
          </a:ln>
        </p:spPr>
      </p:sp>
      <p:sp>
        <p:nvSpPr>
          <p:cNvPr id="9" name="Text 7"/>
          <p:cNvSpPr/>
          <p:nvPr/>
        </p:nvSpPr>
        <p:spPr>
          <a:xfrm>
            <a:off x="713232" y="3703320"/>
            <a:ext cx="10835640" cy="731520"/>
          </a:xfrm>
          <a:prstGeom prst="rect">
            <a:avLst/>
          </a:prstGeom>
          <a:noFill/>
          <a:ln/>
        </p:spPr>
        <p:txBody>
          <a:bodyPr wrap="square" rtlCol="0" anchor="ctr"/>
          <a:lstStyle/>
          <a:p>
            <a:pPr indent="0" marL="0">
              <a:spcAft>
                <a:spcPts val="200"/>
              </a:spcAft>
              <a:buNone/>
            </a:pPr>
            <a:r>
              <a:rPr lang="en-US" sz="1300" b="1" dirty="0">
                <a:solidFill>
                  <a:srgbClr val="B91C1C"/>
                </a:solidFill>
                <a:latin typeface="Meiryo UI" pitchFamily="34" charset="0"/>
                <a:ea typeface="Meiryo UI" pitchFamily="34" charset="-122"/>
                <a:cs typeface="Meiryo UI" pitchFamily="34" charset="-120"/>
              </a:rPr>
              <a:t>【検証状況】</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作成環境では PC 全体へのインストール（-g）は行わず、作業用フォルダにインストールして bru 4.2.1 の動作を確認しました。</a:t>
            </a:r>
            <a:endParaRPr lang="en-US" sz="1300" dirty="0"/>
          </a:p>
        </p:txBody>
      </p:sp>
      <p:sp>
        <p:nvSpPr>
          <p:cNvPr id="10" name="Text 8"/>
          <p:cNvSpPr/>
          <p:nvPr/>
        </p:nvSpPr>
        <p:spPr>
          <a:xfrm>
            <a:off x="548640" y="4663440"/>
            <a:ext cx="10972800" cy="365760"/>
          </a:xfrm>
          <a:prstGeom prst="rect">
            <a:avLst/>
          </a:prstGeom>
          <a:noFill/>
          <a:ln/>
        </p:spPr>
        <p:txBody>
          <a:bodyPr wrap="square" lIns="50800" tIns="50800" rIns="50800" bIns="50800" rtlCol="0" anchor="t"/>
          <a:lstStyle/>
          <a:p>
            <a:pPr algn="l" indent="0" marL="0">
              <a:buNone/>
            </a:pPr>
            <a:r>
              <a:rPr lang="en-US" sz="1100" dirty="0">
                <a:solidFill>
                  <a:srgbClr val="6B7280"/>
                </a:solidFill>
                <a:latin typeface="Meiryo UI" pitchFamily="34" charset="0"/>
                <a:ea typeface="Meiryo UI" pitchFamily="34" charset="-122"/>
                <a:cs typeface="Meiryo UI" pitchFamily="34" charset="-120"/>
              </a:rPr>
              <a:t>出典：https://docs.usebruno.com/bru-cli/installation</a:t>
            </a:r>
            <a:endParaRPr lang="en-US" sz="1100" dirty="0"/>
          </a:p>
        </p:txBody>
      </p:sp>
      <p:sp>
        <p:nvSpPr>
          <p:cNvPr id="11" name="Shape 9"/>
          <p:cNvSpPr/>
          <p:nvPr/>
        </p:nvSpPr>
        <p:spPr>
          <a:xfrm>
            <a:off x="548640" y="5788152"/>
            <a:ext cx="11064240" cy="329184"/>
          </a:xfrm>
          <a:prstGeom prst="rect">
            <a:avLst/>
          </a:prstGeom>
          <a:solidFill>
            <a:srgbClr val="ECFDF5"/>
          </a:solidFill>
          <a:ln w="12700">
            <a:solidFill>
              <a:srgbClr val="047857"/>
            </a:solidFill>
            <a:prstDash val="solid"/>
          </a:ln>
        </p:spPr>
      </p:sp>
      <p:sp>
        <p:nvSpPr>
          <p:cNvPr id="12" name="Text 10"/>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CLI を使えない場合は、9-D の Collection Runner（画面）で同じ実行ができます</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【操作】CLI でフォルダを実行する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5" name="Text 3"/>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出典：Bruno CLI 4.2.1（@usebruno/cli）で 2026-10-09 に実行して確認（answers/cli-results/）</a:t>
            </a:r>
            <a:endParaRPr lang="en-US" sz="1000" dirty="0"/>
          </a:p>
        </p:txBody>
      </p:sp>
      <p:sp>
        <p:nvSpPr>
          <p:cNvPr id="6" name="Text 4"/>
          <p:cNvSpPr/>
          <p:nvPr/>
        </p:nvSpPr>
        <p:spPr>
          <a:xfrm>
            <a:off x="548640" y="1097280"/>
            <a:ext cx="11064240" cy="822960"/>
          </a:xfrm>
          <a:prstGeom prst="rect">
            <a:avLst/>
          </a:prstGeom>
          <a:noFill/>
          <a:ln/>
        </p:spPr>
        <p:txBody>
          <a:bodyPr wrap="square" rtlCol="0" anchor="t"/>
          <a:lstStyle/>
          <a:p>
            <a:pPr indent="0" marL="0">
              <a:spcAft>
                <a:spcPts val="700"/>
              </a:spcAft>
              <a:buNone/>
            </a:pPr>
            <a:r>
              <a:rPr lang="en-US" sz="15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500" dirty="0">
                <a:solidFill>
                  <a:srgbClr val="1F2937"/>
                </a:solidFill>
                <a:latin typeface="Meiryo UI" pitchFamily="34" charset="0"/>
                <a:ea typeface="Meiryo UI" pitchFamily="34" charset="-122"/>
                <a:cs typeface="Meiryo UI" pitchFamily="34" charset="-120"/>
              </a:rPr>
              <a:t>ターミナルで bruno-hands-on フォルダに移動する（opencollection.yml がある場所）</a:t>
            </a:r>
            <a:endParaRPr lang="en-US" sz="1500" dirty="0"/>
          </a:p>
          <a:p>
            <a:pPr indent="0" marL="0">
              <a:spcAft>
                <a:spcPts val="700"/>
              </a:spcAft>
              <a:buNone/>
            </a:pPr>
            <a:r>
              <a:rPr lang="en-US" sz="15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500" dirty="0">
                <a:solidFill>
                  <a:srgbClr val="1F2937"/>
                </a:solidFill>
                <a:latin typeface="Meiryo UI" pitchFamily="34" charset="0"/>
                <a:ea typeface="Meiryo UI" pitchFamily="34" charset="-122"/>
                <a:cs typeface="Meiryo UI" pitchFamily="34" charset="-120"/>
              </a:rPr>
              <a:t>次のコマンドを実行する</a:t>
            </a:r>
            <a:endParaRPr lang="en-US" sz="1500" dirty="0"/>
          </a:p>
        </p:txBody>
      </p:sp>
      <p:sp>
        <p:nvSpPr>
          <p:cNvPr id="7" name="Text 5"/>
          <p:cNvSpPr/>
          <p:nvPr/>
        </p:nvSpPr>
        <p:spPr>
          <a:xfrm>
            <a:off x="548640" y="1965960"/>
            <a:ext cx="6858000" cy="77724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400" dirty="0">
                <a:solidFill>
                  <a:srgbClr val="111827"/>
                </a:solidFill>
                <a:latin typeface="Consolas" pitchFamily="34" charset="0"/>
                <a:ea typeface="Consolas" pitchFamily="34" charset="-122"/>
                <a:cs typeface="Consolas" pitchFamily="34" charset="-120"/>
              </a:rPr>
              <a:t>cd $env:USERPROFILE\Documents\bruno-learning\exercises\bruno-hands-on</a:t>
            </a:r>
            <a:endParaRPr lang="en-US" sz="1400" dirty="0"/>
          </a:p>
          <a:p>
            <a:pPr indent="0" marL="0">
              <a:buNone/>
            </a:pPr>
            <a:r>
              <a:rPr lang="en-US" sz="1400" dirty="0">
                <a:solidFill>
                  <a:srgbClr val="111827"/>
                </a:solidFill>
                <a:latin typeface="Consolas" pitchFamily="34" charset="0"/>
                <a:ea typeface="Consolas" pitchFamily="34" charset="-122"/>
                <a:cs typeface="Consolas" pitchFamily="34" charset="-120"/>
              </a:rPr>
              <a:t>bru run 09_Features --env JSONPlaceholder</a:t>
            </a:r>
            <a:endParaRPr lang="en-US" sz="1400" dirty="0"/>
          </a:p>
        </p:txBody>
      </p:sp>
      <p:sp>
        <p:nvSpPr>
          <p:cNvPr id="8" name="Text 6"/>
          <p:cNvSpPr/>
          <p:nvPr/>
        </p:nvSpPr>
        <p:spPr>
          <a:xfrm>
            <a:off x="548640" y="2971800"/>
            <a:ext cx="6858000" cy="274320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200" dirty="0">
                <a:solidFill>
                  <a:srgbClr val="111827"/>
                </a:solidFill>
                <a:latin typeface="Consolas" pitchFamily="34" charset="0"/>
                <a:ea typeface="Consolas" pitchFamily="34" charset="-122"/>
                <a:cs typeface="Consolas" pitchFamily="34" charset="-120"/>
              </a:rPr>
              <a:t>09_Features\01 Assert Example (200 OK) - 83 ms</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Assertions</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 res.status: eq 200</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 res.body.id: eq 1</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 res.body.title: isDefined</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09_Features\02 Test Script Example (200 OK) - 47 ms</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Tests</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 ステータスコードが 200 である</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 id が 1 である</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Status    ✓ PASS   Requests 4 (4 Passed)</a:t>
            </a:r>
            <a:endParaRPr lang="en-US" sz="1200" dirty="0"/>
          </a:p>
        </p:txBody>
      </p:sp>
      <p:sp>
        <p:nvSpPr>
          <p:cNvPr id="9" name="Text 7"/>
          <p:cNvSpPr/>
          <p:nvPr/>
        </p:nvSpPr>
        <p:spPr>
          <a:xfrm>
            <a:off x="548640" y="2697480"/>
            <a:ext cx="685800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実行結果（一部。2026-10-09 実行）</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7680960" y="1965960"/>
          <a:ext cx="3931920" cy="914400"/>
        </p:xfrm>
        <a:graphic>
          <a:graphicData uri="http://schemas.openxmlformats.org/drawingml/2006/table">
            <a:tbl>
              <a:tblPr/>
              <a:tblGrid>
                <a:gridCol w="1737360"/>
                <a:gridCol w="2194560"/>
              </a:tblGrid>
              <a:tr h="457200">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オプション</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意味</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--env 名前</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使う環境</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-r</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サブフォルダも実行</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フォルダ名を省略</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コレクション全体</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11" name="Text 8"/>
          <p:cNvSpPr/>
          <p:nvPr/>
        </p:nvSpPr>
        <p:spPr>
          <a:xfrm>
            <a:off x="7680960" y="4023360"/>
            <a:ext cx="3931920" cy="1280160"/>
          </a:xfrm>
          <a:prstGeom prst="rect">
            <a:avLst/>
          </a:prstGeom>
          <a:noFill/>
          <a:ln/>
        </p:spPr>
        <p:txBody>
          <a:bodyPr wrap="square" lIns="50800" tIns="50800" rIns="50800" bIns="50800" rtlCol="0" anchor="t"/>
          <a:lstStyle/>
          <a:p>
            <a:pPr algn="l" indent="0" marL="0">
              <a:buNone/>
            </a:pPr>
            <a:r>
              <a:rPr lang="en-US" sz="1200" dirty="0">
                <a:solidFill>
                  <a:srgbClr val="6B7280"/>
                </a:solidFill>
                <a:latin typeface="Meiryo UI" pitchFamily="34" charset="0"/>
                <a:ea typeface="Meiryo UI" pitchFamily="34" charset="-122"/>
                <a:cs typeface="Meiryo UI" pitchFamily="34" charset="-120"/>
              </a:rPr>
              <a:t>※ cd の行は PowerShell（Windows のターミナルの初期設定）の書き方で、配布フォルダを「ドキュメント」に置いた場合の例です。置き場所が違うときはパスを合わせてください。</a:t>
            </a:r>
            <a:endParaRPr lang="en-US" sz="1200" dirty="0"/>
          </a:p>
        </p:txBody>
      </p:sp>
      <p:sp>
        <p:nvSpPr>
          <p:cNvPr id="12" name="Shape 9"/>
          <p:cNvSpPr/>
          <p:nvPr/>
        </p:nvSpPr>
        <p:spPr>
          <a:xfrm>
            <a:off x="548640" y="5788152"/>
            <a:ext cx="11064240" cy="329184"/>
          </a:xfrm>
          <a:prstGeom prst="rect">
            <a:avLst/>
          </a:prstGeom>
          <a:solidFill>
            <a:srgbClr val="ECFDF5"/>
          </a:solidFill>
          <a:ln w="12700">
            <a:solidFill>
              <a:srgbClr val="047857"/>
            </a:solidFill>
            <a:prstDash val="solid"/>
          </a:ln>
        </p:spPr>
      </p:sp>
      <p:sp>
        <p:nvSpPr>
          <p:cNvPr id="13" name="Text 10"/>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フォルダで bru run 09_Features --env JSONPlaceholder を実行しても同じ結果になります</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CLI のレポート出力（HTML）</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5" name="Text 3"/>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出典：Bruno CLI 4.2.1（@usebruno/cli）で 2026-10-09 に実行して確認（answers/cli-results/） ／ https://docs.usebruno.com/bru-cli/run/options</a:t>
            </a:r>
            <a:endParaRPr lang="en-US" sz="1000" dirty="0"/>
          </a:p>
        </p:txBody>
      </p:sp>
      <p:sp>
        <p:nvSpPr>
          <p:cNvPr id="6" name="Text 4"/>
          <p:cNvSpPr/>
          <p:nvPr/>
        </p:nvSpPr>
        <p:spPr>
          <a:xfrm>
            <a:off x="548640" y="1143000"/>
            <a:ext cx="11064240" cy="548640"/>
          </a:xfrm>
          <a:prstGeom prst="rect">
            <a:avLst/>
          </a:prstGeom>
          <a:solidFill>
            <a:srgbClr val="F3F4F6"/>
          </a:solidFill>
          <a:ln w="12700">
            <a:solidFill>
              <a:srgbClr val="D1D5DB"/>
            </a:solidFill>
          </a:ln>
        </p:spPr>
        <p:txBody>
          <a:bodyPr wrap="square" lIns="101600" tIns="101600" rIns="101600" bIns="101600" rtlCol="0" anchor="ctr"/>
          <a:lstStyle/>
          <a:p>
            <a:pPr indent="0" marL="0">
              <a:buNone/>
            </a:pPr>
            <a:r>
              <a:rPr lang="en-US" sz="1500" dirty="0">
                <a:solidFill>
                  <a:srgbClr val="111827"/>
                </a:solidFill>
                <a:latin typeface="Consolas" pitchFamily="34" charset="0"/>
                <a:ea typeface="Consolas" pitchFamily="34" charset="-122"/>
                <a:cs typeface="Consolas" pitchFamily="34" charset="-120"/>
              </a:rPr>
              <a:t>bru run -r --env JSONPlaceholder --reporter-html report.html</a:t>
            </a:r>
            <a:endParaRPr lang="en-US" sz="1500" dirty="0"/>
          </a:p>
        </p:txBody>
      </p:sp>
      <p:pic>
        <p:nvPicPr>
          <p:cNvPr id="7" name="Image 0" descr="できた report.html をブラウザで開いたところ（2026-10-09 撮影）">    </p:cNvPr>
          <p:cNvPicPr>
            <a:picLocks noChangeAspect="1"/>
          </p:cNvPicPr>
          <p:nvPr/>
        </p:nvPicPr>
        <p:blipFill>
          <a:blip r:embed="rId1"/>
          <a:stretch>
            <a:fillRect/>
          </a:stretch>
        </p:blipFill>
        <p:spPr>
          <a:xfrm>
            <a:off x="548640" y="1874520"/>
            <a:ext cx="6583680" cy="3909060"/>
          </a:xfrm>
          <a:prstGeom prst="rect">
            <a:avLst/>
          </a:prstGeom>
        </p:spPr>
      </p:pic>
      <p:sp>
        <p:nvSpPr>
          <p:cNvPr id="8" name="Shape 5"/>
          <p:cNvSpPr/>
          <p:nvPr/>
        </p:nvSpPr>
        <p:spPr>
          <a:xfrm>
            <a:off x="548640" y="1874520"/>
            <a:ext cx="6583680" cy="3909060"/>
          </a:xfrm>
          <a:prstGeom prst="rect">
            <a:avLst/>
          </a:prstGeom>
          <a:ln w="9525">
            <a:solidFill>
              <a:srgbClr val="D1D5DB"/>
            </a:solidFill>
            <a:prstDash val="solid"/>
          </a:ln>
        </p:spPr>
      </p:sp>
      <p:sp>
        <p:nvSpPr>
          <p:cNvPr id="9" name="Text 6"/>
          <p:cNvSpPr/>
          <p:nvPr/>
        </p:nvSpPr>
        <p:spPr>
          <a:xfrm>
            <a:off x="548640" y="5801868"/>
            <a:ext cx="658368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できた report.html をブラウザで開いたところ（2026-10-09 撮影）</a:t>
            </a:r>
            <a:endParaRPr lang="en-US" sz="1000" dirty="0"/>
          </a:p>
        </p:txBody>
      </p:sp>
      <p:sp>
        <p:nvSpPr>
          <p:cNvPr id="10" name="Text 7"/>
          <p:cNvSpPr/>
          <p:nvPr/>
        </p:nvSpPr>
        <p:spPr>
          <a:xfrm>
            <a:off x="7406640" y="1874520"/>
            <a:ext cx="4206240" cy="3200400"/>
          </a:xfrm>
          <a:prstGeom prst="rect">
            <a:avLst/>
          </a:prstGeom>
          <a:noFill/>
          <a:ln/>
        </p:spPr>
        <p:txBody>
          <a:bodyPr wrap="square" rtlCol="0" anchor="t"/>
          <a:lstStyle/>
          <a:p>
            <a:pPr marL="228600" indent="-228600">
              <a:spcAft>
                <a:spcPts val="800"/>
              </a:spcAft>
              <a:buSzPct val="100000"/>
              <a:buChar char="•"/>
            </a:pPr>
            <a:r>
              <a:rPr lang="en-US" sz="1400" dirty="0">
                <a:solidFill>
                  <a:srgbClr val="1F2937"/>
                </a:solidFill>
                <a:latin typeface="Meiryo UI" pitchFamily="34" charset="0"/>
                <a:ea typeface="Meiryo UI" pitchFamily="34" charset="-122"/>
                <a:cs typeface="Meiryo UI" pitchFamily="34" charset="-120"/>
              </a:rPr>
              <a:t>実行日時・環境・件数・成功／失敗がまとめて見られる</a:t>
            </a:r>
            <a:endParaRPr lang="en-US" sz="1400" dirty="0"/>
          </a:p>
          <a:p>
            <a:pPr marL="228600" indent="-228600">
              <a:spcAft>
                <a:spcPts val="800"/>
              </a:spcAft>
              <a:buSzPct val="100000"/>
              <a:buChar char="•"/>
            </a:pPr>
            <a:r>
              <a:rPr lang="en-US" sz="1400" dirty="0">
                <a:solidFill>
                  <a:srgbClr val="1F2937"/>
                </a:solidFill>
                <a:latin typeface="Meiryo UI" pitchFamily="34" charset="0"/>
                <a:ea typeface="Meiryo UI" pitchFamily="34" charset="-122"/>
                <a:cs typeface="Meiryo UI" pitchFamily="34" charset="-120"/>
              </a:rPr>
              <a:t>Requests タブで 1 件ずつの結果を確認できる</a:t>
            </a:r>
            <a:endParaRPr lang="en-US" sz="1400" dirty="0"/>
          </a:p>
          <a:p>
            <a:pPr marL="228600" indent="-228600">
              <a:spcAft>
                <a:spcPts val="800"/>
              </a:spcAft>
              <a:buSzPct val="100000"/>
              <a:buChar char="•"/>
            </a:pPr>
            <a:r>
              <a:rPr lang="en-US" sz="1400" dirty="0">
                <a:solidFill>
                  <a:srgbClr val="1F2937"/>
                </a:solidFill>
                <a:latin typeface="Meiryo UI" pitchFamily="34" charset="0"/>
                <a:ea typeface="Meiryo UI" pitchFamily="34" charset="-122"/>
                <a:cs typeface="Meiryo UI" pitchFamily="34" charset="-120"/>
              </a:rPr>
              <a:t>ファイルなので、結果の記録や共有に使える</a:t>
            </a:r>
            <a:endParaRPr lang="en-US" sz="1400" dirty="0"/>
          </a:p>
          <a:p>
            <a:pPr marL="228600" indent="-228600">
              <a:spcAft>
                <a:spcPts val="800"/>
              </a:spcAft>
              <a:buSzPct val="100000"/>
              <a:buChar char="•"/>
            </a:pPr>
            <a:r>
              <a:rPr lang="en-US" sz="1400" dirty="0">
                <a:solidFill>
                  <a:srgbClr val="1F2937"/>
                </a:solidFill>
                <a:latin typeface="Meiryo UI" pitchFamily="34" charset="0"/>
                <a:ea typeface="Meiryo UI" pitchFamily="34" charset="-122"/>
                <a:cs typeface="Meiryo UI" pitchFamily="34" charset="-120"/>
              </a:rPr>
              <a:t>--reporter-json、--reporter-junit も使える</a:t>
            </a:r>
            <a:endParaRPr lang="en-US" sz="14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Git で管理する意味（考え方）</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5" name="Text 3"/>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出典：https://docs.usebruno.com/git-integration/overview</a:t>
            </a:r>
            <a:endParaRPr lang="en-US" sz="1000" dirty="0"/>
          </a:p>
        </p:txBody>
      </p:sp>
      <p:sp>
        <p:nvSpPr>
          <p:cNvPr id="6" name="Text 4"/>
          <p:cNvSpPr/>
          <p:nvPr/>
        </p:nvSpPr>
        <p:spPr>
          <a:xfrm>
            <a:off x="548640" y="1097280"/>
            <a:ext cx="11064240" cy="685800"/>
          </a:xfrm>
          <a:prstGeom prst="rect">
            <a:avLst/>
          </a:prstGeom>
          <a:noFill/>
          <a:ln/>
        </p:spPr>
        <p:txBody>
          <a:bodyPr wrap="square" lIns="50800" tIns="50800" rIns="50800" bIns="50800" rtlCol="0" anchor="t"/>
          <a:lstStyle/>
          <a:p>
            <a:pPr algn="l" indent="0" marL="0">
              <a:buNone/>
            </a:pPr>
            <a:r>
              <a:rPr lang="en-US" sz="1600" dirty="0">
                <a:solidFill>
                  <a:srgbClr val="1F2937"/>
                </a:solidFill>
                <a:latin typeface="Meiryo UI" pitchFamily="34" charset="0"/>
                <a:ea typeface="Meiryo UI" pitchFamily="34" charset="-122"/>
                <a:cs typeface="Meiryo UI" pitchFamily="34" charset="-120"/>
              </a:rPr>
              <a:t>Bruno のコレクションはテキストファイルの集まりなので、Git（ファイルの変更履歴を記録・共有するツール）で管理しやすくなっています。</a:t>
            </a:r>
            <a:endParaRPr lang="en-US" sz="16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914400"/>
        </p:xfrm>
        <a:graphic>
          <a:graphicData uri="http://schemas.openxmlformats.org/drawingml/2006/table">
            <a:tbl>
              <a:tblPr/>
              <a:tblGrid>
                <a:gridCol w="3291840"/>
                <a:gridCol w="7772400"/>
              </a:tblGrid>
              <a:tr h="548640">
                <a:tc>
                  <a:txBody>
                    <a:bodyPr/>
                    <a:lstStyle/>
                    <a:p>
                      <a:pPr indent="0" marL="0">
                        <a:buNone/>
                      </a:pPr>
                      <a:r>
                        <a:rPr lang="en-US" sz="1500" b="1" dirty="0">
                          <a:solidFill>
                            <a:srgbClr val="FFFFFF"/>
                          </a:solidFill>
                          <a:latin typeface="Meiryo UI" pitchFamily="34" charset="0"/>
                          <a:ea typeface="Meiryo UI" pitchFamily="34" charset="-122"/>
                          <a:cs typeface="Meiryo UI" pitchFamily="34" charset="-120"/>
                        </a:rPr>
                        <a:t>できること</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Meiryo UI" pitchFamily="34" charset="0"/>
                          <a:ea typeface="Meiryo UI" pitchFamily="34" charset="-122"/>
                          <a:cs typeface="Meiryo UI" pitchFamily="34" charset="-120"/>
                        </a:rPr>
                        <a:t>例</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548640">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変更履歴が残る</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「いつ、誰が、どのリクエストを変えたか」が分かる</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差分（変更点）が読める</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リクエストの YAML を比べて、URL やボディの変更が分かる</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548640">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チームで共有できる</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同じリポジトリから同じコレクションを使える</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4343400"/>
            <a:ext cx="11064240" cy="1005840"/>
          </a:xfrm>
          <a:prstGeom prst="rect">
            <a:avLst/>
          </a:prstGeom>
          <a:solidFill>
            <a:srgbClr val="FEF2F2"/>
          </a:solidFill>
          <a:ln w="15875">
            <a:solidFill>
              <a:srgbClr val="B91C1C"/>
            </a:solidFill>
            <a:prstDash val="solid"/>
          </a:ln>
        </p:spPr>
      </p:sp>
      <p:sp>
        <p:nvSpPr>
          <p:cNvPr id="9" name="Shape 6"/>
          <p:cNvSpPr/>
          <p:nvPr/>
        </p:nvSpPr>
        <p:spPr>
          <a:xfrm>
            <a:off x="548640" y="4343400"/>
            <a:ext cx="82296" cy="1005840"/>
          </a:xfrm>
          <a:prstGeom prst="rect">
            <a:avLst/>
          </a:prstGeom>
          <a:solidFill>
            <a:srgbClr val="B91C1C"/>
          </a:solidFill>
          <a:ln w="12700">
            <a:solidFill>
              <a:srgbClr val="B91C1C"/>
            </a:solidFill>
            <a:prstDash val="solid"/>
          </a:ln>
        </p:spPr>
      </p:sp>
      <p:sp>
        <p:nvSpPr>
          <p:cNvPr id="10" name="Text 7"/>
          <p:cNvSpPr/>
          <p:nvPr/>
        </p:nvSpPr>
        <p:spPr>
          <a:xfrm>
            <a:off x="713232" y="4389120"/>
            <a:ext cx="10835640" cy="914400"/>
          </a:xfrm>
          <a:prstGeom prst="rect">
            <a:avLst/>
          </a:prstGeom>
          <a:noFill/>
          <a:ln/>
        </p:spPr>
        <p:txBody>
          <a:bodyPr wrap="square" rtlCol="0" anchor="ctr"/>
          <a:lstStyle/>
          <a:p>
            <a:pPr indent="0" marL="0">
              <a:spcAft>
                <a:spcPts val="200"/>
              </a:spcAft>
              <a:buNone/>
            </a:pPr>
            <a:r>
              <a:rPr lang="en-US" sz="1400" b="1" dirty="0">
                <a:solidFill>
                  <a:srgbClr val="B91C1C"/>
                </a:solidFill>
                <a:latin typeface="Meiryo UI" pitchFamily="34" charset="0"/>
                <a:ea typeface="Meiryo UI" pitchFamily="34" charset="-122"/>
                <a:cs typeface="Meiryo UI" pitchFamily="34" charset="-120"/>
              </a:rPr>
              <a:t>【注意】</a:t>
            </a:r>
            <a:endParaRPr lang="en-US" sz="1400" dirty="0"/>
          </a:p>
          <a:p>
            <a:pPr indent="0" marL="0">
              <a:spcAft>
                <a:spcPts val="200"/>
              </a:spcAft>
              <a:buNone/>
            </a:pPr>
            <a:r>
              <a:rPr lang="en-US" sz="1400" dirty="0">
                <a:solidFill>
                  <a:srgbClr val="1F2937"/>
                </a:solidFill>
                <a:latin typeface="Meiryo UI" pitchFamily="34" charset="0"/>
                <a:ea typeface="Meiryo UI" pitchFamily="34" charset="-122"/>
                <a:cs typeface="Meiryo UI" pitchFamily="34" charset="-120"/>
              </a:rPr>
              <a:t>Secret の値はファイルに保存されないため Git には入りません。コレクション作成時に .gitignore（Git で管理しないファイルの一覧）も自動で作られます。この研修では Git の操作は行いません。</a:t>
            </a:r>
            <a:endParaRPr lang="en-US" sz="14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スクリプト実行の安全性（JavaScript Sandbox）</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5" name="Text 3"/>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出典：https://docs.usebruno.com/get-started/configure/javascript-sandbox</a:t>
            </a:r>
            <a:endParaRPr lang="en-US" sz="1000" dirty="0"/>
          </a:p>
        </p:txBody>
      </p:sp>
      <p:pic>
        <p:nvPicPr>
          <p:cNvPr id="6" name="Image 0" descr="実画面（Bruno v4.2.1、Windows 11、2026-10-09 撮影）　画面右上の盾のアイコン">    </p:cNvPr>
          <p:cNvPicPr>
            <a:picLocks noChangeAspect="1"/>
          </p:cNvPicPr>
          <p:nvPr/>
        </p:nvPicPr>
        <p:blipFill>
          <a:blip r:embed="rId1"/>
          <a:stretch>
            <a:fillRect/>
          </a:stretch>
        </p:blipFill>
        <p:spPr>
          <a:xfrm>
            <a:off x="548640" y="1097280"/>
            <a:ext cx="5120640" cy="2725502"/>
          </a:xfrm>
          <a:prstGeom prst="rect">
            <a:avLst/>
          </a:prstGeom>
        </p:spPr>
      </p:pic>
      <p:sp>
        <p:nvSpPr>
          <p:cNvPr id="7" name="Shape 4"/>
          <p:cNvSpPr/>
          <p:nvPr/>
        </p:nvSpPr>
        <p:spPr>
          <a:xfrm>
            <a:off x="548640" y="1097280"/>
            <a:ext cx="5120640" cy="2725502"/>
          </a:xfrm>
          <a:prstGeom prst="rect">
            <a:avLst/>
          </a:prstGeom>
          <a:ln w="9525">
            <a:solidFill>
              <a:srgbClr val="D1D5DB"/>
            </a:solidFill>
            <a:prstDash val="solid"/>
          </a:ln>
        </p:spPr>
      </p:sp>
      <p:sp>
        <p:nvSpPr>
          <p:cNvPr id="8" name="Text 5"/>
          <p:cNvSpPr/>
          <p:nvPr/>
        </p:nvSpPr>
        <p:spPr>
          <a:xfrm>
            <a:off x="548640" y="3841070"/>
            <a:ext cx="512064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　画面右上の盾のアイコン</a:t>
            </a:r>
            <a:endParaRPr lang="en-US" sz="1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943600" y="1097280"/>
          <a:ext cx="5669280" cy="914400"/>
        </p:xfrm>
        <a:graphic>
          <a:graphicData uri="http://schemas.openxmlformats.org/drawingml/2006/table">
            <a:tbl>
              <a:tblPr/>
              <a:tblGrid>
                <a:gridCol w="2103120"/>
                <a:gridCol w="3566160"/>
              </a:tblGrid>
              <a:tr h="822960">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モード</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内容</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82296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Safe Mode（Recommended、初期値）</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スクリプトは安全な環境で動き、PC のファイルやコマンドにはアクセスできない</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82296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Developer Mode</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ファイルやコマンドにアクセスできる。作成者を信頼できるコレクションだけで使う</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bl>
          </a:graphicData>
        </a:graphic>
      </p:graphicFrame>
      <p:sp>
        <p:nvSpPr>
          <p:cNvPr id="10" name="Shape 6"/>
          <p:cNvSpPr/>
          <p:nvPr/>
        </p:nvSpPr>
        <p:spPr>
          <a:xfrm>
            <a:off x="548640" y="4206240"/>
            <a:ext cx="11064240" cy="685800"/>
          </a:xfrm>
          <a:prstGeom prst="rect">
            <a:avLst/>
          </a:prstGeom>
          <a:solidFill>
            <a:srgbClr val="ECFDF5"/>
          </a:solidFill>
          <a:ln w="15875">
            <a:solidFill>
              <a:srgbClr val="047857"/>
            </a:solidFill>
            <a:prstDash val="solid"/>
          </a:ln>
        </p:spPr>
      </p:sp>
      <p:sp>
        <p:nvSpPr>
          <p:cNvPr id="11" name="Shape 7"/>
          <p:cNvSpPr/>
          <p:nvPr/>
        </p:nvSpPr>
        <p:spPr>
          <a:xfrm>
            <a:off x="548640" y="4206240"/>
            <a:ext cx="82296" cy="685800"/>
          </a:xfrm>
          <a:prstGeom prst="rect">
            <a:avLst/>
          </a:prstGeom>
          <a:solidFill>
            <a:srgbClr val="047857"/>
          </a:solidFill>
          <a:ln w="12700">
            <a:solidFill>
              <a:srgbClr val="047857"/>
            </a:solidFill>
            <a:prstDash val="solid"/>
          </a:ln>
        </p:spPr>
      </p:sp>
      <p:sp>
        <p:nvSpPr>
          <p:cNvPr id="12" name="Text 8"/>
          <p:cNvSpPr/>
          <p:nvPr/>
        </p:nvSpPr>
        <p:spPr>
          <a:xfrm>
            <a:off x="713232" y="4251960"/>
            <a:ext cx="10835640" cy="594360"/>
          </a:xfrm>
          <a:prstGeom prst="rect">
            <a:avLst/>
          </a:prstGeom>
          <a:noFill/>
          <a:ln/>
        </p:spPr>
        <p:txBody>
          <a:bodyPr wrap="square" rtlCol="0" anchor="ctr"/>
          <a:lstStyle/>
          <a:p>
            <a:pPr indent="0" marL="0">
              <a:spcAft>
                <a:spcPts val="200"/>
              </a:spcAft>
              <a:buNone/>
            </a:pPr>
            <a:r>
              <a:rPr lang="en-US" sz="1500" b="1" dirty="0">
                <a:solidFill>
                  <a:srgbClr val="047857"/>
                </a:solidFill>
                <a:latin typeface="Meiryo UI" pitchFamily="34" charset="0"/>
                <a:ea typeface="Meiryo UI" pitchFamily="34" charset="-122"/>
                <a:cs typeface="Meiryo UI" pitchFamily="34" charset="-120"/>
              </a:rPr>
              <a:t>【ポイント】</a:t>
            </a:r>
            <a:endParaRPr lang="en-US" sz="1500" dirty="0"/>
          </a:p>
          <a:p>
            <a:pPr indent="0" marL="0">
              <a:spcAft>
                <a:spcPts val="200"/>
              </a:spcAft>
              <a:buNone/>
            </a:pPr>
            <a:r>
              <a:rPr lang="en-US" sz="1500" dirty="0">
                <a:solidFill>
                  <a:srgbClr val="1F2937"/>
                </a:solidFill>
                <a:latin typeface="Meiryo UI" pitchFamily="34" charset="0"/>
                <a:ea typeface="Meiryo UI" pitchFamily="34" charset="-122"/>
                <a:cs typeface="Meiryo UI" pitchFamily="34" charset="-120"/>
              </a:rPr>
              <a:t>この教材のスクリプトは、すべて Safe Mode のままで動きます（作成環境で確認）。</a:t>
            </a:r>
            <a:endParaRPr lang="en-US" sz="15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TIPS：4 つの便利な使い方</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914400"/>
                <a:gridCol w="5120640"/>
                <a:gridCol w="2011680"/>
                <a:gridCol w="3017520"/>
              </a:tblGrid>
              <a:tr h="548640">
                <a:tc>
                  <a:txBody>
                    <a:bodyPr/>
                    <a:lstStyle/>
                    <a:p>
                      <a:pPr indent="0" marL="0">
                        <a:buNone/>
                      </a:pPr>
                      <a:r>
                        <a:rPr lang="en-US" sz="1500" b="1" dirty="0">
                          <a:solidFill>
                            <a:srgbClr val="FFFFFF"/>
                          </a:solidFill>
                          <a:latin typeface="Meiryo UI" pitchFamily="34" charset="0"/>
                          <a:ea typeface="Meiryo UI" pitchFamily="34" charset="-122"/>
                          <a:cs typeface="Meiryo UI" pitchFamily="34" charset="-120"/>
                        </a:rPr>
                        <a:t>TIPS</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Meiryo UI" pitchFamily="34" charset="0"/>
                          <a:ea typeface="Meiryo UI" pitchFamily="34" charset="-122"/>
                          <a:cs typeface="Meiryo UI" pitchFamily="34" charset="-120"/>
                        </a:rPr>
                        <a:t>内容</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Meiryo UI" pitchFamily="34" charset="0"/>
                          <a:ea typeface="Meiryo UI" pitchFamily="34" charset="-122"/>
                          <a:cs typeface="Meiryo UI" pitchFamily="34" charset="-120"/>
                        </a:rPr>
                        <a:t>無料版での方法</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Meiryo UI" pitchFamily="34" charset="0"/>
                          <a:ea typeface="Meiryo UI" pitchFamily="34" charset="-122"/>
                          <a:cs typeface="Meiryo UI" pitchFamily="34" charset="-120"/>
                        </a:rPr>
                        <a:t>確認状況</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548640">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T2</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外部の CSV ファイルの値で繰り返し実行</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CLI</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CLI で実行して確認</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T3</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外部の JSON ファイルの値で繰り返し実行</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CLI</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CLI で実行して確認</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548640">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T4</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取得した値を、次のリクエストで送信</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画面・CLI</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画面と CLI で確認</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T5</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ランダムな値を作って送信</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画面・CLI</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画面と CLI で確認</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bl>
          </a:graphicData>
        </a:graphic>
      </p:graphicFrame>
      <p:sp>
        <p:nvSpPr>
          <p:cNvPr id="7" name="Shape 4"/>
          <p:cNvSpPr/>
          <p:nvPr/>
        </p:nvSpPr>
        <p:spPr>
          <a:xfrm>
            <a:off x="548640" y="4206240"/>
            <a:ext cx="11064240" cy="914400"/>
          </a:xfrm>
          <a:prstGeom prst="rect">
            <a:avLst/>
          </a:prstGeom>
          <a:solidFill>
            <a:srgbClr val="F3F4F6"/>
          </a:solidFill>
          <a:ln w="15875">
            <a:solidFill>
              <a:srgbClr val="4B5563"/>
            </a:solidFill>
            <a:prstDash val="solid"/>
          </a:ln>
        </p:spPr>
      </p:sp>
      <p:sp>
        <p:nvSpPr>
          <p:cNvPr id="8" name="Shape 5"/>
          <p:cNvSpPr/>
          <p:nvPr/>
        </p:nvSpPr>
        <p:spPr>
          <a:xfrm>
            <a:off x="548640" y="4206240"/>
            <a:ext cx="82296" cy="914400"/>
          </a:xfrm>
          <a:prstGeom prst="rect">
            <a:avLst/>
          </a:prstGeom>
          <a:solidFill>
            <a:srgbClr val="4B5563"/>
          </a:solidFill>
          <a:ln w="12700">
            <a:solidFill>
              <a:srgbClr val="4B5563"/>
            </a:solidFill>
            <a:prstDash val="solid"/>
          </a:ln>
        </p:spPr>
      </p:sp>
      <p:sp>
        <p:nvSpPr>
          <p:cNvPr id="9" name="Text 6"/>
          <p:cNvSpPr/>
          <p:nvPr/>
        </p:nvSpPr>
        <p:spPr>
          <a:xfrm>
            <a:off x="713232" y="4251960"/>
            <a:ext cx="10835640" cy="822960"/>
          </a:xfrm>
          <a:prstGeom prst="rect">
            <a:avLst/>
          </a:prstGeom>
          <a:noFill/>
          <a:ln/>
        </p:spPr>
        <p:txBody>
          <a:bodyPr wrap="square" rtlCol="0" anchor="ctr"/>
          <a:lstStyle/>
          <a:p>
            <a:pPr indent="0" marL="0">
              <a:spcAft>
                <a:spcPts val="200"/>
              </a:spcAft>
              <a:buNone/>
            </a:pPr>
            <a:r>
              <a:rPr lang="en-US" sz="1400" b="1" dirty="0">
                <a:solidFill>
                  <a:srgbClr val="4B5563"/>
                </a:solidFill>
                <a:latin typeface="Meiryo UI" pitchFamily="34" charset="0"/>
                <a:ea typeface="Meiryo UI" pitchFamily="34" charset="-122"/>
                <a:cs typeface="Meiryo UI" pitchFamily="34" charset="-120"/>
              </a:rPr>
              <a:t>【有料版の機能】</a:t>
            </a:r>
            <a:endParaRPr lang="en-US" sz="1400" dirty="0"/>
          </a:p>
          <a:p>
            <a:pPr indent="0" marL="0">
              <a:spcAft>
                <a:spcPts val="200"/>
              </a:spcAft>
              <a:buNone/>
            </a:pPr>
            <a:r>
              <a:rPr lang="en-US" sz="1400" dirty="0">
                <a:solidFill>
                  <a:srgbClr val="1F2937"/>
                </a:solidFill>
                <a:latin typeface="Meiryo UI" pitchFamily="34" charset="0"/>
                <a:ea typeface="Meiryo UI" pitchFamily="34" charset="-122"/>
                <a:cs typeface="Meiryo UI" pitchFamily="34" charset="-120"/>
              </a:rPr>
              <a:t>画面の Collection Runner で CSV・JSON を使う機能（Run with Parameters）は Pro / Ultimate 版の機能です。この教材では CLI の --csv-file-path / --json-file-path を使います。</a:t>
            </a:r>
            <a:endParaRPr lang="en-US" sz="14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CSV・JSON ファイルの値での実行は、画面（UI）からもできる？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Windows 11、2026-10-09 撮影）　無料版の Collection Runner">    </p:cNvPr>
          <p:cNvPicPr>
            <a:picLocks noChangeAspect="1"/>
          </p:cNvPicPr>
          <p:nvPr/>
        </p:nvPicPr>
        <p:blipFill>
          <a:blip r:embed="rId1"/>
          <a:stretch>
            <a:fillRect/>
          </a:stretch>
        </p:blipFill>
        <p:spPr>
          <a:xfrm>
            <a:off x="411480" y="1051560"/>
            <a:ext cx="6949440" cy="3735324"/>
          </a:xfrm>
          <a:prstGeom prst="rect">
            <a:avLst/>
          </a:prstGeom>
        </p:spPr>
      </p:pic>
      <p:sp>
        <p:nvSpPr>
          <p:cNvPr id="7" name="Shape 4"/>
          <p:cNvSpPr/>
          <p:nvPr/>
        </p:nvSpPr>
        <p:spPr>
          <a:xfrm>
            <a:off x="411480" y="1051560"/>
            <a:ext cx="6949440" cy="3735324"/>
          </a:xfrm>
          <a:prstGeom prst="rect">
            <a:avLst/>
          </a:prstGeom>
          <a:ln w="9525">
            <a:solidFill>
              <a:srgbClr val="D1D5DB"/>
            </a:solidFill>
            <a:prstDash val="solid"/>
          </a:ln>
        </p:spPr>
      </p:sp>
      <p:sp>
        <p:nvSpPr>
          <p:cNvPr id="8" name="Text 5"/>
          <p:cNvSpPr/>
          <p:nvPr/>
        </p:nvSpPr>
        <p:spPr>
          <a:xfrm>
            <a:off x="411480" y="4805172"/>
            <a:ext cx="694944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　無料版の Collection Runner</a:t>
            </a:r>
            <a:endParaRPr lang="en-US" sz="1000" dirty="0"/>
          </a:p>
        </p:txBody>
      </p:sp>
      <p:sp>
        <p:nvSpPr>
          <p:cNvPr id="9" name="Shape 6"/>
          <p:cNvSpPr/>
          <p:nvPr/>
        </p:nvSpPr>
        <p:spPr>
          <a:xfrm>
            <a:off x="3006471" y="2589657"/>
            <a:ext cx="829246" cy="119824"/>
          </a:xfrm>
          <a:prstGeom prst="rect">
            <a:avLst/>
          </a:prstGeom>
          <a:ln w="28575">
            <a:solidFill>
              <a:srgbClr val="E11D2E"/>
            </a:solidFill>
            <a:prstDash val="solid"/>
          </a:ln>
        </p:spPr>
      </p:sp>
      <p:sp>
        <p:nvSpPr>
          <p:cNvPr id="10" name="Shape 7"/>
          <p:cNvSpPr/>
          <p:nvPr/>
        </p:nvSpPr>
        <p:spPr>
          <a:xfrm>
            <a:off x="2713863" y="2512409"/>
            <a:ext cx="274320" cy="274320"/>
          </a:xfrm>
          <a:prstGeom prst="ellipse">
            <a:avLst/>
          </a:prstGeom>
          <a:solidFill>
            <a:srgbClr val="E11D2E"/>
          </a:solidFill>
          <a:ln w="15875">
            <a:solidFill>
              <a:srgbClr val="FFFFFF"/>
            </a:solidFill>
            <a:prstDash val="solid"/>
          </a:ln>
        </p:spPr>
      </p:sp>
      <p:sp>
        <p:nvSpPr>
          <p:cNvPr id="11" name="Text 8"/>
          <p:cNvSpPr/>
          <p:nvPr/>
        </p:nvSpPr>
        <p:spPr>
          <a:xfrm>
            <a:off x="2713863" y="2512409"/>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3022759" y="2714530"/>
            <a:ext cx="689896" cy="141541"/>
          </a:xfrm>
          <a:prstGeom prst="rect">
            <a:avLst/>
          </a:prstGeom>
          <a:ln w="28575">
            <a:solidFill>
              <a:srgbClr val="E11D2E"/>
            </a:solidFill>
            <a:prstDash val="solid"/>
          </a:ln>
        </p:spPr>
      </p:sp>
      <p:sp>
        <p:nvSpPr>
          <p:cNvPr id="13" name="Shape 10"/>
          <p:cNvSpPr/>
          <p:nvPr/>
        </p:nvSpPr>
        <p:spPr>
          <a:xfrm>
            <a:off x="2730151" y="2648141"/>
            <a:ext cx="274320" cy="274320"/>
          </a:xfrm>
          <a:prstGeom prst="ellipse">
            <a:avLst/>
          </a:prstGeom>
          <a:solidFill>
            <a:srgbClr val="E11D2E"/>
          </a:solidFill>
          <a:ln w="15875">
            <a:solidFill>
              <a:srgbClr val="FFFFFF"/>
            </a:solidFill>
            <a:prstDash val="solid"/>
          </a:ln>
        </p:spPr>
      </p:sp>
      <p:sp>
        <p:nvSpPr>
          <p:cNvPr id="14" name="Text 11"/>
          <p:cNvSpPr/>
          <p:nvPr/>
        </p:nvSpPr>
        <p:spPr>
          <a:xfrm>
            <a:off x="2730151" y="2648141"/>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3022759" y="2951607"/>
            <a:ext cx="631984" cy="154210"/>
          </a:xfrm>
          <a:prstGeom prst="rect">
            <a:avLst/>
          </a:prstGeom>
          <a:ln w="28575">
            <a:solidFill>
              <a:srgbClr val="E11D2E"/>
            </a:solidFill>
            <a:prstDash val="solid"/>
          </a:ln>
        </p:spPr>
      </p:sp>
      <p:sp>
        <p:nvSpPr>
          <p:cNvPr id="16" name="Shape 13"/>
          <p:cNvSpPr/>
          <p:nvPr/>
        </p:nvSpPr>
        <p:spPr>
          <a:xfrm>
            <a:off x="2730151" y="2891552"/>
            <a:ext cx="274320" cy="274320"/>
          </a:xfrm>
          <a:prstGeom prst="ellipse">
            <a:avLst/>
          </a:prstGeom>
          <a:solidFill>
            <a:srgbClr val="E11D2E"/>
          </a:solidFill>
          <a:ln w="15875">
            <a:solidFill>
              <a:srgbClr val="FFFFFF"/>
            </a:solidFill>
            <a:prstDash val="solid"/>
          </a:ln>
        </p:spPr>
      </p:sp>
      <p:sp>
        <p:nvSpPr>
          <p:cNvPr id="17" name="Text 14"/>
          <p:cNvSpPr/>
          <p:nvPr/>
        </p:nvSpPr>
        <p:spPr>
          <a:xfrm>
            <a:off x="2730151" y="28915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589520" y="1051560"/>
          <a:ext cx="4206240" cy="914400"/>
        </p:xfrm>
        <a:graphic>
          <a:graphicData uri="http://schemas.openxmlformats.org/drawingml/2006/table">
            <a:tbl>
              <a:tblPr/>
              <a:tblGrid>
                <a:gridCol w="1097280"/>
                <a:gridCol w="1737360"/>
                <a:gridCol w="1371600"/>
              </a:tblGrid>
              <a:tr h="685800">
                <a:tc>
                  <a:txBody>
                    <a:bodyPr/>
                    <a:lstStyle/>
                    <a:p>
                      <a:pPr indent="0" marL="0">
                        <a:buNone/>
                      </a:pP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画面（Runner）</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CLI（bru run）</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685800">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無料版</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 ①に UPGRADE と表示され、②のファイル選択は使えない</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 --csv-file-path / --json-file-path</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685800">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Pro / Ultimate</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 ②で CSV・JSON を選んで実行</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bl>
          </a:graphicData>
        </a:graphic>
      </p:graphicFrame>
      <p:sp>
        <p:nvSpPr>
          <p:cNvPr id="19" name="Text 15"/>
          <p:cNvSpPr/>
          <p:nvPr/>
        </p:nvSpPr>
        <p:spPr>
          <a:xfrm>
            <a:off x="7589520" y="3383280"/>
            <a:ext cx="4206240" cy="1645920"/>
          </a:xfrm>
          <a:prstGeom prst="rect">
            <a:avLst/>
          </a:prstGeom>
          <a:noFill/>
          <a:ln/>
        </p:spPr>
        <p:txBody>
          <a:bodyPr wrap="square" rtlCol="0" anchor="t"/>
          <a:lstStyle/>
          <a:p>
            <a:pPr marL="228600" indent="-228600">
              <a:spcAft>
                <a:spcPts val="400"/>
              </a:spcAft>
              <a:buSzPct val="100000"/>
              <a:buChar char="•"/>
            </a:pPr>
            <a:r>
              <a:rPr lang="en-US" sz="1100" dirty="0">
                <a:solidFill>
                  <a:srgbClr val="1F2937"/>
                </a:solidFill>
                <a:latin typeface="Meiryo UI" pitchFamily="34" charset="0"/>
                <a:ea typeface="Meiryo UI" pitchFamily="34" charset="-122"/>
                <a:cs typeface="Meiryo UI" pitchFamily="34" charset="-120"/>
              </a:rPr>
              <a:t>① Run with Parameters：画面からデータファイルを使う設定（有料版）</a:t>
            </a:r>
            <a:endParaRPr lang="en-US" sz="1100" dirty="0"/>
          </a:p>
          <a:p>
            <a:pPr marL="228600" indent="-228600">
              <a:spcAft>
                <a:spcPts val="400"/>
              </a:spcAft>
              <a:buSzPct val="100000"/>
              <a:buChar char="•"/>
            </a:pPr>
            <a:r>
              <a:rPr lang="en-US" sz="1100" dirty="0">
                <a:solidFill>
                  <a:srgbClr val="1F2937"/>
                </a:solidFill>
                <a:latin typeface="Meiryo UI" pitchFamily="34" charset="0"/>
                <a:ea typeface="Meiryo UI" pitchFamily="34" charset="-122"/>
                <a:cs typeface="Meiryo UI" pitchFamily="34" charset="-120"/>
              </a:rPr>
              <a:t>② Select CSV or JSON file：ファイルの選択</a:t>
            </a:r>
            <a:endParaRPr lang="en-US" sz="1100" dirty="0"/>
          </a:p>
          <a:p>
            <a:pPr marL="228600" indent="-228600">
              <a:spcAft>
                <a:spcPts val="400"/>
              </a:spcAft>
              <a:buSzPct val="100000"/>
              <a:buChar char="•"/>
            </a:pPr>
            <a:r>
              <a:rPr lang="en-US" sz="1100" dirty="0">
                <a:solidFill>
                  <a:srgbClr val="1F2937"/>
                </a:solidFill>
                <a:latin typeface="Meiryo UI" pitchFamily="34" charset="0"/>
                <a:ea typeface="Meiryo UI" pitchFamily="34" charset="-122"/>
                <a:cs typeface="Meiryo UI" pitchFamily="34" charset="-120"/>
              </a:rPr>
              <a:t>③ Iterations：繰り返し回数（作成環境では入力欄も無効表示）</a:t>
            </a:r>
            <a:endParaRPr lang="en-US" sz="1100" dirty="0"/>
          </a:p>
        </p:txBody>
      </p:sp>
      <p:sp>
        <p:nvSpPr>
          <p:cNvPr id="20" name="Shape 16"/>
          <p:cNvSpPr/>
          <p:nvPr/>
        </p:nvSpPr>
        <p:spPr>
          <a:xfrm>
            <a:off x="411480" y="5120640"/>
            <a:ext cx="11384280" cy="777240"/>
          </a:xfrm>
          <a:prstGeom prst="rect">
            <a:avLst/>
          </a:prstGeom>
          <a:solidFill>
            <a:srgbClr val="F3F4F6"/>
          </a:solidFill>
          <a:ln w="15875">
            <a:solidFill>
              <a:srgbClr val="4B5563"/>
            </a:solidFill>
            <a:prstDash val="solid"/>
          </a:ln>
        </p:spPr>
      </p:sp>
      <p:sp>
        <p:nvSpPr>
          <p:cNvPr id="21" name="Shape 17"/>
          <p:cNvSpPr/>
          <p:nvPr/>
        </p:nvSpPr>
        <p:spPr>
          <a:xfrm>
            <a:off x="411480" y="5120640"/>
            <a:ext cx="82296" cy="777240"/>
          </a:xfrm>
          <a:prstGeom prst="rect">
            <a:avLst/>
          </a:prstGeom>
          <a:solidFill>
            <a:srgbClr val="4B5563"/>
          </a:solidFill>
          <a:ln w="12700">
            <a:solidFill>
              <a:srgbClr val="4B5563"/>
            </a:solidFill>
            <a:prstDash val="solid"/>
          </a:ln>
        </p:spPr>
      </p:sp>
      <p:sp>
        <p:nvSpPr>
          <p:cNvPr id="22" name="Text 18"/>
          <p:cNvSpPr/>
          <p:nvPr/>
        </p:nvSpPr>
        <p:spPr>
          <a:xfrm>
            <a:off x="576072" y="5166360"/>
            <a:ext cx="11155680" cy="685800"/>
          </a:xfrm>
          <a:prstGeom prst="rect">
            <a:avLst/>
          </a:prstGeom>
          <a:noFill/>
          <a:ln/>
        </p:spPr>
        <p:txBody>
          <a:bodyPr wrap="square" rtlCol="0" anchor="ctr"/>
          <a:lstStyle/>
          <a:p>
            <a:pPr indent="0" marL="0">
              <a:spcAft>
                <a:spcPts val="200"/>
              </a:spcAft>
              <a:buNone/>
            </a:pPr>
            <a:r>
              <a:rPr lang="en-US" sz="1200" b="1" dirty="0">
                <a:solidFill>
                  <a:srgbClr val="4B5563"/>
                </a:solidFill>
                <a:latin typeface="Meiryo UI" pitchFamily="34" charset="0"/>
                <a:ea typeface="Meiryo UI" pitchFamily="34" charset="-122"/>
                <a:cs typeface="Meiryo UI" pitchFamily="34" charset="-120"/>
              </a:rPr>
              <a:t>【結論】</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画面（UI）からも実行できる機能はありますが、Pro / Ultimate 版の機能です（公式：https://docs.usebruno.com/get-started/bruno-basics/run-a-collection）。無料版では、次のスライドからの CLI の手順で実行します。</a:t>
            </a:r>
            <a:endParaRPr lang="en-US" sz="12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TIPS：外部の CSV ファイルの値で繰り返し実行する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出典：Bruno CLI 4.2.1（@usebruno/cli）で 2026-10-09 に実行して確認（answers/cli-results/） ／ https://docs.usebruno.com/testing/automate-test/data-driven-testing</a:t>
            </a:r>
            <a:endParaRPr lang="en-US" sz="1000" dirty="0"/>
          </a:p>
        </p:txBody>
      </p:sp>
      <p:sp>
        <p:nvSpPr>
          <p:cNvPr id="7" name="Text 5"/>
          <p:cNvSpPr/>
          <p:nvPr/>
        </p:nvSpPr>
        <p:spPr>
          <a:xfrm>
            <a:off x="548640" y="1371600"/>
            <a:ext cx="5120640" cy="128016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300" dirty="0">
                <a:solidFill>
                  <a:srgbClr val="111827"/>
                </a:solidFill>
                <a:latin typeface="Consolas" pitchFamily="34" charset="0"/>
                <a:ea typeface="Consolas" pitchFamily="34" charset="-122"/>
                <a:cs typeface="Consolas" pitchFamily="34" charset="-120"/>
              </a:rPr>
              <a:t>title,body,userId</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CSV から作成 1,CSV の 1 行目,1</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CSV から作成 2,CSV の 2 行目,2</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CSV から作成 3,CSV の 3 行目,3</a:t>
            </a:r>
            <a:endParaRPr lang="en-US" sz="1300" dirty="0"/>
          </a:p>
        </p:txBody>
      </p:sp>
      <p:sp>
        <p:nvSpPr>
          <p:cNvPr id="8" name="Text 6"/>
          <p:cNvSpPr/>
          <p:nvPr/>
        </p:nvSpPr>
        <p:spPr>
          <a:xfrm>
            <a:off x="548640" y="1097280"/>
            <a:ext cx="512064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exercises\tips\tips-posts.csv（1 行目が列名）</a:t>
            </a:r>
            <a:endParaRPr lang="en-US" sz="1100" dirty="0"/>
          </a:p>
        </p:txBody>
      </p:sp>
      <p:sp>
        <p:nvSpPr>
          <p:cNvPr id="9" name="Text 7"/>
          <p:cNvSpPr/>
          <p:nvPr/>
        </p:nvSpPr>
        <p:spPr>
          <a:xfrm>
            <a:off x="5943600" y="1371600"/>
            <a:ext cx="5669280" cy="128016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300" dirty="0">
                <a:solidFill>
                  <a:srgbClr val="111827"/>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  "title": "{{title}}",</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  "body": "{{body}}",</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  "userId": {{userId}}</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a:t>
            </a:r>
            <a:endParaRPr lang="en-US" sz="1300" dirty="0"/>
          </a:p>
        </p:txBody>
      </p:sp>
      <p:sp>
        <p:nvSpPr>
          <p:cNvPr id="10" name="Text 8"/>
          <p:cNvSpPr/>
          <p:nvPr/>
        </p:nvSpPr>
        <p:spPr>
          <a:xfrm>
            <a:off x="5943600" y="1097280"/>
            <a:ext cx="566928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09_TIPS/01 Create Post from Data File の Body</a:t>
            </a:r>
            <a:endParaRPr lang="en-US" sz="1100" dirty="0"/>
          </a:p>
        </p:txBody>
      </p:sp>
      <p:sp>
        <p:nvSpPr>
          <p:cNvPr id="11" name="Text 9"/>
          <p:cNvSpPr/>
          <p:nvPr/>
        </p:nvSpPr>
        <p:spPr>
          <a:xfrm>
            <a:off x="548640" y="3017520"/>
            <a:ext cx="11064240" cy="548640"/>
          </a:xfrm>
          <a:prstGeom prst="rect">
            <a:avLst/>
          </a:prstGeom>
          <a:solidFill>
            <a:srgbClr val="F3F4F6"/>
          </a:solidFill>
          <a:ln w="12700">
            <a:solidFill>
              <a:srgbClr val="D1D5DB"/>
            </a:solidFill>
          </a:ln>
        </p:spPr>
        <p:txBody>
          <a:bodyPr wrap="square" lIns="101600" tIns="101600" rIns="101600" bIns="101600" rtlCol="0" anchor="ctr"/>
          <a:lstStyle/>
          <a:p>
            <a:pPr indent="0" marL="0">
              <a:buNone/>
            </a:pPr>
            <a:r>
              <a:rPr lang="en-US" sz="1200" dirty="0">
                <a:solidFill>
                  <a:srgbClr val="111827"/>
                </a:solidFill>
                <a:latin typeface="Consolas" pitchFamily="34" charset="0"/>
                <a:ea typeface="Consolas" pitchFamily="34" charset="-122"/>
                <a:cs typeface="Consolas" pitchFamily="34" charset="-120"/>
              </a:rPr>
              <a:t>bru run "09_TIPS/01 Create Post from Data File.yml" --env JSONPlaceholder --csv-file-path ../tips/tips-posts.csv</a:t>
            </a:r>
            <a:endParaRPr lang="en-US" sz="1200" dirty="0"/>
          </a:p>
        </p:txBody>
      </p:sp>
      <p:sp>
        <p:nvSpPr>
          <p:cNvPr id="12" name="Text 10"/>
          <p:cNvSpPr/>
          <p:nvPr/>
        </p:nvSpPr>
        <p:spPr>
          <a:xfrm>
            <a:off x="548640" y="2743200"/>
            <a:ext cx="1106424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bruno-hands-on フォルダで実行</a:t>
            </a:r>
            <a:endParaRPr lang="en-US" sz="1100" dirty="0"/>
          </a:p>
        </p:txBody>
      </p:sp>
      <p:sp>
        <p:nvSpPr>
          <p:cNvPr id="13" name="Text 11"/>
          <p:cNvSpPr/>
          <p:nvPr/>
        </p:nvSpPr>
        <p:spPr>
          <a:xfrm>
            <a:off x="548640" y="3931920"/>
            <a:ext cx="11064240" cy="91440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200" dirty="0">
                <a:solidFill>
                  <a:srgbClr val="111827"/>
                </a:solidFill>
                <a:latin typeface="Consolas" pitchFamily="34" charset="0"/>
                <a:ea typeface="Consolas" pitchFamily="34" charset="-122"/>
                <a:cs typeface="Consolas" pitchFamily="34" charset="-120"/>
              </a:rPr>
              <a:t>Iteration: 1 … (201 Created)  ✓ res.status: eq 201  ✓ res.body.title: eq {{title}}</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Iteration: 2 … (201 Created)  ✓ …</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Iteration: 3 … (201 Created)  ✓ …</a:t>
            </a:r>
            <a:endParaRPr lang="en-US" sz="1200" dirty="0"/>
          </a:p>
        </p:txBody>
      </p:sp>
      <p:sp>
        <p:nvSpPr>
          <p:cNvPr id="14" name="Text 12"/>
          <p:cNvSpPr/>
          <p:nvPr/>
        </p:nvSpPr>
        <p:spPr>
          <a:xfrm>
            <a:off x="548640" y="3657600"/>
            <a:ext cx="1106424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結果（要約）：3 行分、3 回実行された</a:t>
            </a:r>
            <a:endParaRPr lang="en-US" sz="1100" dirty="0"/>
          </a:p>
        </p:txBody>
      </p:sp>
      <p:sp>
        <p:nvSpPr>
          <p:cNvPr id="15" name="Text 13"/>
          <p:cNvSpPr/>
          <p:nvPr/>
        </p:nvSpPr>
        <p:spPr>
          <a:xfrm>
            <a:off x="548640" y="5029200"/>
            <a:ext cx="11064240" cy="411480"/>
          </a:xfrm>
          <a:prstGeom prst="rect">
            <a:avLst/>
          </a:prstGeom>
          <a:noFill/>
          <a:ln/>
        </p:spPr>
        <p:txBody>
          <a:bodyPr wrap="square" lIns="50800" tIns="50800" rIns="50800" bIns="50800" rtlCol="0" anchor="t"/>
          <a:lstStyle/>
          <a:p>
            <a:pPr algn="l" indent="0" marL="0">
              <a:buNone/>
            </a:pPr>
            <a:r>
              <a:rPr lang="en-US" sz="1400" dirty="0">
                <a:solidFill>
                  <a:srgbClr val="1F2937"/>
                </a:solidFill>
                <a:latin typeface="Meiryo UI" pitchFamily="34" charset="0"/>
                <a:ea typeface="Meiryo UI" pitchFamily="34" charset="-122"/>
                <a:cs typeface="Meiryo UI" pitchFamily="34" charset="-120"/>
              </a:rPr>
              <a:t>列名（title など）を {{列名}} と書くと、1 回ごとにその行の値に置き換わります。</a:t>
            </a:r>
            <a:endParaRPr lang="en-US" sz="1400" dirty="0"/>
          </a:p>
        </p:txBody>
      </p:sp>
      <p:sp>
        <p:nvSpPr>
          <p:cNvPr id="16" name="Shape 14"/>
          <p:cNvSpPr/>
          <p:nvPr/>
        </p:nvSpPr>
        <p:spPr>
          <a:xfrm>
            <a:off x="548640" y="5788152"/>
            <a:ext cx="11064240" cy="329184"/>
          </a:xfrm>
          <a:prstGeom prst="rect">
            <a:avLst/>
          </a:prstGeom>
          <a:solidFill>
            <a:srgbClr val="ECFDF5"/>
          </a:solidFill>
          <a:ln w="12700">
            <a:solidFill>
              <a:srgbClr val="047857"/>
            </a:solidFill>
            <a:prstDash val="solid"/>
          </a:ln>
        </p:spPr>
      </p:sp>
      <p:sp>
        <p:nvSpPr>
          <p:cNvPr id="17" name="Text 15"/>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09_TIPS\01 Create Post from Data File.yml を CLI で実行（次のスライドからの手順）</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【CSV 手順 1/3】CSV ファイルを用意する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548640" y="1188720"/>
            <a:ext cx="11064240" cy="1188720"/>
          </a:xfrm>
          <a:prstGeom prst="rect">
            <a:avLst/>
          </a:prstGeom>
          <a:noFill/>
          <a:ln/>
        </p:spPr>
        <p:txBody>
          <a:bodyPr wrap="square" rtlCol="0" anchor="t"/>
          <a:lstStyle/>
          <a:p>
            <a:pPr indent="0" marL="0">
              <a:spcAft>
                <a:spcPts val="1000"/>
              </a:spcAft>
              <a:buNone/>
            </a:pPr>
            <a:r>
              <a:rPr lang="en-US" sz="1600" b="1" dirty="0">
                <a:solidFill>
                  <a:srgbClr val="E11D2E"/>
                </a:solidFill>
                <a:latin typeface="Meiryo UI" pitchFamily="34" charset="0"/>
                <a:ea typeface="Meiryo UI" pitchFamily="34" charset="-122"/>
                <a:cs typeface="Meiryo UI" pitchFamily="34" charset="-120"/>
              </a:rPr>
              <a:t>① </a:t>
            </a:r>
            <a:pPr indent="0" marL="0">
              <a:spcAft>
                <a:spcPts val="1000"/>
              </a:spcAft>
              <a:buNone/>
            </a:pPr>
            <a:r>
              <a:rPr lang="en-US" sz="1600" dirty="0">
                <a:solidFill>
                  <a:srgbClr val="1F2937"/>
                </a:solidFill>
                <a:latin typeface="Meiryo UI" pitchFamily="34" charset="0"/>
                <a:ea typeface="Meiryo UI" pitchFamily="34" charset="-122"/>
                <a:cs typeface="Meiryo UI" pitchFamily="34" charset="-120"/>
              </a:rPr>
              <a:t>メモ帳（または Excel）で、1 行目に列名、2 行目以降に値を書く</a:t>
            </a:r>
            <a:endParaRPr lang="en-US" sz="1600" dirty="0"/>
          </a:p>
          <a:p>
            <a:pPr indent="0" marL="0">
              <a:spcAft>
                <a:spcPts val="1000"/>
              </a:spcAft>
              <a:buNone/>
            </a:pPr>
            <a:r>
              <a:rPr lang="en-US" sz="1600" b="1" dirty="0">
                <a:solidFill>
                  <a:srgbClr val="E11D2E"/>
                </a:solidFill>
                <a:latin typeface="Meiryo UI" pitchFamily="34" charset="0"/>
                <a:ea typeface="Meiryo UI" pitchFamily="34" charset="-122"/>
                <a:cs typeface="Meiryo UI" pitchFamily="34" charset="-120"/>
              </a:rPr>
              <a:t>② </a:t>
            </a:r>
            <a:pPr indent="0" marL="0">
              <a:spcAft>
                <a:spcPts val="1000"/>
              </a:spcAft>
              <a:buNone/>
            </a:pPr>
            <a:r>
              <a:rPr lang="en-US" sz="1600" dirty="0">
                <a:solidFill>
                  <a:srgbClr val="1F2937"/>
                </a:solidFill>
                <a:latin typeface="Meiryo UI" pitchFamily="34" charset="0"/>
                <a:ea typeface="Meiryo UI" pitchFamily="34" charset="-122"/>
                <a:cs typeface="Meiryo UI" pitchFamily="34" charset="-120"/>
              </a:rPr>
              <a:t>文字コード UTF-8 の CSV として保存（例：exercises\tips\tips-posts.csv）</a:t>
            </a:r>
            <a:endParaRPr lang="en-US" sz="1600" dirty="0"/>
          </a:p>
        </p:txBody>
      </p:sp>
      <p:sp>
        <p:nvSpPr>
          <p:cNvPr id="7" name="Text 5"/>
          <p:cNvSpPr/>
          <p:nvPr/>
        </p:nvSpPr>
        <p:spPr>
          <a:xfrm>
            <a:off x="548640" y="2651760"/>
            <a:ext cx="6400800" cy="146304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500" dirty="0">
                <a:solidFill>
                  <a:srgbClr val="111827"/>
                </a:solidFill>
                <a:latin typeface="Consolas" pitchFamily="34" charset="0"/>
                <a:ea typeface="Consolas" pitchFamily="34" charset="-122"/>
                <a:cs typeface="Consolas" pitchFamily="34" charset="-120"/>
              </a:rPr>
              <a:t>title,body,userId</a:t>
            </a:r>
            <a:endParaRPr lang="en-US" sz="1500" dirty="0"/>
          </a:p>
          <a:p>
            <a:pPr indent="0" marL="0">
              <a:buNone/>
            </a:pPr>
            <a:r>
              <a:rPr lang="en-US" sz="1500" dirty="0">
                <a:solidFill>
                  <a:srgbClr val="111827"/>
                </a:solidFill>
                <a:latin typeface="Consolas" pitchFamily="34" charset="0"/>
                <a:ea typeface="Consolas" pitchFamily="34" charset="-122"/>
                <a:cs typeface="Consolas" pitchFamily="34" charset="-120"/>
              </a:rPr>
              <a:t>CSV から作成 1,CSV の 1 行目,1</a:t>
            </a:r>
            <a:endParaRPr lang="en-US" sz="1500" dirty="0"/>
          </a:p>
          <a:p>
            <a:pPr indent="0" marL="0">
              <a:buNone/>
            </a:pPr>
            <a:r>
              <a:rPr lang="en-US" sz="1500" dirty="0">
                <a:solidFill>
                  <a:srgbClr val="111827"/>
                </a:solidFill>
                <a:latin typeface="Consolas" pitchFamily="34" charset="0"/>
                <a:ea typeface="Consolas" pitchFamily="34" charset="-122"/>
                <a:cs typeface="Consolas" pitchFamily="34" charset="-120"/>
              </a:rPr>
              <a:t>CSV から作成 2,CSV の 2 行目,2</a:t>
            </a:r>
            <a:endParaRPr lang="en-US" sz="1500" dirty="0"/>
          </a:p>
          <a:p>
            <a:pPr indent="0" marL="0">
              <a:buNone/>
            </a:pPr>
            <a:r>
              <a:rPr lang="en-US" sz="1500" dirty="0">
                <a:solidFill>
                  <a:srgbClr val="111827"/>
                </a:solidFill>
                <a:latin typeface="Consolas" pitchFamily="34" charset="0"/>
                <a:ea typeface="Consolas" pitchFamily="34" charset="-122"/>
                <a:cs typeface="Consolas" pitchFamily="34" charset="-120"/>
              </a:rPr>
              <a:t>CSV から作成 3,CSV の 3 行目,3</a:t>
            </a:r>
            <a:endParaRPr lang="en-US" sz="1500" dirty="0"/>
          </a:p>
        </p:txBody>
      </p:sp>
      <p:sp>
        <p:nvSpPr>
          <p:cNvPr id="8" name="Text 6"/>
          <p:cNvSpPr/>
          <p:nvPr/>
        </p:nvSpPr>
        <p:spPr>
          <a:xfrm>
            <a:off x="548640" y="2377440"/>
            <a:ext cx="640080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tips-posts.csv（配布ファイル）</a:t>
            </a:r>
            <a:endParaRPr lang="en-US" sz="1100" dirty="0"/>
          </a:p>
        </p:txBody>
      </p:sp>
      <p:sp>
        <p:nvSpPr>
          <p:cNvPr id="9" name="Shape 7"/>
          <p:cNvSpPr/>
          <p:nvPr/>
        </p:nvSpPr>
        <p:spPr>
          <a:xfrm>
            <a:off x="7223760" y="2651760"/>
            <a:ext cx="4389120" cy="1463040"/>
          </a:xfrm>
          <a:prstGeom prst="rect">
            <a:avLst/>
          </a:prstGeom>
          <a:solidFill>
            <a:srgbClr val="EFF6FF"/>
          </a:solidFill>
          <a:ln w="15875">
            <a:solidFill>
              <a:srgbClr val="1D4ED8"/>
            </a:solidFill>
            <a:prstDash val="solid"/>
          </a:ln>
        </p:spPr>
      </p:sp>
      <p:sp>
        <p:nvSpPr>
          <p:cNvPr id="10" name="Shape 8"/>
          <p:cNvSpPr/>
          <p:nvPr/>
        </p:nvSpPr>
        <p:spPr>
          <a:xfrm>
            <a:off x="7223760" y="2651760"/>
            <a:ext cx="82296" cy="1463040"/>
          </a:xfrm>
          <a:prstGeom prst="rect">
            <a:avLst/>
          </a:prstGeom>
          <a:solidFill>
            <a:srgbClr val="1D4ED8"/>
          </a:solidFill>
          <a:ln w="12700">
            <a:solidFill>
              <a:srgbClr val="1D4ED8"/>
            </a:solidFill>
            <a:prstDash val="solid"/>
          </a:ln>
        </p:spPr>
      </p:sp>
      <p:sp>
        <p:nvSpPr>
          <p:cNvPr id="11" name="Text 9"/>
          <p:cNvSpPr/>
          <p:nvPr/>
        </p:nvSpPr>
        <p:spPr>
          <a:xfrm>
            <a:off x="7388352" y="2697480"/>
            <a:ext cx="4160520" cy="1371600"/>
          </a:xfrm>
          <a:prstGeom prst="rect">
            <a:avLst/>
          </a:prstGeom>
          <a:noFill/>
          <a:ln/>
        </p:spPr>
        <p:txBody>
          <a:bodyPr wrap="square" rtlCol="0" anchor="ctr"/>
          <a:lstStyle/>
          <a:p>
            <a:pPr indent="0" marL="0">
              <a:spcAft>
                <a:spcPts val="200"/>
              </a:spcAft>
              <a:buNone/>
            </a:pPr>
            <a:r>
              <a:rPr lang="en-US" sz="1300" b="1" dirty="0">
                <a:solidFill>
                  <a:srgbClr val="1D4ED8"/>
                </a:solidFill>
                <a:latin typeface="Meiryo UI" pitchFamily="34" charset="0"/>
                <a:ea typeface="Meiryo UI" pitchFamily="34" charset="-122"/>
                <a:cs typeface="Meiryo UI" pitchFamily="34" charset="-120"/>
              </a:rPr>
              <a:t>【ヒント】</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1 行目の列名（title・body・userId）が、リクエストの中で {{title}} などの変数名になります。値の行の数だけ、リクエストが繰り返し送られます。</a:t>
            </a:r>
            <a:endParaRPr lang="en-US" sz="1300" dirty="0"/>
          </a:p>
        </p:txBody>
      </p:sp>
      <p:sp>
        <p:nvSpPr>
          <p:cNvPr id="12" name="Shape 10"/>
          <p:cNvSpPr/>
          <p:nvPr/>
        </p:nvSpPr>
        <p:spPr>
          <a:xfrm>
            <a:off x="548640" y="5788152"/>
            <a:ext cx="11064240" cy="329184"/>
          </a:xfrm>
          <a:prstGeom prst="rect">
            <a:avLst/>
          </a:prstGeom>
          <a:solidFill>
            <a:srgbClr val="ECFDF5"/>
          </a:solidFill>
          <a:ln w="12700">
            <a:solidFill>
              <a:srgbClr val="047857"/>
            </a:solidFill>
            <a:prstDash val="solid"/>
          </a:ln>
        </p:spPr>
      </p:sp>
      <p:sp>
        <p:nvSpPr>
          <p:cNvPr id="13" name="Text 11"/>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配布ファイル exercises\tips\tips-posts.csv をそのまま使えます</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【CSV 手順 2/3】リクエストのボディで列名を使う</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548640" y="1188720"/>
            <a:ext cx="5120640" cy="1828800"/>
          </a:xfrm>
          <a:prstGeom prst="rect">
            <a:avLst/>
          </a:prstGeom>
          <a:noFill/>
          <a:ln/>
        </p:spPr>
        <p:txBody>
          <a:bodyPr wrap="square" rtlCol="0" anchor="t"/>
          <a:lstStyle/>
          <a:p>
            <a:pPr indent="0" marL="0">
              <a:spcAft>
                <a:spcPts val="900"/>
              </a:spcAft>
              <a:buNone/>
            </a:pPr>
            <a:r>
              <a:rPr lang="en-US" sz="1500" b="1" dirty="0">
                <a:solidFill>
                  <a:srgbClr val="E11D2E"/>
                </a:solidFill>
                <a:latin typeface="Meiryo UI" pitchFamily="34" charset="0"/>
                <a:ea typeface="Meiryo UI" pitchFamily="34" charset="-122"/>
                <a:cs typeface="Meiryo UI" pitchFamily="34" charset="-120"/>
              </a:rPr>
              <a:t>① </a:t>
            </a:r>
            <a:pPr indent="0" marL="0">
              <a:spcAft>
                <a:spcPts val="900"/>
              </a:spcAft>
              <a:buNone/>
            </a:pPr>
            <a:r>
              <a:rPr lang="en-US" sz="1500" dirty="0">
                <a:solidFill>
                  <a:srgbClr val="1F2937"/>
                </a:solidFill>
                <a:latin typeface="Meiryo UI" pitchFamily="34" charset="0"/>
                <a:ea typeface="Meiryo UI" pitchFamily="34" charset="-122"/>
                <a:cs typeface="Meiryo UI" pitchFamily="34" charset="-120"/>
              </a:rPr>
              <a:t>09_TIPS → 01 Create Post from Data File を開く</a:t>
            </a:r>
            <a:endParaRPr lang="en-US" sz="1500" dirty="0"/>
          </a:p>
          <a:p>
            <a:pPr indent="0" marL="0">
              <a:spcAft>
                <a:spcPts val="900"/>
              </a:spcAft>
              <a:buNone/>
            </a:pPr>
            <a:r>
              <a:rPr lang="en-US" sz="1500" b="1" dirty="0">
                <a:solidFill>
                  <a:srgbClr val="E11D2E"/>
                </a:solidFill>
                <a:latin typeface="Meiryo UI" pitchFamily="34" charset="0"/>
                <a:ea typeface="Meiryo UI" pitchFamily="34" charset="-122"/>
                <a:cs typeface="Meiryo UI" pitchFamily="34" charset="-120"/>
              </a:rPr>
              <a:t>② </a:t>
            </a:r>
            <a:pPr indent="0" marL="0">
              <a:spcAft>
                <a:spcPts val="900"/>
              </a:spcAft>
              <a:buNone/>
            </a:pPr>
            <a:r>
              <a:rPr lang="en-US" sz="1500" dirty="0">
                <a:solidFill>
                  <a:srgbClr val="1F2937"/>
                </a:solidFill>
                <a:latin typeface="Meiryo UI" pitchFamily="34" charset="0"/>
                <a:ea typeface="Meiryo UI" pitchFamily="34" charset="-122"/>
                <a:cs typeface="Meiryo UI" pitchFamily="34" charset="-120"/>
              </a:rPr>
              <a:t>Body タブ（JSON）で、値の部分を {{列名}} にする</a:t>
            </a:r>
            <a:endParaRPr lang="en-US" sz="1500" dirty="0"/>
          </a:p>
          <a:p>
            <a:pPr indent="0" marL="0">
              <a:spcAft>
                <a:spcPts val="900"/>
              </a:spcAft>
              <a:buNone/>
            </a:pPr>
            <a:r>
              <a:rPr lang="en-US" sz="1500" b="1" dirty="0">
                <a:solidFill>
                  <a:srgbClr val="E11D2E"/>
                </a:solidFill>
                <a:latin typeface="Meiryo UI" pitchFamily="34" charset="0"/>
                <a:ea typeface="Meiryo UI" pitchFamily="34" charset="-122"/>
                <a:cs typeface="Meiryo UI" pitchFamily="34" charset="-120"/>
              </a:rPr>
              <a:t>③ </a:t>
            </a:r>
            <a:pPr indent="0" marL="0">
              <a:spcAft>
                <a:spcPts val="900"/>
              </a:spcAft>
              <a:buNone/>
            </a:pPr>
            <a:r>
              <a:rPr lang="en-US" sz="1500" dirty="0">
                <a:solidFill>
                  <a:srgbClr val="1F2937"/>
                </a:solidFill>
                <a:latin typeface="Meiryo UI" pitchFamily="34" charset="0"/>
                <a:ea typeface="Meiryo UI" pitchFamily="34" charset="-122"/>
                <a:cs typeface="Meiryo UI" pitchFamily="34" charset="-120"/>
              </a:rPr>
              <a:t>数値の列（userId）は " で囲まない</a:t>
            </a:r>
            <a:endParaRPr lang="en-US" sz="1500" dirty="0"/>
          </a:p>
        </p:txBody>
      </p:sp>
      <p:sp>
        <p:nvSpPr>
          <p:cNvPr id="7" name="Text 5"/>
          <p:cNvSpPr/>
          <p:nvPr/>
        </p:nvSpPr>
        <p:spPr>
          <a:xfrm>
            <a:off x="5943600" y="1188720"/>
            <a:ext cx="5669280" cy="182880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600" dirty="0">
                <a:solidFill>
                  <a:srgbClr val="111827"/>
                </a:solidFill>
                <a:latin typeface="Consolas" pitchFamily="34" charset="0"/>
                <a:ea typeface="Consolas" pitchFamily="34" charset="-122"/>
                <a:cs typeface="Consolas" pitchFamily="34" charset="-120"/>
              </a:rPr>
              <a:t>{</a:t>
            </a:r>
            <a:endParaRPr lang="en-US" sz="1600" dirty="0"/>
          </a:p>
          <a:p>
            <a:pPr indent="0" marL="0">
              <a:buNone/>
            </a:pPr>
            <a:r>
              <a:rPr lang="en-US" sz="1600" dirty="0">
                <a:solidFill>
                  <a:srgbClr val="111827"/>
                </a:solidFill>
                <a:latin typeface="Consolas" pitchFamily="34" charset="0"/>
                <a:ea typeface="Consolas" pitchFamily="34" charset="-122"/>
                <a:cs typeface="Consolas" pitchFamily="34" charset="-120"/>
              </a:rPr>
              <a:t>  "title": "{{title}}",</a:t>
            </a:r>
            <a:endParaRPr lang="en-US" sz="1600" dirty="0"/>
          </a:p>
          <a:p>
            <a:pPr indent="0" marL="0">
              <a:buNone/>
            </a:pPr>
            <a:r>
              <a:rPr lang="en-US" sz="1600" dirty="0">
                <a:solidFill>
                  <a:srgbClr val="111827"/>
                </a:solidFill>
                <a:latin typeface="Consolas" pitchFamily="34" charset="0"/>
                <a:ea typeface="Consolas" pitchFamily="34" charset="-122"/>
                <a:cs typeface="Consolas" pitchFamily="34" charset="-120"/>
              </a:rPr>
              <a:t>  "body": "{{body}}",</a:t>
            </a:r>
            <a:endParaRPr lang="en-US" sz="1600" dirty="0"/>
          </a:p>
          <a:p>
            <a:pPr indent="0" marL="0">
              <a:buNone/>
            </a:pPr>
            <a:r>
              <a:rPr lang="en-US" sz="1600" dirty="0">
                <a:solidFill>
                  <a:srgbClr val="111827"/>
                </a:solidFill>
                <a:latin typeface="Consolas" pitchFamily="34" charset="0"/>
                <a:ea typeface="Consolas" pitchFamily="34" charset="-122"/>
                <a:cs typeface="Consolas" pitchFamily="34" charset="-120"/>
              </a:rPr>
              <a:t>  "userId": {{userId}}</a:t>
            </a:r>
            <a:endParaRPr lang="en-US" sz="1600" dirty="0"/>
          </a:p>
          <a:p>
            <a:pPr indent="0" marL="0">
              <a:buNone/>
            </a:pPr>
            <a:r>
              <a:rPr lang="en-US" sz="1600" dirty="0">
                <a:solidFill>
                  <a:srgbClr val="111827"/>
                </a:solidFill>
                <a:latin typeface="Consolas" pitchFamily="34" charset="0"/>
                <a:ea typeface="Consolas" pitchFamily="34" charset="-122"/>
                <a:cs typeface="Consolas" pitchFamily="34" charset="-120"/>
              </a:rPr>
              <a:t>}</a:t>
            </a:r>
            <a:endParaRPr lang="en-US" sz="1600" dirty="0"/>
          </a:p>
        </p:txBody>
      </p:sp>
      <p:sp>
        <p:nvSpPr>
          <p:cNvPr id="8" name="Text 6"/>
          <p:cNvSpPr/>
          <p:nvPr/>
        </p:nvSpPr>
        <p:spPr>
          <a:xfrm>
            <a:off x="5943600" y="914400"/>
            <a:ext cx="566928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Body（JSON）</a:t>
            </a:r>
            <a:endParaRPr lang="en-US" sz="1100" dirty="0"/>
          </a:p>
        </p:txBody>
      </p:sp>
      <p:sp>
        <p:nvSpPr>
          <p:cNvPr id="9" name="Shape 7"/>
          <p:cNvSpPr/>
          <p:nvPr/>
        </p:nvSpPr>
        <p:spPr>
          <a:xfrm>
            <a:off x="548640" y="3474720"/>
            <a:ext cx="11064240" cy="822960"/>
          </a:xfrm>
          <a:prstGeom prst="rect">
            <a:avLst/>
          </a:prstGeom>
          <a:solidFill>
            <a:srgbClr val="FEF2F2"/>
          </a:solidFill>
          <a:ln w="15875">
            <a:solidFill>
              <a:srgbClr val="B91C1C"/>
            </a:solidFill>
            <a:prstDash val="solid"/>
          </a:ln>
        </p:spPr>
      </p:sp>
      <p:sp>
        <p:nvSpPr>
          <p:cNvPr id="10" name="Shape 8"/>
          <p:cNvSpPr/>
          <p:nvPr/>
        </p:nvSpPr>
        <p:spPr>
          <a:xfrm>
            <a:off x="548640" y="3474720"/>
            <a:ext cx="82296" cy="822960"/>
          </a:xfrm>
          <a:prstGeom prst="rect">
            <a:avLst/>
          </a:prstGeom>
          <a:solidFill>
            <a:srgbClr val="B91C1C"/>
          </a:solidFill>
          <a:ln w="12700">
            <a:solidFill>
              <a:srgbClr val="B91C1C"/>
            </a:solidFill>
            <a:prstDash val="solid"/>
          </a:ln>
        </p:spPr>
      </p:sp>
      <p:sp>
        <p:nvSpPr>
          <p:cNvPr id="11" name="Text 9"/>
          <p:cNvSpPr/>
          <p:nvPr/>
        </p:nvSpPr>
        <p:spPr>
          <a:xfrm>
            <a:off x="713232" y="3520440"/>
            <a:ext cx="10835640" cy="731520"/>
          </a:xfrm>
          <a:prstGeom prst="rect">
            <a:avLst/>
          </a:prstGeom>
          <a:noFill/>
          <a:ln/>
        </p:spPr>
        <p:txBody>
          <a:bodyPr wrap="square" rtlCol="0" anchor="ctr"/>
          <a:lstStyle/>
          <a:p>
            <a:pPr indent="0" marL="0">
              <a:spcAft>
                <a:spcPts val="200"/>
              </a:spcAft>
              <a:buNone/>
            </a:pPr>
            <a:r>
              <a:rPr lang="en-US" sz="1300" b="1" dirty="0">
                <a:solidFill>
                  <a:srgbClr val="B91C1C"/>
                </a:solidFill>
                <a:latin typeface="Meiryo UI" pitchFamily="34" charset="0"/>
                <a:ea typeface="Meiryo UI" pitchFamily="34" charset="-122"/>
                <a:cs typeface="Meiryo UI" pitchFamily="34" charset="-120"/>
              </a:rPr>
              <a:t>【注意】</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画面で Send すると、CSV の値がないため {{title}} などは置き換わりません。CSV の値を使う実行は、次の手順の CLI で行います。</a:t>
            </a:r>
            <a:endParaRPr lang="en-US" sz="1300" dirty="0"/>
          </a:p>
        </p:txBody>
      </p:sp>
      <p:sp>
        <p:nvSpPr>
          <p:cNvPr id="12" name="Shape 10"/>
          <p:cNvSpPr/>
          <p:nvPr/>
        </p:nvSpPr>
        <p:spPr>
          <a:xfrm>
            <a:off x="548640" y="5788152"/>
            <a:ext cx="11064240" cy="329184"/>
          </a:xfrm>
          <a:prstGeom prst="rect">
            <a:avLst/>
          </a:prstGeom>
          <a:solidFill>
            <a:srgbClr val="ECFDF5"/>
          </a:solidFill>
          <a:ln w="12700">
            <a:solidFill>
              <a:srgbClr val="047857"/>
            </a:solidFill>
            <a:prstDash val="solid"/>
          </a:ln>
        </p:spPr>
      </p:sp>
      <p:sp>
        <p:nvSpPr>
          <p:cNvPr id="13" name="Text 11"/>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09_TIPS\01 Create Post from Data File.yml（このボディが入った完成形）</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【CSV 手順 3/3】CLI で CSV を指定して実行する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548640" y="1188720"/>
            <a:ext cx="11064240" cy="1371600"/>
          </a:xfrm>
          <a:prstGeom prst="rect">
            <a:avLst/>
          </a:prstGeom>
          <a:noFill/>
          <a:ln/>
        </p:spPr>
        <p:txBody>
          <a:bodyPr wrap="square" rtlCol="0" anchor="t"/>
          <a:lstStyle/>
          <a:p>
            <a:pPr indent="0" marL="0">
              <a:spcAft>
                <a:spcPts val="800"/>
              </a:spcAft>
              <a:buNone/>
            </a:pPr>
            <a:r>
              <a:rPr lang="en-US" sz="15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500" dirty="0">
                <a:solidFill>
                  <a:srgbClr val="1F2937"/>
                </a:solidFill>
                <a:latin typeface="Meiryo UI" pitchFamily="34" charset="0"/>
                <a:ea typeface="Meiryo UI" pitchFamily="34" charset="-122"/>
                <a:cs typeface="Meiryo UI" pitchFamily="34" charset="-120"/>
              </a:rPr>
              <a:t>ターミナルで bruno-hands-on フォルダに移動</a:t>
            </a:r>
            <a:endParaRPr lang="en-US" sz="1500" dirty="0"/>
          </a:p>
          <a:p>
            <a:pPr indent="0" marL="0">
              <a:spcAft>
                <a:spcPts val="800"/>
              </a:spcAft>
              <a:buNone/>
            </a:pPr>
            <a:r>
              <a:rPr lang="en-US" sz="15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500" dirty="0">
                <a:solidFill>
                  <a:srgbClr val="1F2937"/>
                </a:solidFill>
                <a:latin typeface="Meiryo UI" pitchFamily="34" charset="0"/>
                <a:ea typeface="Meiryo UI" pitchFamily="34" charset="-122"/>
                <a:cs typeface="Meiryo UI" pitchFamily="34" charset="-120"/>
              </a:rPr>
              <a:t>次のコマンドを実行（1 行で入力）</a:t>
            </a:r>
            <a:endParaRPr lang="en-US" sz="1500" dirty="0"/>
          </a:p>
          <a:p>
            <a:pPr indent="0" marL="0">
              <a:spcAft>
                <a:spcPts val="800"/>
              </a:spcAft>
              <a:buNone/>
            </a:pPr>
            <a:r>
              <a:rPr lang="en-US" sz="15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500" dirty="0">
                <a:solidFill>
                  <a:srgbClr val="1F2937"/>
                </a:solidFill>
                <a:latin typeface="Meiryo UI" pitchFamily="34" charset="0"/>
                <a:ea typeface="Meiryo UI" pitchFamily="34" charset="-122"/>
                <a:cs typeface="Meiryo UI" pitchFamily="34" charset="-120"/>
              </a:rPr>
              <a:t>「Iteration: 1〜3」と、それぞれ 201 Created・✓ が表示されれば成功</a:t>
            </a:r>
            <a:endParaRPr lang="en-US" sz="1500" dirty="0"/>
          </a:p>
        </p:txBody>
      </p:sp>
      <p:sp>
        <p:nvSpPr>
          <p:cNvPr id="7" name="Text 5"/>
          <p:cNvSpPr/>
          <p:nvPr/>
        </p:nvSpPr>
        <p:spPr>
          <a:xfrm>
            <a:off x="548640" y="2743200"/>
            <a:ext cx="11064240" cy="86868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200" dirty="0">
                <a:solidFill>
                  <a:srgbClr val="111827"/>
                </a:solidFill>
                <a:latin typeface="Consolas" pitchFamily="34" charset="0"/>
                <a:ea typeface="Consolas" pitchFamily="34" charset="-122"/>
                <a:cs typeface="Consolas" pitchFamily="34" charset="-120"/>
              </a:rPr>
              <a:t>cd $env:USERPROFILE\Documents\bruno-learning\exercises\bruno-hands-on</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bru run "09_TIPS/01 Create Post from Data File.yml" --env JSONPlaceholder --csv-file-path ../tips/tips-posts.csv</a:t>
            </a:r>
            <a:endParaRPr lang="en-US" sz="1200" dirty="0"/>
          </a:p>
        </p:txBody>
      </p:sp>
      <p:sp>
        <p:nvSpPr>
          <p:cNvPr id="8" name="Text 6"/>
          <p:cNvSpPr/>
          <p:nvPr/>
        </p:nvSpPr>
        <p:spPr>
          <a:xfrm>
            <a:off x="548640" y="3840480"/>
            <a:ext cx="6858000" cy="173736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200" dirty="0">
                <a:solidFill>
                  <a:srgbClr val="111827"/>
                </a:solidFill>
                <a:latin typeface="Consolas" pitchFamily="34" charset="0"/>
                <a:ea typeface="Consolas" pitchFamily="34" charset="-122"/>
                <a:cs typeface="Consolas" pitchFamily="34" charset="-120"/>
              </a:rPr>
              <a:t>Iteration: 1</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09_TIPS\01 Create Post from Data File (201 Created)</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 res.status: eq 201</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 res.body.title: eq {{title}}</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Iteration: 2 …（同様）</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Iteration: 3 …（同様）</a:t>
            </a:r>
            <a:endParaRPr lang="en-US" sz="1200" dirty="0"/>
          </a:p>
        </p:txBody>
      </p:sp>
      <p:sp>
        <p:nvSpPr>
          <p:cNvPr id="9" name="Text 7"/>
          <p:cNvSpPr/>
          <p:nvPr/>
        </p:nvSpPr>
        <p:spPr>
          <a:xfrm>
            <a:off x="548640" y="3566160"/>
            <a:ext cx="685800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実行結果（2026-10-09、作成環境）</a:t>
            </a:r>
            <a:endParaRPr lang="en-US" sz="1100" dirty="0"/>
          </a:p>
        </p:txBody>
      </p:sp>
      <p:sp>
        <p:nvSpPr>
          <p:cNvPr id="10" name="Text 8"/>
          <p:cNvSpPr/>
          <p:nvPr/>
        </p:nvSpPr>
        <p:spPr>
          <a:xfrm>
            <a:off x="7680960" y="3840480"/>
            <a:ext cx="3931920" cy="1463040"/>
          </a:xfrm>
          <a:prstGeom prst="rect">
            <a:avLst/>
          </a:prstGeom>
          <a:noFill/>
          <a:ln/>
        </p:spPr>
        <p:txBody>
          <a:bodyPr wrap="square" lIns="50800" tIns="50800" rIns="50800" bIns="50800" rtlCol="0" anchor="t"/>
          <a:lstStyle/>
          <a:p>
            <a:pPr algn="l" indent="0" marL="0">
              <a:buNone/>
            </a:pPr>
            <a:r>
              <a:rPr lang="en-US" sz="1300" dirty="0">
                <a:solidFill>
                  <a:srgbClr val="1F2937"/>
                </a:solidFill>
                <a:latin typeface="Meiryo UI" pitchFamily="34" charset="0"/>
                <a:ea typeface="Meiryo UI" pitchFamily="34" charset="-122"/>
                <a:cs typeface="Meiryo UI" pitchFamily="34" charset="-120"/>
              </a:rPr>
              <a:t>--csv-file-path の後ろは、コマンドを実行しているフォルダから見た CSV の場所です（../ は 1 つ上のフォルダ）。</a:t>
            </a:r>
            <a:endParaRPr lang="en-US" sz="1300" dirty="0"/>
          </a:p>
        </p:txBody>
      </p:sp>
      <p:sp>
        <p:nvSpPr>
          <p:cNvPr id="11" name="Shape 9"/>
          <p:cNvSpPr/>
          <p:nvPr/>
        </p:nvSpPr>
        <p:spPr>
          <a:xfrm>
            <a:off x="548640" y="5788152"/>
            <a:ext cx="11064240" cy="329184"/>
          </a:xfrm>
          <a:prstGeom prst="rect">
            <a:avLst/>
          </a:prstGeom>
          <a:solidFill>
            <a:srgbClr val="ECFDF5"/>
          </a:solidFill>
          <a:ln w="12700">
            <a:solidFill>
              <a:srgbClr val="047857"/>
            </a:solidFill>
            <a:prstDash val="solid"/>
          </a:ln>
        </p:spPr>
      </p:sp>
      <p:sp>
        <p:nvSpPr>
          <p:cNvPr id="12" name="Text 10"/>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フォルダで同じコマンドを実行しても同じ結果になります（ログ：answers\cli-results\run_tips_csv.txt）</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TIPS：外部の JSON ファイルの値で繰り返し実行する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出典：Bruno CLI 4.2.1（@usebruno/cli）で 2026-10-09 に実行して確認（answers/cli-results/）</a:t>
            </a:r>
            <a:endParaRPr lang="en-US" sz="1000" dirty="0"/>
          </a:p>
        </p:txBody>
      </p:sp>
      <p:sp>
        <p:nvSpPr>
          <p:cNvPr id="7" name="Text 5"/>
          <p:cNvSpPr/>
          <p:nvPr/>
        </p:nvSpPr>
        <p:spPr>
          <a:xfrm>
            <a:off x="548640" y="1371600"/>
            <a:ext cx="11064240" cy="128016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300" dirty="0">
                <a:solidFill>
                  <a:srgbClr val="111827"/>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  { "title": "JSON から作成 1", "body": "JSON の 1 件目", "userId": 1 },</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  { "title": "JSON から作成 2", "body": "JSON の 2 件目", "userId": 2 }</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a:t>
            </a:r>
            <a:endParaRPr lang="en-US" sz="1300" dirty="0"/>
          </a:p>
        </p:txBody>
      </p:sp>
      <p:sp>
        <p:nvSpPr>
          <p:cNvPr id="8" name="Text 6"/>
          <p:cNvSpPr/>
          <p:nvPr/>
        </p:nvSpPr>
        <p:spPr>
          <a:xfrm>
            <a:off x="548640" y="1097280"/>
            <a:ext cx="1106424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exercises\tips\tips-posts.json（配列の 1 要素 = 1 回分）</a:t>
            </a:r>
            <a:endParaRPr lang="en-US" sz="1100" dirty="0"/>
          </a:p>
        </p:txBody>
      </p:sp>
      <p:sp>
        <p:nvSpPr>
          <p:cNvPr id="9" name="Text 7"/>
          <p:cNvSpPr/>
          <p:nvPr/>
        </p:nvSpPr>
        <p:spPr>
          <a:xfrm>
            <a:off x="548640" y="3017520"/>
            <a:ext cx="11064240" cy="548640"/>
          </a:xfrm>
          <a:prstGeom prst="rect">
            <a:avLst/>
          </a:prstGeom>
          <a:solidFill>
            <a:srgbClr val="F3F4F6"/>
          </a:solidFill>
          <a:ln w="12700">
            <a:solidFill>
              <a:srgbClr val="D1D5DB"/>
            </a:solidFill>
          </a:ln>
        </p:spPr>
        <p:txBody>
          <a:bodyPr wrap="square" lIns="101600" tIns="101600" rIns="101600" bIns="101600" rtlCol="0" anchor="ctr"/>
          <a:lstStyle/>
          <a:p>
            <a:pPr indent="0" marL="0">
              <a:buNone/>
            </a:pPr>
            <a:r>
              <a:rPr lang="en-US" sz="1200" dirty="0">
                <a:solidFill>
                  <a:srgbClr val="111827"/>
                </a:solidFill>
                <a:latin typeface="Consolas" pitchFamily="34" charset="0"/>
                <a:ea typeface="Consolas" pitchFamily="34" charset="-122"/>
                <a:cs typeface="Consolas" pitchFamily="34" charset="-120"/>
              </a:rPr>
              <a:t>bru run "09_TIPS/01 Create Post from Data File.yml" --env JSONPlaceholder --json-file-path ../tips/tips-posts.json</a:t>
            </a:r>
            <a:endParaRPr lang="en-US" sz="1200" dirty="0"/>
          </a:p>
        </p:txBody>
      </p:sp>
      <p:sp>
        <p:nvSpPr>
          <p:cNvPr id="10" name="Text 8"/>
          <p:cNvSpPr/>
          <p:nvPr/>
        </p:nvSpPr>
        <p:spPr>
          <a:xfrm>
            <a:off x="548640" y="2743200"/>
            <a:ext cx="1106424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リクエストは T2 と同じものを使う</a:t>
            </a:r>
            <a:endParaRPr lang="en-US" sz="11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3931920"/>
          <a:ext cx="5486400" cy="914400"/>
        </p:xfrm>
        <a:graphic>
          <a:graphicData uri="http://schemas.openxmlformats.org/drawingml/2006/table">
            <a:tbl>
              <a:tblPr/>
              <a:tblGrid>
                <a:gridCol w="1828800"/>
                <a:gridCol w="1828800"/>
                <a:gridCol w="1828800"/>
              </a:tblGrid>
              <a:tr h="365760">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Iteration</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Status</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Assertions</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36576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#1</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 PASS</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2/2</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#2</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 PASS</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2/2</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36576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TOTAL</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 PASS</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4/4</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12" name="Shape 9"/>
          <p:cNvSpPr/>
          <p:nvPr/>
        </p:nvSpPr>
        <p:spPr>
          <a:xfrm>
            <a:off x="6309360" y="3931920"/>
            <a:ext cx="5303520" cy="1280160"/>
          </a:xfrm>
          <a:prstGeom prst="rect">
            <a:avLst/>
          </a:prstGeom>
          <a:solidFill>
            <a:srgbClr val="EFF6FF"/>
          </a:solidFill>
          <a:ln w="15875">
            <a:solidFill>
              <a:srgbClr val="1D4ED8"/>
            </a:solidFill>
            <a:prstDash val="solid"/>
          </a:ln>
        </p:spPr>
      </p:sp>
      <p:sp>
        <p:nvSpPr>
          <p:cNvPr id="13" name="Shape 10"/>
          <p:cNvSpPr/>
          <p:nvPr/>
        </p:nvSpPr>
        <p:spPr>
          <a:xfrm>
            <a:off x="6309360" y="3931920"/>
            <a:ext cx="82296" cy="1280160"/>
          </a:xfrm>
          <a:prstGeom prst="rect">
            <a:avLst/>
          </a:prstGeom>
          <a:solidFill>
            <a:srgbClr val="1D4ED8"/>
          </a:solidFill>
          <a:ln w="12700">
            <a:solidFill>
              <a:srgbClr val="1D4ED8"/>
            </a:solidFill>
            <a:prstDash val="solid"/>
          </a:ln>
        </p:spPr>
      </p:sp>
      <p:sp>
        <p:nvSpPr>
          <p:cNvPr id="14" name="Text 11"/>
          <p:cNvSpPr/>
          <p:nvPr/>
        </p:nvSpPr>
        <p:spPr>
          <a:xfrm>
            <a:off x="6473952" y="3977640"/>
            <a:ext cx="5074920" cy="1188720"/>
          </a:xfrm>
          <a:prstGeom prst="rect">
            <a:avLst/>
          </a:prstGeom>
          <a:noFill/>
          <a:ln/>
        </p:spPr>
        <p:txBody>
          <a:bodyPr wrap="square" rtlCol="0" anchor="ctr"/>
          <a:lstStyle/>
          <a:p>
            <a:pPr indent="0" marL="0">
              <a:spcAft>
                <a:spcPts val="200"/>
              </a:spcAft>
              <a:buNone/>
            </a:pPr>
            <a:r>
              <a:rPr lang="en-US" sz="1300" b="1" dirty="0">
                <a:solidFill>
                  <a:srgbClr val="1D4ED8"/>
                </a:solidFill>
                <a:latin typeface="Meiryo UI" pitchFamily="34" charset="0"/>
                <a:ea typeface="Meiryo UI" pitchFamily="34" charset="-122"/>
                <a:cs typeface="Meiryo UI" pitchFamily="34" charset="-120"/>
              </a:rPr>
              <a:t>【CSV と JSON の使い分け】</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CSV は表計算ソフトで作りやすい。JSON は数値・真偽値・入れ子などの型をそのまま書ける。</a:t>
            </a:r>
            <a:endParaRPr lang="en-US" sz="1300" dirty="0"/>
          </a:p>
        </p:txBody>
      </p:sp>
      <p:sp>
        <p:nvSpPr>
          <p:cNvPr id="15" name="Shape 12"/>
          <p:cNvSpPr/>
          <p:nvPr/>
        </p:nvSpPr>
        <p:spPr>
          <a:xfrm>
            <a:off x="548640" y="5788152"/>
            <a:ext cx="11064240" cy="329184"/>
          </a:xfrm>
          <a:prstGeom prst="rect">
            <a:avLst/>
          </a:prstGeom>
          <a:solidFill>
            <a:srgbClr val="ECFDF5"/>
          </a:solidFill>
          <a:ln w="12700">
            <a:solidFill>
              <a:srgbClr val="047857"/>
            </a:solidFill>
            <a:prstDash val="solid"/>
          </a:ln>
        </p:spPr>
      </p:sp>
      <p:sp>
        <p:nvSpPr>
          <p:cNvPr id="16" name="Text 13"/>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09_TIPS\01 Create Post from Data File.yml を --json-file-path 付きで実行</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【JSON 手順 1/2】JSON ファイルを用意する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548640" y="1188720"/>
            <a:ext cx="11064240" cy="1463040"/>
          </a:xfrm>
          <a:prstGeom prst="rect">
            <a:avLst/>
          </a:prstGeom>
          <a:noFill/>
          <a:ln/>
        </p:spPr>
        <p:txBody>
          <a:bodyPr wrap="square" rtlCol="0" anchor="t"/>
          <a:lstStyle/>
          <a:p>
            <a:pPr indent="0" marL="0">
              <a:spcAft>
                <a:spcPts val="800"/>
              </a:spcAft>
              <a:buNone/>
            </a:pPr>
            <a:r>
              <a:rPr lang="en-US" sz="16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600" dirty="0">
                <a:solidFill>
                  <a:srgbClr val="1F2937"/>
                </a:solidFill>
                <a:latin typeface="Meiryo UI" pitchFamily="34" charset="0"/>
                <a:ea typeface="Meiryo UI" pitchFamily="34" charset="-122"/>
                <a:cs typeface="Meiryo UI" pitchFamily="34" charset="-120"/>
              </a:rPr>
              <a:t>[ ] の配列の中に、1 回分ずつ { } を並べる</a:t>
            </a:r>
            <a:endParaRPr lang="en-US" sz="1600" dirty="0"/>
          </a:p>
          <a:p>
            <a:pPr indent="0" marL="0">
              <a:spcAft>
                <a:spcPts val="800"/>
              </a:spcAft>
              <a:buNone/>
            </a:pPr>
            <a:r>
              <a:rPr lang="en-US" sz="16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600" dirty="0">
                <a:solidFill>
                  <a:srgbClr val="1F2937"/>
                </a:solidFill>
                <a:latin typeface="Meiryo UI" pitchFamily="34" charset="0"/>
                <a:ea typeface="Meiryo UI" pitchFamily="34" charset="-122"/>
                <a:cs typeface="Meiryo UI" pitchFamily="34" charset="-120"/>
              </a:rPr>
              <a:t>キー名（title など）が {{キー名}} の変数名になる</a:t>
            </a:r>
            <a:endParaRPr lang="en-US" sz="1600" dirty="0"/>
          </a:p>
          <a:p>
            <a:pPr indent="0" marL="0">
              <a:spcAft>
                <a:spcPts val="800"/>
              </a:spcAft>
              <a:buNone/>
            </a:pPr>
            <a:r>
              <a:rPr lang="en-US" sz="16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600" dirty="0">
                <a:solidFill>
                  <a:srgbClr val="1F2937"/>
                </a:solidFill>
                <a:latin typeface="Meiryo UI" pitchFamily="34" charset="0"/>
                <a:ea typeface="Meiryo UI" pitchFamily="34" charset="-122"/>
                <a:cs typeface="Meiryo UI" pitchFamily="34" charset="-120"/>
              </a:rPr>
              <a:t>UTF-8 で保存（例：exercises\tips\tips-posts.json）</a:t>
            </a:r>
            <a:endParaRPr lang="en-US" sz="1600" dirty="0"/>
          </a:p>
        </p:txBody>
      </p:sp>
      <p:sp>
        <p:nvSpPr>
          <p:cNvPr id="7" name="Text 5"/>
          <p:cNvSpPr/>
          <p:nvPr/>
        </p:nvSpPr>
        <p:spPr>
          <a:xfrm>
            <a:off x="548640" y="2834640"/>
            <a:ext cx="11064240" cy="137160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400" dirty="0">
                <a:solidFill>
                  <a:srgbClr val="111827"/>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111827"/>
                </a:solidFill>
                <a:latin typeface="Consolas" pitchFamily="34" charset="0"/>
                <a:ea typeface="Consolas" pitchFamily="34" charset="-122"/>
                <a:cs typeface="Consolas" pitchFamily="34" charset="-120"/>
              </a:rPr>
              <a:t>  { "title": "JSON から作成 1", "body": "JSON の 1 件目", "userId": 1 },</a:t>
            </a:r>
            <a:endParaRPr lang="en-US" sz="1400" dirty="0"/>
          </a:p>
          <a:p>
            <a:pPr indent="0" marL="0">
              <a:buNone/>
            </a:pPr>
            <a:r>
              <a:rPr lang="en-US" sz="1400" dirty="0">
                <a:solidFill>
                  <a:srgbClr val="111827"/>
                </a:solidFill>
                <a:latin typeface="Consolas" pitchFamily="34" charset="0"/>
                <a:ea typeface="Consolas" pitchFamily="34" charset="-122"/>
                <a:cs typeface="Consolas" pitchFamily="34" charset="-120"/>
              </a:rPr>
              <a:t>  { "title": "JSON から作成 2", "body": "JSON の 2 件目", "userId": 2 }</a:t>
            </a:r>
            <a:endParaRPr lang="en-US" sz="1400" dirty="0"/>
          </a:p>
          <a:p>
            <a:pPr indent="0" marL="0">
              <a:buNone/>
            </a:pPr>
            <a:r>
              <a:rPr lang="en-US" sz="1400" dirty="0">
                <a:solidFill>
                  <a:srgbClr val="111827"/>
                </a:solidFill>
                <a:latin typeface="Consolas" pitchFamily="34" charset="0"/>
                <a:ea typeface="Consolas" pitchFamily="34" charset="-122"/>
                <a:cs typeface="Consolas" pitchFamily="34" charset="-120"/>
              </a:rPr>
              <a:t>]</a:t>
            </a:r>
            <a:endParaRPr lang="en-US" sz="1400" dirty="0"/>
          </a:p>
        </p:txBody>
      </p:sp>
      <p:sp>
        <p:nvSpPr>
          <p:cNvPr id="8" name="Text 6"/>
          <p:cNvSpPr/>
          <p:nvPr/>
        </p:nvSpPr>
        <p:spPr>
          <a:xfrm>
            <a:off x="548640" y="2560320"/>
            <a:ext cx="1106424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tips-posts.json（配布ファイル）</a:t>
            </a:r>
            <a:endParaRPr lang="en-US" sz="1100" dirty="0"/>
          </a:p>
        </p:txBody>
      </p:sp>
      <p:sp>
        <p:nvSpPr>
          <p:cNvPr id="9" name="Text 7"/>
          <p:cNvSpPr/>
          <p:nvPr/>
        </p:nvSpPr>
        <p:spPr>
          <a:xfrm>
            <a:off x="548640" y="4480560"/>
            <a:ext cx="11064240" cy="457200"/>
          </a:xfrm>
          <a:prstGeom prst="rect">
            <a:avLst/>
          </a:prstGeom>
          <a:noFill/>
          <a:ln/>
        </p:spPr>
        <p:txBody>
          <a:bodyPr wrap="square" lIns="50800" tIns="50800" rIns="50800" bIns="50800" rtlCol="0" anchor="t"/>
          <a:lstStyle/>
          <a:p>
            <a:pPr algn="l" indent="0" marL="0">
              <a:buNone/>
            </a:pPr>
            <a:r>
              <a:rPr lang="en-US" sz="1400" dirty="0">
                <a:solidFill>
                  <a:srgbClr val="1F2937"/>
                </a:solidFill>
                <a:latin typeface="Meiryo UI" pitchFamily="34" charset="0"/>
                <a:ea typeface="Meiryo UI" pitchFamily="34" charset="-122"/>
                <a:cs typeface="Meiryo UI" pitchFamily="34" charset="-120"/>
              </a:rPr>
              <a:t>リクエストは CSV と同じ 01 Create Post from Data File を使います（ボディの {{title}} などはそのまま）。</a:t>
            </a:r>
            <a:endParaRPr lang="en-US" sz="1400" dirty="0"/>
          </a:p>
        </p:txBody>
      </p:sp>
      <p:sp>
        <p:nvSpPr>
          <p:cNvPr id="10" name="Shape 8"/>
          <p:cNvSpPr/>
          <p:nvPr/>
        </p:nvSpPr>
        <p:spPr>
          <a:xfrm>
            <a:off x="548640" y="5788152"/>
            <a:ext cx="11064240" cy="329184"/>
          </a:xfrm>
          <a:prstGeom prst="rect">
            <a:avLst/>
          </a:prstGeom>
          <a:solidFill>
            <a:srgbClr val="ECFDF5"/>
          </a:solidFill>
          <a:ln w="12700">
            <a:solidFill>
              <a:srgbClr val="047857"/>
            </a:solidFill>
            <a:prstDash val="solid"/>
          </a:ln>
        </p:spPr>
      </p:sp>
      <p:sp>
        <p:nvSpPr>
          <p:cNvPr id="11" name="Text 9"/>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配布ファイル exercises\tips\tips-posts.json をそのまま使えます</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【JSON 手順 2/2】CLI で JSON を指定して実行する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548640" y="1280160"/>
            <a:ext cx="11064240" cy="548640"/>
          </a:xfrm>
          <a:prstGeom prst="rect">
            <a:avLst/>
          </a:prstGeom>
          <a:solidFill>
            <a:srgbClr val="F3F4F6"/>
          </a:solidFill>
          <a:ln w="12700">
            <a:solidFill>
              <a:srgbClr val="D1D5DB"/>
            </a:solidFill>
          </a:ln>
        </p:spPr>
        <p:txBody>
          <a:bodyPr wrap="square" lIns="101600" tIns="101600" rIns="101600" bIns="101600" rtlCol="0" anchor="ctr"/>
          <a:lstStyle/>
          <a:p>
            <a:pPr indent="0" marL="0">
              <a:buNone/>
            </a:pPr>
            <a:r>
              <a:rPr lang="en-US" sz="1200" dirty="0">
                <a:solidFill>
                  <a:srgbClr val="111827"/>
                </a:solidFill>
                <a:latin typeface="Consolas" pitchFamily="34" charset="0"/>
                <a:ea typeface="Consolas" pitchFamily="34" charset="-122"/>
                <a:cs typeface="Consolas" pitchFamily="34" charset="-120"/>
              </a:rPr>
              <a:t>bru run "09_TIPS/01 Create Post from Data File.yml" --env JSONPlaceholder --json-file-path ../tips/tips-posts.json</a:t>
            </a:r>
            <a:endParaRPr lang="en-US" sz="1200" dirty="0"/>
          </a:p>
        </p:txBody>
      </p:sp>
      <p:sp>
        <p:nvSpPr>
          <p:cNvPr id="7" name="Text 5"/>
          <p:cNvSpPr/>
          <p:nvPr/>
        </p:nvSpPr>
        <p:spPr>
          <a:xfrm>
            <a:off x="548640" y="1005840"/>
            <a:ext cx="1106424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bruno-hands-on フォルダで実行（CSV との違いは --json-file-path だけ）</a:t>
            </a:r>
            <a:endParaRPr lang="en-US" sz="11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5486400" cy="914400"/>
        </p:xfrm>
        <a:graphic>
          <a:graphicData uri="http://schemas.openxmlformats.org/drawingml/2006/table">
            <a:tbl>
              <a:tblPr/>
              <a:tblGrid>
                <a:gridCol w="1828800"/>
                <a:gridCol w="1828800"/>
                <a:gridCol w="1828800"/>
              </a:tblGrid>
              <a:tr h="411480">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Iteration</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Status</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Assertions</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1148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#1</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 PASS</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2/2</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#2</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 PASS</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2/2</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1148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TOTAL</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 PASS</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4/4</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9" name="Text 6"/>
          <p:cNvSpPr/>
          <p:nvPr/>
        </p:nvSpPr>
        <p:spPr>
          <a:xfrm>
            <a:off x="548640" y="3931920"/>
            <a:ext cx="5486400" cy="548640"/>
          </a:xfrm>
          <a:prstGeom prst="rect">
            <a:avLst/>
          </a:prstGeom>
          <a:noFill/>
          <a:ln/>
        </p:spPr>
        <p:txBody>
          <a:bodyPr wrap="square" lIns="50800" tIns="50800" rIns="50800" bIns="50800" rtlCol="0" anchor="t"/>
          <a:lstStyle/>
          <a:p>
            <a:pPr algn="l" indent="0" marL="0">
              <a:buNone/>
            </a:pPr>
            <a:r>
              <a:rPr lang="en-US" sz="1200" dirty="0">
                <a:solidFill>
                  <a:srgbClr val="6B7280"/>
                </a:solidFill>
                <a:latin typeface="Meiryo UI" pitchFamily="34" charset="0"/>
                <a:ea typeface="Meiryo UI" pitchFamily="34" charset="-122"/>
                <a:cs typeface="Meiryo UI" pitchFamily="34" charset="-120"/>
              </a:rPr>
              <a:t>実行結果の要約（2026-10-09、作成環境）。配列の要素が 2 つなので 2 回実行された</a:t>
            </a:r>
            <a:endParaRPr lang="en-US" sz="1200" dirty="0"/>
          </a:p>
        </p:txBody>
      </p:sp>
      <p:sp>
        <p:nvSpPr>
          <p:cNvPr id="10" name="Shape 7"/>
          <p:cNvSpPr/>
          <p:nvPr/>
        </p:nvSpPr>
        <p:spPr>
          <a:xfrm>
            <a:off x="6309360" y="2194560"/>
            <a:ext cx="5303520" cy="1280160"/>
          </a:xfrm>
          <a:prstGeom prst="rect">
            <a:avLst/>
          </a:prstGeom>
          <a:solidFill>
            <a:srgbClr val="EFF6FF"/>
          </a:solidFill>
          <a:ln w="15875">
            <a:solidFill>
              <a:srgbClr val="1D4ED8"/>
            </a:solidFill>
            <a:prstDash val="solid"/>
          </a:ln>
        </p:spPr>
      </p:sp>
      <p:sp>
        <p:nvSpPr>
          <p:cNvPr id="11" name="Shape 8"/>
          <p:cNvSpPr/>
          <p:nvPr/>
        </p:nvSpPr>
        <p:spPr>
          <a:xfrm>
            <a:off x="6309360" y="2194560"/>
            <a:ext cx="82296" cy="1280160"/>
          </a:xfrm>
          <a:prstGeom prst="rect">
            <a:avLst/>
          </a:prstGeom>
          <a:solidFill>
            <a:srgbClr val="1D4ED8"/>
          </a:solidFill>
          <a:ln w="12700">
            <a:solidFill>
              <a:srgbClr val="1D4ED8"/>
            </a:solidFill>
            <a:prstDash val="solid"/>
          </a:ln>
        </p:spPr>
      </p:sp>
      <p:sp>
        <p:nvSpPr>
          <p:cNvPr id="12" name="Text 9"/>
          <p:cNvSpPr/>
          <p:nvPr/>
        </p:nvSpPr>
        <p:spPr>
          <a:xfrm>
            <a:off x="6473952" y="2240280"/>
            <a:ext cx="5074920" cy="1188720"/>
          </a:xfrm>
          <a:prstGeom prst="rect">
            <a:avLst/>
          </a:prstGeom>
          <a:noFill/>
          <a:ln/>
        </p:spPr>
        <p:txBody>
          <a:bodyPr wrap="square" rtlCol="0" anchor="ctr"/>
          <a:lstStyle/>
          <a:p>
            <a:pPr indent="0" marL="0">
              <a:spcAft>
                <a:spcPts val="200"/>
              </a:spcAft>
              <a:buNone/>
            </a:pPr>
            <a:r>
              <a:rPr lang="en-US" sz="1300" b="1" dirty="0">
                <a:solidFill>
                  <a:srgbClr val="1D4ED8"/>
                </a:solidFill>
                <a:latin typeface="Meiryo UI" pitchFamily="34" charset="0"/>
                <a:ea typeface="Meiryo UI" pitchFamily="34" charset="-122"/>
                <a:cs typeface="Meiryo UI" pitchFamily="34" charset="-120"/>
              </a:rPr>
              <a:t>【CSV と JSON の使い分け】</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CSV は表計算ソフトで作りやすい。JSON は数値・真偽値・入れ子を型のまま書ける。</a:t>
            </a:r>
            <a:endParaRPr lang="en-US" sz="1300" dirty="0"/>
          </a:p>
        </p:txBody>
      </p:sp>
      <p:sp>
        <p:nvSpPr>
          <p:cNvPr id="13" name="Shape 10"/>
          <p:cNvSpPr/>
          <p:nvPr/>
        </p:nvSpPr>
        <p:spPr>
          <a:xfrm>
            <a:off x="548640" y="5788152"/>
            <a:ext cx="11064240" cy="329184"/>
          </a:xfrm>
          <a:prstGeom prst="rect">
            <a:avLst/>
          </a:prstGeom>
          <a:solidFill>
            <a:srgbClr val="ECFDF5"/>
          </a:solidFill>
          <a:ln w="12700">
            <a:solidFill>
              <a:srgbClr val="047857"/>
            </a:solidFill>
            <a:prstDash val="solid"/>
          </a:ln>
        </p:spPr>
      </p:sp>
      <p:sp>
        <p:nvSpPr>
          <p:cNvPr id="14" name="Text 11"/>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フォルダで同じコマンドを実行しても同じ結果になります（ログ：answers\cli-results\run_tips_json.txt）</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TIPS：取得した値を、次のリクエストで送信する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出典：https://docs.usebruno.com/variables/runtime-variables ／ 画面と CLI で 2026-10-09 に確認</a:t>
            </a:r>
            <a:endParaRPr lang="en-US" sz="1000" dirty="0"/>
          </a:p>
        </p:txBody>
      </p:sp>
      <p:pic>
        <p:nvPicPr>
          <p:cNvPr id="7" name="Image 0" descr="① 09_Features/03 Save First Post Id の Script &gt; Post Response">    </p:cNvPr>
          <p:cNvPicPr>
            <a:picLocks noChangeAspect="1"/>
          </p:cNvPicPr>
          <p:nvPr/>
        </p:nvPicPr>
        <p:blipFill>
          <a:blip r:embed="rId1"/>
          <a:stretch>
            <a:fillRect/>
          </a:stretch>
        </p:blipFill>
        <p:spPr>
          <a:xfrm>
            <a:off x="548640" y="1097280"/>
            <a:ext cx="6217920" cy="1731573"/>
          </a:xfrm>
          <a:prstGeom prst="rect">
            <a:avLst/>
          </a:prstGeom>
        </p:spPr>
      </p:pic>
      <p:sp>
        <p:nvSpPr>
          <p:cNvPr id="8" name="Shape 5"/>
          <p:cNvSpPr/>
          <p:nvPr/>
        </p:nvSpPr>
        <p:spPr>
          <a:xfrm>
            <a:off x="548640" y="1097280"/>
            <a:ext cx="6217920" cy="1731573"/>
          </a:xfrm>
          <a:prstGeom prst="rect">
            <a:avLst/>
          </a:prstGeom>
          <a:ln w="9525">
            <a:solidFill>
              <a:srgbClr val="D1D5DB"/>
            </a:solidFill>
            <a:prstDash val="solid"/>
          </a:ln>
        </p:spPr>
      </p:sp>
      <p:sp>
        <p:nvSpPr>
          <p:cNvPr id="9" name="Text 6"/>
          <p:cNvSpPr/>
          <p:nvPr/>
        </p:nvSpPr>
        <p:spPr>
          <a:xfrm>
            <a:off x="548640" y="2847141"/>
            <a:ext cx="621792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① 09_Features/03 Save First Post Id の Script &gt; Post Response</a:t>
            </a:r>
            <a:endParaRPr lang="en-US" sz="1000" dirty="0"/>
          </a:p>
        </p:txBody>
      </p:sp>
      <p:sp>
        <p:nvSpPr>
          <p:cNvPr id="10" name="Shape 7"/>
          <p:cNvSpPr/>
          <p:nvPr/>
        </p:nvSpPr>
        <p:spPr>
          <a:xfrm>
            <a:off x="2726301" y="1531562"/>
            <a:ext cx="414374" cy="260893"/>
          </a:xfrm>
          <a:prstGeom prst="rect">
            <a:avLst/>
          </a:prstGeom>
          <a:ln w="28575">
            <a:solidFill>
              <a:srgbClr val="E11D2E"/>
            </a:solidFill>
            <a:prstDash val="solid"/>
          </a:ln>
        </p:spPr>
      </p:sp>
      <p:sp>
        <p:nvSpPr>
          <p:cNvPr id="11" name="Shape 8"/>
          <p:cNvSpPr/>
          <p:nvPr/>
        </p:nvSpPr>
        <p:spPr>
          <a:xfrm>
            <a:off x="1278077" y="1893618"/>
            <a:ext cx="933845" cy="284506"/>
          </a:xfrm>
          <a:prstGeom prst="rect">
            <a:avLst/>
          </a:prstGeom>
          <a:ln w="28575">
            <a:solidFill>
              <a:srgbClr val="E11D2E"/>
            </a:solidFill>
            <a:prstDash val="solid"/>
          </a:ln>
        </p:spPr>
      </p:sp>
      <p:sp>
        <p:nvSpPr>
          <p:cNvPr id="12" name="Shape 9"/>
          <p:cNvSpPr/>
          <p:nvPr/>
        </p:nvSpPr>
        <p:spPr>
          <a:xfrm>
            <a:off x="864860" y="2397348"/>
            <a:ext cx="2653612" cy="193992"/>
          </a:xfrm>
          <a:prstGeom prst="rect">
            <a:avLst/>
          </a:prstGeom>
          <a:ln w="28575">
            <a:solidFill>
              <a:srgbClr val="E11D2E"/>
            </a:solidFill>
            <a:prstDash val="solid"/>
          </a:ln>
        </p:spPr>
      </p:sp>
      <p:sp>
        <p:nvSpPr>
          <p:cNvPr id="13" name="Shape 10"/>
          <p:cNvSpPr/>
          <p:nvPr/>
        </p:nvSpPr>
        <p:spPr>
          <a:xfrm>
            <a:off x="572252" y="2357184"/>
            <a:ext cx="274320" cy="274320"/>
          </a:xfrm>
          <a:prstGeom prst="ellipse">
            <a:avLst/>
          </a:prstGeom>
          <a:solidFill>
            <a:srgbClr val="E11D2E"/>
          </a:solidFill>
          <a:ln w="15875">
            <a:solidFill>
              <a:srgbClr val="FFFFFF"/>
            </a:solidFill>
            <a:prstDash val="solid"/>
          </a:ln>
        </p:spPr>
      </p:sp>
      <p:sp>
        <p:nvSpPr>
          <p:cNvPr id="14" name="Text 11"/>
          <p:cNvSpPr/>
          <p:nvPr/>
        </p:nvSpPr>
        <p:spPr>
          <a:xfrm>
            <a:off x="572252" y="235718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pic>
        <p:nvPicPr>
          <p:cNvPr id="15" name="Image 1" descr="② 04 Use Saved Id の URL">    </p:cNvPr>
          <p:cNvPicPr>
            <a:picLocks noChangeAspect="1"/>
          </p:cNvPicPr>
          <p:nvPr/>
        </p:nvPicPr>
        <p:blipFill>
          <a:blip r:embed="rId2"/>
          <a:stretch>
            <a:fillRect/>
          </a:stretch>
        </p:blipFill>
        <p:spPr>
          <a:xfrm>
            <a:off x="548640" y="3291840"/>
            <a:ext cx="4572000" cy="439615"/>
          </a:xfrm>
          <a:prstGeom prst="rect">
            <a:avLst/>
          </a:prstGeom>
        </p:spPr>
      </p:pic>
      <p:sp>
        <p:nvSpPr>
          <p:cNvPr id="16" name="Shape 12"/>
          <p:cNvSpPr/>
          <p:nvPr/>
        </p:nvSpPr>
        <p:spPr>
          <a:xfrm>
            <a:off x="548640" y="3291840"/>
            <a:ext cx="4572000" cy="439615"/>
          </a:xfrm>
          <a:prstGeom prst="rect">
            <a:avLst/>
          </a:prstGeom>
          <a:ln w="9525">
            <a:solidFill>
              <a:srgbClr val="D1D5DB"/>
            </a:solidFill>
            <a:prstDash val="solid"/>
          </a:ln>
        </p:spPr>
      </p:sp>
      <p:sp>
        <p:nvSpPr>
          <p:cNvPr id="17" name="Text 13"/>
          <p:cNvSpPr/>
          <p:nvPr/>
        </p:nvSpPr>
        <p:spPr>
          <a:xfrm>
            <a:off x="548640" y="3749743"/>
            <a:ext cx="457200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② 04 Use Saved Id の URL</a:t>
            </a:r>
            <a:endParaRPr lang="en-US" sz="1000" dirty="0"/>
          </a:p>
        </p:txBody>
      </p:sp>
      <p:sp>
        <p:nvSpPr>
          <p:cNvPr id="18" name="Shape 14"/>
          <p:cNvSpPr/>
          <p:nvPr/>
        </p:nvSpPr>
        <p:spPr>
          <a:xfrm>
            <a:off x="1928329" y="3383456"/>
            <a:ext cx="836676" cy="225611"/>
          </a:xfrm>
          <a:prstGeom prst="rect">
            <a:avLst/>
          </a:prstGeom>
          <a:ln w="28575">
            <a:solidFill>
              <a:srgbClr val="E11D2E"/>
            </a:solidFill>
            <a:prstDash val="solid"/>
          </a:ln>
        </p:spPr>
      </p:sp>
      <p:sp>
        <p:nvSpPr>
          <p:cNvPr id="19" name="Shape 15"/>
          <p:cNvSpPr/>
          <p:nvPr/>
        </p:nvSpPr>
        <p:spPr>
          <a:xfrm>
            <a:off x="1635721" y="3359101"/>
            <a:ext cx="274320" cy="274320"/>
          </a:xfrm>
          <a:prstGeom prst="ellipse">
            <a:avLst/>
          </a:prstGeom>
          <a:solidFill>
            <a:srgbClr val="E11D2E"/>
          </a:solidFill>
          <a:ln w="15875">
            <a:solidFill>
              <a:srgbClr val="FFFFFF"/>
            </a:solidFill>
            <a:prstDash val="solid"/>
          </a:ln>
        </p:spPr>
      </p:sp>
      <p:sp>
        <p:nvSpPr>
          <p:cNvPr id="20" name="Text 16"/>
          <p:cNvSpPr/>
          <p:nvPr/>
        </p:nvSpPr>
        <p:spPr>
          <a:xfrm>
            <a:off x="1635721" y="3359101"/>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pic>
        <p:nvPicPr>
          <p:cNvPr id="21" name="Image 2" descr="③ Timeline：実際には /posts/11 に送られた">    </p:cNvPr>
          <p:cNvPicPr>
            <a:picLocks noChangeAspect="1"/>
          </p:cNvPicPr>
          <p:nvPr/>
        </p:nvPicPr>
        <p:blipFill>
          <a:blip r:embed="rId3"/>
          <a:stretch>
            <a:fillRect/>
          </a:stretch>
        </p:blipFill>
        <p:spPr>
          <a:xfrm>
            <a:off x="548640" y="4206240"/>
            <a:ext cx="6217920" cy="702590"/>
          </a:xfrm>
          <a:prstGeom prst="rect">
            <a:avLst/>
          </a:prstGeom>
        </p:spPr>
      </p:pic>
      <p:sp>
        <p:nvSpPr>
          <p:cNvPr id="22" name="Shape 17"/>
          <p:cNvSpPr/>
          <p:nvPr/>
        </p:nvSpPr>
        <p:spPr>
          <a:xfrm>
            <a:off x="548640" y="4206240"/>
            <a:ext cx="6217920" cy="702590"/>
          </a:xfrm>
          <a:prstGeom prst="rect">
            <a:avLst/>
          </a:prstGeom>
          <a:ln w="9525">
            <a:solidFill>
              <a:srgbClr val="D1D5DB"/>
            </a:solidFill>
            <a:prstDash val="solid"/>
          </a:ln>
        </p:spPr>
      </p:sp>
      <p:sp>
        <p:nvSpPr>
          <p:cNvPr id="23" name="Text 18"/>
          <p:cNvSpPr/>
          <p:nvPr/>
        </p:nvSpPr>
        <p:spPr>
          <a:xfrm>
            <a:off x="548640" y="4927118"/>
            <a:ext cx="621792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③ Timeline：実際には /posts/11 に送られた</a:t>
            </a:r>
            <a:endParaRPr lang="en-US" sz="1000" dirty="0"/>
          </a:p>
        </p:txBody>
      </p:sp>
      <p:sp>
        <p:nvSpPr>
          <p:cNvPr id="24" name="Shape 19"/>
          <p:cNvSpPr/>
          <p:nvPr/>
        </p:nvSpPr>
        <p:spPr>
          <a:xfrm>
            <a:off x="1461284" y="4556812"/>
            <a:ext cx="2056522" cy="247353"/>
          </a:xfrm>
          <a:prstGeom prst="rect">
            <a:avLst/>
          </a:prstGeom>
          <a:ln w="28575">
            <a:solidFill>
              <a:srgbClr val="E11D2E"/>
            </a:solidFill>
            <a:prstDash val="solid"/>
          </a:ln>
        </p:spPr>
      </p:sp>
      <p:sp>
        <p:nvSpPr>
          <p:cNvPr id="25" name="Shape 20"/>
          <p:cNvSpPr/>
          <p:nvPr/>
        </p:nvSpPr>
        <p:spPr>
          <a:xfrm>
            <a:off x="1168676" y="4543328"/>
            <a:ext cx="274320" cy="274320"/>
          </a:xfrm>
          <a:prstGeom prst="ellipse">
            <a:avLst/>
          </a:prstGeom>
          <a:solidFill>
            <a:srgbClr val="E11D2E"/>
          </a:solidFill>
          <a:ln w="15875">
            <a:solidFill>
              <a:srgbClr val="FFFFFF"/>
            </a:solidFill>
            <a:prstDash val="solid"/>
          </a:ln>
        </p:spPr>
      </p:sp>
      <p:sp>
        <p:nvSpPr>
          <p:cNvPr id="26" name="Text 21"/>
          <p:cNvSpPr/>
          <p:nvPr/>
        </p:nvSpPr>
        <p:spPr>
          <a:xfrm>
            <a:off x="1168676" y="45433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27" name="Text 22"/>
          <p:cNvSpPr/>
          <p:nvPr/>
        </p:nvSpPr>
        <p:spPr>
          <a:xfrm>
            <a:off x="7040880" y="1097280"/>
            <a:ext cx="4572000" cy="3291840"/>
          </a:xfrm>
          <a:prstGeom prst="rect">
            <a:avLst/>
          </a:prstGeom>
          <a:noFill/>
          <a:ln/>
        </p:spPr>
        <p:txBody>
          <a:bodyPr wrap="square" rtlCol="0" anchor="t"/>
          <a:lstStyle/>
          <a:p>
            <a:pPr indent="0" marL="0">
              <a:spcAft>
                <a:spcPts val="8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300" dirty="0">
                <a:solidFill>
                  <a:srgbClr val="1F2937"/>
                </a:solidFill>
                <a:latin typeface="Meiryo UI" pitchFamily="34" charset="0"/>
                <a:ea typeface="Meiryo UI" pitchFamily="34" charset="-122"/>
                <a:cs typeface="Meiryo UI" pitchFamily="34" charset="-120"/>
              </a:rPr>
              <a:t>1 つ目のレスポンスを受け取った後（Post Response）に、bru.setVar("firstPostId", res.body[0].id); で値を保存</a:t>
            </a:r>
            <a:endParaRPr lang="en-US" sz="1300" dirty="0"/>
          </a:p>
          <a:p>
            <a:pPr indent="0" marL="0">
              <a:spcAft>
                <a:spcPts val="8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300" dirty="0">
                <a:solidFill>
                  <a:srgbClr val="1F2937"/>
                </a:solidFill>
                <a:latin typeface="Meiryo UI" pitchFamily="34" charset="0"/>
                <a:ea typeface="Meiryo UI" pitchFamily="34" charset="-122"/>
                <a:cs typeface="Meiryo UI" pitchFamily="34" charset="-120"/>
              </a:rPr>
              <a:t>2 つ目の URL で {{firstPostId}} を使う</a:t>
            </a:r>
            <a:endParaRPr lang="en-US" sz="1300" dirty="0"/>
          </a:p>
          <a:p>
            <a:pPr indent="0" marL="0">
              <a:spcAft>
                <a:spcPts val="8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300" dirty="0">
                <a:solidFill>
                  <a:srgbClr val="1F2937"/>
                </a:solidFill>
                <a:latin typeface="Meiryo UI" pitchFamily="34" charset="0"/>
                <a:ea typeface="Meiryo UI" pitchFamily="34" charset="-122"/>
                <a:cs typeface="Meiryo UI" pitchFamily="34" charset="-120"/>
              </a:rPr>
              <a:t>1 つ目 → 2 つ目の順に送る（または Runner で 09_Features を実行）</a:t>
            </a:r>
            <a:endParaRPr lang="en-US" sz="1300" dirty="0"/>
          </a:p>
        </p:txBody>
      </p:sp>
      <p:sp>
        <p:nvSpPr>
          <p:cNvPr id="28" name="Shape 23"/>
          <p:cNvSpPr/>
          <p:nvPr/>
        </p:nvSpPr>
        <p:spPr>
          <a:xfrm>
            <a:off x="7040880" y="4480560"/>
            <a:ext cx="4572000" cy="1097280"/>
          </a:xfrm>
          <a:prstGeom prst="rect">
            <a:avLst/>
          </a:prstGeom>
          <a:solidFill>
            <a:srgbClr val="FEF2F2"/>
          </a:solidFill>
          <a:ln w="15875">
            <a:solidFill>
              <a:srgbClr val="B91C1C"/>
            </a:solidFill>
            <a:prstDash val="solid"/>
          </a:ln>
        </p:spPr>
      </p:sp>
      <p:sp>
        <p:nvSpPr>
          <p:cNvPr id="29" name="Shape 24"/>
          <p:cNvSpPr/>
          <p:nvPr/>
        </p:nvSpPr>
        <p:spPr>
          <a:xfrm>
            <a:off x="7040880" y="4480560"/>
            <a:ext cx="82296" cy="1097280"/>
          </a:xfrm>
          <a:prstGeom prst="rect">
            <a:avLst/>
          </a:prstGeom>
          <a:solidFill>
            <a:srgbClr val="B91C1C"/>
          </a:solidFill>
          <a:ln w="12700">
            <a:solidFill>
              <a:srgbClr val="B91C1C"/>
            </a:solidFill>
            <a:prstDash val="solid"/>
          </a:ln>
        </p:spPr>
      </p:sp>
      <p:sp>
        <p:nvSpPr>
          <p:cNvPr id="30" name="Text 25"/>
          <p:cNvSpPr/>
          <p:nvPr/>
        </p:nvSpPr>
        <p:spPr>
          <a:xfrm>
            <a:off x="7205472" y="4526280"/>
            <a:ext cx="4343400" cy="1005840"/>
          </a:xfrm>
          <a:prstGeom prst="rect">
            <a:avLst/>
          </a:prstGeom>
          <a:noFill/>
          <a:ln/>
        </p:spPr>
        <p:txBody>
          <a:bodyPr wrap="square" rtlCol="0" anchor="ctr"/>
          <a:lstStyle/>
          <a:p>
            <a:pPr indent="0" marL="0">
              <a:spcAft>
                <a:spcPts val="200"/>
              </a:spcAft>
              <a:buNone/>
            </a:pPr>
            <a:r>
              <a:rPr lang="en-US" sz="1200" b="1" dirty="0">
                <a:solidFill>
                  <a:srgbClr val="B91C1C"/>
                </a:solidFill>
                <a:latin typeface="Meiryo UI" pitchFamily="34" charset="0"/>
                <a:ea typeface="Meiryo UI" pitchFamily="34" charset="-122"/>
                <a:cs typeface="Meiryo UI" pitchFamily="34" charset="-120"/>
              </a:rPr>
              <a:t>【注意】</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bru.setVar の値（Runtime 変数）はアプリを閉じると消えます。2 つ目だけを先に送ると {{firstPostId}} が置き換わりません。</a:t>
            </a:r>
            <a:endParaRPr lang="en-US" sz="1200" dirty="0"/>
          </a:p>
        </p:txBody>
      </p:sp>
      <p:sp>
        <p:nvSpPr>
          <p:cNvPr id="31" name="Shape 26"/>
          <p:cNvSpPr/>
          <p:nvPr/>
        </p:nvSpPr>
        <p:spPr>
          <a:xfrm>
            <a:off x="548640" y="5788152"/>
            <a:ext cx="11064240" cy="329184"/>
          </a:xfrm>
          <a:prstGeom prst="rect">
            <a:avLst/>
          </a:prstGeom>
          <a:solidFill>
            <a:srgbClr val="ECFDF5"/>
          </a:solidFill>
          <a:ln w="12700">
            <a:solidFill>
              <a:srgbClr val="047857"/>
            </a:solidFill>
            <a:prstDash val="solid"/>
          </a:ln>
        </p:spPr>
      </p:sp>
      <p:sp>
        <p:nvSpPr>
          <p:cNvPr id="32" name="Text 27"/>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09_Features\03 → 04 の順に開いて Send</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【受け渡し 手順 1/3】1 つ目のリクエストで値を保存する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Windows 11、2026-10-09 撮影）">    </p:cNvPr>
          <p:cNvPicPr>
            <a:picLocks noChangeAspect="1"/>
          </p:cNvPicPr>
          <p:nvPr/>
        </p:nvPicPr>
        <p:blipFill>
          <a:blip r:embed="rId1"/>
          <a:stretch>
            <a:fillRect/>
          </a:stretch>
        </p:blipFill>
        <p:spPr>
          <a:xfrm>
            <a:off x="411480" y="1051560"/>
            <a:ext cx="7680960" cy="2015252"/>
          </a:xfrm>
          <a:prstGeom prst="rect">
            <a:avLst/>
          </a:prstGeom>
        </p:spPr>
      </p:pic>
      <p:sp>
        <p:nvSpPr>
          <p:cNvPr id="7" name="Shape 4"/>
          <p:cNvSpPr/>
          <p:nvPr/>
        </p:nvSpPr>
        <p:spPr>
          <a:xfrm>
            <a:off x="411480" y="1051560"/>
            <a:ext cx="7680960" cy="2015252"/>
          </a:xfrm>
          <a:prstGeom prst="rect">
            <a:avLst/>
          </a:prstGeom>
          <a:ln w="9525">
            <a:solidFill>
              <a:srgbClr val="D1D5DB"/>
            </a:solidFill>
            <a:prstDash val="solid"/>
          </a:ln>
        </p:spPr>
      </p:sp>
      <p:sp>
        <p:nvSpPr>
          <p:cNvPr id="8" name="Text 5"/>
          <p:cNvSpPr/>
          <p:nvPr/>
        </p:nvSpPr>
        <p:spPr>
          <a:xfrm>
            <a:off x="411480" y="3085100"/>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a:t>
            </a:r>
            <a:endParaRPr lang="en-US" sz="1000" dirty="0"/>
          </a:p>
        </p:txBody>
      </p:sp>
      <p:sp>
        <p:nvSpPr>
          <p:cNvPr id="9" name="Shape 6"/>
          <p:cNvSpPr/>
          <p:nvPr/>
        </p:nvSpPr>
        <p:spPr>
          <a:xfrm>
            <a:off x="3273552" y="1628346"/>
            <a:ext cx="576643" cy="246602"/>
          </a:xfrm>
          <a:prstGeom prst="rect">
            <a:avLst/>
          </a:prstGeom>
          <a:ln w="28575">
            <a:solidFill>
              <a:srgbClr val="E11D2E"/>
            </a:solidFill>
            <a:prstDash val="solid"/>
          </a:ln>
        </p:spPr>
      </p:sp>
      <p:sp>
        <p:nvSpPr>
          <p:cNvPr id="10" name="Shape 7"/>
          <p:cNvSpPr/>
          <p:nvPr/>
        </p:nvSpPr>
        <p:spPr>
          <a:xfrm>
            <a:off x="2980944" y="1614488"/>
            <a:ext cx="274320" cy="274320"/>
          </a:xfrm>
          <a:prstGeom prst="ellipse">
            <a:avLst/>
          </a:prstGeom>
          <a:solidFill>
            <a:srgbClr val="E11D2E"/>
          </a:solidFill>
          <a:ln w="15875">
            <a:solidFill>
              <a:srgbClr val="FFFFFF"/>
            </a:solidFill>
            <a:prstDash val="solid"/>
          </a:ln>
        </p:spPr>
      </p:sp>
      <p:sp>
        <p:nvSpPr>
          <p:cNvPr id="11" name="Text 8"/>
          <p:cNvSpPr/>
          <p:nvPr/>
        </p:nvSpPr>
        <p:spPr>
          <a:xfrm>
            <a:off x="2980944" y="161448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1468326" y="2068401"/>
            <a:ext cx="1171718" cy="346615"/>
          </a:xfrm>
          <a:prstGeom prst="rect">
            <a:avLst/>
          </a:prstGeom>
          <a:ln w="28575">
            <a:solidFill>
              <a:srgbClr val="E11D2E"/>
            </a:solidFill>
            <a:prstDash val="solid"/>
          </a:ln>
        </p:spPr>
      </p:sp>
      <p:sp>
        <p:nvSpPr>
          <p:cNvPr id="13" name="Shape 10"/>
          <p:cNvSpPr/>
          <p:nvPr/>
        </p:nvSpPr>
        <p:spPr>
          <a:xfrm>
            <a:off x="1175718" y="2104549"/>
            <a:ext cx="274320" cy="274320"/>
          </a:xfrm>
          <a:prstGeom prst="ellipse">
            <a:avLst/>
          </a:prstGeom>
          <a:solidFill>
            <a:srgbClr val="E11D2E"/>
          </a:solidFill>
          <a:ln w="15875">
            <a:solidFill>
              <a:srgbClr val="FFFFFF"/>
            </a:solidFill>
            <a:prstDash val="solid"/>
          </a:ln>
        </p:spPr>
      </p:sp>
      <p:sp>
        <p:nvSpPr>
          <p:cNvPr id="14" name="Text 11"/>
          <p:cNvSpPr/>
          <p:nvPr/>
        </p:nvSpPr>
        <p:spPr>
          <a:xfrm>
            <a:off x="1175718" y="2104549"/>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583216" y="2493455"/>
            <a:ext cx="4647152" cy="446627"/>
          </a:xfrm>
          <a:prstGeom prst="rect">
            <a:avLst/>
          </a:prstGeom>
          <a:ln w="28575">
            <a:solidFill>
              <a:srgbClr val="E11D2E"/>
            </a:solidFill>
            <a:prstDash val="solid"/>
          </a:ln>
        </p:spPr>
      </p:sp>
      <p:sp>
        <p:nvSpPr>
          <p:cNvPr id="16" name="Shape 13"/>
          <p:cNvSpPr/>
          <p:nvPr/>
        </p:nvSpPr>
        <p:spPr>
          <a:xfrm>
            <a:off x="290608" y="2579608"/>
            <a:ext cx="274320" cy="274320"/>
          </a:xfrm>
          <a:prstGeom prst="ellipse">
            <a:avLst/>
          </a:prstGeom>
          <a:solidFill>
            <a:srgbClr val="E11D2E"/>
          </a:solidFill>
          <a:ln w="15875">
            <a:solidFill>
              <a:srgbClr val="FFFFFF"/>
            </a:solidFill>
            <a:prstDash val="solid"/>
          </a:ln>
        </p:spPr>
      </p:sp>
      <p:sp>
        <p:nvSpPr>
          <p:cNvPr id="17" name="Text 14"/>
          <p:cNvSpPr/>
          <p:nvPr/>
        </p:nvSpPr>
        <p:spPr>
          <a:xfrm>
            <a:off x="290608" y="25796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09_Features → 03 Save First Post Id（URL：{{baseUrl}}/posts?userId=2）を開き「Script」タブ</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「Post Response」（レスポンスを受け取った後に動く）を選ぶ</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bru.setVar("firstPostId", res.body[0].id); と書いて Ctrl + S（画面の 1 行目の // で始まる行はメモ（コメント）。書かなくても動く）</a:t>
            </a:r>
            <a:endParaRPr lang="en-US" sz="1400" dirty="0"/>
          </a:p>
        </p:txBody>
      </p:sp>
      <p:sp>
        <p:nvSpPr>
          <p:cNvPr id="19" name="Shape 16"/>
          <p:cNvSpPr/>
          <p:nvPr/>
        </p:nvSpPr>
        <p:spPr>
          <a:xfrm>
            <a:off x="8275320" y="4206240"/>
            <a:ext cx="3520440" cy="1417320"/>
          </a:xfrm>
          <a:prstGeom prst="rect">
            <a:avLst/>
          </a:prstGeom>
          <a:solidFill>
            <a:srgbClr val="EFF6FF"/>
          </a:solidFill>
          <a:ln w="15875">
            <a:solidFill>
              <a:srgbClr val="1D4ED8"/>
            </a:solidFill>
            <a:prstDash val="solid"/>
          </a:ln>
        </p:spPr>
      </p:sp>
      <p:sp>
        <p:nvSpPr>
          <p:cNvPr id="20" name="Shape 17"/>
          <p:cNvSpPr/>
          <p:nvPr/>
        </p:nvSpPr>
        <p:spPr>
          <a:xfrm>
            <a:off x="8275320" y="4206240"/>
            <a:ext cx="82296" cy="1417320"/>
          </a:xfrm>
          <a:prstGeom prst="rect">
            <a:avLst/>
          </a:prstGeom>
          <a:solidFill>
            <a:srgbClr val="1D4ED8"/>
          </a:solidFill>
          <a:ln w="12700">
            <a:solidFill>
              <a:srgbClr val="1D4ED8"/>
            </a:solidFill>
            <a:prstDash val="solid"/>
          </a:ln>
        </p:spPr>
      </p:sp>
      <p:sp>
        <p:nvSpPr>
          <p:cNvPr id="21" name="Text 18"/>
          <p:cNvSpPr/>
          <p:nvPr/>
        </p:nvSpPr>
        <p:spPr>
          <a:xfrm>
            <a:off x="8439912" y="4251960"/>
            <a:ext cx="3291840" cy="1325880"/>
          </a:xfrm>
          <a:prstGeom prst="rect">
            <a:avLst/>
          </a:prstGeom>
          <a:noFill/>
          <a:ln/>
        </p:spPr>
        <p:txBody>
          <a:bodyPr wrap="square" rtlCol="0" anchor="ctr"/>
          <a:lstStyle/>
          <a:p>
            <a:pPr indent="0" marL="0">
              <a:spcAft>
                <a:spcPts val="200"/>
              </a:spcAft>
              <a:buNone/>
            </a:pPr>
            <a:r>
              <a:rPr lang="en-US" sz="1200" b="1" dirty="0">
                <a:solidFill>
                  <a:srgbClr val="1D4ED8"/>
                </a:solidFill>
                <a:latin typeface="Meiryo UI" pitchFamily="34" charset="0"/>
                <a:ea typeface="Meiryo UI" pitchFamily="34" charset="-122"/>
                <a:cs typeface="Meiryo UI" pitchFamily="34" charset="-120"/>
              </a:rPr>
              <a:t>【ヒント】</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res.body[0].id ＝ レスポンスの配列の 1 件目の id。bru.setVar で firstPostId という名前の変数に保存します。</a:t>
            </a:r>
            <a:endParaRPr lang="en-US" sz="1200" dirty="0"/>
          </a:p>
        </p:txBody>
      </p:sp>
      <p:sp>
        <p:nvSpPr>
          <p:cNvPr id="22" name="Shape 19"/>
          <p:cNvSpPr/>
          <p:nvPr/>
        </p:nvSpPr>
        <p:spPr>
          <a:xfrm>
            <a:off x="548640" y="5788152"/>
            <a:ext cx="11064240" cy="329184"/>
          </a:xfrm>
          <a:prstGeom prst="rect">
            <a:avLst/>
          </a:prstGeom>
          <a:solidFill>
            <a:srgbClr val="ECFDF5"/>
          </a:solidFill>
          <a:ln w="12700">
            <a:solidFill>
              <a:srgbClr val="047857"/>
            </a:solidFill>
            <a:prstDash val="solid"/>
          </a:ln>
        </p:spPr>
      </p:sp>
      <p:sp>
        <p:nvSpPr>
          <p:cNvPr id="23" name="Text 20"/>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09_Features\03 Save First Post Id.yml を開いて Send</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【受け渡し 手順 2/3】2 つ目のリクエストで変数を使う</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Windows 11、2026-10-09 撮影）">    </p:cNvPr>
          <p:cNvPicPr>
            <a:picLocks noChangeAspect="1"/>
          </p:cNvPicPr>
          <p:nvPr/>
        </p:nvPicPr>
        <p:blipFill>
          <a:blip r:embed="rId1"/>
          <a:stretch>
            <a:fillRect/>
          </a:stretch>
        </p:blipFill>
        <p:spPr>
          <a:xfrm>
            <a:off x="411480" y="1051560"/>
            <a:ext cx="7680960" cy="2015252"/>
          </a:xfrm>
          <a:prstGeom prst="rect">
            <a:avLst/>
          </a:prstGeom>
        </p:spPr>
      </p:pic>
      <p:sp>
        <p:nvSpPr>
          <p:cNvPr id="7" name="Shape 4"/>
          <p:cNvSpPr/>
          <p:nvPr/>
        </p:nvSpPr>
        <p:spPr>
          <a:xfrm>
            <a:off x="411480" y="1051560"/>
            <a:ext cx="7680960" cy="2015252"/>
          </a:xfrm>
          <a:prstGeom prst="rect">
            <a:avLst/>
          </a:prstGeom>
          <a:ln w="9525">
            <a:solidFill>
              <a:srgbClr val="D1D5DB"/>
            </a:solidFill>
            <a:prstDash val="solid"/>
          </a:ln>
        </p:spPr>
      </p:sp>
      <p:sp>
        <p:nvSpPr>
          <p:cNvPr id="8" name="Text 5"/>
          <p:cNvSpPr/>
          <p:nvPr/>
        </p:nvSpPr>
        <p:spPr>
          <a:xfrm>
            <a:off x="411480" y="3085100"/>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a:t>
            </a:r>
            <a:endParaRPr lang="en-US" sz="1000" dirty="0"/>
          </a:p>
        </p:txBody>
      </p:sp>
      <p:sp>
        <p:nvSpPr>
          <p:cNvPr id="9" name="Shape 6"/>
          <p:cNvSpPr/>
          <p:nvPr/>
        </p:nvSpPr>
        <p:spPr>
          <a:xfrm>
            <a:off x="568214" y="1083278"/>
            <a:ext cx="3126962" cy="391620"/>
          </a:xfrm>
          <a:prstGeom prst="rect">
            <a:avLst/>
          </a:prstGeom>
          <a:ln w="28575">
            <a:solidFill>
              <a:srgbClr val="E11D2E"/>
            </a:solidFill>
            <a:prstDash val="solid"/>
          </a:ln>
        </p:spPr>
      </p:sp>
      <p:sp>
        <p:nvSpPr>
          <p:cNvPr id="10" name="Shape 7"/>
          <p:cNvSpPr/>
          <p:nvPr/>
        </p:nvSpPr>
        <p:spPr>
          <a:xfrm>
            <a:off x="275606" y="1141928"/>
            <a:ext cx="274320" cy="274320"/>
          </a:xfrm>
          <a:prstGeom prst="ellipse">
            <a:avLst/>
          </a:prstGeom>
          <a:solidFill>
            <a:srgbClr val="E11D2E"/>
          </a:solidFill>
          <a:ln w="15875">
            <a:solidFill>
              <a:srgbClr val="FFFFFF"/>
            </a:solidFill>
            <a:prstDash val="solid"/>
          </a:ln>
        </p:spPr>
      </p:sp>
      <p:sp>
        <p:nvSpPr>
          <p:cNvPr id="11" name="Text 8"/>
          <p:cNvSpPr/>
          <p:nvPr/>
        </p:nvSpPr>
        <p:spPr>
          <a:xfrm>
            <a:off x="275606" y="11419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Text 9"/>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09_Features → 04 Use Saved Id を開く</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URL に {{firstPostId}} と書く（{{baseUrl}}/posts/{{firstPostId}}）</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Ctrl + S で保存</a:t>
            </a:r>
            <a:endParaRPr lang="en-US" sz="1400" dirty="0"/>
          </a:p>
        </p:txBody>
      </p:sp>
      <p:sp>
        <p:nvSpPr>
          <p:cNvPr id="13" name="Shape 10"/>
          <p:cNvSpPr/>
          <p:nvPr/>
        </p:nvSpPr>
        <p:spPr>
          <a:xfrm>
            <a:off x="8275320" y="4206240"/>
            <a:ext cx="3520440" cy="1417320"/>
          </a:xfrm>
          <a:prstGeom prst="rect">
            <a:avLst/>
          </a:prstGeom>
          <a:solidFill>
            <a:srgbClr val="EFF6FF"/>
          </a:solidFill>
          <a:ln w="15875">
            <a:solidFill>
              <a:srgbClr val="1D4ED8"/>
            </a:solidFill>
            <a:prstDash val="solid"/>
          </a:ln>
        </p:spPr>
      </p:sp>
      <p:sp>
        <p:nvSpPr>
          <p:cNvPr id="14" name="Shape 11"/>
          <p:cNvSpPr/>
          <p:nvPr/>
        </p:nvSpPr>
        <p:spPr>
          <a:xfrm>
            <a:off x="8275320" y="4206240"/>
            <a:ext cx="82296" cy="1417320"/>
          </a:xfrm>
          <a:prstGeom prst="rect">
            <a:avLst/>
          </a:prstGeom>
          <a:solidFill>
            <a:srgbClr val="1D4ED8"/>
          </a:solidFill>
          <a:ln w="12700">
            <a:solidFill>
              <a:srgbClr val="1D4ED8"/>
            </a:solidFill>
            <a:prstDash val="solid"/>
          </a:ln>
        </p:spPr>
      </p:sp>
      <p:sp>
        <p:nvSpPr>
          <p:cNvPr id="15" name="Text 12"/>
          <p:cNvSpPr/>
          <p:nvPr/>
        </p:nvSpPr>
        <p:spPr>
          <a:xfrm>
            <a:off x="8439912" y="4251960"/>
            <a:ext cx="3291840" cy="1325880"/>
          </a:xfrm>
          <a:prstGeom prst="rect">
            <a:avLst/>
          </a:prstGeom>
          <a:noFill/>
          <a:ln/>
        </p:spPr>
        <p:txBody>
          <a:bodyPr wrap="square" rtlCol="0" anchor="ctr"/>
          <a:lstStyle/>
          <a:p>
            <a:pPr indent="0" marL="0">
              <a:spcAft>
                <a:spcPts val="200"/>
              </a:spcAft>
              <a:buNone/>
            </a:pPr>
            <a:r>
              <a:rPr lang="en-US" sz="1200" b="1" dirty="0">
                <a:solidFill>
                  <a:srgbClr val="1D4ED8"/>
                </a:solidFill>
                <a:latin typeface="Meiryo UI" pitchFamily="34" charset="0"/>
                <a:ea typeface="Meiryo UI" pitchFamily="34" charset="-122"/>
                <a:cs typeface="Meiryo UI" pitchFamily="34" charset="-120"/>
              </a:rPr>
              <a:t>【ヒント】</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変数が赤字の場合は、まだ値が保存されていません（1 つ目を先に送る）。</a:t>
            </a:r>
            <a:endParaRPr lang="en-US" sz="1200" dirty="0"/>
          </a:p>
        </p:txBody>
      </p:sp>
      <p:sp>
        <p:nvSpPr>
          <p:cNvPr id="16" name="Shape 13"/>
          <p:cNvSpPr/>
          <p:nvPr/>
        </p:nvSpPr>
        <p:spPr>
          <a:xfrm>
            <a:off x="548640" y="5788152"/>
            <a:ext cx="11064240" cy="329184"/>
          </a:xfrm>
          <a:prstGeom prst="rect">
            <a:avLst/>
          </a:prstGeom>
          <a:solidFill>
            <a:srgbClr val="ECFDF5"/>
          </a:solidFill>
          <a:ln w="12700">
            <a:solidFill>
              <a:srgbClr val="047857"/>
            </a:solidFill>
            <a:prstDash val="solid"/>
          </a:ln>
        </p:spPr>
      </p:sp>
      <p:sp>
        <p:nvSpPr>
          <p:cNvPr id="17" name="Text 14"/>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09_Features\04 Use Saved Id.yml を開いて Send</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【受け渡し 手順 3/3】1 つ目 → 2 つ目の順に送って確認する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Windows 11、2026-10-09 撮影）">    </p:cNvPr>
          <p:cNvPicPr>
            <a:picLocks noChangeAspect="1"/>
          </p:cNvPicPr>
          <p:nvPr/>
        </p:nvPicPr>
        <p:blipFill>
          <a:blip r:embed="rId1"/>
          <a:stretch>
            <a:fillRect/>
          </a:stretch>
        </p:blipFill>
        <p:spPr>
          <a:xfrm>
            <a:off x="411480" y="1051560"/>
            <a:ext cx="7680960" cy="1714918"/>
          </a:xfrm>
          <a:prstGeom prst="rect">
            <a:avLst/>
          </a:prstGeom>
        </p:spPr>
      </p:pic>
      <p:sp>
        <p:nvSpPr>
          <p:cNvPr id="7" name="Shape 4"/>
          <p:cNvSpPr/>
          <p:nvPr/>
        </p:nvSpPr>
        <p:spPr>
          <a:xfrm>
            <a:off x="411480" y="1051560"/>
            <a:ext cx="7680960" cy="1714918"/>
          </a:xfrm>
          <a:prstGeom prst="rect">
            <a:avLst/>
          </a:prstGeom>
          <a:ln w="9525">
            <a:solidFill>
              <a:srgbClr val="D1D5DB"/>
            </a:solidFill>
            <a:prstDash val="solid"/>
          </a:ln>
        </p:spPr>
      </p:sp>
      <p:sp>
        <p:nvSpPr>
          <p:cNvPr id="8" name="Text 5"/>
          <p:cNvSpPr/>
          <p:nvPr/>
        </p:nvSpPr>
        <p:spPr>
          <a:xfrm>
            <a:off x="411480" y="2784766"/>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a:t>
            </a:r>
            <a:endParaRPr lang="en-US" sz="1000" dirty="0"/>
          </a:p>
        </p:txBody>
      </p:sp>
      <p:sp>
        <p:nvSpPr>
          <p:cNvPr id="9" name="Shape 6"/>
          <p:cNvSpPr/>
          <p:nvPr/>
        </p:nvSpPr>
        <p:spPr>
          <a:xfrm>
            <a:off x="1886830" y="1539662"/>
            <a:ext cx="504668" cy="215302"/>
          </a:xfrm>
          <a:prstGeom prst="rect">
            <a:avLst/>
          </a:prstGeom>
          <a:ln w="28575">
            <a:solidFill>
              <a:srgbClr val="E11D2E"/>
            </a:solidFill>
            <a:prstDash val="solid"/>
          </a:ln>
        </p:spPr>
      </p:sp>
      <p:sp>
        <p:nvSpPr>
          <p:cNvPr id="10" name="Shape 7"/>
          <p:cNvSpPr/>
          <p:nvPr/>
        </p:nvSpPr>
        <p:spPr>
          <a:xfrm>
            <a:off x="1594222" y="1510153"/>
            <a:ext cx="274320" cy="274320"/>
          </a:xfrm>
          <a:prstGeom prst="ellipse">
            <a:avLst/>
          </a:prstGeom>
          <a:solidFill>
            <a:srgbClr val="E11D2E"/>
          </a:solidFill>
          <a:ln w="15875">
            <a:solidFill>
              <a:srgbClr val="FFFFFF"/>
            </a:solidFill>
            <a:prstDash val="solid"/>
          </a:ln>
        </p:spPr>
      </p:sp>
      <p:sp>
        <p:nvSpPr>
          <p:cNvPr id="11" name="Text 8"/>
          <p:cNvSpPr/>
          <p:nvPr/>
        </p:nvSpPr>
        <p:spPr>
          <a:xfrm>
            <a:off x="1594222" y="1510153"/>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720856" y="1931157"/>
            <a:ext cx="3547264" cy="283388"/>
          </a:xfrm>
          <a:prstGeom prst="rect">
            <a:avLst/>
          </a:prstGeom>
          <a:ln w="28575">
            <a:solidFill>
              <a:srgbClr val="E11D2E"/>
            </a:solidFill>
            <a:prstDash val="solid"/>
          </a:ln>
        </p:spPr>
      </p:sp>
      <p:sp>
        <p:nvSpPr>
          <p:cNvPr id="13" name="Shape 10"/>
          <p:cNvSpPr/>
          <p:nvPr/>
        </p:nvSpPr>
        <p:spPr>
          <a:xfrm>
            <a:off x="428248" y="1935691"/>
            <a:ext cx="274320" cy="274320"/>
          </a:xfrm>
          <a:prstGeom prst="ellipse">
            <a:avLst/>
          </a:prstGeom>
          <a:solidFill>
            <a:srgbClr val="E11D2E"/>
          </a:solidFill>
          <a:ln w="15875">
            <a:solidFill>
              <a:srgbClr val="FFFFFF"/>
            </a:solidFill>
            <a:prstDash val="solid"/>
          </a:ln>
        </p:spPr>
      </p:sp>
      <p:sp>
        <p:nvSpPr>
          <p:cNvPr id="14" name="Text 11"/>
          <p:cNvSpPr/>
          <p:nvPr/>
        </p:nvSpPr>
        <p:spPr>
          <a:xfrm>
            <a:off x="428248" y="1935691"/>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03 Save First Post Id を Send</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04 Use Saved Id を Send</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レスポンス側の「Timeline」で、実際の URL が /posts/11 になっていることを確認</a:t>
            </a:r>
            <a:endParaRPr lang="en-US" sz="1400" dirty="0"/>
          </a:p>
        </p:txBody>
      </p:sp>
      <p:sp>
        <p:nvSpPr>
          <p:cNvPr id="16" name="Shape 13"/>
          <p:cNvSpPr/>
          <p:nvPr/>
        </p:nvSpPr>
        <p:spPr>
          <a:xfrm>
            <a:off x="8275320" y="4206240"/>
            <a:ext cx="3520440" cy="1417320"/>
          </a:xfrm>
          <a:prstGeom prst="rect">
            <a:avLst/>
          </a:prstGeom>
          <a:solidFill>
            <a:srgbClr val="EFF6FF"/>
          </a:solidFill>
          <a:ln w="15875">
            <a:solidFill>
              <a:srgbClr val="1D4ED8"/>
            </a:solidFill>
            <a:prstDash val="solid"/>
          </a:ln>
        </p:spPr>
      </p:sp>
      <p:sp>
        <p:nvSpPr>
          <p:cNvPr id="17" name="Shape 14"/>
          <p:cNvSpPr/>
          <p:nvPr/>
        </p:nvSpPr>
        <p:spPr>
          <a:xfrm>
            <a:off x="8275320" y="4206240"/>
            <a:ext cx="82296" cy="1417320"/>
          </a:xfrm>
          <a:prstGeom prst="rect">
            <a:avLst/>
          </a:prstGeom>
          <a:solidFill>
            <a:srgbClr val="1D4ED8"/>
          </a:solidFill>
          <a:ln w="12700">
            <a:solidFill>
              <a:srgbClr val="1D4ED8"/>
            </a:solidFill>
            <a:prstDash val="solid"/>
          </a:ln>
        </p:spPr>
      </p:sp>
      <p:sp>
        <p:nvSpPr>
          <p:cNvPr id="18" name="Text 15"/>
          <p:cNvSpPr/>
          <p:nvPr/>
        </p:nvSpPr>
        <p:spPr>
          <a:xfrm>
            <a:off x="8439912" y="4251960"/>
            <a:ext cx="3291840" cy="1325880"/>
          </a:xfrm>
          <a:prstGeom prst="rect">
            <a:avLst/>
          </a:prstGeom>
          <a:noFill/>
          <a:ln/>
        </p:spPr>
        <p:txBody>
          <a:bodyPr wrap="square" rtlCol="0" anchor="ctr"/>
          <a:lstStyle/>
          <a:p>
            <a:pPr indent="0" marL="0">
              <a:spcAft>
                <a:spcPts val="200"/>
              </a:spcAft>
              <a:buNone/>
            </a:pPr>
            <a:r>
              <a:rPr lang="en-US" sz="1200" b="1" dirty="0">
                <a:solidFill>
                  <a:srgbClr val="1D4ED8"/>
                </a:solidFill>
                <a:latin typeface="Meiryo UI" pitchFamily="34" charset="0"/>
                <a:ea typeface="Meiryo UI" pitchFamily="34" charset="-122"/>
                <a:cs typeface="Meiryo UI" pitchFamily="34" charset="-120"/>
              </a:rPr>
              <a:t>【ヒント】</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9-D の Runner で 09_Features を実行すれば、順番どおりに自動で送られます。</a:t>
            </a:r>
            <a:endParaRPr lang="en-US" sz="1200" dirty="0"/>
          </a:p>
        </p:txBody>
      </p:sp>
      <p:sp>
        <p:nvSpPr>
          <p:cNvPr id="19" name="Shape 16"/>
          <p:cNvSpPr/>
          <p:nvPr/>
        </p:nvSpPr>
        <p:spPr>
          <a:xfrm>
            <a:off x="548640" y="5788152"/>
            <a:ext cx="11064240" cy="329184"/>
          </a:xfrm>
          <a:prstGeom prst="rect">
            <a:avLst/>
          </a:prstGeom>
          <a:solidFill>
            <a:srgbClr val="ECFDF5"/>
          </a:solidFill>
          <a:ln w="12700">
            <a:solidFill>
              <a:srgbClr val="047857"/>
            </a:solidFill>
            <a:prstDash val="solid"/>
          </a:ln>
        </p:spPr>
      </p:sp>
      <p:sp>
        <p:nvSpPr>
          <p:cNvPr id="20" name="Text 17"/>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09_Features\03 → 04 の順に開いて Send</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値の受け渡し：保存の方法と送り先の一覧</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914400"/>
                <a:gridCol w="3200400"/>
                <a:gridCol w="3931920"/>
                <a:gridCol w="3017520"/>
              </a:tblGrid>
              <a:tr h="457200">
                <a:tc>
                  <a:txBody>
                    <a:bodyPr/>
                    <a:lstStyle/>
                    <a:p>
                      <a:pPr indent="0" marL="0">
                        <a:buNone/>
                      </a:pP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方法</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書き方</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スライド</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保存</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Script（Post Response）</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bru.setVar("userId", res.body.id);</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保存方法1（09_Chain\01）</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保存</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Vars タブ（Post Response）※コード不要</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Name：postTitle／Expr：res.body.title</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保存方法2（09_Chain\02）</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送り先</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URL のパス</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{{baseUrl}}/users/{{userId}}</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送り先1（09_Chain\03）</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送り先</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Query Parameter</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userId = {{userId}}</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送り先2（09_Chain\04）</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送り先</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ヘッダー</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X-User-Name = {{userName}}</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送り先3（09_Chain\05）</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送り先</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Body（JSON）</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"title": "{{postTitle}}"</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送り先4（09_Chain\06）</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bl>
          </a:graphicData>
        </a:graphic>
      </p:graphicFrame>
      <p:sp>
        <p:nvSpPr>
          <p:cNvPr id="7" name="Text 4"/>
          <p:cNvSpPr/>
          <p:nvPr/>
        </p:nvSpPr>
        <p:spPr>
          <a:xfrm>
            <a:off x="548640" y="4572000"/>
            <a:ext cx="11064240" cy="411480"/>
          </a:xfrm>
          <a:prstGeom prst="rect">
            <a:avLst/>
          </a:prstGeom>
          <a:noFill/>
          <a:ln/>
        </p:spPr>
        <p:txBody>
          <a:bodyPr wrap="square" lIns="50800" tIns="50800" rIns="50800" bIns="50800" rtlCol="0" anchor="t"/>
          <a:lstStyle/>
          <a:p>
            <a:pPr algn="l" indent="0" marL="0">
              <a:buNone/>
            </a:pPr>
            <a:r>
              <a:rPr lang="en-US" sz="1400" dirty="0">
                <a:solidFill>
                  <a:srgbClr val="1F2937"/>
                </a:solidFill>
                <a:latin typeface="Meiryo UI" pitchFamily="34" charset="0"/>
                <a:ea typeface="Meiryo UI" pitchFamily="34" charset="-122"/>
                <a:cs typeface="Meiryo UI" pitchFamily="34" charset="-120"/>
              </a:rPr>
              <a:t>練習用リクエスト：09_Chain フォルダ（01 → 06 の順に送る。01 で userId・userName、02 で postTitle を保存）</a:t>
            </a:r>
            <a:endParaRPr lang="en-US" sz="1400" dirty="0"/>
          </a:p>
        </p:txBody>
      </p:sp>
      <p:sp>
        <p:nvSpPr>
          <p:cNvPr id="8" name="Text 5"/>
          <p:cNvSpPr/>
          <p:nvPr/>
        </p:nvSpPr>
        <p:spPr>
          <a:xfrm>
            <a:off x="548640" y="5074920"/>
            <a:ext cx="11064240" cy="411480"/>
          </a:xfrm>
          <a:prstGeom prst="rect">
            <a:avLst/>
          </a:prstGeom>
          <a:noFill/>
          <a:ln/>
        </p:spPr>
        <p:txBody>
          <a:bodyPr wrap="square" lIns="50800" tIns="50800" rIns="50800" bIns="50800" rtlCol="0" anchor="t"/>
          <a:lstStyle/>
          <a:p>
            <a:pPr algn="l" indent="0" marL="0">
              <a:buNone/>
            </a:pPr>
            <a:r>
              <a:rPr lang="en-US" sz="1100" dirty="0">
                <a:solidFill>
                  <a:srgbClr val="6B7280"/>
                </a:solidFill>
                <a:latin typeface="Meiryo UI" pitchFamily="34" charset="0"/>
                <a:ea typeface="Meiryo UI" pitchFamily="34" charset="-122"/>
                <a:cs typeface="Meiryo UI" pitchFamily="34" charset="-120"/>
              </a:rPr>
              <a:t>出典：https://docs.usebruno.com/variables/runtime-variables（"you can use it in headers, query parameters, body, or URL"）／2026-10-09 に画面・CLI で確認</a:t>
            </a:r>
            <a:endParaRPr lang="en-US" sz="1100" dirty="0"/>
          </a:p>
        </p:txBody>
      </p:sp>
      <p:sp>
        <p:nvSpPr>
          <p:cNvPr id="9" name="Shape 6"/>
          <p:cNvSpPr/>
          <p:nvPr/>
        </p:nvSpPr>
        <p:spPr>
          <a:xfrm>
            <a:off x="548640" y="5788152"/>
            <a:ext cx="11064240" cy="329184"/>
          </a:xfrm>
          <a:prstGeom prst="rect">
            <a:avLst/>
          </a:prstGeom>
          <a:solidFill>
            <a:srgbClr val="ECFDF5"/>
          </a:solidFill>
          <a:ln w="12700">
            <a:solidFill>
              <a:srgbClr val="047857"/>
            </a:solidFill>
            <a:prstDash val="solid"/>
          </a:ln>
        </p:spPr>
      </p:sp>
      <p:sp>
        <p:nvSpPr>
          <p:cNvPr id="10" name="Text 7"/>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09_Chain フォルダを右クリック → Run（01〜06 を順番に実行）</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【保存方法1】Script で値を保存する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Windows 11、2026-10-13 撮影）">    </p:cNvPr>
          <p:cNvPicPr>
            <a:picLocks noChangeAspect="1"/>
          </p:cNvPicPr>
          <p:nvPr/>
        </p:nvPicPr>
        <p:blipFill>
          <a:blip r:embed="rId1"/>
          <a:stretch>
            <a:fillRect/>
          </a:stretch>
        </p:blipFill>
        <p:spPr>
          <a:xfrm>
            <a:off x="411480" y="1051560"/>
            <a:ext cx="7680960" cy="2514380"/>
          </a:xfrm>
          <a:prstGeom prst="rect">
            <a:avLst/>
          </a:prstGeom>
        </p:spPr>
      </p:pic>
      <p:sp>
        <p:nvSpPr>
          <p:cNvPr id="7" name="Shape 4"/>
          <p:cNvSpPr/>
          <p:nvPr/>
        </p:nvSpPr>
        <p:spPr>
          <a:xfrm>
            <a:off x="411480" y="1051560"/>
            <a:ext cx="7680960" cy="2514380"/>
          </a:xfrm>
          <a:prstGeom prst="rect">
            <a:avLst/>
          </a:prstGeom>
          <a:ln w="9525">
            <a:solidFill>
              <a:srgbClr val="D1D5DB"/>
            </a:solidFill>
            <a:prstDash val="solid"/>
          </a:ln>
        </p:spPr>
      </p:sp>
      <p:sp>
        <p:nvSpPr>
          <p:cNvPr id="8" name="Text 5"/>
          <p:cNvSpPr/>
          <p:nvPr/>
        </p:nvSpPr>
        <p:spPr>
          <a:xfrm>
            <a:off x="411480" y="358422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11、2026-10-13 撮影）</a:t>
            </a:r>
            <a:endParaRPr lang="en-US" sz="1000" dirty="0"/>
          </a:p>
        </p:txBody>
      </p:sp>
      <p:sp>
        <p:nvSpPr>
          <p:cNvPr id="9" name="Shape 6"/>
          <p:cNvSpPr/>
          <p:nvPr/>
        </p:nvSpPr>
        <p:spPr>
          <a:xfrm>
            <a:off x="2285700" y="1419841"/>
            <a:ext cx="382807" cy="191204"/>
          </a:xfrm>
          <a:prstGeom prst="rect">
            <a:avLst/>
          </a:prstGeom>
          <a:ln w="28575">
            <a:solidFill>
              <a:srgbClr val="E11D2E"/>
            </a:solidFill>
            <a:prstDash val="solid"/>
          </a:ln>
        </p:spPr>
      </p:sp>
      <p:sp>
        <p:nvSpPr>
          <p:cNvPr id="10" name="Shape 7"/>
          <p:cNvSpPr/>
          <p:nvPr/>
        </p:nvSpPr>
        <p:spPr>
          <a:xfrm>
            <a:off x="1993092" y="1378283"/>
            <a:ext cx="274320" cy="274320"/>
          </a:xfrm>
          <a:prstGeom prst="ellipse">
            <a:avLst/>
          </a:prstGeom>
          <a:solidFill>
            <a:srgbClr val="E11D2E"/>
          </a:solidFill>
          <a:ln w="15875">
            <a:solidFill>
              <a:srgbClr val="FFFFFF"/>
            </a:solidFill>
            <a:prstDash val="solid"/>
          </a:ln>
        </p:spPr>
      </p:sp>
      <p:sp>
        <p:nvSpPr>
          <p:cNvPr id="11" name="Text 8"/>
          <p:cNvSpPr/>
          <p:nvPr/>
        </p:nvSpPr>
        <p:spPr>
          <a:xfrm>
            <a:off x="1993092" y="1378283"/>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1115908" y="1719012"/>
            <a:ext cx="799630" cy="241626"/>
          </a:xfrm>
          <a:prstGeom prst="rect">
            <a:avLst/>
          </a:prstGeom>
          <a:ln w="28575">
            <a:solidFill>
              <a:srgbClr val="E11D2E"/>
            </a:solidFill>
            <a:prstDash val="solid"/>
          </a:ln>
        </p:spPr>
      </p:sp>
      <p:sp>
        <p:nvSpPr>
          <p:cNvPr id="13" name="Shape 10"/>
          <p:cNvSpPr/>
          <p:nvPr/>
        </p:nvSpPr>
        <p:spPr>
          <a:xfrm>
            <a:off x="823300" y="1702665"/>
            <a:ext cx="274320" cy="274320"/>
          </a:xfrm>
          <a:prstGeom prst="ellipse">
            <a:avLst/>
          </a:prstGeom>
          <a:solidFill>
            <a:srgbClr val="E11D2E"/>
          </a:solidFill>
          <a:ln w="15875">
            <a:solidFill>
              <a:srgbClr val="FFFFFF"/>
            </a:solidFill>
            <a:prstDash val="solid"/>
          </a:ln>
        </p:spPr>
      </p:sp>
      <p:sp>
        <p:nvSpPr>
          <p:cNvPr id="14" name="Text 11"/>
          <p:cNvSpPr/>
          <p:nvPr/>
        </p:nvSpPr>
        <p:spPr>
          <a:xfrm>
            <a:off x="823300" y="170266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520928" y="2014821"/>
            <a:ext cx="2362714" cy="302132"/>
          </a:xfrm>
          <a:prstGeom prst="rect">
            <a:avLst/>
          </a:prstGeom>
          <a:ln w="28575">
            <a:solidFill>
              <a:srgbClr val="E11D2E"/>
            </a:solidFill>
            <a:prstDash val="solid"/>
          </a:ln>
        </p:spPr>
      </p:sp>
      <p:sp>
        <p:nvSpPr>
          <p:cNvPr id="16" name="Shape 13"/>
          <p:cNvSpPr/>
          <p:nvPr/>
        </p:nvSpPr>
        <p:spPr>
          <a:xfrm>
            <a:off x="228320" y="2028727"/>
            <a:ext cx="274320" cy="274320"/>
          </a:xfrm>
          <a:prstGeom prst="ellipse">
            <a:avLst/>
          </a:prstGeom>
          <a:solidFill>
            <a:srgbClr val="E11D2E"/>
          </a:solidFill>
          <a:ln w="15875">
            <a:solidFill>
              <a:srgbClr val="FFFFFF"/>
            </a:solidFill>
            <a:prstDash val="solid"/>
          </a:ln>
        </p:spPr>
      </p:sp>
      <p:sp>
        <p:nvSpPr>
          <p:cNvPr id="17" name="Text 14"/>
          <p:cNvSpPr/>
          <p:nvPr/>
        </p:nvSpPr>
        <p:spPr>
          <a:xfrm>
            <a:off x="228320" y="2028727"/>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09_Chain → 01 Save by Script（URL：{{baseUrl}}/users/2）を開き「Script」タブ</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「Post Response」（レスポンスを受け取った後に動く）を選ぶ</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bru.setVar("userId", res.body.id); と bru.setVar("userName", res.body.name); の 2 行を書いて Ctrl + S → Send</a:t>
            </a:r>
            <a:endParaRPr lang="en-US" sz="1400" dirty="0"/>
          </a:p>
        </p:txBody>
      </p:sp>
      <p:sp>
        <p:nvSpPr>
          <p:cNvPr id="19" name="Shape 16"/>
          <p:cNvSpPr/>
          <p:nvPr/>
        </p:nvSpPr>
        <p:spPr>
          <a:xfrm>
            <a:off x="8275320" y="4206240"/>
            <a:ext cx="3520440" cy="1417320"/>
          </a:xfrm>
          <a:prstGeom prst="rect">
            <a:avLst/>
          </a:prstGeom>
          <a:solidFill>
            <a:srgbClr val="EFF6FF"/>
          </a:solidFill>
          <a:ln w="15875">
            <a:solidFill>
              <a:srgbClr val="1D4ED8"/>
            </a:solidFill>
            <a:prstDash val="solid"/>
          </a:ln>
        </p:spPr>
      </p:sp>
      <p:sp>
        <p:nvSpPr>
          <p:cNvPr id="20" name="Shape 17"/>
          <p:cNvSpPr/>
          <p:nvPr/>
        </p:nvSpPr>
        <p:spPr>
          <a:xfrm>
            <a:off x="8275320" y="4206240"/>
            <a:ext cx="82296" cy="1417320"/>
          </a:xfrm>
          <a:prstGeom prst="rect">
            <a:avLst/>
          </a:prstGeom>
          <a:solidFill>
            <a:srgbClr val="1D4ED8"/>
          </a:solidFill>
          <a:ln w="12700">
            <a:solidFill>
              <a:srgbClr val="1D4ED8"/>
            </a:solidFill>
            <a:prstDash val="solid"/>
          </a:ln>
        </p:spPr>
      </p:sp>
      <p:sp>
        <p:nvSpPr>
          <p:cNvPr id="21" name="Text 18"/>
          <p:cNvSpPr/>
          <p:nvPr/>
        </p:nvSpPr>
        <p:spPr>
          <a:xfrm>
            <a:off x="8439912" y="4251960"/>
            <a:ext cx="3291840" cy="1325880"/>
          </a:xfrm>
          <a:prstGeom prst="rect">
            <a:avLst/>
          </a:prstGeom>
          <a:noFill/>
          <a:ln/>
        </p:spPr>
        <p:txBody>
          <a:bodyPr wrap="square" rtlCol="0" anchor="ctr"/>
          <a:lstStyle/>
          <a:p>
            <a:pPr indent="0" marL="0">
              <a:spcAft>
                <a:spcPts val="200"/>
              </a:spcAft>
              <a:buNone/>
            </a:pPr>
            <a:r>
              <a:rPr lang="en-US" sz="1200" b="1" dirty="0">
                <a:solidFill>
                  <a:srgbClr val="1D4ED8"/>
                </a:solidFill>
                <a:latin typeface="Meiryo UI" pitchFamily="34" charset="0"/>
                <a:ea typeface="Meiryo UI" pitchFamily="34" charset="-122"/>
                <a:cs typeface="Meiryo UI" pitchFamily="34" charset="-120"/>
              </a:rPr>
              <a:t>【ヒント】</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Send すると、userId に 2、userName に Ervin Howell が保存されます。受け渡し 手順 1/3 の firstPostId と同じ書き方です。</a:t>
            </a:r>
            <a:endParaRPr lang="en-US" sz="1200" dirty="0"/>
          </a:p>
        </p:txBody>
      </p:sp>
      <p:sp>
        <p:nvSpPr>
          <p:cNvPr id="22" name="Shape 19"/>
          <p:cNvSpPr/>
          <p:nvPr/>
        </p:nvSpPr>
        <p:spPr>
          <a:xfrm>
            <a:off x="548640" y="5788152"/>
            <a:ext cx="11064240" cy="329184"/>
          </a:xfrm>
          <a:prstGeom prst="rect">
            <a:avLst/>
          </a:prstGeom>
          <a:solidFill>
            <a:srgbClr val="ECFDF5"/>
          </a:solidFill>
          <a:ln w="12700">
            <a:solidFill>
              <a:srgbClr val="047857"/>
            </a:solidFill>
            <a:prstDash val="solid"/>
          </a:ln>
        </p:spPr>
      </p:sp>
      <p:sp>
        <p:nvSpPr>
          <p:cNvPr id="23" name="Text 20"/>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09_Chain\01 Save by Script.yml を開いて Send</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【保存方法2】Vars タブで値を保存する（コード不要）</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Windows 11、2026-10-13 撮影）">    </p:cNvPr>
          <p:cNvPicPr>
            <a:picLocks noChangeAspect="1"/>
          </p:cNvPicPr>
          <p:nvPr/>
        </p:nvPicPr>
        <p:blipFill>
          <a:blip r:embed="rId1"/>
          <a:stretch>
            <a:fillRect/>
          </a:stretch>
        </p:blipFill>
        <p:spPr>
          <a:xfrm>
            <a:off x="411480" y="1051560"/>
            <a:ext cx="7680960" cy="3550444"/>
          </a:xfrm>
          <a:prstGeom prst="rect">
            <a:avLst/>
          </a:prstGeom>
        </p:spPr>
      </p:pic>
      <p:sp>
        <p:nvSpPr>
          <p:cNvPr id="7" name="Shape 4"/>
          <p:cNvSpPr/>
          <p:nvPr/>
        </p:nvSpPr>
        <p:spPr>
          <a:xfrm>
            <a:off x="411480" y="1051560"/>
            <a:ext cx="7680960" cy="3550444"/>
          </a:xfrm>
          <a:prstGeom prst="rect">
            <a:avLst/>
          </a:prstGeom>
          <a:ln w="9525">
            <a:solidFill>
              <a:srgbClr val="D1D5DB"/>
            </a:solidFill>
            <a:prstDash val="solid"/>
          </a:ln>
        </p:spPr>
      </p:sp>
      <p:sp>
        <p:nvSpPr>
          <p:cNvPr id="8" name="Text 5"/>
          <p:cNvSpPr/>
          <p:nvPr/>
        </p:nvSpPr>
        <p:spPr>
          <a:xfrm>
            <a:off x="411480" y="4620292"/>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11、2026-10-13 撮影）</a:t>
            </a:r>
            <a:endParaRPr lang="en-US" sz="1000" dirty="0"/>
          </a:p>
        </p:txBody>
      </p:sp>
      <p:sp>
        <p:nvSpPr>
          <p:cNvPr id="9" name="Shape 6"/>
          <p:cNvSpPr/>
          <p:nvPr/>
        </p:nvSpPr>
        <p:spPr>
          <a:xfrm>
            <a:off x="2773490" y="1628346"/>
            <a:ext cx="421624" cy="266605"/>
          </a:xfrm>
          <a:prstGeom prst="rect">
            <a:avLst/>
          </a:prstGeom>
          <a:ln w="28575">
            <a:solidFill>
              <a:srgbClr val="E11D2E"/>
            </a:solidFill>
            <a:prstDash val="solid"/>
          </a:ln>
        </p:spPr>
      </p:sp>
      <p:sp>
        <p:nvSpPr>
          <p:cNvPr id="10" name="Shape 7"/>
          <p:cNvSpPr/>
          <p:nvPr/>
        </p:nvSpPr>
        <p:spPr>
          <a:xfrm>
            <a:off x="2480882" y="1624489"/>
            <a:ext cx="274320" cy="274320"/>
          </a:xfrm>
          <a:prstGeom prst="ellipse">
            <a:avLst/>
          </a:prstGeom>
          <a:solidFill>
            <a:srgbClr val="E11D2E"/>
          </a:solidFill>
          <a:ln w="15875">
            <a:solidFill>
              <a:srgbClr val="FFFFFF"/>
            </a:solidFill>
            <a:prstDash val="solid"/>
          </a:ln>
        </p:spPr>
      </p:sp>
      <p:sp>
        <p:nvSpPr>
          <p:cNvPr id="11" name="Text 8"/>
          <p:cNvSpPr/>
          <p:nvPr/>
        </p:nvSpPr>
        <p:spPr>
          <a:xfrm>
            <a:off x="2480882" y="1624489"/>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568214" y="3433572"/>
            <a:ext cx="7292483" cy="691658"/>
          </a:xfrm>
          <a:prstGeom prst="rect">
            <a:avLst/>
          </a:prstGeom>
          <a:ln w="28575">
            <a:solidFill>
              <a:srgbClr val="E11D2E"/>
            </a:solidFill>
            <a:prstDash val="solid"/>
          </a:ln>
        </p:spPr>
      </p:sp>
      <p:sp>
        <p:nvSpPr>
          <p:cNvPr id="13" name="Shape 10"/>
          <p:cNvSpPr/>
          <p:nvPr/>
        </p:nvSpPr>
        <p:spPr>
          <a:xfrm>
            <a:off x="275606" y="3642241"/>
            <a:ext cx="274320" cy="274320"/>
          </a:xfrm>
          <a:prstGeom prst="ellipse">
            <a:avLst/>
          </a:prstGeom>
          <a:solidFill>
            <a:srgbClr val="E11D2E"/>
          </a:solidFill>
          <a:ln w="15875">
            <a:solidFill>
              <a:srgbClr val="FFFFFF"/>
            </a:solidFill>
            <a:prstDash val="solid"/>
          </a:ln>
        </p:spPr>
      </p:sp>
      <p:sp>
        <p:nvSpPr>
          <p:cNvPr id="14" name="Text 11"/>
          <p:cNvSpPr/>
          <p:nvPr/>
        </p:nvSpPr>
        <p:spPr>
          <a:xfrm>
            <a:off x="275606" y="3642241"/>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09_Chain → 02 Save by Vars Tab（URL：{{baseUrl}}/posts/5）を開き「Vars」タブ</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「Post Response」の表で Name：postTitle、Expr：res.body.title と入力して Ctrl + S</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Send → レスポンスの title（nesciunt quas odio）が postTitle に保存される</a:t>
            </a:r>
            <a:endParaRPr lang="en-US" sz="1400" dirty="0"/>
          </a:p>
        </p:txBody>
      </p:sp>
      <p:sp>
        <p:nvSpPr>
          <p:cNvPr id="16" name="Shape 13"/>
          <p:cNvSpPr/>
          <p:nvPr/>
        </p:nvSpPr>
        <p:spPr>
          <a:xfrm>
            <a:off x="8275320" y="4206240"/>
            <a:ext cx="3520440" cy="1417320"/>
          </a:xfrm>
          <a:prstGeom prst="rect">
            <a:avLst/>
          </a:prstGeom>
          <a:solidFill>
            <a:srgbClr val="EFF6FF"/>
          </a:solidFill>
          <a:ln w="15875">
            <a:solidFill>
              <a:srgbClr val="1D4ED8"/>
            </a:solidFill>
            <a:prstDash val="solid"/>
          </a:ln>
        </p:spPr>
      </p:sp>
      <p:sp>
        <p:nvSpPr>
          <p:cNvPr id="17" name="Shape 14"/>
          <p:cNvSpPr/>
          <p:nvPr/>
        </p:nvSpPr>
        <p:spPr>
          <a:xfrm>
            <a:off x="8275320" y="4206240"/>
            <a:ext cx="82296" cy="1417320"/>
          </a:xfrm>
          <a:prstGeom prst="rect">
            <a:avLst/>
          </a:prstGeom>
          <a:solidFill>
            <a:srgbClr val="1D4ED8"/>
          </a:solidFill>
          <a:ln w="12700">
            <a:solidFill>
              <a:srgbClr val="1D4ED8"/>
            </a:solidFill>
            <a:prstDash val="solid"/>
          </a:ln>
        </p:spPr>
      </p:sp>
      <p:sp>
        <p:nvSpPr>
          <p:cNvPr id="18" name="Text 15"/>
          <p:cNvSpPr/>
          <p:nvPr/>
        </p:nvSpPr>
        <p:spPr>
          <a:xfrm>
            <a:off x="8439912" y="4251960"/>
            <a:ext cx="3291840" cy="1325880"/>
          </a:xfrm>
          <a:prstGeom prst="rect">
            <a:avLst/>
          </a:prstGeom>
          <a:noFill/>
          <a:ln/>
        </p:spPr>
        <p:txBody>
          <a:bodyPr wrap="square" rtlCol="0" anchor="ctr"/>
          <a:lstStyle/>
          <a:p>
            <a:pPr indent="0" marL="0">
              <a:spcAft>
                <a:spcPts val="200"/>
              </a:spcAft>
              <a:buNone/>
            </a:pPr>
            <a:r>
              <a:rPr lang="en-US" sz="1200" b="1" dirty="0">
                <a:solidFill>
                  <a:srgbClr val="1D4ED8"/>
                </a:solidFill>
                <a:latin typeface="Meiryo UI" pitchFamily="34" charset="0"/>
                <a:ea typeface="Meiryo UI" pitchFamily="34" charset="-122"/>
                <a:cs typeface="Meiryo UI" pitchFamily="34" charset="-120"/>
              </a:rPr>
              <a:t>【ヒント】</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Script で bru.setVar と書くのと同じ働きを、表への入力だけで行えます。Expr には res.body.〇〇 の形で取り出したい場所を書きます。</a:t>
            </a:r>
            <a:endParaRPr lang="en-US" sz="1200" dirty="0"/>
          </a:p>
        </p:txBody>
      </p:sp>
      <p:sp>
        <p:nvSpPr>
          <p:cNvPr id="19" name="Shape 16"/>
          <p:cNvSpPr/>
          <p:nvPr/>
        </p:nvSpPr>
        <p:spPr>
          <a:xfrm>
            <a:off x="548640" y="5788152"/>
            <a:ext cx="11064240" cy="329184"/>
          </a:xfrm>
          <a:prstGeom prst="rect">
            <a:avLst/>
          </a:prstGeom>
          <a:solidFill>
            <a:srgbClr val="ECFDF5"/>
          </a:solidFill>
          <a:ln w="12700">
            <a:solidFill>
              <a:srgbClr val="047857"/>
            </a:solidFill>
            <a:prstDash val="solid"/>
          </a:ln>
        </p:spPr>
      </p:sp>
      <p:sp>
        <p:nvSpPr>
          <p:cNvPr id="20" name="Text 17"/>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09_Chain\02 Save by Vars Tab.yml を開いて Send</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【送り先1】URL のパスに入れて送る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Windows 11、2026-10-13 撮影）">    </p:cNvPr>
          <p:cNvPicPr>
            <a:picLocks noChangeAspect="1"/>
          </p:cNvPicPr>
          <p:nvPr/>
        </p:nvPicPr>
        <p:blipFill>
          <a:blip r:embed="rId1"/>
          <a:stretch>
            <a:fillRect/>
          </a:stretch>
        </p:blipFill>
        <p:spPr>
          <a:xfrm>
            <a:off x="411480" y="1051560"/>
            <a:ext cx="7680960" cy="2514380"/>
          </a:xfrm>
          <a:prstGeom prst="rect">
            <a:avLst/>
          </a:prstGeom>
        </p:spPr>
      </p:pic>
      <p:sp>
        <p:nvSpPr>
          <p:cNvPr id="7" name="Shape 4"/>
          <p:cNvSpPr/>
          <p:nvPr/>
        </p:nvSpPr>
        <p:spPr>
          <a:xfrm>
            <a:off x="411480" y="1051560"/>
            <a:ext cx="7680960" cy="2514380"/>
          </a:xfrm>
          <a:prstGeom prst="rect">
            <a:avLst/>
          </a:prstGeom>
          <a:ln w="9525">
            <a:solidFill>
              <a:srgbClr val="D1D5DB"/>
            </a:solidFill>
            <a:prstDash val="solid"/>
          </a:ln>
        </p:spPr>
      </p:sp>
      <p:sp>
        <p:nvSpPr>
          <p:cNvPr id="8" name="Text 5"/>
          <p:cNvSpPr/>
          <p:nvPr/>
        </p:nvSpPr>
        <p:spPr>
          <a:xfrm>
            <a:off x="411480" y="358422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11、2026-10-13 撮影）</a:t>
            </a:r>
            <a:endParaRPr lang="en-US" sz="1000" dirty="0"/>
          </a:p>
        </p:txBody>
      </p:sp>
      <p:sp>
        <p:nvSpPr>
          <p:cNvPr id="9" name="Shape 6"/>
          <p:cNvSpPr/>
          <p:nvPr/>
        </p:nvSpPr>
        <p:spPr>
          <a:xfrm>
            <a:off x="510843" y="1066887"/>
            <a:ext cx="1596298" cy="248349"/>
          </a:xfrm>
          <a:prstGeom prst="rect">
            <a:avLst/>
          </a:prstGeom>
          <a:ln w="28575">
            <a:solidFill>
              <a:srgbClr val="E11D2E"/>
            </a:solidFill>
            <a:prstDash val="solid"/>
          </a:ln>
        </p:spPr>
      </p:sp>
      <p:sp>
        <p:nvSpPr>
          <p:cNvPr id="10" name="Shape 7"/>
          <p:cNvSpPr/>
          <p:nvPr/>
        </p:nvSpPr>
        <p:spPr>
          <a:xfrm>
            <a:off x="218235" y="1053901"/>
            <a:ext cx="274320" cy="274320"/>
          </a:xfrm>
          <a:prstGeom prst="ellipse">
            <a:avLst/>
          </a:prstGeom>
          <a:solidFill>
            <a:srgbClr val="E11D2E"/>
          </a:solidFill>
          <a:ln w="15875">
            <a:solidFill>
              <a:srgbClr val="FFFFFF"/>
            </a:solidFill>
            <a:prstDash val="solid"/>
          </a:ln>
        </p:spPr>
      </p:sp>
      <p:sp>
        <p:nvSpPr>
          <p:cNvPr id="11" name="Text 8"/>
          <p:cNvSpPr/>
          <p:nvPr/>
        </p:nvSpPr>
        <p:spPr>
          <a:xfrm>
            <a:off x="218235" y="1053901"/>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5942980" y="1873640"/>
            <a:ext cx="1458478" cy="305494"/>
          </a:xfrm>
          <a:prstGeom prst="rect">
            <a:avLst/>
          </a:prstGeom>
          <a:ln w="28575">
            <a:solidFill>
              <a:srgbClr val="E11D2E"/>
            </a:solidFill>
            <a:prstDash val="solid"/>
          </a:ln>
        </p:spPr>
      </p:sp>
      <p:sp>
        <p:nvSpPr>
          <p:cNvPr id="13" name="Shape 10"/>
          <p:cNvSpPr/>
          <p:nvPr/>
        </p:nvSpPr>
        <p:spPr>
          <a:xfrm>
            <a:off x="5650372" y="1889226"/>
            <a:ext cx="274320" cy="274320"/>
          </a:xfrm>
          <a:prstGeom prst="ellipse">
            <a:avLst/>
          </a:prstGeom>
          <a:solidFill>
            <a:srgbClr val="E11D2E"/>
          </a:solidFill>
          <a:ln w="15875">
            <a:solidFill>
              <a:srgbClr val="FFFFFF"/>
            </a:solidFill>
            <a:prstDash val="solid"/>
          </a:ln>
        </p:spPr>
      </p:sp>
      <p:sp>
        <p:nvSpPr>
          <p:cNvPr id="14" name="Text 11"/>
          <p:cNvSpPr/>
          <p:nvPr/>
        </p:nvSpPr>
        <p:spPr>
          <a:xfrm>
            <a:off x="5650372" y="188922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09_Chain → 03 Use in URL Path を開く</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URL に {{userId}} を書く（{{baseUrl}}/users/{{userId}}）</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Send → userId が 2 なので /users/2 に送られ、id 2（Ervin Howell）が返る</a:t>
            </a:r>
            <a:endParaRPr lang="en-US" sz="1400" dirty="0"/>
          </a:p>
        </p:txBody>
      </p:sp>
      <p:sp>
        <p:nvSpPr>
          <p:cNvPr id="16" name="Shape 13"/>
          <p:cNvSpPr/>
          <p:nvPr/>
        </p:nvSpPr>
        <p:spPr>
          <a:xfrm>
            <a:off x="8275320" y="4206240"/>
            <a:ext cx="3520440" cy="1417320"/>
          </a:xfrm>
          <a:prstGeom prst="rect">
            <a:avLst/>
          </a:prstGeom>
          <a:solidFill>
            <a:srgbClr val="EFF6FF"/>
          </a:solidFill>
          <a:ln w="15875">
            <a:solidFill>
              <a:srgbClr val="1D4ED8"/>
            </a:solidFill>
            <a:prstDash val="solid"/>
          </a:ln>
        </p:spPr>
      </p:sp>
      <p:sp>
        <p:nvSpPr>
          <p:cNvPr id="17" name="Shape 14"/>
          <p:cNvSpPr/>
          <p:nvPr/>
        </p:nvSpPr>
        <p:spPr>
          <a:xfrm>
            <a:off x="8275320" y="4206240"/>
            <a:ext cx="82296" cy="1417320"/>
          </a:xfrm>
          <a:prstGeom prst="rect">
            <a:avLst/>
          </a:prstGeom>
          <a:solidFill>
            <a:srgbClr val="1D4ED8"/>
          </a:solidFill>
          <a:ln w="12700">
            <a:solidFill>
              <a:srgbClr val="1D4ED8"/>
            </a:solidFill>
            <a:prstDash val="solid"/>
          </a:ln>
        </p:spPr>
      </p:sp>
      <p:sp>
        <p:nvSpPr>
          <p:cNvPr id="18" name="Text 15"/>
          <p:cNvSpPr/>
          <p:nvPr/>
        </p:nvSpPr>
        <p:spPr>
          <a:xfrm>
            <a:off x="8439912" y="4251960"/>
            <a:ext cx="3291840" cy="1325880"/>
          </a:xfrm>
          <a:prstGeom prst="rect">
            <a:avLst/>
          </a:prstGeom>
          <a:noFill/>
          <a:ln/>
        </p:spPr>
        <p:txBody>
          <a:bodyPr wrap="square" rtlCol="0" anchor="ctr"/>
          <a:lstStyle/>
          <a:p>
            <a:pPr indent="0" marL="0">
              <a:spcAft>
                <a:spcPts val="200"/>
              </a:spcAft>
              <a:buNone/>
            </a:pPr>
            <a:r>
              <a:rPr lang="en-US" sz="1200" b="1" dirty="0">
                <a:solidFill>
                  <a:srgbClr val="1D4ED8"/>
                </a:solidFill>
                <a:latin typeface="Meiryo UI" pitchFamily="34" charset="0"/>
                <a:ea typeface="Meiryo UI" pitchFamily="34" charset="-122"/>
                <a:cs typeface="Meiryo UI" pitchFamily="34" charset="-120"/>
              </a:rPr>
              <a:t>【ヒント】</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先に 01 を送って userId を保存しておきます。受け渡し 手順 2/3 の {{firstPostId}} と同じ使い方です。</a:t>
            </a:r>
            <a:endParaRPr lang="en-US" sz="1200" dirty="0"/>
          </a:p>
        </p:txBody>
      </p:sp>
      <p:sp>
        <p:nvSpPr>
          <p:cNvPr id="19" name="Shape 16"/>
          <p:cNvSpPr/>
          <p:nvPr/>
        </p:nvSpPr>
        <p:spPr>
          <a:xfrm>
            <a:off x="548640" y="5788152"/>
            <a:ext cx="11064240" cy="329184"/>
          </a:xfrm>
          <a:prstGeom prst="rect">
            <a:avLst/>
          </a:prstGeom>
          <a:solidFill>
            <a:srgbClr val="ECFDF5"/>
          </a:solidFill>
          <a:ln w="12700">
            <a:solidFill>
              <a:srgbClr val="047857"/>
            </a:solidFill>
            <a:prstDash val="solid"/>
          </a:ln>
        </p:spPr>
      </p:sp>
      <p:sp>
        <p:nvSpPr>
          <p:cNvPr id="20" name="Text 17"/>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09_Chain\01 → 03 の順に .yml を開いて Send</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【送り先2】Query Parameter に入れて送る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Windows 11、2026-10-13 撮影）">    </p:cNvPr>
          <p:cNvPicPr>
            <a:picLocks noChangeAspect="1"/>
          </p:cNvPicPr>
          <p:nvPr/>
        </p:nvPicPr>
        <p:blipFill>
          <a:blip r:embed="rId1"/>
          <a:stretch>
            <a:fillRect/>
          </a:stretch>
        </p:blipFill>
        <p:spPr>
          <a:xfrm>
            <a:off x="411480" y="1051560"/>
            <a:ext cx="7680960" cy="2975372"/>
          </a:xfrm>
          <a:prstGeom prst="rect">
            <a:avLst/>
          </a:prstGeom>
        </p:spPr>
      </p:pic>
      <p:sp>
        <p:nvSpPr>
          <p:cNvPr id="7" name="Shape 4"/>
          <p:cNvSpPr/>
          <p:nvPr/>
        </p:nvSpPr>
        <p:spPr>
          <a:xfrm>
            <a:off x="411480" y="1051560"/>
            <a:ext cx="7680960" cy="2975372"/>
          </a:xfrm>
          <a:prstGeom prst="rect">
            <a:avLst/>
          </a:prstGeom>
          <a:ln w="9525">
            <a:solidFill>
              <a:srgbClr val="D1D5DB"/>
            </a:solidFill>
            <a:prstDash val="solid"/>
          </a:ln>
        </p:spPr>
      </p:sp>
      <p:sp>
        <p:nvSpPr>
          <p:cNvPr id="8" name="Text 5"/>
          <p:cNvSpPr/>
          <p:nvPr/>
        </p:nvSpPr>
        <p:spPr>
          <a:xfrm>
            <a:off x="411480" y="4045220"/>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11、2026-10-13 撮影）</a:t>
            </a:r>
            <a:endParaRPr lang="en-US" sz="1000" dirty="0"/>
          </a:p>
        </p:txBody>
      </p:sp>
      <p:sp>
        <p:nvSpPr>
          <p:cNvPr id="9" name="Shape 6"/>
          <p:cNvSpPr/>
          <p:nvPr/>
        </p:nvSpPr>
        <p:spPr>
          <a:xfrm>
            <a:off x="548211" y="1628346"/>
            <a:ext cx="591645" cy="266605"/>
          </a:xfrm>
          <a:prstGeom prst="rect">
            <a:avLst/>
          </a:prstGeom>
          <a:ln w="28575">
            <a:solidFill>
              <a:srgbClr val="E11D2E"/>
            </a:solidFill>
            <a:prstDash val="solid"/>
          </a:ln>
        </p:spPr>
      </p:sp>
      <p:sp>
        <p:nvSpPr>
          <p:cNvPr id="10" name="Shape 7"/>
          <p:cNvSpPr/>
          <p:nvPr/>
        </p:nvSpPr>
        <p:spPr>
          <a:xfrm>
            <a:off x="255603" y="1624489"/>
            <a:ext cx="274320" cy="274320"/>
          </a:xfrm>
          <a:prstGeom prst="ellipse">
            <a:avLst/>
          </a:prstGeom>
          <a:solidFill>
            <a:srgbClr val="E11D2E"/>
          </a:solidFill>
          <a:ln w="15875">
            <a:solidFill>
              <a:srgbClr val="FFFFFF"/>
            </a:solidFill>
            <a:prstDash val="solid"/>
          </a:ln>
        </p:spPr>
      </p:sp>
      <p:sp>
        <p:nvSpPr>
          <p:cNvPr id="11" name="Text 8"/>
          <p:cNvSpPr/>
          <p:nvPr/>
        </p:nvSpPr>
        <p:spPr>
          <a:xfrm>
            <a:off x="255603" y="1624489"/>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568214" y="2663476"/>
            <a:ext cx="7292483" cy="386620"/>
          </a:xfrm>
          <a:prstGeom prst="rect">
            <a:avLst/>
          </a:prstGeom>
          <a:ln w="28575">
            <a:solidFill>
              <a:srgbClr val="E11D2E"/>
            </a:solidFill>
            <a:prstDash val="solid"/>
          </a:ln>
        </p:spPr>
      </p:sp>
      <p:sp>
        <p:nvSpPr>
          <p:cNvPr id="13" name="Shape 10"/>
          <p:cNvSpPr/>
          <p:nvPr/>
        </p:nvSpPr>
        <p:spPr>
          <a:xfrm>
            <a:off x="275606" y="2719626"/>
            <a:ext cx="274320" cy="274320"/>
          </a:xfrm>
          <a:prstGeom prst="ellipse">
            <a:avLst/>
          </a:prstGeom>
          <a:solidFill>
            <a:srgbClr val="E11D2E"/>
          </a:solidFill>
          <a:ln w="15875">
            <a:solidFill>
              <a:srgbClr val="FFFFFF"/>
            </a:solidFill>
            <a:prstDash val="solid"/>
          </a:ln>
        </p:spPr>
      </p:sp>
      <p:sp>
        <p:nvSpPr>
          <p:cNvPr id="14" name="Text 11"/>
          <p:cNvSpPr/>
          <p:nvPr/>
        </p:nvSpPr>
        <p:spPr>
          <a:xfrm>
            <a:off x="275606" y="271962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568214" y="1108281"/>
            <a:ext cx="2741914" cy="326612"/>
          </a:xfrm>
          <a:prstGeom prst="rect">
            <a:avLst/>
          </a:prstGeom>
          <a:ln w="28575">
            <a:solidFill>
              <a:srgbClr val="E11D2E"/>
            </a:solidFill>
            <a:prstDash val="solid"/>
          </a:ln>
        </p:spPr>
      </p:sp>
      <p:sp>
        <p:nvSpPr>
          <p:cNvPr id="16" name="Shape 13"/>
          <p:cNvSpPr/>
          <p:nvPr/>
        </p:nvSpPr>
        <p:spPr>
          <a:xfrm>
            <a:off x="275606" y="1134428"/>
            <a:ext cx="274320" cy="274320"/>
          </a:xfrm>
          <a:prstGeom prst="ellipse">
            <a:avLst/>
          </a:prstGeom>
          <a:solidFill>
            <a:srgbClr val="E11D2E"/>
          </a:solidFill>
          <a:ln w="15875">
            <a:solidFill>
              <a:srgbClr val="FFFFFF"/>
            </a:solidFill>
            <a:prstDash val="solid"/>
          </a:ln>
        </p:spPr>
      </p:sp>
      <p:sp>
        <p:nvSpPr>
          <p:cNvPr id="17" name="Text 14"/>
          <p:cNvSpPr/>
          <p:nvPr/>
        </p:nvSpPr>
        <p:spPr>
          <a:xfrm>
            <a:off x="275606" y="11344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09_Chain → 04 Use in Query を開き「Params」タブ</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Query の Value に {{userId}} と書く</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URL が ?userId={{userId}} になる → Send → userId が 2 の投稿（10 件）が返る</a:t>
            </a:r>
            <a:endParaRPr lang="en-US" sz="1400" dirty="0"/>
          </a:p>
        </p:txBody>
      </p:sp>
      <p:sp>
        <p:nvSpPr>
          <p:cNvPr id="19" name="Shape 16"/>
          <p:cNvSpPr/>
          <p:nvPr/>
        </p:nvSpPr>
        <p:spPr>
          <a:xfrm>
            <a:off x="548640" y="5788152"/>
            <a:ext cx="11064240" cy="329184"/>
          </a:xfrm>
          <a:prstGeom prst="rect">
            <a:avLst/>
          </a:prstGeom>
          <a:solidFill>
            <a:srgbClr val="ECFDF5"/>
          </a:solidFill>
          <a:ln w="12700">
            <a:solidFill>
              <a:srgbClr val="047857"/>
            </a:solidFill>
            <a:prstDash val="solid"/>
          </a:ln>
        </p:spPr>
      </p:sp>
      <p:sp>
        <p:nvSpPr>
          <p:cNvPr id="20" name="Text 17"/>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09_Chain\01 → 04 の順に .yml を開いて Send</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【送り先3】ヘッダーに入れて送る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Windows 11、2026-10-13 撮影）">    </p:cNvPr>
          <p:cNvPicPr>
            <a:picLocks noChangeAspect="1"/>
          </p:cNvPicPr>
          <p:nvPr/>
        </p:nvPicPr>
        <p:blipFill>
          <a:blip r:embed="rId1"/>
          <a:stretch>
            <a:fillRect/>
          </a:stretch>
        </p:blipFill>
        <p:spPr>
          <a:xfrm>
            <a:off x="411480" y="1051560"/>
            <a:ext cx="7680960" cy="2590324"/>
          </a:xfrm>
          <a:prstGeom prst="rect">
            <a:avLst/>
          </a:prstGeom>
        </p:spPr>
      </p:pic>
      <p:sp>
        <p:nvSpPr>
          <p:cNvPr id="7" name="Shape 4"/>
          <p:cNvSpPr/>
          <p:nvPr/>
        </p:nvSpPr>
        <p:spPr>
          <a:xfrm>
            <a:off x="411480" y="1051560"/>
            <a:ext cx="7680960" cy="2590324"/>
          </a:xfrm>
          <a:prstGeom prst="rect">
            <a:avLst/>
          </a:prstGeom>
          <a:ln w="9525">
            <a:solidFill>
              <a:srgbClr val="D1D5DB"/>
            </a:solidFill>
            <a:prstDash val="solid"/>
          </a:ln>
        </p:spPr>
      </p:sp>
      <p:sp>
        <p:nvSpPr>
          <p:cNvPr id="8" name="Text 5"/>
          <p:cNvSpPr/>
          <p:nvPr/>
        </p:nvSpPr>
        <p:spPr>
          <a:xfrm>
            <a:off x="411480" y="3660172"/>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11、2026-10-13 撮影）</a:t>
            </a:r>
            <a:endParaRPr lang="en-US" sz="1000" dirty="0"/>
          </a:p>
        </p:txBody>
      </p:sp>
      <p:sp>
        <p:nvSpPr>
          <p:cNvPr id="9" name="Shape 6"/>
          <p:cNvSpPr/>
          <p:nvPr/>
        </p:nvSpPr>
        <p:spPr>
          <a:xfrm>
            <a:off x="1643348" y="1628346"/>
            <a:ext cx="631650" cy="266605"/>
          </a:xfrm>
          <a:prstGeom prst="rect">
            <a:avLst/>
          </a:prstGeom>
          <a:ln w="28575">
            <a:solidFill>
              <a:srgbClr val="E11D2E"/>
            </a:solidFill>
            <a:prstDash val="solid"/>
          </a:ln>
        </p:spPr>
      </p:sp>
      <p:sp>
        <p:nvSpPr>
          <p:cNvPr id="10" name="Shape 7"/>
          <p:cNvSpPr/>
          <p:nvPr/>
        </p:nvSpPr>
        <p:spPr>
          <a:xfrm>
            <a:off x="1350740" y="1624489"/>
            <a:ext cx="274320" cy="274320"/>
          </a:xfrm>
          <a:prstGeom prst="ellipse">
            <a:avLst/>
          </a:prstGeom>
          <a:solidFill>
            <a:srgbClr val="E11D2E"/>
          </a:solidFill>
          <a:ln w="15875">
            <a:solidFill>
              <a:srgbClr val="FFFFFF"/>
            </a:solidFill>
            <a:prstDash val="solid"/>
          </a:ln>
        </p:spPr>
      </p:sp>
      <p:sp>
        <p:nvSpPr>
          <p:cNvPr id="11" name="Text 8"/>
          <p:cNvSpPr/>
          <p:nvPr/>
        </p:nvSpPr>
        <p:spPr>
          <a:xfrm>
            <a:off x="1350740" y="1624489"/>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568214" y="2378440"/>
            <a:ext cx="7292483" cy="381619"/>
          </a:xfrm>
          <a:prstGeom prst="rect">
            <a:avLst/>
          </a:prstGeom>
          <a:ln w="28575">
            <a:solidFill>
              <a:srgbClr val="E11D2E"/>
            </a:solidFill>
            <a:prstDash val="solid"/>
          </a:ln>
        </p:spPr>
      </p:sp>
      <p:sp>
        <p:nvSpPr>
          <p:cNvPr id="13" name="Shape 10"/>
          <p:cNvSpPr/>
          <p:nvPr/>
        </p:nvSpPr>
        <p:spPr>
          <a:xfrm>
            <a:off x="275606" y="2432090"/>
            <a:ext cx="274320" cy="274320"/>
          </a:xfrm>
          <a:prstGeom prst="ellipse">
            <a:avLst/>
          </a:prstGeom>
          <a:solidFill>
            <a:srgbClr val="E11D2E"/>
          </a:solidFill>
          <a:ln w="15875">
            <a:solidFill>
              <a:srgbClr val="FFFFFF"/>
            </a:solidFill>
            <a:prstDash val="solid"/>
          </a:ln>
        </p:spPr>
      </p:sp>
      <p:sp>
        <p:nvSpPr>
          <p:cNvPr id="14" name="Text 11"/>
          <p:cNvSpPr/>
          <p:nvPr/>
        </p:nvSpPr>
        <p:spPr>
          <a:xfrm>
            <a:off x="275606" y="243209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09_Chain → 05 Use in Header を開き「Headers」タブ</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Name：X-User-Name、Value：{{userName}} を入力</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Send → 実際に送ったヘッダーはレスポンス側の Timeline で確認できる</a:t>
            </a:r>
            <a:endParaRPr lang="en-US" sz="1400" dirty="0"/>
          </a:p>
        </p:txBody>
      </p:sp>
      <p:sp>
        <p:nvSpPr>
          <p:cNvPr id="16" name="Shape 13"/>
          <p:cNvSpPr/>
          <p:nvPr/>
        </p:nvSpPr>
        <p:spPr>
          <a:xfrm>
            <a:off x="8275320" y="4206240"/>
            <a:ext cx="3520440" cy="1417320"/>
          </a:xfrm>
          <a:prstGeom prst="rect">
            <a:avLst/>
          </a:prstGeom>
          <a:solidFill>
            <a:srgbClr val="EFF6FF"/>
          </a:solidFill>
          <a:ln w="15875">
            <a:solidFill>
              <a:srgbClr val="1D4ED8"/>
            </a:solidFill>
            <a:prstDash val="solid"/>
          </a:ln>
        </p:spPr>
      </p:sp>
      <p:sp>
        <p:nvSpPr>
          <p:cNvPr id="17" name="Shape 14"/>
          <p:cNvSpPr/>
          <p:nvPr/>
        </p:nvSpPr>
        <p:spPr>
          <a:xfrm>
            <a:off x="8275320" y="4206240"/>
            <a:ext cx="82296" cy="1417320"/>
          </a:xfrm>
          <a:prstGeom prst="rect">
            <a:avLst/>
          </a:prstGeom>
          <a:solidFill>
            <a:srgbClr val="1D4ED8"/>
          </a:solidFill>
          <a:ln w="12700">
            <a:solidFill>
              <a:srgbClr val="1D4ED8"/>
            </a:solidFill>
            <a:prstDash val="solid"/>
          </a:ln>
        </p:spPr>
      </p:sp>
      <p:sp>
        <p:nvSpPr>
          <p:cNvPr id="18" name="Text 15"/>
          <p:cNvSpPr/>
          <p:nvPr/>
        </p:nvSpPr>
        <p:spPr>
          <a:xfrm>
            <a:off x="8439912" y="4251960"/>
            <a:ext cx="3291840" cy="1325880"/>
          </a:xfrm>
          <a:prstGeom prst="rect">
            <a:avLst/>
          </a:prstGeom>
          <a:noFill/>
          <a:ln/>
        </p:spPr>
        <p:txBody>
          <a:bodyPr wrap="square" rtlCol="0" anchor="ctr"/>
          <a:lstStyle/>
          <a:p>
            <a:pPr indent="0" marL="0">
              <a:spcAft>
                <a:spcPts val="200"/>
              </a:spcAft>
              <a:buNone/>
            </a:pPr>
            <a:r>
              <a:rPr lang="en-US" sz="1200" b="1" dirty="0">
                <a:solidFill>
                  <a:srgbClr val="1D4ED8"/>
                </a:solidFill>
                <a:latin typeface="Meiryo UI" pitchFamily="34" charset="0"/>
                <a:ea typeface="Meiryo UI" pitchFamily="34" charset="-122"/>
                <a:cs typeface="Meiryo UI" pitchFamily="34" charset="-120"/>
              </a:rPr>
              <a:t>【ヒント】</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作成環境で、X-User-Name: Ervin Howell が送信されたことを確認しました（CLI のテストで確認）。認証トークンを送る Authorization ヘッダーも同じ考え方です。</a:t>
            </a:r>
            <a:endParaRPr lang="en-US" sz="1200" dirty="0"/>
          </a:p>
        </p:txBody>
      </p:sp>
      <p:sp>
        <p:nvSpPr>
          <p:cNvPr id="19" name="Shape 16"/>
          <p:cNvSpPr/>
          <p:nvPr/>
        </p:nvSpPr>
        <p:spPr>
          <a:xfrm>
            <a:off x="548640" y="5788152"/>
            <a:ext cx="11064240" cy="329184"/>
          </a:xfrm>
          <a:prstGeom prst="rect">
            <a:avLst/>
          </a:prstGeom>
          <a:solidFill>
            <a:srgbClr val="ECFDF5"/>
          </a:solidFill>
          <a:ln w="12700">
            <a:solidFill>
              <a:srgbClr val="047857"/>
            </a:solidFill>
            <a:prstDash val="solid"/>
          </a:ln>
        </p:spPr>
      </p:sp>
      <p:sp>
        <p:nvSpPr>
          <p:cNvPr id="20" name="Text 17"/>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09_Chain\01 → 05 の順に .yml を開いて Send</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【送り先4】Body（JSON）に入れて送る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Windows 11、2026-10-13 撮影）">    </p:cNvPr>
          <p:cNvPicPr>
            <a:picLocks noChangeAspect="1"/>
          </p:cNvPicPr>
          <p:nvPr/>
        </p:nvPicPr>
        <p:blipFill>
          <a:blip r:embed="rId1"/>
          <a:stretch>
            <a:fillRect/>
          </a:stretch>
        </p:blipFill>
        <p:spPr>
          <a:xfrm>
            <a:off x="411480" y="1051560"/>
            <a:ext cx="7680960" cy="1095839"/>
          </a:xfrm>
          <a:prstGeom prst="rect">
            <a:avLst/>
          </a:prstGeom>
        </p:spPr>
      </p:pic>
      <p:sp>
        <p:nvSpPr>
          <p:cNvPr id="7" name="Shape 4"/>
          <p:cNvSpPr/>
          <p:nvPr/>
        </p:nvSpPr>
        <p:spPr>
          <a:xfrm>
            <a:off x="411480" y="1051560"/>
            <a:ext cx="7680960" cy="1095839"/>
          </a:xfrm>
          <a:prstGeom prst="rect">
            <a:avLst/>
          </a:prstGeom>
          <a:ln w="9525">
            <a:solidFill>
              <a:srgbClr val="D1D5DB"/>
            </a:solidFill>
            <a:prstDash val="solid"/>
          </a:ln>
        </p:spPr>
      </p:sp>
      <p:sp>
        <p:nvSpPr>
          <p:cNvPr id="8" name="Text 5"/>
          <p:cNvSpPr/>
          <p:nvPr/>
        </p:nvSpPr>
        <p:spPr>
          <a:xfrm>
            <a:off x="411480" y="2165687"/>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11、2026-10-13 撮影）</a:t>
            </a:r>
            <a:endParaRPr lang="en-US" sz="1000" dirty="0"/>
          </a:p>
        </p:txBody>
      </p:sp>
      <p:sp>
        <p:nvSpPr>
          <p:cNvPr id="9" name="Shape 6"/>
          <p:cNvSpPr/>
          <p:nvPr/>
        </p:nvSpPr>
        <p:spPr>
          <a:xfrm>
            <a:off x="910858" y="1110586"/>
            <a:ext cx="332385" cy="191204"/>
          </a:xfrm>
          <a:prstGeom prst="rect">
            <a:avLst/>
          </a:prstGeom>
          <a:ln w="28575">
            <a:solidFill>
              <a:srgbClr val="E11D2E"/>
            </a:solidFill>
            <a:prstDash val="solid"/>
          </a:ln>
        </p:spPr>
      </p:sp>
      <p:sp>
        <p:nvSpPr>
          <p:cNvPr id="10" name="Shape 7"/>
          <p:cNvSpPr/>
          <p:nvPr/>
        </p:nvSpPr>
        <p:spPr>
          <a:xfrm>
            <a:off x="618250" y="1069028"/>
            <a:ext cx="274320" cy="274320"/>
          </a:xfrm>
          <a:prstGeom prst="ellipse">
            <a:avLst/>
          </a:prstGeom>
          <a:solidFill>
            <a:srgbClr val="E11D2E"/>
          </a:solidFill>
          <a:ln w="15875">
            <a:solidFill>
              <a:srgbClr val="FFFFFF"/>
            </a:solidFill>
            <a:prstDash val="solid"/>
          </a:ln>
        </p:spPr>
      </p:sp>
      <p:sp>
        <p:nvSpPr>
          <p:cNvPr id="11" name="Text 8"/>
          <p:cNvSpPr/>
          <p:nvPr/>
        </p:nvSpPr>
        <p:spPr>
          <a:xfrm>
            <a:off x="618250" y="10690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520928" y="1561023"/>
            <a:ext cx="2103880" cy="443314"/>
          </a:xfrm>
          <a:prstGeom prst="rect">
            <a:avLst/>
          </a:prstGeom>
          <a:ln w="28575">
            <a:solidFill>
              <a:srgbClr val="E11D2E"/>
            </a:solidFill>
            <a:prstDash val="solid"/>
          </a:ln>
        </p:spPr>
      </p:sp>
      <p:sp>
        <p:nvSpPr>
          <p:cNvPr id="13" name="Shape 10"/>
          <p:cNvSpPr/>
          <p:nvPr/>
        </p:nvSpPr>
        <p:spPr>
          <a:xfrm>
            <a:off x="228320" y="1645520"/>
            <a:ext cx="274320" cy="274320"/>
          </a:xfrm>
          <a:prstGeom prst="ellipse">
            <a:avLst/>
          </a:prstGeom>
          <a:solidFill>
            <a:srgbClr val="E11D2E"/>
          </a:solidFill>
          <a:ln w="15875">
            <a:solidFill>
              <a:srgbClr val="FFFFFF"/>
            </a:solidFill>
            <a:prstDash val="solid"/>
          </a:ln>
        </p:spPr>
      </p:sp>
      <p:sp>
        <p:nvSpPr>
          <p:cNvPr id="14" name="Text 11"/>
          <p:cNvSpPr/>
          <p:nvPr/>
        </p:nvSpPr>
        <p:spPr>
          <a:xfrm>
            <a:off x="228320" y="16455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5684147" y="1561023"/>
            <a:ext cx="2231616" cy="443314"/>
          </a:xfrm>
          <a:prstGeom prst="rect">
            <a:avLst/>
          </a:prstGeom>
          <a:ln w="28575">
            <a:solidFill>
              <a:srgbClr val="E11D2E"/>
            </a:solidFill>
            <a:prstDash val="solid"/>
          </a:ln>
        </p:spPr>
      </p:sp>
      <p:sp>
        <p:nvSpPr>
          <p:cNvPr id="16" name="Shape 13"/>
          <p:cNvSpPr/>
          <p:nvPr/>
        </p:nvSpPr>
        <p:spPr>
          <a:xfrm>
            <a:off x="5391539" y="1645520"/>
            <a:ext cx="274320" cy="274320"/>
          </a:xfrm>
          <a:prstGeom prst="ellipse">
            <a:avLst/>
          </a:prstGeom>
          <a:solidFill>
            <a:srgbClr val="E11D2E"/>
          </a:solidFill>
          <a:ln w="15875">
            <a:solidFill>
              <a:srgbClr val="FFFFFF"/>
            </a:solidFill>
            <a:prstDash val="solid"/>
          </a:ln>
        </p:spPr>
      </p:sp>
      <p:sp>
        <p:nvSpPr>
          <p:cNvPr id="17" name="Text 14"/>
          <p:cNvSpPr/>
          <p:nvPr/>
        </p:nvSpPr>
        <p:spPr>
          <a:xfrm>
            <a:off x="5391539" y="16455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09_Chain → 06 Use in Body を開き「Body」タブ</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値の部分に {{postTitle}}・{{userName}}・{{userId}} を書く（数値の userId は " で囲まない）</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Send → レスポンスに保存した値が入って返る（title：nesciunt quas odio、userId：2）</a:t>
            </a:r>
            <a:endParaRPr lang="en-US" sz="1400" dirty="0"/>
          </a:p>
        </p:txBody>
      </p:sp>
      <p:sp>
        <p:nvSpPr>
          <p:cNvPr id="19" name="Shape 16"/>
          <p:cNvSpPr/>
          <p:nvPr/>
        </p:nvSpPr>
        <p:spPr>
          <a:xfrm>
            <a:off x="8275320" y="4206240"/>
            <a:ext cx="3520440" cy="1417320"/>
          </a:xfrm>
          <a:prstGeom prst="rect">
            <a:avLst/>
          </a:prstGeom>
          <a:solidFill>
            <a:srgbClr val="EFF6FF"/>
          </a:solidFill>
          <a:ln w="15875">
            <a:solidFill>
              <a:srgbClr val="1D4ED8"/>
            </a:solidFill>
            <a:prstDash val="solid"/>
          </a:ln>
        </p:spPr>
      </p:sp>
      <p:sp>
        <p:nvSpPr>
          <p:cNvPr id="20" name="Shape 17"/>
          <p:cNvSpPr/>
          <p:nvPr/>
        </p:nvSpPr>
        <p:spPr>
          <a:xfrm>
            <a:off x="8275320" y="4206240"/>
            <a:ext cx="82296" cy="1417320"/>
          </a:xfrm>
          <a:prstGeom prst="rect">
            <a:avLst/>
          </a:prstGeom>
          <a:solidFill>
            <a:srgbClr val="1D4ED8"/>
          </a:solidFill>
          <a:ln w="12700">
            <a:solidFill>
              <a:srgbClr val="1D4ED8"/>
            </a:solidFill>
            <a:prstDash val="solid"/>
          </a:ln>
        </p:spPr>
      </p:sp>
      <p:sp>
        <p:nvSpPr>
          <p:cNvPr id="21" name="Text 18"/>
          <p:cNvSpPr/>
          <p:nvPr/>
        </p:nvSpPr>
        <p:spPr>
          <a:xfrm>
            <a:off x="8439912" y="4251960"/>
            <a:ext cx="3291840" cy="1325880"/>
          </a:xfrm>
          <a:prstGeom prst="rect">
            <a:avLst/>
          </a:prstGeom>
          <a:noFill/>
          <a:ln/>
        </p:spPr>
        <p:txBody>
          <a:bodyPr wrap="square" rtlCol="0" anchor="ctr"/>
          <a:lstStyle/>
          <a:p>
            <a:pPr indent="0" marL="0">
              <a:spcAft>
                <a:spcPts val="200"/>
              </a:spcAft>
              <a:buNone/>
            </a:pPr>
            <a:r>
              <a:rPr lang="en-US" sz="1200" b="1" dirty="0">
                <a:solidFill>
                  <a:srgbClr val="1D4ED8"/>
                </a:solidFill>
                <a:latin typeface="Meiryo UI" pitchFamily="34" charset="0"/>
                <a:ea typeface="Meiryo UI" pitchFamily="34" charset="-122"/>
                <a:cs typeface="Meiryo UI" pitchFamily="34" charset="-120"/>
              </a:rPr>
              <a:t>【ヒント】</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先に 01・02 を送って値を保存しておきます。変数名が赤字なら、まだ保存されていません。</a:t>
            </a:r>
            <a:endParaRPr lang="en-US" sz="1200" dirty="0"/>
          </a:p>
        </p:txBody>
      </p:sp>
      <p:sp>
        <p:nvSpPr>
          <p:cNvPr id="22" name="Shape 19"/>
          <p:cNvSpPr/>
          <p:nvPr/>
        </p:nvSpPr>
        <p:spPr>
          <a:xfrm>
            <a:off x="548640" y="5788152"/>
            <a:ext cx="11064240" cy="329184"/>
          </a:xfrm>
          <a:prstGeom prst="rect">
            <a:avLst/>
          </a:prstGeom>
          <a:solidFill>
            <a:srgbClr val="ECFDF5"/>
          </a:solidFill>
          <a:ln w="12700">
            <a:solidFill>
              <a:srgbClr val="047857"/>
            </a:solidFill>
            <a:prstDash val="solid"/>
          </a:ln>
        </p:spPr>
      </p:sp>
      <p:sp>
        <p:nvSpPr>
          <p:cNvPr id="23" name="Text 20"/>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09_Chain\01 → 02 → 06 の順に .yml を開いて Send</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TIPS：ランダムな値を作って送信する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出典：https://docs.usebruno.com/testing/script/dynamic-variables ／ 画面と CLI で 2026-10-09 に確認</a:t>
            </a:r>
            <a:endParaRPr lang="en-US" sz="1000" dirty="0"/>
          </a:p>
        </p:txBody>
      </p:sp>
      <p:pic>
        <p:nvPicPr>
          <p:cNvPr id="7" name="Image 0" descr="09_TIPS/02 Create Post with Random Values の Body">    </p:cNvPr>
          <p:cNvPicPr>
            <a:picLocks noChangeAspect="1"/>
          </p:cNvPicPr>
          <p:nvPr/>
        </p:nvPicPr>
        <p:blipFill>
          <a:blip r:embed="rId1"/>
          <a:stretch>
            <a:fillRect/>
          </a:stretch>
        </p:blipFill>
        <p:spPr>
          <a:xfrm>
            <a:off x="548640" y="1097280"/>
            <a:ext cx="5779008" cy="1463040"/>
          </a:xfrm>
          <a:prstGeom prst="rect">
            <a:avLst/>
          </a:prstGeom>
        </p:spPr>
      </p:pic>
      <p:sp>
        <p:nvSpPr>
          <p:cNvPr id="8" name="Shape 5"/>
          <p:cNvSpPr/>
          <p:nvPr/>
        </p:nvSpPr>
        <p:spPr>
          <a:xfrm>
            <a:off x="548640" y="1097280"/>
            <a:ext cx="5779008" cy="1463040"/>
          </a:xfrm>
          <a:prstGeom prst="rect">
            <a:avLst/>
          </a:prstGeom>
          <a:ln w="9525">
            <a:solidFill>
              <a:srgbClr val="D1D5DB"/>
            </a:solidFill>
            <a:prstDash val="solid"/>
          </a:ln>
        </p:spPr>
      </p:sp>
      <p:sp>
        <p:nvSpPr>
          <p:cNvPr id="9" name="Text 6"/>
          <p:cNvSpPr/>
          <p:nvPr/>
        </p:nvSpPr>
        <p:spPr>
          <a:xfrm>
            <a:off x="548640" y="2578608"/>
            <a:ext cx="5779008"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09_TIPS/02 Create Post with Random Values の Body</a:t>
            </a:r>
            <a:endParaRPr lang="en-US" sz="1000" dirty="0"/>
          </a:p>
        </p:txBody>
      </p:sp>
      <p:sp>
        <p:nvSpPr>
          <p:cNvPr id="10" name="Shape 7"/>
          <p:cNvSpPr/>
          <p:nvPr/>
        </p:nvSpPr>
        <p:spPr>
          <a:xfrm>
            <a:off x="969264" y="2011680"/>
            <a:ext cx="3218688" cy="329184"/>
          </a:xfrm>
          <a:prstGeom prst="rect">
            <a:avLst/>
          </a:prstGeom>
          <a:ln w="28575">
            <a:solidFill>
              <a:srgbClr val="E11D2E"/>
            </a:solidFill>
            <a:prstDash val="solid"/>
          </a:ln>
        </p:spPr>
      </p:sp>
      <p:pic>
        <p:nvPicPr>
          <p:cNvPr id="11" name="Image 1" descr="1 回目の送信結果">    </p:cNvPr>
          <p:cNvPicPr>
            <a:picLocks noChangeAspect="1"/>
          </p:cNvPicPr>
          <p:nvPr/>
        </p:nvPicPr>
        <p:blipFill>
          <a:blip r:embed="rId2"/>
          <a:stretch>
            <a:fillRect/>
          </a:stretch>
        </p:blipFill>
        <p:spPr>
          <a:xfrm>
            <a:off x="548640" y="2880360"/>
            <a:ext cx="5260086" cy="1188720"/>
          </a:xfrm>
          <a:prstGeom prst="rect">
            <a:avLst/>
          </a:prstGeom>
        </p:spPr>
      </p:pic>
      <p:sp>
        <p:nvSpPr>
          <p:cNvPr id="12" name="Shape 8"/>
          <p:cNvSpPr/>
          <p:nvPr/>
        </p:nvSpPr>
        <p:spPr>
          <a:xfrm>
            <a:off x="548640" y="2880360"/>
            <a:ext cx="5260086" cy="1188720"/>
          </a:xfrm>
          <a:prstGeom prst="rect">
            <a:avLst/>
          </a:prstGeom>
          <a:ln w="9525">
            <a:solidFill>
              <a:srgbClr val="D1D5DB"/>
            </a:solidFill>
            <a:prstDash val="solid"/>
          </a:ln>
        </p:spPr>
      </p:sp>
      <p:sp>
        <p:nvSpPr>
          <p:cNvPr id="13" name="Text 9"/>
          <p:cNvSpPr/>
          <p:nvPr/>
        </p:nvSpPr>
        <p:spPr>
          <a:xfrm>
            <a:off x="548640" y="4087368"/>
            <a:ext cx="5260086"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1 回目の送信結果</a:t>
            </a:r>
            <a:endParaRPr lang="en-US" sz="1000" dirty="0"/>
          </a:p>
        </p:txBody>
      </p:sp>
      <p:pic>
        <p:nvPicPr>
          <p:cNvPr id="14" name="Image 2" descr="2 回目の送信結果（値が変わる）">    </p:cNvPr>
          <p:cNvPicPr>
            <a:picLocks noChangeAspect="1"/>
          </p:cNvPicPr>
          <p:nvPr/>
        </p:nvPicPr>
        <p:blipFill>
          <a:blip r:embed="rId3"/>
          <a:stretch>
            <a:fillRect/>
          </a:stretch>
        </p:blipFill>
        <p:spPr>
          <a:xfrm>
            <a:off x="548640" y="4343400"/>
            <a:ext cx="4855464" cy="1097280"/>
          </a:xfrm>
          <a:prstGeom prst="rect">
            <a:avLst/>
          </a:prstGeom>
        </p:spPr>
      </p:pic>
      <p:sp>
        <p:nvSpPr>
          <p:cNvPr id="15" name="Shape 10"/>
          <p:cNvSpPr/>
          <p:nvPr/>
        </p:nvSpPr>
        <p:spPr>
          <a:xfrm>
            <a:off x="548640" y="4343400"/>
            <a:ext cx="4855464" cy="1097280"/>
          </a:xfrm>
          <a:prstGeom prst="rect">
            <a:avLst/>
          </a:prstGeom>
          <a:ln w="9525">
            <a:solidFill>
              <a:srgbClr val="D1D5DB"/>
            </a:solidFill>
            <a:prstDash val="solid"/>
          </a:ln>
        </p:spPr>
      </p:sp>
      <p:sp>
        <p:nvSpPr>
          <p:cNvPr id="16" name="Text 11"/>
          <p:cNvSpPr/>
          <p:nvPr/>
        </p:nvSpPr>
        <p:spPr>
          <a:xfrm>
            <a:off x="548640" y="5458968"/>
            <a:ext cx="4855464"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2 回目の送信結果（値が変わる）</a:t>
            </a:r>
            <a:endParaRPr lang="en-US" sz="10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6675120" y="1097280"/>
          <a:ext cx="4937760" cy="914400"/>
        </p:xfrm>
        <a:graphic>
          <a:graphicData uri="http://schemas.openxmlformats.org/drawingml/2006/table">
            <a:tbl>
              <a:tblPr/>
              <a:tblGrid>
                <a:gridCol w="2651760"/>
                <a:gridCol w="2286000"/>
              </a:tblGrid>
              <a:tr h="411480">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書き方（動的変数）</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生成される値の例</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11480">
                <a:tc>
                  <a:txBody>
                    <a:bodyPr/>
                    <a:lstStyle/>
                    <a:p>
                      <a:pPr indent="0" marL="0">
                        <a:buNone/>
                      </a:pPr>
                      <a:r>
                        <a:rPr lang="en-US" sz="1200" dirty="0">
                          <a:solidFill>
                            <a:srgbClr val="1F2937"/>
                          </a:solidFill>
                          <a:latin typeface="Consolas" pitchFamily="34" charset="0"/>
                          <a:ea typeface="Consolas" pitchFamily="34" charset="-122"/>
                          <a:cs typeface="Consolas" pitchFamily="34" charset="-120"/>
                        </a:rPr>
                        <a:t>{{$randomFirstName}}</a:t>
                      </a:r>
                      <a:endParaRPr lang="en-US" sz="1200" dirty="0">
                        <a:latin typeface="Consolas" charset="0"/>
                        <a:ea typeface="Consolas" charset="0"/>
                        <a:cs typeface="Consolas"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名（英語）</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F2937"/>
                          </a:solidFill>
                          <a:latin typeface="Consolas" pitchFamily="34" charset="0"/>
                          <a:ea typeface="Consolas" pitchFamily="34" charset="-122"/>
                          <a:cs typeface="Consolas" pitchFamily="34" charset="-120"/>
                        </a:rPr>
                        <a:t>{{$randomEmail}}</a:t>
                      </a:r>
                      <a:endParaRPr lang="en-US" sz="1200" dirty="0">
                        <a:latin typeface="Consolas" charset="0"/>
                        <a:ea typeface="Consolas" charset="0"/>
                        <a:cs typeface="Consolas"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メールアドレス</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11480">
                <a:tc>
                  <a:txBody>
                    <a:bodyPr/>
                    <a:lstStyle/>
                    <a:p>
                      <a:pPr indent="0" marL="0">
                        <a:buNone/>
                      </a:pPr>
                      <a:r>
                        <a:rPr lang="en-US" sz="1200" dirty="0">
                          <a:solidFill>
                            <a:srgbClr val="1F2937"/>
                          </a:solidFill>
                          <a:latin typeface="Consolas" pitchFamily="34" charset="0"/>
                          <a:ea typeface="Consolas" pitchFamily="34" charset="-122"/>
                          <a:cs typeface="Consolas" pitchFamily="34" charset="-120"/>
                        </a:rPr>
                        <a:t>{{$randomInt}}</a:t>
                      </a:r>
                      <a:endParaRPr lang="en-US" sz="1200" dirty="0">
                        <a:latin typeface="Consolas" charset="0"/>
                        <a:ea typeface="Consolas" charset="0"/>
                        <a:cs typeface="Consolas"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整数</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F2937"/>
                          </a:solidFill>
                          <a:latin typeface="Consolas" pitchFamily="34" charset="0"/>
                          <a:ea typeface="Consolas" pitchFamily="34" charset="-122"/>
                          <a:cs typeface="Consolas" pitchFamily="34" charset="-120"/>
                        </a:rPr>
                        <a:t>{{$randomUUID}}</a:t>
                      </a:r>
                      <a:endParaRPr lang="en-US" sz="1200" dirty="0">
                        <a:latin typeface="Consolas" charset="0"/>
                        <a:ea typeface="Consolas" charset="0"/>
                        <a:cs typeface="Consolas"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UUID（一意な ID）</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11480">
                <a:tc>
                  <a:txBody>
                    <a:bodyPr/>
                    <a:lstStyle/>
                    <a:p>
                      <a:pPr indent="0" marL="0">
                        <a:buNone/>
                      </a:pPr>
                      <a:r>
                        <a:rPr lang="en-US" sz="1200" dirty="0">
                          <a:solidFill>
                            <a:srgbClr val="1F2937"/>
                          </a:solidFill>
                          <a:latin typeface="Consolas" pitchFamily="34" charset="0"/>
                          <a:ea typeface="Consolas" pitchFamily="34" charset="-122"/>
                          <a:cs typeface="Consolas" pitchFamily="34" charset="-120"/>
                        </a:rPr>
                        <a:t>{{$timestamp}}</a:t>
                      </a:r>
                      <a:endParaRPr lang="en-US" sz="1200" dirty="0">
                        <a:latin typeface="Consolas" charset="0"/>
                        <a:ea typeface="Consolas" charset="0"/>
                        <a:cs typeface="Consolas"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現在時刻（秒）</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18" name="Text 12"/>
          <p:cNvSpPr/>
          <p:nvPr/>
        </p:nvSpPr>
        <p:spPr>
          <a:xfrm>
            <a:off x="6675120" y="3840480"/>
            <a:ext cx="4937760" cy="914400"/>
          </a:xfrm>
          <a:prstGeom prst="rect">
            <a:avLst/>
          </a:prstGeom>
          <a:noFill/>
          <a:ln/>
        </p:spPr>
        <p:txBody>
          <a:bodyPr wrap="square" lIns="50800" tIns="50800" rIns="50800" bIns="50800" rtlCol="0" anchor="t"/>
          <a:lstStyle/>
          <a:p>
            <a:pPr algn="l" indent="0" marL="0">
              <a:buNone/>
            </a:pPr>
            <a:r>
              <a:rPr lang="en-US" sz="1300" dirty="0">
                <a:solidFill>
                  <a:srgbClr val="1F2937"/>
                </a:solidFill>
                <a:latin typeface="Meiryo UI" pitchFamily="34" charset="0"/>
                <a:ea typeface="Meiryo UI" pitchFamily="34" charset="-122"/>
                <a:cs typeface="Meiryo UI" pitchFamily="34" charset="-120"/>
              </a:rPr>
              <a:t>大文字・小文字を区別します。スクリプトの中では bru.interpolate("{{$randomEmail}}") で使えます（公式ドキュメント）。</a:t>
            </a:r>
            <a:endParaRPr lang="en-US" sz="1300" dirty="0"/>
          </a:p>
        </p:txBody>
      </p:sp>
      <p:sp>
        <p:nvSpPr>
          <p:cNvPr id="19" name="Shape 13"/>
          <p:cNvSpPr/>
          <p:nvPr/>
        </p:nvSpPr>
        <p:spPr>
          <a:xfrm>
            <a:off x="548640" y="5788152"/>
            <a:ext cx="11064240" cy="329184"/>
          </a:xfrm>
          <a:prstGeom prst="rect">
            <a:avLst/>
          </a:prstGeom>
          <a:solidFill>
            <a:srgbClr val="ECFDF5"/>
          </a:solidFill>
          <a:ln w="12700">
            <a:solidFill>
              <a:srgbClr val="047857"/>
            </a:solidFill>
            <a:prstDash val="solid"/>
          </a:ln>
        </p:spPr>
      </p:sp>
      <p:sp>
        <p:nvSpPr>
          <p:cNvPr id="20" name="Text 14"/>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09_TIPS\02 Create Post with Random Values.yml を開いて Send</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【ランダム値 手順 1/2】ボディに動的変数を書く</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Windows 11、2026-10-09 撮影）">    </p:cNvPr>
          <p:cNvPicPr>
            <a:picLocks noChangeAspect="1"/>
          </p:cNvPicPr>
          <p:nvPr/>
        </p:nvPicPr>
        <p:blipFill>
          <a:blip r:embed="rId1"/>
          <a:stretch>
            <a:fillRect/>
          </a:stretch>
        </p:blipFill>
        <p:spPr>
          <a:xfrm>
            <a:off x="411480" y="1051560"/>
            <a:ext cx="7680960" cy="2205276"/>
          </a:xfrm>
          <a:prstGeom prst="rect">
            <a:avLst/>
          </a:prstGeom>
        </p:spPr>
      </p:pic>
      <p:sp>
        <p:nvSpPr>
          <p:cNvPr id="7" name="Shape 4"/>
          <p:cNvSpPr/>
          <p:nvPr/>
        </p:nvSpPr>
        <p:spPr>
          <a:xfrm>
            <a:off x="411480" y="1051560"/>
            <a:ext cx="7680960" cy="2205276"/>
          </a:xfrm>
          <a:prstGeom prst="rect">
            <a:avLst/>
          </a:prstGeom>
          <a:ln w="9525">
            <a:solidFill>
              <a:srgbClr val="D1D5DB"/>
            </a:solidFill>
            <a:prstDash val="solid"/>
          </a:ln>
        </p:spPr>
      </p:sp>
      <p:sp>
        <p:nvSpPr>
          <p:cNvPr id="8" name="Text 5"/>
          <p:cNvSpPr/>
          <p:nvPr/>
        </p:nvSpPr>
        <p:spPr>
          <a:xfrm>
            <a:off x="411480" y="3275124"/>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a:t>
            </a:r>
            <a:endParaRPr lang="en-US" sz="1000" dirty="0"/>
          </a:p>
        </p:txBody>
      </p:sp>
      <p:sp>
        <p:nvSpPr>
          <p:cNvPr id="9" name="Shape 6"/>
          <p:cNvSpPr/>
          <p:nvPr/>
        </p:nvSpPr>
        <p:spPr>
          <a:xfrm>
            <a:off x="568214" y="1083278"/>
            <a:ext cx="3126962" cy="391620"/>
          </a:xfrm>
          <a:prstGeom prst="rect">
            <a:avLst/>
          </a:prstGeom>
          <a:ln w="28575">
            <a:solidFill>
              <a:srgbClr val="E11D2E"/>
            </a:solidFill>
            <a:prstDash val="solid"/>
          </a:ln>
        </p:spPr>
      </p:sp>
      <p:sp>
        <p:nvSpPr>
          <p:cNvPr id="10" name="Shape 7"/>
          <p:cNvSpPr/>
          <p:nvPr/>
        </p:nvSpPr>
        <p:spPr>
          <a:xfrm>
            <a:off x="275606" y="1141928"/>
            <a:ext cx="274320" cy="274320"/>
          </a:xfrm>
          <a:prstGeom prst="ellipse">
            <a:avLst/>
          </a:prstGeom>
          <a:solidFill>
            <a:srgbClr val="E11D2E"/>
          </a:solidFill>
          <a:ln w="15875">
            <a:solidFill>
              <a:srgbClr val="FFFFFF"/>
            </a:solidFill>
            <a:prstDash val="solid"/>
          </a:ln>
        </p:spPr>
      </p:sp>
      <p:sp>
        <p:nvSpPr>
          <p:cNvPr id="11" name="Text 8"/>
          <p:cNvSpPr/>
          <p:nvPr/>
        </p:nvSpPr>
        <p:spPr>
          <a:xfrm>
            <a:off x="275606" y="11419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1163288" y="1628346"/>
            <a:ext cx="416624" cy="246602"/>
          </a:xfrm>
          <a:prstGeom prst="rect">
            <a:avLst/>
          </a:prstGeom>
          <a:ln w="28575">
            <a:solidFill>
              <a:srgbClr val="E11D2E"/>
            </a:solidFill>
            <a:prstDash val="solid"/>
          </a:ln>
        </p:spPr>
      </p:sp>
      <p:sp>
        <p:nvSpPr>
          <p:cNvPr id="13" name="Shape 10"/>
          <p:cNvSpPr/>
          <p:nvPr/>
        </p:nvSpPr>
        <p:spPr>
          <a:xfrm>
            <a:off x="870680" y="1614488"/>
            <a:ext cx="274320" cy="274320"/>
          </a:xfrm>
          <a:prstGeom prst="ellipse">
            <a:avLst/>
          </a:prstGeom>
          <a:solidFill>
            <a:srgbClr val="E11D2E"/>
          </a:solidFill>
          <a:ln w="15875">
            <a:solidFill>
              <a:srgbClr val="FFFFFF"/>
            </a:solidFill>
            <a:prstDash val="solid"/>
          </a:ln>
        </p:spPr>
      </p:sp>
      <p:sp>
        <p:nvSpPr>
          <p:cNvPr id="14" name="Text 11"/>
          <p:cNvSpPr/>
          <p:nvPr/>
        </p:nvSpPr>
        <p:spPr>
          <a:xfrm>
            <a:off x="870680" y="161448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583216" y="2283428"/>
            <a:ext cx="5032200" cy="466630"/>
          </a:xfrm>
          <a:prstGeom prst="rect">
            <a:avLst/>
          </a:prstGeom>
          <a:ln w="28575">
            <a:solidFill>
              <a:srgbClr val="E11D2E"/>
            </a:solidFill>
            <a:prstDash val="solid"/>
          </a:ln>
        </p:spPr>
      </p:sp>
      <p:sp>
        <p:nvSpPr>
          <p:cNvPr id="16" name="Shape 13"/>
          <p:cNvSpPr/>
          <p:nvPr/>
        </p:nvSpPr>
        <p:spPr>
          <a:xfrm>
            <a:off x="290608" y="2379583"/>
            <a:ext cx="274320" cy="274320"/>
          </a:xfrm>
          <a:prstGeom prst="ellipse">
            <a:avLst/>
          </a:prstGeom>
          <a:solidFill>
            <a:srgbClr val="E11D2E"/>
          </a:solidFill>
          <a:ln w="15875">
            <a:solidFill>
              <a:srgbClr val="FFFFFF"/>
            </a:solidFill>
            <a:prstDash val="solid"/>
          </a:ln>
        </p:spPr>
      </p:sp>
      <p:sp>
        <p:nvSpPr>
          <p:cNvPr id="17" name="Text 14"/>
          <p:cNvSpPr/>
          <p:nvPr/>
        </p:nvSpPr>
        <p:spPr>
          <a:xfrm>
            <a:off x="290608" y="2379583"/>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09_TIPS → 02 Create Post with Random Values を開く</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「Body」タブ（JSON）を開く</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値に {{$randomFirstName}}・{{$randomEmail}}・{{$randomInt}} などを書いて Ctrl + S</a:t>
            </a:r>
            <a:endParaRPr lang="en-US" sz="1400" dirty="0"/>
          </a:p>
        </p:txBody>
      </p:sp>
      <p:sp>
        <p:nvSpPr>
          <p:cNvPr id="19" name="Shape 16"/>
          <p:cNvSpPr/>
          <p:nvPr/>
        </p:nvSpPr>
        <p:spPr>
          <a:xfrm>
            <a:off x="8275320" y="4206240"/>
            <a:ext cx="3520440" cy="1417320"/>
          </a:xfrm>
          <a:prstGeom prst="rect">
            <a:avLst/>
          </a:prstGeom>
          <a:solidFill>
            <a:srgbClr val="EFF6FF"/>
          </a:solidFill>
          <a:ln w="15875">
            <a:solidFill>
              <a:srgbClr val="1D4ED8"/>
            </a:solidFill>
            <a:prstDash val="solid"/>
          </a:ln>
        </p:spPr>
      </p:sp>
      <p:sp>
        <p:nvSpPr>
          <p:cNvPr id="20" name="Shape 17"/>
          <p:cNvSpPr/>
          <p:nvPr/>
        </p:nvSpPr>
        <p:spPr>
          <a:xfrm>
            <a:off x="8275320" y="4206240"/>
            <a:ext cx="82296" cy="1417320"/>
          </a:xfrm>
          <a:prstGeom prst="rect">
            <a:avLst/>
          </a:prstGeom>
          <a:solidFill>
            <a:srgbClr val="1D4ED8"/>
          </a:solidFill>
          <a:ln w="12700">
            <a:solidFill>
              <a:srgbClr val="1D4ED8"/>
            </a:solidFill>
            <a:prstDash val="solid"/>
          </a:ln>
        </p:spPr>
      </p:sp>
      <p:sp>
        <p:nvSpPr>
          <p:cNvPr id="21" name="Text 18"/>
          <p:cNvSpPr/>
          <p:nvPr/>
        </p:nvSpPr>
        <p:spPr>
          <a:xfrm>
            <a:off x="8439912" y="4251960"/>
            <a:ext cx="3291840" cy="1325880"/>
          </a:xfrm>
          <a:prstGeom prst="rect">
            <a:avLst/>
          </a:prstGeom>
          <a:noFill/>
          <a:ln/>
        </p:spPr>
        <p:txBody>
          <a:bodyPr wrap="square" rtlCol="0" anchor="ctr"/>
          <a:lstStyle/>
          <a:p>
            <a:pPr indent="0" marL="0">
              <a:spcAft>
                <a:spcPts val="200"/>
              </a:spcAft>
              <a:buNone/>
            </a:pPr>
            <a:r>
              <a:rPr lang="en-US" sz="1200" b="1" dirty="0">
                <a:solidFill>
                  <a:srgbClr val="1D4ED8"/>
                </a:solidFill>
                <a:latin typeface="Meiryo UI" pitchFamily="34" charset="0"/>
                <a:ea typeface="Meiryo UI" pitchFamily="34" charset="-122"/>
                <a:cs typeface="Meiryo UI" pitchFamily="34" charset="-120"/>
              </a:rPr>
              <a:t>【ヒント】</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 で始まる名前は Bruno が用意している「動的変数」です。大文字・小文字を区別します。</a:t>
            </a:r>
            <a:endParaRPr lang="en-US" sz="1200" dirty="0"/>
          </a:p>
        </p:txBody>
      </p:sp>
      <p:sp>
        <p:nvSpPr>
          <p:cNvPr id="22" name="Shape 19"/>
          <p:cNvSpPr/>
          <p:nvPr/>
        </p:nvSpPr>
        <p:spPr>
          <a:xfrm>
            <a:off x="548640" y="5788152"/>
            <a:ext cx="11064240" cy="329184"/>
          </a:xfrm>
          <a:prstGeom prst="rect">
            <a:avLst/>
          </a:prstGeom>
          <a:solidFill>
            <a:srgbClr val="ECFDF5"/>
          </a:solidFill>
          <a:ln w="12700">
            <a:solidFill>
              <a:srgbClr val="047857"/>
            </a:solidFill>
            <a:prstDash val="solid"/>
          </a:ln>
        </p:spPr>
      </p:sp>
      <p:sp>
        <p:nvSpPr>
          <p:cNvPr id="23" name="Text 20"/>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09_TIPS\02 Create Post with Random Values.yml を開いて Send</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【ランダム値 手順 2/2】Send を 2 回押して、値が変わることを確認</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Windows 11、2026-10-09 撮影）">    </p:cNvPr>
          <p:cNvPicPr>
            <a:picLocks noChangeAspect="1"/>
          </p:cNvPicPr>
          <p:nvPr/>
        </p:nvPicPr>
        <p:blipFill>
          <a:blip r:embed="rId1"/>
          <a:stretch>
            <a:fillRect/>
          </a:stretch>
        </p:blipFill>
        <p:spPr>
          <a:xfrm>
            <a:off x="411480" y="1051560"/>
            <a:ext cx="7680960" cy="2289394"/>
          </a:xfrm>
          <a:prstGeom prst="rect">
            <a:avLst/>
          </a:prstGeom>
        </p:spPr>
      </p:pic>
      <p:sp>
        <p:nvSpPr>
          <p:cNvPr id="7" name="Shape 4"/>
          <p:cNvSpPr/>
          <p:nvPr/>
        </p:nvSpPr>
        <p:spPr>
          <a:xfrm>
            <a:off x="411480" y="1051560"/>
            <a:ext cx="7680960" cy="2289394"/>
          </a:xfrm>
          <a:prstGeom prst="rect">
            <a:avLst/>
          </a:prstGeom>
          <a:ln w="9525">
            <a:solidFill>
              <a:srgbClr val="D1D5DB"/>
            </a:solidFill>
            <a:prstDash val="solid"/>
          </a:ln>
        </p:spPr>
      </p:sp>
      <p:sp>
        <p:nvSpPr>
          <p:cNvPr id="8" name="Text 5"/>
          <p:cNvSpPr/>
          <p:nvPr/>
        </p:nvSpPr>
        <p:spPr>
          <a:xfrm>
            <a:off x="411480" y="3359242"/>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11、2026-10-09 撮影）</a:t>
            </a:r>
            <a:endParaRPr lang="en-US" sz="1000" dirty="0"/>
          </a:p>
        </p:txBody>
      </p:sp>
      <p:sp>
        <p:nvSpPr>
          <p:cNvPr id="9" name="Shape 6"/>
          <p:cNvSpPr/>
          <p:nvPr/>
        </p:nvSpPr>
        <p:spPr>
          <a:xfrm>
            <a:off x="7363504" y="1148167"/>
            <a:ext cx="615308" cy="338708"/>
          </a:xfrm>
          <a:prstGeom prst="rect">
            <a:avLst/>
          </a:prstGeom>
          <a:ln w="28575">
            <a:solidFill>
              <a:srgbClr val="E11D2E"/>
            </a:solidFill>
            <a:prstDash val="solid"/>
          </a:ln>
        </p:spPr>
      </p:sp>
      <p:sp>
        <p:nvSpPr>
          <p:cNvPr id="10" name="Shape 7"/>
          <p:cNvSpPr/>
          <p:nvPr/>
        </p:nvSpPr>
        <p:spPr>
          <a:xfrm>
            <a:off x="7070896" y="1180361"/>
            <a:ext cx="274320" cy="274320"/>
          </a:xfrm>
          <a:prstGeom prst="ellipse">
            <a:avLst/>
          </a:prstGeom>
          <a:solidFill>
            <a:srgbClr val="E11D2E"/>
          </a:solidFill>
          <a:ln w="15875">
            <a:solidFill>
              <a:srgbClr val="FFFFFF"/>
            </a:solidFill>
            <a:prstDash val="solid"/>
          </a:ln>
        </p:spPr>
      </p:sp>
      <p:sp>
        <p:nvSpPr>
          <p:cNvPr id="11" name="Text 8"/>
          <p:cNvSpPr/>
          <p:nvPr/>
        </p:nvSpPr>
        <p:spPr>
          <a:xfrm>
            <a:off x="7070896" y="1180361"/>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554896" y="2012009"/>
            <a:ext cx="5104733" cy="1100421"/>
          </a:xfrm>
          <a:prstGeom prst="rect">
            <a:avLst/>
          </a:prstGeom>
          <a:ln w="28575">
            <a:solidFill>
              <a:srgbClr val="E11D2E"/>
            </a:solidFill>
            <a:prstDash val="solid"/>
          </a:ln>
        </p:spPr>
      </p:sp>
      <p:sp>
        <p:nvSpPr>
          <p:cNvPr id="13" name="Shape 10"/>
          <p:cNvSpPr/>
          <p:nvPr/>
        </p:nvSpPr>
        <p:spPr>
          <a:xfrm>
            <a:off x="262288" y="2425060"/>
            <a:ext cx="274320" cy="274320"/>
          </a:xfrm>
          <a:prstGeom prst="ellipse">
            <a:avLst/>
          </a:prstGeom>
          <a:solidFill>
            <a:srgbClr val="E11D2E"/>
          </a:solidFill>
          <a:ln w="15875">
            <a:solidFill>
              <a:srgbClr val="FFFFFF"/>
            </a:solidFill>
            <a:prstDash val="solid"/>
          </a:ln>
        </p:spPr>
      </p:sp>
      <p:sp>
        <p:nvSpPr>
          <p:cNvPr id="14" name="Text 11"/>
          <p:cNvSpPr/>
          <p:nvPr/>
        </p:nvSpPr>
        <p:spPr>
          <a:xfrm>
            <a:off x="262288" y="24250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「Send」をクリック</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レスポンスに、ランダムな名前・メール・番号が入っている</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もう一度 Send すると、別の値になる</a:t>
            </a:r>
            <a:endParaRPr lang="en-US" sz="1400" dirty="0"/>
          </a:p>
        </p:txBody>
      </p:sp>
      <p:sp>
        <p:nvSpPr>
          <p:cNvPr id="16" name="Shape 13"/>
          <p:cNvSpPr/>
          <p:nvPr/>
        </p:nvSpPr>
        <p:spPr>
          <a:xfrm>
            <a:off x="8275320" y="4206240"/>
            <a:ext cx="3520440" cy="1417320"/>
          </a:xfrm>
          <a:prstGeom prst="rect">
            <a:avLst/>
          </a:prstGeom>
          <a:solidFill>
            <a:srgbClr val="EFF6FF"/>
          </a:solidFill>
          <a:ln w="15875">
            <a:solidFill>
              <a:srgbClr val="1D4ED8"/>
            </a:solidFill>
            <a:prstDash val="solid"/>
          </a:ln>
        </p:spPr>
      </p:sp>
      <p:sp>
        <p:nvSpPr>
          <p:cNvPr id="17" name="Shape 14"/>
          <p:cNvSpPr/>
          <p:nvPr/>
        </p:nvSpPr>
        <p:spPr>
          <a:xfrm>
            <a:off x="8275320" y="4206240"/>
            <a:ext cx="82296" cy="1417320"/>
          </a:xfrm>
          <a:prstGeom prst="rect">
            <a:avLst/>
          </a:prstGeom>
          <a:solidFill>
            <a:srgbClr val="1D4ED8"/>
          </a:solidFill>
          <a:ln w="12700">
            <a:solidFill>
              <a:srgbClr val="1D4ED8"/>
            </a:solidFill>
            <a:prstDash val="solid"/>
          </a:ln>
        </p:spPr>
      </p:sp>
      <p:sp>
        <p:nvSpPr>
          <p:cNvPr id="18" name="Text 15"/>
          <p:cNvSpPr/>
          <p:nvPr/>
        </p:nvSpPr>
        <p:spPr>
          <a:xfrm>
            <a:off x="8439912" y="4251960"/>
            <a:ext cx="3291840" cy="1325880"/>
          </a:xfrm>
          <a:prstGeom prst="rect">
            <a:avLst/>
          </a:prstGeom>
          <a:noFill/>
          <a:ln/>
        </p:spPr>
        <p:txBody>
          <a:bodyPr wrap="square" rtlCol="0" anchor="ctr"/>
          <a:lstStyle/>
          <a:p>
            <a:pPr indent="0" marL="0">
              <a:spcAft>
                <a:spcPts val="200"/>
              </a:spcAft>
              <a:buNone/>
            </a:pPr>
            <a:r>
              <a:rPr lang="en-US" sz="1200" b="1" dirty="0">
                <a:solidFill>
                  <a:srgbClr val="1D4ED8"/>
                </a:solidFill>
                <a:latin typeface="Meiryo UI" pitchFamily="34" charset="0"/>
                <a:ea typeface="Meiryo UI" pitchFamily="34" charset="-122"/>
                <a:cs typeface="Meiryo UI" pitchFamily="34" charset="-120"/>
              </a:rPr>
              <a:t>【ヒント】</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送った値は Timeline でも確認できます。テストが失敗したときは送った値を記録しておきましょう。</a:t>
            </a:r>
            <a:endParaRPr lang="en-US" sz="1200" dirty="0"/>
          </a:p>
        </p:txBody>
      </p:sp>
      <p:sp>
        <p:nvSpPr>
          <p:cNvPr id="19" name="Shape 16"/>
          <p:cNvSpPr/>
          <p:nvPr/>
        </p:nvSpPr>
        <p:spPr>
          <a:xfrm>
            <a:off x="548640" y="5788152"/>
            <a:ext cx="11064240" cy="329184"/>
          </a:xfrm>
          <a:prstGeom prst="rect">
            <a:avLst/>
          </a:prstGeom>
          <a:solidFill>
            <a:srgbClr val="ECFDF5"/>
          </a:solidFill>
          <a:ln w="12700">
            <a:solidFill>
              <a:srgbClr val="047857"/>
            </a:solidFill>
            <a:prstDash val="solid"/>
          </a:ln>
        </p:spPr>
      </p:sp>
      <p:sp>
        <p:nvSpPr>
          <p:cNvPr id="20" name="Text 17"/>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09_TIPS\02 Create Post with Random Values.yml を開いて Send</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【固定＋3桁 1/2】Pre Request で 3 桁の数字を作る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Windows 11、2026-10-13 撮影）">    </p:cNvPr>
          <p:cNvPicPr>
            <a:picLocks noChangeAspect="1"/>
          </p:cNvPicPr>
          <p:nvPr/>
        </p:nvPicPr>
        <p:blipFill>
          <a:blip r:embed="rId1"/>
          <a:stretch>
            <a:fillRect/>
          </a:stretch>
        </p:blipFill>
        <p:spPr>
          <a:xfrm>
            <a:off x="411480" y="1051560"/>
            <a:ext cx="7680960" cy="2015252"/>
          </a:xfrm>
          <a:prstGeom prst="rect">
            <a:avLst/>
          </a:prstGeom>
        </p:spPr>
      </p:pic>
      <p:sp>
        <p:nvSpPr>
          <p:cNvPr id="7" name="Shape 4"/>
          <p:cNvSpPr/>
          <p:nvPr/>
        </p:nvSpPr>
        <p:spPr>
          <a:xfrm>
            <a:off x="411480" y="1051560"/>
            <a:ext cx="7680960" cy="2015252"/>
          </a:xfrm>
          <a:prstGeom prst="rect">
            <a:avLst/>
          </a:prstGeom>
          <a:ln w="9525">
            <a:solidFill>
              <a:srgbClr val="D1D5DB"/>
            </a:solidFill>
            <a:prstDash val="solid"/>
          </a:ln>
        </p:spPr>
      </p:sp>
      <p:sp>
        <p:nvSpPr>
          <p:cNvPr id="8" name="Text 5"/>
          <p:cNvSpPr/>
          <p:nvPr/>
        </p:nvSpPr>
        <p:spPr>
          <a:xfrm>
            <a:off x="411480" y="3085100"/>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11、2026-10-13 撮影）</a:t>
            </a:r>
            <a:endParaRPr lang="en-US" sz="1000" dirty="0"/>
          </a:p>
        </p:txBody>
      </p:sp>
      <p:sp>
        <p:nvSpPr>
          <p:cNvPr id="9" name="Shape 6"/>
          <p:cNvSpPr/>
          <p:nvPr/>
        </p:nvSpPr>
        <p:spPr>
          <a:xfrm>
            <a:off x="3348561" y="1628346"/>
            <a:ext cx="536639" cy="246602"/>
          </a:xfrm>
          <a:prstGeom prst="rect">
            <a:avLst/>
          </a:prstGeom>
          <a:ln w="28575">
            <a:solidFill>
              <a:srgbClr val="E11D2E"/>
            </a:solidFill>
            <a:prstDash val="solid"/>
          </a:ln>
        </p:spPr>
      </p:sp>
      <p:sp>
        <p:nvSpPr>
          <p:cNvPr id="10" name="Shape 7"/>
          <p:cNvSpPr/>
          <p:nvPr/>
        </p:nvSpPr>
        <p:spPr>
          <a:xfrm>
            <a:off x="3055953" y="1614488"/>
            <a:ext cx="274320" cy="274320"/>
          </a:xfrm>
          <a:prstGeom prst="ellipse">
            <a:avLst/>
          </a:prstGeom>
          <a:solidFill>
            <a:srgbClr val="E11D2E"/>
          </a:solidFill>
          <a:ln w="15875">
            <a:solidFill>
              <a:srgbClr val="FFFFFF"/>
            </a:solidFill>
            <a:prstDash val="solid"/>
          </a:ln>
        </p:spPr>
      </p:sp>
      <p:sp>
        <p:nvSpPr>
          <p:cNvPr id="11" name="Text 8"/>
          <p:cNvSpPr/>
          <p:nvPr/>
        </p:nvSpPr>
        <p:spPr>
          <a:xfrm>
            <a:off x="3055953" y="161448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568214" y="2088404"/>
            <a:ext cx="1011698" cy="306610"/>
          </a:xfrm>
          <a:prstGeom prst="rect">
            <a:avLst/>
          </a:prstGeom>
          <a:ln w="28575">
            <a:solidFill>
              <a:srgbClr val="E11D2E"/>
            </a:solidFill>
            <a:prstDash val="solid"/>
          </a:ln>
        </p:spPr>
      </p:sp>
      <p:sp>
        <p:nvSpPr>
          <p:cNvPr id="13" name="Shape 10"/>
          <p:cNvSpPr/>
          <p:nvPr/>
        </p:nvSpPr>
        <p:spPr>
          <a:xfrm>
            <a:off x="275606" y="2104549"/>
            <a:ext cx="274320" cy="274320"/>
          </a:xfrm>
          <a:prstGeom prst="ellipse">
            <a:avLst/>
          </a:prstGeom>
          <a:solidFill>
            <a:srgbClr val="E11D2E"/>
          </a:solidFill>
          <a:ln w="15875">
            <a:solidFill>
              <a:srgbClr val="FFFFFF"/>
            </a:solidFill>
            <a:prstDash val="solid"/>
          </a:ln>
        </p:spPr>
      </p:sp>
      <p:sp>
        <p:nvSpPr>
          <p:cNvPr id="14" name="Text 11"/>
          <p:cNvSpPr/>
          <p:nvPr/>
        </p:nvSpPr>
        <p:spPr>
          <a:xfrm>
            <a:off x="275606" y="2104549"/>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583216" y="2493455"/>
            <a:ext cx="5127212" cy="446627"/>
          </a:xfrm>
          <a:prstGeom prst="rect">
            <a:avLst/>
          </a:prstGeom>
          <a:ln w="28575">
            <a:solidFill>
              <a:srgbClr val="E11D2E"/>
            </a:solidFill>
            <a:prstDash val="solid"/>
          </a:ln>
        </p:spPr>
      </p:sp>
      <p:sp>
        <p:nvSpPr>
          <p:cNvPr id="16" name="Shape 13"/>
          <p:cNvSpPr/>
          <p:nvPr/>
        </p:nvSpPr>
        <p:spPr>
          <a:xfrm>
            <a:off x="290608" y="2579608"/>
            <a:ext cx="274320" cy="274320"/>
          </a:xfrm>
          <a:prstGeom prst="ellipse">
            <a:avLst/>
          </a:prstGeom>
          <a:solidFill>
            <a:srgbClr val="E11D2E"/>
          </a:solidFill>
          <a:ln w="15875">
            <a:solidFill>
              <a:srgbClr val="FFFFFF"/>
            </a:solidFill>
            <a:prstDash val="solid"/>
          </a:ln>
        </p:spPr>
      </p:sp>
      <p:sp>
        <p:nvSpPr>
          <p:cNvPr id="17" name="Text 14"/>
          <p:cNvSpPr/>
          <p:nvPr/>
        </p:nvSpPr>
        <p:spPr>
          <a:xfrm>
            <a:off x="290608" y="25796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09_TIPS → 03 Create Post with Fixed Text and 3 Digits を開き「Script」タブ</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「Pre Request」（送信する前に動く）を選ぶ</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次の 1 行を書いて Ctrl + S：bru.setVar("rand3", Math.floor(Math.random() * 900) + 100);（画面の 1 行目の // で始まる行はメモ（コメント）。書かなくても動く）</a:t>
            </a:r>
            <a:endParaRPr lang="en-US" sz="1400" dirty="0"/>
          </a:p>
        </p:txBody>
      </p:sp>
      <p:sp>
        <p:nvSpPr>
          <p:cNvPr id="19" name="Shape 16"/>
          <p:cNvSpPr/>
          <p:nvPr/>
        </p:nvSpPr>
        <p:spPr>
          <a:xfrm>
            <a:off x="8275320" y="4206240"/>
            <a:ext cx="3520440" cy="1417320"/>
          </a:xfrm>
          <a:prstGeom prst="rect">
            <a:avLst/>
          </a:prstGeom>
          <a:solidFill>
            <a:srgbClr val="FEF2F2"/>
          </a:solidFill>
          <a:ln w="15875">
            <a:solidFill>
              <a:srgbClr val="B91C1C"/>
            </a:solidFill>
            <a:prstDash val="solid"/>
          </a:ln>
        </p:spPr>
      </p:sp>
      <p:sp>
        <p:nvSpPr>
          <p:cNvPr id="20" name="Shape 17"/>
          <p:cNvSpPr/>
          <p:nvPr/>
        </p:nvSpPr>
        <p:spPr>
          <a:xfrm>
            <a:off x="8275320" y="4206240"/>
            <a:ext cx="82296" cy="1417320"/>
          </a:xfrm>
          <a:prstGeom prst="rect">
            <a:avLst/>
          </a:prstGeom>
          <a:solidFill>
            <a:srgbClr val="B91C1C"/>
          </a:solidFill>
          <a:ln w="12700">
            <a:solidFill>
              <a:srgbClr val="B91C1C"/>
            </a:solidFill>
            <a:prstDash val="solid"/>
          </a:ln>
        </p:spPr>
      </p:sp>
      <p:sp>
        <p:nvSpPr>
          <p:cNvPr id="21" name="Text 18"/>
          <p:cNvSpPr/>
          <p:nvPr/>
        </p:nvSpPr>
        <p:spPr>
          <a:xfrm>
            <a:off x="8439912" y="4251960"/>
            <a:ext cx="3291840" cy="1325880"/>
          </a:xfrm>
          <a:prstGeom prst="rect">
            <a:avLst/>
          </a:prstGeom>
          <a:noFill/>
          <a:ln/>
        </p:spPr>
        <p:txBody>
          <a:bodyPr wrap="square" rtlCol="0" anchor="ctr"/>
          <a:lstStyle/>
          <a:p>
            <a:pPr indent="0" marL="0">
              <a:spcAft>
                <a:spcPts val="200"/>
              </a:spcAft>
              <a:buNone/>
            </a:pPr>
            <a:r>
              <a:rPr lang="en-US" sz="1200" b="1" dirty="0">
                <a:solidFill>
                  <a:srgbClr val="B91C1C"/>
                </a:solidFill>
                <a:latin typeface="Meiryo UI" pitchFamily="34" charset="0"/>
                <a:ea typeface="Meiryo UI" pitchFamily="34" charset="-122"/>
                <a:cs typeface="Meiryo UI" pitchFamily="34" charset="-120"/>
              </a:rPr>
              <a:t>【なぜスクリプト？】</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{{$randomInt}} は 0〜1000 のため、3 桁にならないことがあります（公式ドキュメント）。必ず 3 桁にしたいときはスクリプトで 100〜999 を作ります。</a:t>
            </a:r>
            <a:endParaRPr lang="en-US" sz="1200" dirty="0"/>
          </a:p>
        </p:txBody>
      </p:sp>
      <p:sp>
        <p:nvSpPr>
          <p:cNvPr id="22" name="Shape 19"/>
          <p:cNvSpPr/>
          <p:nvPr/>
        </p:nvSpPr>
        <p:spPr>
          <a:xfrm>
            <a:off x="548640" y="5788152"/>
            <a:ext cx="11064240" cy="329184"/>
          </a:xfrm>
          <a:prstGeom prst="rect">
            <a:avLst/>
          </a:prstGeom>
          <a:solidFill>
            <a:srgbClr val="ECFDF5"/>
          </a:solidFill>
          <a:ln w="12700">
            <a:solidFill>
              <a:srgbClr val="047857"/>
            </a:solidFill>
            <a:prstDash val="solid"/>
          </a:ln>
        </p:spPr>
      </p:sp>
      <p:sp>
        <p:nvSpPr>
          <p:cNvPr id="23" name="Text 20"/>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09_TIPS\03 Create Post with Fixed Text and 3 Digits.yml を開いて Send</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【固定＋3桁 2/2】固定テキスト＋{{rand3}} を送る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Windows 11、2026-10-13 撮影）">    </p:cNvPr>
          <p:cNvPicPr>
            <a:picLocks noChangeAspect="1"/>
          </p:cNvPicPr>
          <p:nvPr/>
        </p:nvPicPr>
        <p:blipFill>
          <a:blip r:embed="rId1"/>
          <a:stretch>
            <a:fillRect/>
          </a:stretch>
        </p:blipFill>
        <p:spPr>
          <a:xfrm>
            <a:off x="411480" y="1051560"/>
            <a:ext cx="7680960" cy="1210567"/>
          </a:xfrm>
          <a:prstGeom prst="rect">
            <a:avLst/>
          </a:prstGeom>
        </p:spPr>
      </p:pic>
      <p:sp>
        <p:nvSpPr>
          <p:cNvPr id="7" name="Shape 4"/>
          <p:cNvSpPr/>
          <p:nvPr/>
        </p:nvSpPr>
        <p:spPr>
          <a:xfrm>
            <a:off x="411480" y="1051560"/>
            <a:ext cx="7680960" cy="1210567"/>
          </a:xfrm>
          <a:prstGeom prst="rect">
            <a:avLst/>
          </a:prstGeom>
          <a:ln w="9525">
            <a:solidFill>
              <a:srgbClr val="D1D5DB"/>
            </a:solidFill>
            <a:prstDash val="solid"/>
          </a:ln>
        </p:spPr>
      </p:sp>
      <p:sp>
        <p:nvSpPr>
          <p:cNvPr id="8" name="Text 5"/>
          <p:cNvSpPr/>
          <p:nvPr/>
        </p:nvSpPr>
        <p:spPr>
          <a:xfrm>
            <a:off x="411480" y="2280415"/>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v4.2.1、Windows 11、2026-10-13 撮影）</a:t>
            </a:r>
            <a:endParaRPr lang="en-US" sz="1000" dirty="0"/>
          </a:p>
        </p:txBody>
      </p:sp>
      <p:sp>
        <p:nvSpPr>
          <p:cNvPr id="9" name="Shape 6"/>
          <p:cNvSpPr/>
          <p:nvPr/>
        </p:nvSpPr>
        <p:spPr>
          <a:xfrm>
            <a:off x="933561" y="1113976"/>
            <a:ext cx="303252" cy="183949"/>
          </a:xfrm>
          <a:prstGeom prst="rect">
            <a:avLst/>
          </a:prstGeom>
          <a:ln w="28575">
            <a:solidFill>
              <a:srgbClr val="E11D2E"/>
            </a:solidFill>
            <a:prstDash val="solid"/>
          </a:ln>
        </p:spPr>
      </p:sp>
      <p:sp>
        <p:nvSpPr>
          <p:cNvPr id="10" name="Shape 7"/>
          <p:cNvSpPr/>
          <p:nvPr/>
        </p:nvSpPr>
        <p:spPr>
          <a:xfrm>
            <a:off x="640953" y="1068791"/>
            <a:ext cx="274320" cy="274320"/>
          </a:xfrm>
          <a:prstGeom prst="ellipse">
            <a:avLst/>
          </a:prstGeom>
          <a:solidFill>
            <a:srgbClr val="E11D2E"/>
          </a:solidFill>
          <a:ln w="15875">
            <a:solidFill>
              <a:srgbClr val="FFFFFF"/>
            </a:solidFill>
            <a:prstDash val="solid"/>
          </a:ln>
        </p:spPr>
      </p:sp>
      <p:sp>
        <p:nvSpPr>
          <p:cNvPr id="11" name="Text 8"/>
          <p:cNvSpPr/>
          <p:nvPr/>
        </p:nvSpPr>
        <p:spPr>
          <a:xfrm>
            <a:off x="640953" y="1068791"/>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526530" y="1573641"/>
            <a:ext cx="2194543" cy="338341"/>
          </a:xfrm>
          <a:prstGeom prst="rect">
            <a:avLst/>
          </a:prstGeom>
          <a:ln w="28575">
            <a:solidFill>
              <a:srgbClr val="E11D2E"/>
            </a:solidFill>
            <a:prstDash val="solid"/>
          </a:ln>
        </p:spPr>
      </p:sp>
      <p:sp>
        <p:nvSpPr>
          <p:cNvPr id="13" name="Shape 10"/>
          <p:cNvSpPr/>
          <p:nvPr/>
        </p:nvSpPr>
        <p:spPr>
          <a:xfrm>
            <a:off x="233922" y="1605651"/>
            <a:ext cx="274320" cy="274320"/>
          </a:xfrm>
          <a:prstGeom prst="ellipse">
            <a:avLst/>
          </a:prstGeom>
          <a:solidFill>
            <a:srgbClr val="E11D2E"/>
          </a:solidFill>
          <a:ln w="15875">
            <a:solidFill>
              <a:srgbClr val="FFFFFF"/>
            </a:solidFill>
            <a:prstDash val="solid"/>
          </a:ln>
        </p:spPr>
      </p:sp>
      <p:sp>
        <p:nvSpPr>
          <p:cNvPr id="14" name="Text 11"/>
          <p:cNvSpPr/>
          <p:nvPr/>
        </p:nvSpPr>
        <p:spPr>
          <a:xfrm>
            <a:off x="233922" y="1605651"/>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5916185" y="1573641"/>
            <a:ext cx="1857690" cy="338341"/>
          </a:xfrm>
          <a:prstGeom prst="rect">
            <a:avLst/>
          </a:prstGeom>
          <a:ln w="28575">
            <a:solidFill>
              <a:srgbClr val="E11D2E"/>
            </a:solidFill>
            <a:prstDash val="solid"/>
          </a:ln>
        </p:spPr>
      </p:sp>
      <p:sp>
        <p:nvSpPr>
          <p:cNvPr id="16" name="Shape 13"/>
          <p:cNvSpPr/>
          <p:nvPr/>
        </p:nvSpPr>
        <p:spPr>
          <a:xfrm>
            <a:off x="5623577" y="1605651"/>
            <a:ext cx="274320" cy="274320"/>
          </a:xfrm>
          <a:prstGeom prst="ellipse">
            <a:avLst/>
          </a:prstGeom>
          <a:solidFill>
            <a:srgbClr val="E11D2E"/>
          </a:solidFill>
          <a:ln w="15875">
            <a:solidFill>
              <a:srgbClr val="FFFFFF"/>
            </a:solidFill>
            <a:prstDash val="solid"/>
          </a:ln>
        </p:spPr>
      </p:sp>
      <p:sp>
        <p:nvSpPr>
          <p:cNvPr id="17" name="Text 14"/>
          <p:cNvSpPr/>
          <p:nvPr/>
        </p:nvSpPr>
        <p:spPr>
          <a:xfrm>
            <a:off x="5623577" y="1605651"/>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8275320" y="1097280"/>
            <a:ext cx="3520440" cy="329184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「Body」タブ（JSON）を開く</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"title": "テスト投稿-{{rand3}}" のように、固定の文字の後ろに {{rand3}} を書く</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Send → レスポンスが「テスト投稿-301」のようになる。もう一度 Send すると数字が変わる</a:t>
            </a:r>
            <a:endParaRPr lang="en-US" sz="1400" dirty="0"/>
          </a:p>
        </p:txBody>
      </p:sp>
      <p:sp>
        <p:nvSpPr>
          <p:cNvPr id="19" name="Shape 16"/>
          <p:cNvSpPr/>
          <p:nvPr/>
        </p:nvSpPr>
        <p:spPr>
          <a:xfrm>
            <a:off x="8275320" y="4206240"/>
            <a:ext cx="3520440" cy="1417320"/>
          </a:xfrm>
          <a:prstGeom prst="rect">
            <a:avLst/>
          </a:prstGeom>
          <a:solidFill>
            <a:srgbClr val="EFF6FF"/>
          </a:solidFill>
          <a:ln w="15875">
            <a:solidFill>
              <a:srgbClr val="1D4ED8"/>
            </a:solidFill>
            <a:prstDash val="solid"/>
          </a:ln>
        </p:spPr>
      </p:sp>
      <p:sp>
        <p:nvSpPr>
          <p:cNvPr id="20" name="Shape 17"/>
          <p:cNvSpPr/>
          <p:nvPr/>
        </p:nvSpPr>
        <p:spPr>
          <a:xfrm>
            <a:off x="8275320" y="4206240"/>
            <a:ext cx="82296" cy="1417320"/>
          </a:xfrm>
          <a:prstGeom prst="rect">
            <a:avLst/>
          </a:prstGeom>
          <a:solidFill>
            <a:srgbClr val="1D4ED8"/>
          </a:solidFill>
          <a:ln w="12700">
            <a:solidFill>
              <a:srgbClr val="1D4ED8"/>
            </a:solidFill>
            <a:prstDash val="solid"/>
          </a:ln>
        </p:spPr>
      </p:sp>
      <p:sp>
        <p:nvSpPr>
          <p:cNvPr id="21" name="Text 18"/>
          <p:cNvSpPr/>
          <p:nvPr/>
        </p:nvSpPr>
        <p:spPr>
          <a:xfrm>
            <a:off x="8439912" y="4251960"/>
            <a:ext cx="3291840" cy="1325880"/>
          </a:xfrm>
          <a:prstGeom prst="rect">
            <a:avLst/>
          </a:prstGeom>
          <a:noFill/>
          <a:ln/>
        </p:spPr>
        <p:txBody>
          <a:bodyPr wrap="square" rtlCol="0" anchor="ctr"/>
          <a:lstStyle/>
          <a:p>
            <a:pPr indent="0" marL="0">
              <a:spcAft>
                <a:spcPts val="200"/>
              </a:spcAft>
              <a:buNone/>
            </a:pPr>
            <a:r>
              <a:rPr lang="en-US" sz="1200" b="1" dirty="0">
                <a:solidFill>
                  <a:srgbClr val="1D4ED8"/>
                </a:solidFill>
                <a:latin typeface="Meiryo UI" pitchFamily="34" charset="0"/>
                <a:ea typeface="Meiryo UI" pitchFamily="34" charset="-122"/>
                <a:cs typeface="Meiryo UI" pitchFamily="34" charset="-120"/>
              </a:rPr>
              <a:t>【ヒント】</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作成環境で 2 回送信：881 → 301（毎回 100〜999 の 3 桁。2026-10-13 撮影）。0 埋めの 000〜999 にしたい場合は String(Math.floor(Math.random() * 1000)).padStart(3, "0") を使います。</a:t>
            </a:r>
            <a:endParaRPr lang="en-US" sz="1200" dirty="0"/>
          </a:p>
        </p:txBody>
      </p:sp>
      <p:sp>
        <p:nvSpPr>
          <p:cNvPr id="22" name="Shape 19"/>
          <p:cNvSpPr/>
          <p:nvPr/>
        </p:nvSpPr>
        <p:spPr>
          <a:xfrm>
            <a:off x="548640" y="5788152"/>
            <a:ext cx="11064240" cy="329184"/>
          </a:xfrm>
          <a:prstGeom prst="rect">
            <a:avLst/>
          </a:prstGeom>
          <a:solidFill>
            <a:srgbClr val="ECFDF5"/>
          </a:solidFill>
          <a:ln w="12700">
            <a:solidFill>
              <a:srgbClr val="047857"/>
            </a:solidFill>
            <a:prstDash val="solid"/>
          </a:ln>
        </p:spPr>
      </p:sp>
      <p:sp>
        <p:nvSpPr>
          <p:cNvPr id="23" name="Text 20"/>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09_TIPS\03 Create Post with Fixed Text and 3 Digits.yml を開いて Send</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TIPS を使うときの注意</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TIPS</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548640" y="1188720"/>
            <a:ext cx="11064240" cy="4114800"/>
          </a:xfrm>
          <a:prstGeom prst="rect">
            <a:avLst/>
          </a:prstGeom>
          <a:noFill/>
          <a:ln/>
        </p:spPr>
        <p:txBody>
          <a:bodyPr wrap="square" rtlCol="0" anchor="t"/>
          <a:lstStyle/>
          <a:p>
            <a:pPr marL="228600" indent="-228600">
              <a:spcAft>
                <a:spcPts val="1200"/>
              </a:spcAft>
              <a:buSzPct val="100000"/>
              <a:buChar char="•"/>
            </a:pPr>
            <a:r>
              <a:rPr lang="en-US" sz="1600" dirty="0">
                <a:solidFill>
                  <a:srgbClr val="1F2937"/>
                </a:solidFill>
                <a:latin typeface="Meiryo UI" pitchFamily="34" charset="0"/>
                <a:ea typeface="Meiryo UI" pitchFamily="34" charset="-122"/>
                <a:cs typeface="Meiryo UI" pitchFamily="34" charset="-120"/>
              </a:rPr>
              <a:t>JSONPlaceholder では、繰り返し POST してもデータは保存されない（確認できるのはレスポンスだけ）</a:t>
            </a:r>
            <a:endParaRPr lang="en-US" sz="1600" dirty="0"/>
          </a:p>
          <a:p>
            <a:pPr marL="228600" indent="-228600">
              <a:spcAft>
                <a:spcPts val="1200"/>
              </a:spcAft>
              <a:buSzPct val="100000"/>
              <a:buChar char="•"/>
            </a:pPr>
            <a:r>
              <a:rPr lang="en-US" sz="1600" dirty="0">
                <a:solidFill>
                  <a:srgbClr val="1F2937"/>
                </a:solidFill>
                <a:latin typeface="Meiryo UI" pitchFamily="34" charset="0"/>
                <a:ea typeface="Meiryo UI" pitchFamily="34" charset="-122"/>
                <a:cs typeface="Meiryo UI" pitchFamily="34" charset="-120"/>
              </a:rPr>
              <a:t>練習用 API に大量の繰り返し実行をしない（必要な回数だけにする）</a:t>
            </a:r>
            <a:endParaRPr lang="en-US" sz="1600" dirty="0"/>
          </a:p>
          <a:p>
            <a:pPr marL="228600" indent="-228600">
              <a:spcAft>
                <a:spcPts val="1200"/>
              </a:spcAft>
              <a:buSzPct val="100000"/>
              <a:buChar char="•"/>
            </a:pPr>
            <a:r>
              <a:rPr lang="en-US" sz="1600" dirty="0">
                <a:solidFill>
                  <a:srgbClr val="1F2937"/>
                </a:solidFill>
                <a:latin typeface="Meiryo UI" pitchFamily="34" charset="0"/>
                <a:ea typeface="Meiryo UI" pitchFamily="34" charset="-122"/>
                <a:cs typeface="Meiryo UI" pitchFamily="34" charset="-120"/>
              </a:rPr>
              <a:t>ランダムな値は毎回変わるため、テストが失敗したときは送った値を記録しておく（Timeline で確認できる）</a:t>
            </a:r>
            <a:endParaRPr lang="en-US" sz="1600" dirty="0"/>
          </a:p>
          <a:p>
            <a:pPr marL="228600" indent="-228600">
              <a:spcAft>
                <a:spcPts val="1200"/>
              </a:spcAft>
              <a:buSzPct val="100000"/>
              <a:buChar char="•"/>
            </a:pPr>
            <a:r>
              <a:rPr lang="en-US" sz="1600" dirty="0">
                <a:solidFill>
                  <a:srgbClr val="1F2937"/>
                </a:solidFill>
                <a:latin typeface="Meiryo UI" pitchFamily="34" charset="0"/>
                <a:ea typeface="Meiryo UI" pitchFamily="34" charset="-122"/>
                <a:cs typeface="Meiryo UI" pitchFamily="34" charset="-120"/>
              </a:rPr>
              <a:t>CSV・JSON の列名（キー名）と {{ }} の名前は、大文字・小文字まで一致させる</a:t>
            </a:r>
            <a:endParaRPr lang="en-US" sz="1600" dirty="0"/>
          </a:p>
          <a:p>
            <a:pPr marL="228600" indent="-228600">
              <a:spcAft>
                <a:spcPts val="1200"/>
              </a:spcAft>
              <a:buSzPct val="100000"/>
              <a:buChar char="•"/>
            </a:pPr>
            <a:r>
              <a:rPr lang="en-US" sz="1600" dirty="0">
                <a:solidFill>
                  <a:srgbClr val="1F2937"/>
                </a:solidFill>
                <a:latin typeface="Meiryo UI" pitchFamily="34" charset="0"/>
                <a:ea typeface="Meiryo UI" pitchFamily="34" charset="-122"/>
                <a:cs typeface="Meiryo UI" pitchFamily="34" charset="-120"/>
              </a:rPr>
              <a:t>データファイルのパスは、コマンドを実行するフォルダからの相対パスで指定する</a:t>
            </a:r>
            <a:endParaRPr lang="en-US" sz="16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第9章のまとめ</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5" name="Text 3"/>
          <p:cNvSpPr/>
          <p:nvPr/>
        </p:nvSpPr>
        <p:spPr>
          <a:xfrm>
            <a:off x="548640" y="1188720"/>
            <a:ext cx="11064240" cy="3840480"/>
          </a:xfrm>
          <a:prstGeom prst="rect">
            <a:avLst/>
          </a:prstGeom>
          <a:noFill/>
          <a:ln/>
        </p:spPr>
        <p:txBody>
          <a:bodyPr wrap="square" rtlCol="0" anchor="t"/>
          <a:lstStyle/>
          <a:p>
            <a:pPr marL="228600" indent="-228600">
              <a:spcAft>
                <a:spcPts val="1200"/>
              </a:spcAft>
              <a:buSzPct val="100000"/>
              <a:buChar char="•"/>
            </a:pPr>
            <a:r>
              <a:rPr lang="en-US" sz="1800" dirty="0">
                <a:solidFill>
                  <a:srgbClr val="1F2937"/>
                </a:solidFill>
                <a:latin typeface="Meiryo UI" pitchFamily="34" charset="0"/>
                <a:ea typeface="Meiryo UI" pitchFamily="34" charset="-122"/>
                <a:cs typeface="Meiryo UI" pitchFamily="34" charset="-120"/>
              </a:rPr>
              <a:t>フォルダと名前の番号でリクエストを整理する</a:t>
            </a:r>
            <a:endParaRPr lang="en-US" sz="1800" dirty="0"/>
          </a:p>
          <a:p>
            <a:pPr marL="228600" indent="-228600">
              <a:spcAft>
                <a:spcPts val="1200"/>
              </a:spcAft>
              <a:buSzPct val="100000"/>
              <a:buChar char="•"/>
            </a:pPr>
            <a:r>
              <a:rPr lang="en-US" sz="1800" dirty="0">
                <a:solidFill>
                  <a:srgbClr val="1F2937"/>
                </a:solidFill>
                <a:latin typeface="Meiryo UI" pitchFamily="34" charset="0"/>
                <a:ea typeface="Meiryo UI" pitchFamily="34" charset="-122"/>
                <a:cs typeface="Meiryo UI" pitchFamily="34" charset="-120"/>
              </a:rPr>
              <a:t>Assert（表で設定）と Tests（コード）で結果を自動チェックする</a:t>
            </a:r>
            <a:endParaRPr lang="en-US" sz="1800" dirty="0"/>
          </a:p>
          <a:p>
            <a:pPr marL="228600" indent="-228600">
              <a:spcAft>
                <a:spcPts val="1200"/>
              </a:spcAft>
              <a:buSzPct val="100000"/>
              <a:buChar char="•"/>
            </a:pPr>
            <a:r>
              <a:rPr lang="en-US" sz="1800" dirty="0">
                <a:solidFill>
                  <a:srgbClr val="1F2937"/>
                </a:solidFill>
                <a:latin typeface="Meiryo UI" pitchFamily="34" charset="0"/>
                <a:ea typeface="Meiryo UI" pitchFamily="34" charset="-122"/>
                <a:cs typeface="Meiryo UI" pitchFamily="34" charset="-120"/>
              </a:rPr>
              <a:t>Collection Runner（画面）と bru run（CLI）でまとめて実行する</a:t>
            </a:r>
            <a:endParaRPr lang="en-US" sz="1800" dirty="0"/>
          </a:p>
          <a:p>
            <a:pPr marL="228600" indent="-228600">
              <a:spcAft>
                <a:spcPts val="1200"/>
              </a:spcAft>
              <a:buSzPct val="100000"/>
              <a:buChar char="•"/>
            </a:pPr>
            <a:r>
              <a:rPr lang="en-US" sz="1800" dirty="0">
                <a:solidFill>
                  <a:srgbClr val="1F2937"/>
                </a:solidFill>
                <a:latin typeface="Meiryo UI" pitchFamily="34" charset="0"/>
                <a:ea typeface="Meiryo UI" pitchFamily="34" charset="-122"/>
                <a:cs typeface="Meiryo UI" pitchFamily="34" charset="-120"/>
              </a:rPr>
              <a:t>CSV・JSON ファイルの値で実行するなら、無料版は CLI を使う</a:t>
            </a:r>
            <a:endParaRPr lang="en-US" sz="1800" dirty="0"/>
          </a:p>
          <a:p>
            <a:pPr marL="228600" indent="-228600">
              <a:spcAft>
                <a:spcPts val="1200"/>
              </a:spcAft>
              <a:buSzPct val="100000"/>
              <a:buChar char="•"/>
            </a:pPr>
            <a:r>
              <a:rPr lang="en-US" sz="1800" dirty="0">
                <a:solidFill>
                  <a:srgbClr val="1F2937"/>
                </a:solidFill>
                <a:latin typeface="Meiryo UI" pitchFamily="34" charset="0"/>
                <a:ea typeface="Meiryo UI" pitchFamily="34" charset="-122"/>
                <a:cs typeface="Meiryo UI" pitchFamily="34" charset="-120"/>
              </a:rPr>
              <a:t>bru.setVar で値を受け渡し、{{$randomEmail}} などでランダムな値を送れる</a:t>
            </a:r>
            <a:endParaRPr lang="en-US" sz="18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61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Bruno ではじめる API 入門（第9章）</dc:title>
  <dc:subject>PptxGenJS Presentation</dc:subject>
  <dc:creator>Bruno 研修教材</dc:creator>
  <cp:lastModifiedBy>Bruno 研修教材</cp:lastModifiedBy>
  <cp:revision>1</cp:revision>
  <dcterms:created xsi:type="dcterms:W3CDTF">2026-10-13T07:35:01Z</dcterms:created>
  <dcterms:modified xsi:type="dcterms:W3CDTF">2026-10-13T07:35:01Z</dcterms:modified>
</cp:coreProperties>
</file>