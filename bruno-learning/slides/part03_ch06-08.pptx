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</p:sldIdLst>
  <p:notesMasterIdLst>
    <p:notesMasterId r:id="rId4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notesMaster" Target="notesMasters/notesMaster1.xml"/><Relationship Id="rId47" Type="http://schemas.openxmlformats.org/officeDocument/2006/relationships/presProps" Target="presProps.xml"/><Relationship Id="rId48" Type="http://schemas.openxmlformats.org/officeDocument/2006/relationships/viewProps" Target="viewProps.xml"/><Relationship Id="rId49" Type="http://schemas.openxmlformats.org/officeDocument/2006/relationships/theme" Target="theme/theme1.xml"/><Relationship Id="rId5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Meiryo UI"/>
                <a:ea typeface="Meiryo UI"/>
                <a:cs typeface="Meiryo UI"/>
              </a:defRPr>
            </a:lvl1pPr>
          </a:lstStyle>
          <a:p>
            <a:pPr algn="r"/>
            <a:fld id="{F7021451-1387-4CA6-816F-3879F97B5CBC}" type="slidenum">
              <a:rPr b="0" lang="en-US"/>
              <a:t>1000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Meiryo UI"/>
                <a:ea typeface="Meiryo UI"/>
                <a:cs typeface="Meiryo U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0972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BBF24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第6章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64592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PATCH の基本演習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288036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BBF24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この章で学ぶこと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3291840"/>
            <a:ext cx="1051560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200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PATCH とは（一部だけを変更する）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200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PUT との違い（予告）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200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PATCH のリクエストを自分で作って送り、レスポンスを確認する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200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JSONPlaceholder の制約を確かめる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200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演習問題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56692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目安時間：30 分　｜　対応する学習目標：B5, B6, B7, A5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6080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Bruno v4.2.1｜確認日 2026-10-09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BD5E1"/>
                </a:solidFill>
                <a:latin typeface="Meiryo UI"/>
                <a:ea typeface="Meiryo UI"/>
                <a:cs typeface="Meiryo UI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PATCH とは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896112"/>
            <a:ext cx="11430000" cy="457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Bruno v4.2.1｜確認日 2026-10-09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6144768"/>
            <a:ext cx="1143000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出典：RFC 5789（PATCH Method for HTTP）https://www.rfc-editor.org/rfc/rfc5789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097280"/>
            <a:ext cx="1106424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すでにあるデータの「一部だけ」を変更するためのメソッドです（HTTP 仕様上の一般的な意味）。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31520" y="1920240"/>
            <a:ext cx="3566160" cy="2011680"/>
          </a:xfrm>
          <a:prstGeom prst="roundRect">
            <a:avLst>
              <a:gd name="adj" fmla="val 3636"/>
            </a:avLst>
          </a:prstGeom>
          <a:solidFill>
            <a:srgbClr val="F8FAFC"/>
          </a:solidFill>
          <a:ln w="15875">
            <a:solidFill>
              <a:srgbClr val="1F3A5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920240"/>
            <a:ext cx="3566160" cy="20116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変更前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userId: 1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id: 1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title: "sunt aut facere ..."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body: "quia et suscipit ..."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0" y="2377440"/>
            <a:ext cx="3017520" cy="1097280"/>
          </a:xfrm>
          <a:prstGeom prst="roundRect">
            <a:avLst>
              <a:gd name="adj" fmla="val 6667"/>
            </a:avLst>
          </a:prstGeom>
          <a:solidFill>
            <a:srgbClr val="FEF3C7"/>
          </a:solidFill>
          <a:ln w="15875">
            <a:solidFill>
              <a:srgbClr val="D9770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0" y="2377440"/>
            <a:ext cx="3017520" cy="10972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送るボディ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"title": "タイトルだけ変更" }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863840" y="1920240"/>
            <a:ext cx="3749040" cy="2011680"/>
          </a:xfrm>
          <a:prstGeom prst="roundRect">
            <a:avLst>
              <a:gd name="adj" fmla="val 3636"/>
            </a:avLst>
          </a:prstGeom>
          <a:solidFill>
            <a:srgbClr val="F8FAFC"/>
          </a:solidFill>
          <a:ln w="15875">
            <a:solidFill>
              <a:srgbClr val="1F3A5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863840" y="1920240"/>
            <a:ext cx="3749040" cy="20116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変更後（期待する状態）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userId: 1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id: 1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title: "タイトルだけ変更"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body: "quia et suscipit ..."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343400" y="2926080"/>
            <a:ext cx="182880" cy="914"/>
          </a:xfrm>
          <a:prstGeom prst="line">
            <a:avLst/>
          </a:prstGeom>
          <a:noFill/>
          <a:ln w="31750">
            <a:solidFill>
              <a:srgbClr val="D97706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7635240" y="2926080"/>
            <a:ext cx="182880" cy="914"/>
          </a:xfrm>
          <a:prstGeom prst="line">
            <a:avLst/>
          </a:prstGeom>
          <a:noFill/>
          <a:ln w="31750">
            <a:solidFill>
              <a:srgbClr val="D97706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548640" y="4297680"/>
            <a:ext cx="11064240" cy="731520"/>
          </a:xfrm>
          <a:prstGeom prst="rect">
            <a:avLst/>
          </a:prstGeom>
          <a:solidFill>
            <a:srgbClr val="ECFDF5"/>
          </a:solidFill>
          <a:ln w="15875">
            <a:solidFill>
              <a:srgbClr val="04785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4297680"/>
            <a:ext cx="82296" cy="73152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13232" y="4343400"/>
            <a:ext cx="10835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04785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【ポイント】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送らなかった項目（userId・id・body）は、そのまま残ります。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Meiryo UI"/>
                <a:ea typeface="Meiryo UI"/>
                <a:cs typeface="Meiryo U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PUT との違い（予告）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896112"/>
            <a:ext cx="11430000" cy="457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Bruno v4.2.1｜確認日 2026-10-09</a:t>
            </a:r>
            <a:endParaRPr lang="en-US" sz="1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6424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4160520"/>
                <a:gridCol w="4160520"/>
              </a:tblGrid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7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PATCH（第6章）</a:t>
                      </a:r>
                      <a:endParaRPr lang="en-US" sz="17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PUT（第7章）</a:t>
                      </a:r>
                      <a:endParaRPr lang="en-US" sz="17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送る内容</a:t>
                      </a:r>
                      <a:endParaRPr lang="en-US" sz="17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変えたい項目だけ</a:t>
                      </a:r>
                      <a:endParaRPr lang="en-US" sz="17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データ全体</a:t>
                      </a:r>
                      <a:endParaRPr lang="en-US" sz="17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送らなかった項目</a:t>
                      </a:r>
                      <a:endParaRPr lang="en-US" sz="17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残る</a:t>
                      </a:r>
                      <a:endParaRPr lang="en-US" sz="17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なくなる（全体を置き換えるため）</a:t>
                      </a:r>
                      <a:endParaRPr lang="en-US" sz="17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たとえ</a:t>
                      </a:r>
                      <a:endParaRPr lang="en-US" sz="17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書類の一部を修正液で直す</a:t>
                      </a:r>
                      <a:endParaRPr lang="en-US" sz="17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書類を新しいものに差し替える</a:t>
                      </a:r>
                      <a:endParaRPr lang="en-US" sz="17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4206240"/>
            <a:ext cx="1106424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※ 一般的な意味です。実際の動きは API ごとの仕様で決まります。第7章で、同じボディを送って比べます。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Meiryo UI"/>
                <a:ea typeface="Meiryo UI"/>
                <a:cs typeface="Meiryo U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【操作】PATCH を送る：まずリクエストを自分で作る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896112"/>
            <a:ext cx="11430000" cy="457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Bruno v4.2.1｜確認日 2026-10-09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1106424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第6章のリクエストは、配布コレクション bruno-hands-on の中に自分で作ります（配布時点では 06_PATCH フォルダはありません）。第4章との違いは「メソッドを PATCH に変える」「Body に JSON を入れる」の 2 点です。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1874520"/>
            <a:ext cx="5852160" cy="2971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E11D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① 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フォルダを作る：bruno-hands-on を右クリック →「New Folder」（手順 1/8）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E11D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② 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フォルダ名 06_PATCH を入力して Create（手順 2/8）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E11D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③ 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06_PATCH を右クリック →「New Request」（手順 3/8）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E11D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④ 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リクエスト名を入力し、メソッドを PATCH に変える（手順 4/8）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E11D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⑤ 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URL を入力して Create（手順 5/8）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E11D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⑥ 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Body タブで「JSON」を選ぶ（手順 6/8）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E11D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⑦ 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JSON を入力する（手順 7/8）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E11D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⑧ 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Send して結果を確認し、Ctrl + S で保存（手順 8/8）</a:t>
            </a:r>
            <a:endParaRPr lang="en-US" sz="13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75120" y="1874520"/>
          <a:ext cx="493776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338328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入力する場所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入力する値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Folder Name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06_PATCH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Request Name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01 Patch Post Title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メソッド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PATCH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URL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{{baseUrl}}/posts/1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Body の種類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JSON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Body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{ "title": "タイトルだけ変更" }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48640" y="4937760"/>
            <a:ext cx="11064240" cy="731520"/>
          </a:xfrm>
          <a:prstGeom prst="rect">
            <a:avLst/>
          </a:prstGeom>
          <a:solidFill>
            <a:srgbClr val="FEF2F2"/>
          </a:solidFill>
          <a:ln w="15875">
            <a:solidFill>
              <a:srgbClr val="B91C1C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48640" y="4937760"/>
            <a:ext cx="82296" cy="73152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13232" y="4983480"/>
            <a:ext cx="10835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B91C1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【始める前に】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画面右上の環境が JSONPlaceholder になっていることを確認します。No Environment のままだと {{baseUrl}} が赤字になり、送信に失敗します。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48640" y="5788152"/>
            <a:ext cx="11064240" cy="329184"/>
          </a:xfrm>
          <a:prstGeom prst="rect">
            <a:avLst/>
          </a:prstGeom>
          <a:solidFill>
            <a:srgbClr val="ECFDF5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40080" y="5788152"/>
            <a:ext cx="1088136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4785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できなかった場合：</a:t>
            </a:r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samples の 06_PATCH\01 Patch Post Title.yml を開いて Send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Meiryo UI"/>
                <a:ea typeface="Meiryo UI"/>
                <a:cs typeface="Meiryo U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【手順 1/8】コレクションを右クリック → New Folder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896112"/>
            <a:ext cx="11430000" cy="457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Bruno v4.2.1｜確認日 2026-10-09</a:t>
            </a:r>
            <a:endParaRPr lang="en-US" sz="1000" dirty="0"/>
          </a:p>
        </p:txBody>
      </p:sp>
      <p:pic>
        <p:nvPicPr>
          <p:cNvPr id="5" name="Image 0" descr="実画面（Bruno v4.2.1、Windows 11、2026-10-13 撮影）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051560"/>
            <a:ext cx="3438704" cy="42976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11480" y="1051560"/>
            <a:ext cx="3438704" cy="4297680"/>
          </a:xfrm>
          <a:prstGeom prst="rect">
            <a:avLst/>
          </a:prstGeom>
          <a:ln w="9525">
            <a:solidFill>
              <a:srgbClr val="D1D5D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11480" y="5367528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実画面（Bruno v4.2.1、Windows 11、2026-10-13 撮影）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393192" y="1640431"/>
            <a:ext cx="2132255" cy="252020"/>
          </a:xfrm>
          <a:prstGeom prst="rect">
            <a:avLst/>
          </a:prstGeom>
          <a:ln w="28575">
            <a:solidFill>
              <a:srgbClr val="E11D2E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00584" y="1629281"/>
            <a:ext cx="274320" cy="274320"/>
          </a:xfrm>
          <a:prstGeom prst="ellipse">
            <a:avLst/>
          </a:prstGeom>
          <a:solidFill>
            <a:srgbClr val="E11D2E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00584" y="1629281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2323790" y="2222409"/>
            <a:ext cx="1544681" cy="246424"/>
          </a:xfrm>
          <a:prstGeom prst="rect">
            <a:avLst/>
          </a:prstGeom>
          <a:ln w="28575">
            <a:solidFill>
              <a:srgbClr val="E11D2E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031182" y="2208461"/>
            <a:ext cx="274320" cy="274320"/>
          </a:xfrm>
          <a:prstGeom prst="ellipse">
            <a:avLst/>
          </a:prstGeom>
          <a:solidFill>
            <a:srgbClr val="E11D2E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031182" y="2208461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572000" y="1097280"/>
            <a:ext cx="72237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E11D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①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サイドバーで bruno-hands-on（コレクション名）を右クリック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E11D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②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メニューの「New Folder」をクリック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4572000" y="2651760"/>
            <a:ext cx="7223760" cy="822960"/>
          </a:xfrm>
          <a:prstGeom prst="rect">
            <a:avLst/>
          </a:prstGeom>
          <a:solidFill>
            <a:srgbClr val="EFF6FF"/>
          </a:solidFill>
          <a:ln w="15875">
            <a:solidFill>
              <a:srgbClr val="1D4ED8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572000" y="2651760"/>
            <a:ext cx="82296" cy="82296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736592" y="2697480"/>
            <a:ext cx="6995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D4ED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【ヒント】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第4章で 04_GET フォルダを作ったときと同じ操作です。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548640" y="5788152"/>
            <a:ext cx="11064240" cy="329184"/>
          </a:xfrm>
          <a:prstGeom prst="rect">
            <a:avLst/>
          </a:prstGeom>
          <a:solidFill>
            <a:srgbClr val="ECFDF5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40080" y="5788152"/>
            <a:ext cx="1088136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4785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できなかった場合：</a:t>
            </a:r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samples の 06_PATCH\01 Patch Post Title.yml を開いて Send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Meiryo UI"/>
                <a:ea typeface="Meiryo UI"/>
                <a:cs typeface="Meiryo U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【手順 2/8】フォルダ名 06_PATCH を入力して Create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896112"/>
            <a:ext cx="11430000" cy="457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Bruno v4.2.1｜確認日 2026-10-09</a:t>
            </a:r>
            <a:endParaRPr lang="en-US" sz="1000" dirty="0"/>
          </a:p>
        </p:txBody>
      </p:sp>
      <p:pic>
        <p:nvPicPr>
          <p:cNvPr id="5" name="Image 0" descr="実画面（Bruno v4.2.1、Windows 11、2026-10-13 撮影）（後ろの画面は暗く表示される）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051560"/>
            <a:ext cx="6949440" cy="282321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11480" y="1051560"/>
            <a:ext cx="6949440" cy="2823210"/>
          </a:xfrm>
          <a:prstGeom prst="rect">
            <a:avLst/>
          </a:prstGeom>
          <a:ln w="9525">
            <a:solidFill>
              <a:srgbClr val="D1D5D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11480" y="3893058"/>
            <a:ext cx="6949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実画面（Bruno v4.2.1、Windows 11、2026-10-13 撮影）（後ろの画面は暗く表示される）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705374" y="2250329"/>
            <a:ext cx="6361652" cy="493538"/>
          </a:xfrm>
          <a:prstGeom prst="rect">
            <a:avLst/>
          </a:prstGeom>
          <a:ln w="28575">
            <a:solidFill>
              <a:srgbClr val="E11D2E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12766" y="2359938"/>
            <a:ext cx="274320" cy="274320"/>
          </a:xfrm>
          <a:prstGeom prst="ellipse">
            <a:avLst/>
          </a:prstGeom>
          <a:solidFill>
            <a:srgbClr val="E11D2E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12766" y="235993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066758" y="3150679"/>
            <a:ext cx="1000268" cy="421148"/>
          </a:xfrm>
          <a:prstGeom prst="rect">
            <a:avLst/>
          </a:prstGeom>
          <a:ln w="28575">
            <a:solidFill>
              <a:srgbClr val="E11D2E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085314" y="3224093"/>
            <a:ext cx="274320" cy="274320"/>
          </a:xfrm>
          <a:prstGeom prst="ellipse">
            <a:avLst/>
          </a:prstGeom>
          <a:solidFill>
            <a:srgbClr val="E11D2E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085314" y="3224093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7635240" y="1097280"/>
            <a:ext cx="416052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E11D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①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「New Folder」の画面が開く。Folder Name に 06_PATCH と入力（半角。0 は数字のゼロ、_ はアンダースコア）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E11D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②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「Create」をクリック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7635240" y="3154680"/>
            <a:ext cx="4160520" cy="1371600"/>
          </a:xfrm>
          <a:prstGeom prst="rect">
            <a:avLst/>
          </a:prstGeom>
          <a:solidFill>
            <a:srgbClr val="FEF2F2"/>
          </a:solidFill>
          <a:ln w="15875">
            <a:solidFill>
              <a:srgbClr val="B91C1C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7635240" y="3154680"/>
            <a:ext cx="82296" cy="137160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799832" y="3200400"/>
            <a:ext cx="39319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B91C1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【06_PATCH の位置に注意】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06_PATCH は一番下ではなく、途中（作成環境では 09_Features の下）に追加されます。見つからないときは、サイドバーを上から順に見てください。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548640" y="5788152"/>
            <a:ext cx="11064240" cy="329184"/>
          </a:xfrm>
          <a:prstGeom prst="rect">
            <a:avLst/>
          </a:prstGeom>
          <a:solidFill>
            <a:srgbClr val="ECFDF5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40080" y="5788152"/>
            <a:ext cx="1088136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4785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できなかった場合：</a:t>
            </a:r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samples の 06_PATCH\01 Patch Post Title.yml を開いて Send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Meiryo UI"/>
                <a:ea typeface="Meiryo UI"/>
                <a:cs typeface="Meiryo U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【手順 3/8】06_PATCH を右クリック → New Request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896112"/>
            <a:ext cx="11430000" cy="457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Bruno v4.2.1｜確認日 2026-10-09</a:t>
            </a:r>
            <a:endParaRPr lang="en-US" sz="1000" dirty="0"/>
          </a:p>
        </p:txBody>
      </p:sp>
      <p:pic>
        <p:nvPicPr>
          <p:cNvPr id="5" name="Image 0" descr="実画面（Bruno v4.2.1、Windows 11、2026-10-13 撮影）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051560"/>
            <a:ext cx="3263630" cy="42976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11480" y="1051560"/>
            <a:ext cx="3263630" cy="4297680"/>
          </a:xfrm>
          <a:prstGeom prst="rect">
            <a:avLst/>
          </a:prstGeom>
          <a:ln w="9525">
            <a:solidFill>
              <a:srgbClr val="D1D5D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11480" y="5367528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実画面（Bruno v4.2.1、Windows 11、2026-10-13 撮影）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393192" y="2299629"/>
            <a:ext cx="2158502" cy="254718"/>
          </a:xfrm>
          <a:prstGeom prst="rect">
            <a:avLst/>
          </a:prstGeom>
          <a:ln w="28575">
            <a:solidFill>
              <a:srgbClr val="E11D2E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00584" y="2289828"/>
            <a:ext cx="274320" cy="274320"/>
          </a:xfrm>
          <a:prstGeom prst="ellipse">
            <a:avLst/>
          </a:prstGeom>
          <a:solidFill>
            <a:srgbClr val="E11D2E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00584" y="22898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2347971" y="2648089"/>
            <a:ext cx="1345428" cy="249052"/>
          </a:xfrm>
          <a:prstGeom prst="rect">
            <a:avLst/>
          </a:prstGeom>
          <a:ln w="28575">
            <a:solidFill>
              <a:srgbClr val="E11D2E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055363" y="2635455"/>
            <a:ext cx="274320" cy="274320"/>
          </a:xfrm>
          <a:prstGeom prst="ellipse">
            <a:avLst/>
          </a:prstGeom>
          <a:solidFill>
            <a:srgbClr val="E11D2E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055363" y="2635455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572000" y="1097280"/>
            <a:ext cx="72237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E11D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①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サイドバーに 06_PATCH が追加されたことを確認し、06_PATCH を右クリック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E11D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②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メニューの「New Request」をクリック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4572000" y="2651760"/>
            <a:ext cx="7223760" cy="1005840"/>
          </a:xfrm>
          <a:prstGeom prst="rect">
            <a:avLst/>
          </a:prstGeom>
          <a:solidFill>
            <a:srgbClr val="FEF2F2"/>
          </a:solidFill>
          <a:ln w="15875">
            <a:solidFill>
              <a:srgbClr val="B91C1C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572000" y="2651760"/>
            <a:ext cx="82296" cy="100584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736592" y="2697480"/>
            <a:ext cx="6995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B91C1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【注意】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コレクション名ではなく 06_PATCH を右クリックします。コレクション名から作ると、フォルダの外にリクエストができてしまいます。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548640" y="5788152"/>
            <a:ext cx="11064240" cy="329184"/>
          </a:xfrm>
          <a:prstGeom prst="rect">
            <a:avLst/>
          </a:prstGeom>
          <a:solidFill>
            <a:srgbClr val="ECFDF5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40080" y="5788152"/>
            <a:ext cx="1088136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4785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できなかった場合：</a:t>
            </a:r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samples の 06_PATCH\01 Patch Post Title.yml を開いて Send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Meiryo UI"/>
                <a:ea typeface="Meiryo UI"/>
                <a:cs typeface="Meiryo U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【手順 4/8】リクエスト名を入力し、メソッドを PATCH に変える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896112"/>
            <a:ext cx="11430000" cy="457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Bruno v4.2.1｜確認日 2026-10-09</a:t>
            </a:r>
            <a:endParaRPr lang="en-US" sz="1000" dirty="0"/>
          </a:p>
        </p:txBody>
      </p:sp>
      <p:pic>
        <p:nvPicPr>
          <p:cNvPr id="5" name="Image 0" descr="実画面（Bruno v4.2.1、Windows 11、2026-10-13 撮影）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051560"/>
            <a:ext cx="3974254" cy="42976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11480" y="1051560"/>
            <a:ext cx="3974254" cy="4297680"/>
          </a:xfrm>
          <a:prstGeom prst="rect">
            <a:avLst/>
          </a:prstGeom>
          <a:ln w="9525">
            <a:solidFill>
              <a:srgbClr val="D1D5D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11480" y="5367528"/>
            <a:ext cx="397425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実画面（Bruno v4.2.1、Windows 11、2026-10-13 撮影）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571723" y="2433058"/>
            <a:ext cx="3653768" cy="284967"/>
          </a:xfrm>
          <a:prstGeom prst="rect">
            <a:avLst/>
          </a:prstGeom>
          <a:ln w="28575">
            <a:solidFill>
              <a:srgbClr val="E11D2E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79115" y="2438382"/>
            <a:ext cx="274320" cy="274320"/>
          </a:xfrm>
          <a:prstGeom prst="ellipse">
            <a:avLst/>
          </a:prstGeom>
          <a:solidFill>
            <a:srgbClr val="E11D2E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79115" y="243838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71723" y="3030749"/>
            <a:ext cx="673078" cy="290142"/>
          </a:xfrm>
          <a:prstGeom prst="rect">
            <a:avLst/>
          </a:prstGeom>
          <a:ln w="28575">
            <a:solidFill>
              <a:srgbClr val="E11D2E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79115" y="3038660"/>
            <a:ext cx="274320" cy="274320"/>
          </a:xfrm>
          <a:prstGeom prst="ellipse">
            <a:avLst/>
          </a:prstGeom>
          <a:solidFill>
            <a:srgbClr val="E11D2E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79115" y="30386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38995" y="4125221"/>
            <a:ext cx="877483" cy="235806"/>
          </a:xfrm>
          <a:prstGeom prst="rect">
            <a:avLst/>
          </a:prstGeom>
          <a:ln w="28575">
            <a:solidFill>
              <a:srgbClr val="E11D2E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46387" y="4105964"/>
            <a:ext cx="274320" cy="274320"/>
          </a:xfrm>
          <a:prstGeom prst="ellipse">
            <a:avLst/>
          </a:prstGeom>
          <a:solidFill>
            <a:srgbClr val="E11D2E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46387" y="41059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4937760" y="1097280"/>
            <a:ext cx="68580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E11D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①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Request Name に 01 Patch Post Title と入力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E11D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②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URL 欄の左の「GET ▾」をクリック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E11D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③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開いた一覧から「PATCH」をクリック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4937760" y="2926080"/>
            <a:ext cx="6858000" cy="1188720"/>
          </a:xfrm>
          <a:prstGeom prst="rect">
            <a:avLst/>
          </a:prstGeom>
          <a:solidFill>
            <a:srgbClr val="EFF6FF"/>
          </a:solidFill>
          <a:ln w="15875">
            <a:solidFill>
              <a:srgbClr val="1D4ED8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937760" y="2926080"/>
            <a:ext cx="82296" cy="118872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102352" y="2971800"/>
            <a:ext cx="6629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D4ED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【ヒント】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New Request の画面を開いた直後は、メソッドが GET になっています。PATCH を選ぶと、文字が紫色の PATCH に変わります。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548640" y="5788152"/>
            <a:ext cx="11064240" cy="329184"/>
          </a:xfrm>
          <a:prstGeom prst="rect">
            <a:avLst/>
          </a:prstGeom>
          <a:solidFill>
            <a:srgbClr val="ECFDF5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40080" y="5788152"/>
            <a:ext cx="1088136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4785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できなかった場合：</a:t>
            </a:r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samples の 06_PATCH\01 Patch Post Title.yml を開いて Send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Meiryo UI"/>
                <a:ea typeface="Meiryo UI"/>
                <a:cs typeface="Meiryo U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【手順 5/8】URL を入力して Create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896112"/>
            <a:ext cx="11430000" cy="457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Bruno v4.2.1｜確認日 2026-10-09</a:t>
            </a:r>
            <a:endParaRPr lang="en-US" sz="1000" dirty="0"/>
          </a:p>
        </p:txBody>
      </p:sp>
      <p:pic>
        <p:nvPicPr>
          <p:cNvPr id="5" name="Image 0" descr="実画面（Bruno v4.2.1、Windows 11、2026-10-13 撮影）（後ろの画面は暗く表示される）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051560"/>
            <a:ext cx="5878216" cy="42976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11480" y="1051560"/>
            <a:ext cx="5878216" cy="4297680"/>
          </a:xfrm>
          <a:prstGeom prst="rect">
            <a:avLst/>
          </a:prstGeom>
          <a:ln w="9525">
            <a:solidFill>
              <a:srgbClr val="D1D5D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11480" y="5367528"/>
            <a:ext cx="587821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実画面（Bruno v4.2.1、Windows 11、2026-10-13 撮影）（後ろの画面は暗く表示される）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1598685" y="3987688"/>
            <a:ext cx="4445238" cy="411618"/>
          </a:xfrm>
          <a:prstGeom prst="rect">
            <a:avLst/>
          </a:prstGeom>
          <a:ln w="28575">
            <a:solidFill>
              <a:srgbClr val="E11D2E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062211" y="4056337"/>
            <a:ext cx="274320" cy="274320"/>
          </a:xfrm>
          <a:prstGeom prst="ellipse">
            <a:avLst/>
          </a:prstGeom>
          <a:solidFill>
            <a:srgbClr val="E11D2E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062211" y="4056337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192204" y="4737773"/>
            <a:ext cx="851719" cy="373349"/>
          </a:xfrm>
          <a:prstGeom prst="rect">
            <a:avLst/>
          </a:prstGeom>
          <a:ln w="28575">
            <a:solidFill>
              <a:srgbClr val="E11D2E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062211" y="4787287"/>
            <a:ext cx="274320" cy="274320"/>
          </a:xfrm>
          <a:prstGeom prst="ellipse">
            <a:avLst/>
          </a:prstGeom>
          <a:solidFill>
            <a:srgbClr val="E11D2E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062211" y="4787287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812280" y="1097280"/>
            <a:ext cx="49834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E11D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①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URL に {{baseUrl}}/posts/1 と入力（左が PATCH になっていることを確認）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E11D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②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「Create」をクリック → 01 Patch Post Title がタブで開く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6812280" y="3017520"/>
            <a:ext cx="4983480" cy="1691640"/>
          </a:xfrm>
          <a:prstGeom prst="rect">
            <a:avLst/>
          </a:prstGeom>
          <a:solidFill>
            <a:srgbClr val="EFF6FF"/>
          </a:solidFill>
          <a:ln w="15875">
            <a:solidFill>
              <a:srgbClr val="1D4ED8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812280" y="3017520"/>
            <a:ext cx="82296" cy="169164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976872" y="3063240"/>
            <a:ext cx="475488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D4ED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【ヒント】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作ったリクエストは 06_PATCH の中にできます。サイドバーで見えないときは 06_PATCH をクリックすると中身が表示されます（フォルダの設定画面が開くので、続けて 01 Patch Post Title をクリックして戻ります）。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548640" y="5788152"/>
            <a:ext cx="11064240" cy="329184"/>
          </a:xfrm>
          <a:prstGeom prst="rect">
            <a:avLst/>
          </a:prstGeom>
          <a:solidFill>
            <a:srgbClr val="ECFDF5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40080" y="5788152"/>
            <a:ext cx="1088136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4785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できなかった場合：</a:t>
            </a:r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samples の 06_PATCH\01 Patch Post Title.yml を開いて Send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Meiryo UI"/>
                <a:ea typeface="Meiryo UI"/>
                <a:cs typeface="Meiryo U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【手順 6/8】Body タブで「JSON」を選ぶ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896112"/>
            <a:ext cx="11430000" cy="457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Bruno v4.2.1｜確認日 2026-10-09</a:t>
            </a:r>
            <a:endParaRPr lang="en-US" sz="1000" dirty="0"/>
          </a:p>
        </p:txBody>
      </p:sp>
      <p:pic>
        <p:nvPicPr>
          <p:cNvPr id="5" name="Image 0" descr="実画面（Bruno v4.2.1、Windows 11、2026-10-13 撮影）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051560"/>
            <a:ext cx="5648677" cy="42976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11480" y="1051560"/>
            <a:ext cx="5648677" cy="4297680"/>
          </a:xfrm>
          <a:prstGeom prst="rect">
            <a:avLst/>
          </a:prstGeom>
          <a:ln w="9525">
            <a:solidFill>
              <a:srgbClr val="D1D5D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11480" y="5367528"/>
            <a:ext cx="5648677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実画面（Bruno v4.2.1、Windows 11、2026-10-13 撮影）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2918177" y="2457155"/>
            <a:ext cx="411419" cy="252631"/>
          </a:xfrm>
          <a:prstGeom prst="rect">
            <a:avLst/>
          </a:prstGeom>
          <a:ln w="28575">
            <a:solidFill>
              <a:srgbClr val="E11D2E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625569" y="2446311"/>
            <a:ext cx="274320" cy="274320"/>
          </a:xfrm>
          <a:prstGeom prst="ellipse">
            <a:avLst/>
          </a:prstGeom>
          <a:solidFill>
            <a:srgbClr val="E11D2E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625569" y="2446311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292183" y="2472774"/>
            <a:ext cx="635284" cy="195364"/>
          </a:xfrm>
          <a:prstGeom prst="rect">
            <a:avLst/>
          </a:prstGeom>
          <a:ln w="28575">
            <a:solidFill>
              <a:srgbClr val="E11D2E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999575" y="2433295"/>
            <a:ext cx="274320" cy="274320"/>
          </a:xfrm>
          <a:prstGeom prst="ellipse">
            <a:avLst/>
          </a:prstGeom>
          <a:solidFill>
            <a:srgbClr val="E11D2E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999575" y="2433295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565924" y="3672792"/>
            <a:ext cx="1312084" cy="221394"/>
          </a:xfrm>
          <a:prstGeom prst="rect">
            <a:avLst/>
          </a:prstGeom>
          <a:ln w="28575">
            <a:solidFill>
              <a:srgbClr val="E11D2E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273316" y="3646329"/>
            <a:ext cx="274320" cy="274320"/>
          </a:xfrm>
          <a:prstGeom prst="ellipse">
            <a:avLst/>
          </a:prstGeom>
          <a:solidFill>
            <a:srgbClr val="E11D2E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273316" y="3646329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393192" y="2397284"/>
            <a:ext cx="1986281" cy="237013"/>
          </a:xfrm>
          <a:prstGeom prst="rect">
            <a:avLst/>
          </a:prstGeom>
          <a:ln w="28575">
            <a:solidFill>
              <a:srgbClr val="E11D2E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812280" y="1097280"/>
            <a:ext cx="498348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E11D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①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URL の下の「Body」タブをクリック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E11D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②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右側の「No Body ▾」をクリック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E11D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③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一覧の RAW の「JSON」をクリック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6812280" y="2926080"/>
            <a:ext cx="4983480" cy="1280160"/>
          </a:xfrm>
          <a:prstGeom prst="rect">
            <a:avLst/>
          </a:prstGeom>
          <a:solidFill>
            <a:srgbClr val="EFF6FF"/>
          </a:solidFill>
          <a:ln w="15875">
            <a:solidFill>
              <a:srgbClr val="1D4ED8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812280" y="2926080"/>
            <a:ext cx="82296" cy="128016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976872" y="2971800"/>
            <a:ext cx="4754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D4ED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【ヒント】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初めは No Body（ボディなし）です。JSON を選ぶと、送るときに Content-Type: application/json が自動で付きます（第5章）。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548640" y="5788152"/>
            <a:ext cx="11064240" cy="329184"/>
          </a:xfrm>
          <a:prstGeom prst="rect">
            <a:avLst/>
          </a:prstGeom>
          <a:solidFill>
            <a:srgbClr val="ECFDF5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40080" y="5788152"/>
            <a:ext cx="1088136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4785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できなかった場合：</a:t>
            </a:r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samples の 06_PATCH\01 Patch Post Title.yml を開いて Send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Meiryo UI"/>
                <a:ea typeface="Meiryo UI"/>
                <a:cs typeface="Meiryo U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【手順 7/8】JSON を入力する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896112"/>
            <a:ext cx="11430000" cy="457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Bruno v4.2.1｜確認日 2026-10-09</a:t>
            </a:r>
            <a:endParaRPr lang="en-US" sz="1000" dirty="0"/>
          </a:p>
        </p:txBody>
      </p:sp>
      <p:pic>
        <p:nvPicPr>
          <p:cNvPr id="5" name="Image 0" descr="実画面（Bruno v4.2.1、Windows 11、2026-10-13 撮影）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051560"/>
            <a:ext cx="6949440" cy="3810983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11480" y="1051560"/>
            <a:ext cx="6949440" cy="3810983"/>
          </a:xfrm>
          <a:prstGeom prst="rect">
            <a:avLst/>
          </a:prstGeom>
          <a:ln w="9525">
            <a:solidFill>
              <a:srgbClr val="D1D5D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11480" y="4880831"/>
            <a:ext cx="6949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実画面（Bruno v4.2.1、Windows 11、2026-10-13 撮影）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3221006" y="3246204"/>
            <a:ext cx="2249508" cy="603420"/>
          </a:xfrm>
          <a:prstGeom prst="rect">
            <a:avLst/>
          </a:prstGeom>
          <a:ln w="28575">
            <a:solidFill>
              <a:srgbClr val="E11D2E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928398" y="3410754"/>
            <a:ext cx="274320" cy="274320"/>
          </a:xfrm>
          <a:prstGeom prst="ellipse">
            <a:avLst/>
          </a:prstGeom>
          <a:solidFill>
            <a:srgbClr val="E11D2E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928398" y="341075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080844" y="2804258"/>
            <a:ext cx="590610" cy="231929"/>
          </a:xfrm>
          <a:prstGeom prst="rect">
            <a:avLst/>
          </a:prstGeom>
          <a:ln w="28575">
            <a:solidFill>
              <a:srgbClr val="E11D2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635240" y="1097280"/>
            <a:ext cx="41605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E11D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①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右上が「JSON」になっていることを確認し、入力欄に下の JSON を入力する（コピーして貼り付けてもよい）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7635240" y="2697480"/>
            <a:ext cx="4160520" cy="960120"/>
          </a:xfrm>
          <a:prstGeom prst="rect">
            <a:avLst/>
          </a:prstGeom>
          <a:solidFill>
            <a:srgbClr val="F3F4F6"/>
          </a:solidFill>
          <a:ln w="12700">
            <a:solidFill>
              <a:srgbClr val="D1D5DB"/>
            </a:solidFill>
          </a:ln>
        </p:spPr>
        <p:txBody>
          <a:bodyPr wrap="square" lIns="101600" tIns="101600" rIns="101600" bIns="10160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"title": "タイトルだけ変更"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7635240" y="2423160"/>
            <a:ext cx="4160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コピー用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7635240" y="3931920"/>
            <a:ext cx="4160520" cy="1097280"/>
          </a:xfrm>
          <a:prstGeom prst="rect">
            <a:avLst/>
          </a:prstGeom>
          <a:solidFill>
            <a:srgbClr val="FEF2F2"/>
          </a:solidFill>
          <a:ln w="15875">
            <a:solidFill>
              <a:srgbClr val="B91C1C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7635240" y="3931920"/>
            <a:ext cx="82296" cy="109728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799832" y="3977640"/>
            <a:ext cx="3931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B91C1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【注意】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項目名と文字は半角の " で囲みます。最後の項目の後ろにカンマ（,）は付けません。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548640" y="5788152"/>
            <a:ext cx="11064240" cy="329184"/>
          </a:xfrm>
          <a:prstGeom prst="rect">
            <a:avLst/>
          </a:prstGeom>
          <a:solidFill>
            <a:srgbClr val="ECFDF5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40080" y="5788152"/>
            <a:ext cx="1088136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4785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できなかった場合：</a:t>
            </a:r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samples の 06_PATCH\01 Patch Post Title.yml を開いて Send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Meiryo UI"/>
                <a:ea typeface="Meiryo UI"/>
                <a:cs typeface="Meiryo U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【手順 8/8】Send して結果を確認し、Ctrl + S で保存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896112"/>
            <a:ext cx="11430000" cy="457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Bruno v4.2.1｜確認日 2026-10-09</a:t>
            </a:r>
            <a:endParaRPr lang="en-US" sz="1000" dirty="0"/>
          </a:p>
        </p:txBody>
      </p:sp>
      <p:pic>
        <p:nvPicPr>
          <p:cNvPr id="5" name="Image 0" descr="実画面（Bruno v4.2.1、Windows 11、2026-10-13 撮影）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051560"/>
            <a:ext cx="11338560" cy="3513773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11480" y="1051560"/>
            <a:ext cx="11338560" cy="3513773"/>
          </a:xfrm>
          <a:prstGeom prst="rect">
            <a:avLst/>
          </a:prstGeom>
          <a:ln w="9525">
            <a:solidFill>
              <a:srgbClr val="D1D5D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11480" y="4583620"/>
            <a:ext cx="11338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実画面（Bruno v4.2.1、Windows 11、2026-10-13 撮影）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11011281" y="2184845"/>
            <a:ext cx="615315" cy="320040"/>
          </a:xfrm>
          <a:prstGeom prst="rect">
            <a:avLst/>
          </a:prstGeom>
          <a:ln w="28575">
            <a:solidFill>
              <a:srgbClr val="E11D2E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0718673" y="2207705"/>
            <a:ext cx="274320" cy="274320"/>
          </a:xfrm>
          <a:prstGeom prst="ellipse">
            <a:avLst/>
          </a:prstGeom>
          <a:solidFill>
            <a:srgbClr val="E11D2E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0718673" y="2207705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10057543" y="2666143"/>
            <a:ext cx="1267873" cy="216694"/>
          </a:xfrm>
          <a:prstGeom prst="rect">
            <a:avLst/>
          </a:prstGeom>
          <a:ln w="28575">
            <a:solidFill>
              <a:srgbClr val="E11D2E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9764935" y="2637330"/>
            <a:ext cx="274320" cy="274320"/>
          </a:xfrm>
          <a:prstGeom prst="ellipse">
            <a:avLst/>
          </a:prstGeom>
          <a:solidFill>
            <a:srgbClr val="E11D2E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764935" y="263733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048697" y="1815751"/>
            <a:ext cx="190119" cy="190119"/>
          </a:xfrm>
          <a:prstGeom prst="rect">
            <a:avLst/>
          </a:prstGeom>
          <a:ln w="28575">
            <a:solidFill>
              <a:srgbClr val="E11D2E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756088" y="1773650"/>
            <a:ext cx="274320" cy="274320"/>
          </a:xfrm>
          <a:prstGeom prst="ellipse">
            <a:avLst/>
          </a:prstGeom>
          <a:solidFill>
            <a:srgbClr val="E11D2E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756088" y="177365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411480" y="4846320"/>
            <a:ext cx="67665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E11D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① </a:t>
            </a:r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「Send」をクリック（または Ctrl + Enter）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E11D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② </a:t>
            </a:r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右側に 200 OK とレスポンスが表示される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E11D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③ </a:t>
            </a:r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タブのオレンジの点は「保存していない」印 → Ctrl + S で保存すると消える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7360920" y="4846320"/>
            <a:ext cx="4389120" cy="822960"/>
          </a:xfrm>
          <a:prstGeom prst="rect">
            <a:avLst/>
          </a:prstGeom>
          <a:solidFill>
            <a:srgbClr val="ECFDF5"/>
          </a:solidFill>
          <a:ln w="15875">
            <a:solidFill>
              <a:srgbClr val="047857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7360920" y="4846320"/>
            <a:ext cx="82296" cy="82296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525512" y="4892040"/>
            <a:ext cx="4160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04785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【確認】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作ったファイル：bruno-hands-on\06_PATCH\01 Patch Post Title.yml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548640" y="5788152"/>
            <a:ext cx="11064240" cy="329184"/>
          </a:xfrm>
          <a:prstGeom prst="rect">
            <a:avLst/>
          </a:prstGeom>
          <a:solidFill>
            <a:srgbClr val="ECFDF5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40080" y="5788152"/>
            <a:ext cx="1088136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4785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できなかった場合：</a:t>
            </a:r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samples の 06_PATCH\01 Patch Post Title.yml を開いて Send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Meiryo UI"/>
                <a:ea typeface="Meiryo UI"/>
                <a:cs typeface="Meiryo U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レスポンスを確認する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896112"/>
            <a:ext cx="11430000" cy="457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Bruno v4.2.1｜確認日 2026-10-09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6144768"/>
            <a:ext cx="1143000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出典：結果は 2026-10-09 に Bruno v4.2.1（画面・CLI）と curl で確認</a:t>
            </a:r>
            <a:endParaRPr lang="en-US" sz="1000" dirty="0"/>
          </a:p>
        </p:txBody>
      </p:sp>
      <p:pic>
        <p:nvPicPr>
          <p:cNvPr id="6" name="Image 0" descr="実画面（Bruno v4.2.1、Windows 11、2026-10-13 撮影）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051560"/>
            <a:ext cx="10327341" cy="32004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11480" y="1051560"/>
            <a:ext cx="10327341" cy="3200400"/>
          </a:xfrm>
          <a:prstGeom prst="rect">
            <a:avLst/>
          </a:prstGeom>
          <a:ln w="9525">
            <a:solidFill>
              <a:srgbClr val="D1D5D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11480" y="4270248"/>
            <a:ext cx="10327341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実画面（Bruno v4.2.1、Windows 11、2026-10-13 撮影）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93192" y="2442524"/>
            <a:ext cx="2050945" cy="243661"/>
          </a:xfrm>
          <a:prstGeom prst="rect">
            <a:avLst/>
          </a:prstGeom>
          <a:ln w="28575">
            <a:solidFill>
              <a:srgbClr val="E11D2E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9195637" y="2520517"/>
            <a:ext cx="1158061" cy="200630"/>
          </a:xfrm>
          <a:prstGeom prst="rect">
            <a:avLst/>
          </a:prstGeom>
          <a:ln w="28575">
            <a:solidFill>
              <a:srgbClr val="E11D2E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331413" y="2891656"/>
            <a:ext cx="4296604" cy="1276395"/>
          </a:xfrm>
          <a:prstGeom prst="rect">
            <a:avLst/>
          </a:prstGeom>
          <a:ln w="28575">
            <a:solidFill>
              <a:srgbClr val="E11D2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11480" y="4572000"/>
            <a:ext cx="457200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ステータス：200 OK</a:t>
            </a:r>
            <a:endParaRPr lang="en-US" sz="14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title が「タイトルだけ変更」になっている</a:t>
            </a:r>
            <a:endParaRPr lang="en-US" sz="14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userId・id・body は元のまま返ってくる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5166360" y="4572000"/>
            <a:ext cx="6583680" cy="1097280"/>
          </a:xfrm>
          <a:prstGeom prst="rect">
            <a:avLst/>
          </a:prstGeom>
          <a:solidFill>
            <a:srgbClr val="ECFDF5"/>
          </a:solidFill>
          <a:ln w="15875">
            <a:solidFill>
              <a:srgbClr val="047857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166360" y="4572000"/>
            <a:ext cx="82296" cy="109728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330952" y="4617720"/>
            <a:ext cx="6355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04785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【読み取れること】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JSONPlaceholder は、送った項目を元のデータに重ねた（マージした）結果を返しています。これは PATCH の一般的な意味と同じ動きです。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548640" y="5788152"/>
            <a:ext cx="11064240" cy="329184"/>
          </a:xfrm>
          <a:prstGeom prst="rect">
            <a:avLst/>
          </a:prstGeom>
          <a:solidFill>
            <a:srgbClr val="ECFDF5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40080" y="5788152"/>
            <a:ext cx="1088136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4785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できなかった場合：</a:t>
            </a:r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samples の 06_PATCH\01 Patch Post Title.yml を開いて Send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Meiryo UI"/>
                <a:ea typeface="Meiryo UI"/>
                <a:cs typeface="Meiryo UI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⚠ JSONPlaceholder の制約（PATCH）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896112"/>
            <a:ext cx="11430000" cy="457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Bruno v4.2.1｜確認日 2026-10-09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6144768"/>
            <a:ext cx="1143000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出典：https://jsonplaceholder.typicode.com/#guide（2026-10-09 に確認）　結果は 2026-10-09 に Bruno v4.2.1（画面・CLI）と curl で確認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11480" y="1051560"/>
            <a:ext cx="11338560" cy="411480"/>
          </a:xfrm>
          <a:prstGeom prst="rect">
            <a:avLst/>
          </a:prstGeom>
          <a:solidFill>
            <a:srgbClr val="F8FAFC"/>
          </a:solidFill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"The resource is not really patched on the server, but the response is faked as if."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11480" y="1508760"/>
            <a:ext cx="113385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E11D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① 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06_PATCH を右クリック →「New Request」。Request Name：02 Check After Patch、メソッド：GET（そのまま）、URL：{{baseUrl}}/posts/1 →「Create」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E11D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② 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「Send」→ Ctrl + S</a:t>
            </a:r>
            <a:endParaRPr lang="en-US" sz="1300" dirty="0"/>
          </a:p>
        </p:txBody>
      </p:sp>
      <p:pic>
        <p:nvPicPr>
          <p:cNvPr id="8" name="Image 0" descr="実画面（Bruno v4.2.1、Windows 11、2026-10-13 撮影）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2240280"/>
            <a:ext cx="7819273" cy="242316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11480" y="2240280"/>
            <a:ext cx="7819273" cy="2423160"/>
          </a:xfrm>
          <a:prstGeom prst="rect">
            <a:avLst/>
          </a:prstGeom>
          <a:ln w="9525">
            <a:solidFill>
              <a:srgbClr val="D1D5D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11480" y="4681728"/>
            <a:ext cx="7819273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実画面（Bruno v4.2.1、Windows 11、2026-10-13 撮影）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93192" y="3445790"/>
            <a:ext cx="1561741" cy="193369"/>
          </a:xfrm>
          <a:prstGeom prst="rect">
            <a:avLst/>
          </a:prstGeom>
          <a:ln w="28575">
            <a:solidFill>
              <a:srgbClr val="E11D2E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00584" y="3405314"/>
            <a:ext cx="274320" cy="274320"/>
          </a:xfrm>
          <a:prstGeom prst="ellipse">
            <a:avLst/>
          </a:prstGeom>
          <a:solidFill>
            <a:srgbClr val="E11D2E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00584" y="340531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141387" y="3348049"/>
            <a:ext cx="802213" cy="160788"/>
          </a:xfrm>
          <a:prstGeom prst="rect">
            <a:avLst/>
          </a:prstGeom>
          <a:ln w="28575">
            <a:solidFill>
              <a:srgbClr val="E11D2E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241548" y="3989473"/>
            <a:ext cx="2909751" cy="152643"/>
          </a:xfrm>
          <a:prstGeom prst="rect">
            <a:avLst/>
          </a:prstGeom>
          <a:ln w="28575">
            <a:solidFill>
              <a:srgbClr val="E11D2E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9189720" y="2240280"/>
            <a:ext cx="256032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title は元の "sunt aut facere ..." のまま</a:t>
            </a:r>
            <a:endParaRPr lang="en-US" sz="13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→ PATCH の結果は保存されていない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411480" y="4937760"/>
            <a:ext cx="11338560" cy="777240"/>
          </a:xfrm>
          <a:prstGeom prst="rect">
            <a:avLst/>
          </a:prstGeom>
          <a:solidFill>
            <a:srgbClr val="FEF2F2"/>
          </a:solidFill>
          <a:ln w="15875">
            <a:solidFill>
              <a:srgbClr val="B91C1C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11480" y="4937760"/>
            <a:ext cx="82296" cy="77724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76072" y="4983480"/>
            <a:ext cx="11109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B91C1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【本物の API と違う点】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存在しない ID（例：/posts/999）に PATCH しても、JSONPlaceholder は 200 OK を返します（2026-10-09 に curl で確認）。本物の API では一般に 404 などのエラーになります。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548640" y="5788152"/>
            <a:ext cx="11064240" cy="329184"/>
          </a:xfrm>
          <a:prstGeom prst="rect">
            <a:avLst/>
          </a:prstGeom>
          <a:solidFill>
            <a:srgbClr val="ECFDF5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40080" y="5788152"/>
            <a:ext cx="1088136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4785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できなかった場合：</a:t>
            </a:r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samples の 06_PATCH\02 Check After Patch.yml を開いて Send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Meiryo UI"/>
                <a:ea typeface="Meiryo UI"/>
                <a:cs typeface="Meiryo UI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演習問題6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896112"/>
            <a:ext cx="11430000" cy="457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Bruno v4.2.1｜確認日 2026-10-09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1097280"/>
            <a:ext cx="11064240" cy="411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06_PATCH フォルダに新しいリクエストを作りましょう。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200"/>
              </a:spcAft>
              <a:buNone/>
            </a:pPr>
            <a:r>
              <a:rPr lang="en-US" sz="1700" b="1" dirty="0">
                <a:solidFill>
                  <a:srgbClr val="E11D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① </a:t>
            </a:r>
            <a:pPr indent="0" marL="0">
              <a:spcAft>
                <a:spcPts val="1200"/>
              </a:spcAft>
              <a:buNone/>
            </a:pPr>
            <a:r>
              <a:rPr lang="en-US" sz="17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/todos/1 の completed を true に変更する PATCH を作って送ってください。</a:t>
            </a:r>
            <a:endParaRPr lang="en-US" sz="17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700" b="1" dirty="0">
                <a:solidFill>
                  <a:srgbClr val="E11D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② </a:t>
            </a:r>
            <a:pPr indent="0" marL="0">
              <a:spcAft>
                <a:spcPts val="1200"/>
              </a:spcAft>
              <a:buNone/>
            </a:pPr>
            <a:r>
              <a:rPr lang="en-US" sz="17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ステータスと、レスポンスの completed・title の値は何ですか？</a:t>
            </a:r>
            <a:endParaRPr lang="en-US" sz="17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700" b="1" dirty="0">
                <a:solidFill>
                  <a:srgbClr val="E11D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③ </a:t>
            </a:r>
            <a:pPr indent="0" marL="0">
              <a:spcAft>
                <a:spcPts val="1200"/>
              </a:spcAft>
              <a:buNone/>
            </a:pPr>
            <a:r>
              <a:rPr lang="en-US" sz="17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続けて /todos/1 を GET すると、completed は何になっていますか？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48640" y="4023360"/>
            <a:ext cx="11064240" cy="731520"/>
          </a:xfrm>
          <a:prstGeom prst="rect">
            <a:avLst/>
          </a:prstGeom>
          <a:solidFill>
            <a:srgbClr val="EFF6FF"/>
          </a:solidFill>
          <a:ln w="15875">
            <a:solidFill>
              <a:srgbClr val="1D4ED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4023360"/>
            <a:ext cx="82296" cy="73152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3232" y="4069080"/>
            <a:ext cx="10835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1D4ED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【ヒント】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Body の種類を JSON にするのを忘れずに。true は真偽値なので " で囲みません。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5788152"/>
            <a:ext cx="11064240" cy="329184"/>
          </a:xfrm>
          <a:prstGeom prst="rect">
            <a:avLst/>
          </a:prstGeom>
          <a:solidFill>
            <a:srgbClr val="ECFDF5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5788152"/>
            <a:ext cx="1088136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4785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できなかった場合：</a:t>
            </a:r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samples の 06_PATCH\Q1 Complete Todo 1.yml → Q2 Check Todo 1.yml の順に開いて Send（解答）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Meiryo UI"/>
                <a:ea typeface="Meiryo UI"/>
                <a:cs typeface="Meiryo UI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演習問題6：期待する結果と解答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896112"/>
            <a:ext cx="11430000" cy="457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Bruno v4.2.1｜確認日 2026-10-09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6144768"/>
            <a:ext cx="1143000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出典：2026-10-09 に curl と Bruno CLI 4.2.1 で確認（answers/bruno-hands-on-answers/Ex06_PATCH）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188720"/>
            <a:ext cx="4572000" cy="1920240"/>
          </a:xfrm>
          <a:prstGeom prst="rect">
            <a:avLst/>
          </a:prstGeom>
          <a:solidFill>
            <a:srgbClr val="F3F4F6"/>
          </a:solidFill>
          <a:ln w="12700">
            <a:solidFill>
              <a:srgbClr val="D1D5DB"/>
            </a:solidFill>
          </a:ln>
        </p:spPr>
        <p:txBody>
          <a:bodyPr wrap="square" lIns="101600" tIns="101600" rIns="101600" bIns="10160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PATCH {{baseUrl}}/todos/1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Body（JSON）：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"completed": true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5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94960" y="1188720"/>
          <a:ext cx="621792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5303520"/>
              </a:tblGrid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問題</a:t>
                      </a:r>
                      <a:endParaRPr lang="en-US" sz="15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結果</a:t>
                      </a:r>
                      <a:endParaRPr lang="en-US" sz="15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①②</a:t>
                      </a:r>
                      <a:endParaRPr lang="en-US" sz="15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200 OK、completed: true、title: "delectus aut autem"（元のまま）</a:t>
                      </a:r>
                      <a:endParaRPr lang="en-US" sz="15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③</a:t>
                      </a:r>
                      <a:endParaRPr lang="en-US" sz="15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completed: false（変更は保存されていない）</a:t>
                      </a:r>
                      <a:endParaRPr lang="en-US" sz="15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Meiryo UI"/>
                <a:ea typeface="Meiryo UI"/>
                <a:cs typeface="Meiryo UI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第6章のまとめ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896112"/>
            <a:ext cx="11430000" cy="457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Bruno v4.2.1｜確認日 2026-10-09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1106424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PATCH は一部だけを変更するメソッド（一般的な意味）</a:t>
            </a:r>
            <a:endParaRPr lang="en-US" sz="18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変えたい項目だけをボディに入れて送る</a:t>
            </a:r>
            <a:endParaRPr lang="en-US" sz="18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JSONPlaceholder のレスポンスでは、送らなかった項目が残る</a:t>
            </a:r>
            <a:endParaRPr lang="en-US" sz="18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ただし保存はされない。GET すると元のまま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Meiryo UI"/>
                <a:ea typeface="Meiryo UI"/>
                <a:cs typeface="Meiryo UI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0972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BBF24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第7章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64592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PUT の基本演習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288036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BBF24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この章で学ぶこと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3291840"/>
            <a:ext cx="1051560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200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PUT とは（データ全体を置き換える）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200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PUT のリクエストを自分で作り、すべての項目を送る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200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一部の項目だけを送る PUT と PATCH を作って比べる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200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一般的な意味と JSONPlaceholder の挙動の違い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200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演習問題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56692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目安時間：35 分　｜　対応する学習目標：B5, B6, B7, A5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6080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Bruno v4.2.1｜確認日 2026-10-09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BD5E1"/>
                </a:solidFill>
                <a:latin typeface="Meiryo UI"/>
                <a:ea typeface="Meiryo UI"/>
                <a:cs typeface="Meiryo UI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PUT とは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896112"/>
            <a:ext cx="11430000" cy="457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Bruno v4.2.1｜確認日 2026-10-09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6144768"/>
            <a:ext cx="1143000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出典：RFC 9110（HTTP Semantics）https://www.rfc-editor.org/rfc/rfc9110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097280"/>
            <a:ext cx="1106424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指定したデータを、送った内容で「丸ごと置き換える」ためのメソッドです（HTTP 仕様上の一般的な意味）。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1828800"/>
            <a:ext cx="110642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URL で「どのデータか」を指定する（例：/posts/1）</a:t>
            </a:r>
            <a:endParaRPr lang="en-US" sz="17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ボディには、置き換えた後のデータ全体を書く</a:t>
            </a:r>
            <a:endParaRPr lang="en-US" sz="17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何度送っても結果は同じになる（同じ内容に置き換わるだけ）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48640" y="3931920"/>
            <a:ext cx="11064240" cy="777240"/>
          </a:xfrm>
          <a:prstGeom prst="rect">
            <a:avLst/>
          </a:prstGeom>
          <a:solidFill>
            <a:srgbClr val="EFF6FF"/>
          </a:solidFill>
          <a:ln w="15875">
            <a:solidFill>
              <a:srgbClr val="1D4ED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3931920"/>
            <a:ext cx="82296" cy="77724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3232" y="3977640"/>
            <a:ext cx="10835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1D4ED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【ヒント】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API によっては、指定した URL にデータがなければ新しく作る場合もあります（仕様は API ごとに異なります）。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Meiryo UI"/>
                <a:ea typeface="Meiryo UI"/>
                <a:cs typeface="Meiryo UI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「置き換える」という考え方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896112"/>
            <a:ext cx="11430000" cy="457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Bruno v4.2.1｜確認日 2026-10-09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731520" y="1371600"/>
            <a:ext cx="3291840" cy="182880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5875">
            <a:solidFill>
              <a:srgbClr val="1F3A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371600"/>
            <a:ext cx="3291840" cy="18288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変更前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userId: 1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id: 1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title: "sunt aut ..."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body: "quia et ..."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480560" y="1737360"/>
            <a:ext cx="2926080" cy="1097280"/>
          </a:xfrm>
          <a:prstGeom prst="roundRect">
            <a:avLst>
              <a:gd name="adj" fmla="val 6667"/>
            </a:avLst>
          </a:prstGeom>
          <a:solidFill>
            <a:srgbClr val="FEF3C7"/>
          </a:solidFill>
          <a:ln w="15875">
            <a:solidFill>
              <a:srgbClr val="D9770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480560" y="1737360"/>
            <a:ext cx="2926080" cy="10972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送るボディ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"title": "変更後" }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863840" y="1371600"/>
            <a:ext cx="3749040" cy="1828800"/>
          </a:xfrm>
          <a:prstGeom prst="roundRect">
            <a:avLst>
              <a:gd name="adj" fmla="val 4000"/>
            </a:avLst>
          </a:prstGeom>
          <a:solidFill>
            <a:srgbClr val="FEF2F2"/>
          </a:solidFill>
          <a:ln w="15875">
            <a:solidFill>
              <a:srgbClr val="B91C1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863840" y="1371600"/>
            <a:ext cx="3749040" cy="18288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変更後（PUT の一般的な意味）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id: 1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title: "変更後"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（userId・body はなくなる）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069080" y="2286000"/>
            <a:ext cx="365760" cy="914"/>
          </a:xfrm>
          <a:prstGeom prst="line">
            <a:avLst/>
          </a:prstGeom>
          <a:noFill/>
          <a:ln w="31750">
            <a:solidFill>
              <a:srgbClr val="D97706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7452360" y="2286000"/>
            <a:ext cx="365760" cy="914"/>
          </a:xfrm>
          <a:prstGeom prst="line">
            <a:avLst/>
          </a:prstGeom>
          <a:noFill/>
          <a:ln w="31750">
            <a:solidFill>
              <a:srgbClr val="D97706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548640" y="3611880"/>
            <a:ext cx="11064240" cy="868680"/>
          </a:xfrm>
          <a:prstGeom prst="rect">
            <a:avLst/>
          </a:prstGeom>
          <a:solidFill>
            <a:srgbClr val="FEF2F2"/>
          </a:solidFill>
          <a:ln w="15875">
            <a:solidFill>
              <a:srgbClr val="B91C1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3611880"/>
            <a:ext cx="82296" cy="86868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13232" y="3657600"/>
            <a:ext cx="10835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B91C1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【注意】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PUT で一部の項目しか送らないと、送らなかった項目が消えてしまうことがあります。PUT では、残したい項目もすべて送ります。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Meiryo UI"/>
                <a:ea typeface="Meiryo UI"/>
                <a:cs typeface="Meiryo UI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【操作】PUT を送る：まずリクエストを自分で作る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896112"/>
            <a:ext cx="11430000" cy="457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Bruno v4.2.1｜確認日 2026-10-09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1106424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作り方は第6章と同じです（配布時点では 07_PUT フォルダはありません）。違うのは「メソッドを PUT にする」「Body に 4 項目すべてを入れる」の 2 点です。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1874520"/>
            <a:ext cx="5852160" cy="2971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E11D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① 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bruno-hands-on を右クリック →「New Folder」→ 07_PUT → Create（手順 1/3）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E11D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② 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07_PUT を右クリック →「New Request」→ 名前を入力し、メソッドを PUT に変え、URL を入力 → Create（手順 2/3）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E11D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③ 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Body タブで JSON を選び、4 項目を入力 → Send → Ctrl + S（手順 3/3）</a:t>
            </a:r>
            <a:endParaRPr lang="en-US" sz="13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75120" y="1874520"/>
          <a:ext cx="493776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338328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入力する場所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入力する値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Folder Name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07_PUT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Request Name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01 Put Post Full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メソッド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PUT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URL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{{baseUrl}}/posts/1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Body の種類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JSON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Body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id・title・body・userId の 4 項目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48640" y="4937760"/>
            <a:ext cx="11064240" cy="731520"/>
          </a:xfrm>
          <a:prstGeom prst="rect">
            <a:avLst/>
          </a:prstGeom>
          <a:solidFill>
            <a:srgbClr val="FEF2F2"/>
          </a:solidFill>
          <a:ln w="15875">
            <a:solidFill>
              <a:srgbClr val="B91C1C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48640" y="4937760"/>
            <a:ext cx="82296" cy="73152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13232" y="4983480"/>
            <a:ext cx="10835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B91C1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【始める前に】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画面右上の環境が JSONPlaceholder になっていることを確認します。No Environment のままだと {{baseUrl}} が赤字になり、送信に失敗します。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48640" y="5788152"/>
            <a:ext cx="11064240" cy="329184"/>
          </a:xfrm>
          <a:prstGeom prst="rect">
            <a:avLst/>
          </a:prstGeom>
          <a:solidFill>
            <a:srgbClr val="ECFDF5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40080" y="5788152"/>
            <a:ext cx="1088136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4785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できなかった場合：</a:t>
            </a:r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samples の 07_PUT\01 Put Post Full.yml を開いて Send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Meiryo UI"/>
                <a:ea typeface="Meiryo UI"/>
                <a:cs typeface="Meiryo UI"/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【手順 1/3】フォルダ 07_PUT を作る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896112"/>
            <a:ext cx="11430000" cy="457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Bruno v4.2.1｜確認日 2026-10-09</a:t>
            </a:r>
            <a:endParaRPr lang="en-US" sz="1000" dirty="0"/>
          </a:p>
        </p:txBody>
      </p:sp>
      <p:pic>
        <p:nvPicPr>
          <p:cNvPr id="5" name="Image 0" descr="実画面（Bruno v4.2.1、Windows 11、2026-10-13 撮影）（後ろの画面は暗く表示される）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051560"/>
            <a:ext cx="6949440" cy="282321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11480" y="1051560"/>
            <a:ext cx="6949440" cy="2823210"/>
          </a:xfrm>
          <a:prstGeom prst="rect">
            <a:avLst/>
          </a:prstGeom>
          <a:ln w="9525">
            <a:solidFill>
              <a:srgbClr val="D1D5D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11480" y="3893058"/>
            <a:ext cx="6949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実画面（Bruno v4.2.1、Windows 11、2026-10-13 撮影）（後ろの画面は暗く表示される）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705374" y="2250329"/>
            <a:ext cx="6361652" cy="493538"/>
          </a:xfrm>
          <a:prstGeom prst="rect">
            <a:avLst/>
          </a:prstGeom>
          <a:ln w="28575">
            <a:solidFill>
              <a:srgbClr val="E11D2E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12766" y="2359938"/>
            <a:ext cx="274320" cy="274320"/>
          </a:xfrm>
          <a:prstGeom prst="ellipse">
            <a:avLst/>
          </a:prstGeom>
          <a:solidFill>
            <a:srgbClr val="E11D2E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12766" y="235993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066758" y="3150679"/>
            <a:ext cx="1000268" cy="421148"/>
          </a:xfrm>
          <a:prstGeom prst="rect">
            <a:avLst/>
          </a:prstGeom>
          <a:ln w="28575">
            <a:solidFill>
              <a:srgbClr val="E11D2E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085314" y="3224093"/>
            <a:ext cx="274320" cy="274320"/>
          </a:xfrm>
          <a:prstGeom prst="ellipse">
            <a:avLst/>
          </a:prstGeom>
          <a:solidFill>
            <a:srgbClr val="E11D2E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085314" y="3224093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7635240" y="1097280"/>
            <a:ext cx="416052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E11D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①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サイドバーで bruno-hands-on を右クリック →「New Folder」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E11D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②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Folder Name に 07_PUT と入力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E11D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③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「Create」をクリック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7635240" y="3246120"/>
            <a:ext cx="4160520" cy="1097280"/>
          </a:xfrm>
          <a:prstGeom prst="rect">
            <a:avLst/>
          </a:prstGeom>
          <a:solidFill>
            <a:srgbClr val="EFF6FF"/>
          </a:solidFill>
          <a:ln w="15875">
            <a:solidFill>
              <a:srgbClr val="1D4ED8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7635240" y="3246120"/>
            <a:ext cx="82296" cy="109728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799832" y="3291840"/>
            <a:ext cx="3931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D4ED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【ヒント】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第6章の手順 1・2 と同じです。07_PUT は 04_GET の下（作成環境）に追加されました。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548640" y="5788152"/>
            <a:ext cx="11064240" cy="329184"/>
          </a:xfrm>
          <a:prstGeom prst="rect">
            <a:avLst/>
          </a:prstGeom>
          <a:solidFill>
            <a:srgbClr val="ECFDF5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40080" y="5788152"/>
            <a:ext cx="1088136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4785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できなかった場合：</a:t>
            </a:r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samples の 07_PUT\01 Put Post Full.yml を開いて Send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Meiryo UI"/>
                <a:ea typeface="Meiryo UI"/>
                <a:cs typeface="Meiryo UI"/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【手順 2/3】New Request でメソッドを PUT にする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896112"/>
            <a:ext cx="11430000" cy="457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Bruno v4.2.1｜確認日 2026-10-09</a:t>
            </a:r>
            <a:endParaRPr lang="en-US" sz="1000" dirty="0"/>
          </a:p>
        </p:txBody>
      </p:sp>
      <p:pic>
        <p:nvPicPr>
          <p:cNvPr id="5" name="Image 0" descr="実画面（Bruno v4.2.1、Windows 11、2026-10-13 撮影）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051560"/>
            <a:ext cx="3974254" cy="42976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11480" y="1051560"/>
            <a:ext cx="3974254" cy="4297680"/>
          </a:xfrm>
          <a:prstGeom prst="rect">
            <a:avLst/>
          </a:prstGeom>
          <a:ln w="9525">
            <a:solidFill>
              <a:srgbClr val="D1D5D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11480" y="5367528"/>
            <a:ext cx="397425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実画面（Bruno v4.2.1、Windows 11、2026-10-13 撮影）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571723" y="2433058"/>
            <a:ext cx="3653768" cy="284967"/>
          </a:xfrm>
          <a:prstGeom prst="rect">
            <a:avLst/>
          </a:prstGeom>
          <a:ln w="28575">
            <a:solidFill>
              <a:srgbClr val="E11D2E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79115" y="2438382"/>
            <a:ext cx="274320" cy="274320"/>
          </a:xfrm>
          <a:prstGeom prst="ellipse">
            <a:avLst/>
          </a:prstGeom>
          <a:solidFill>
            <a:srgbClr val="E11D2E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79115" y="243838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71723" y="3030749"/>
            <a:ext cx="673078" cy="290142"/>
          </a:xfrm>
          <a:prstGeom prst="rect">
            <a:avLst/>
          </a:prstGeom>
          <a:ln w="28575">
            <a:solidFill>
              <a:srgbClr val="E11D2E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79115" y="3038660"/>
            <a:ext cx="274320" cy="274320"/>
          </a:xfrm>
          <a:prstGeom prst="ellipse">
            <a:avLst/>
          </a:prstGeom>
          <a:solidFill>
            <a:srgbClr val="E11D2E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79115" y="30386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38995" y="3744873"/>
            <a:ext cx="877483" cy="217694"/>
          </a:xfrm>
          <a:prstGeom prst="rect">
            <a:avLst/>
          </a:prstGeom>
          <a:ln w="28575">
            <a:solidFill>
              <a:srgbClr val="E11D2E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46387" y="3716560"/>
            <a:ext cx="274320" cy="274320"/>
          </a:xfrm>
          <a:prstGeom prst="ellipse">
            <a:avLst/>
          </a:prstGeom>
          <a:solidFill>
            <a:srgbClr val="E11D2E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46387" y="37165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4937760" y="1097280"/>
            <a:ext cx="685800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E11D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①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07_PUT を右クリック →「New Request」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E11D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②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Request Name：01 Put Post Full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E11D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③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「GET ▾」をクリックし、一覧から「PUT」を選ぶ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E11D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④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URL：{{baseUrl}}/posts/1 →「Create」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4937760" y="3383280"/>
            <a:ext cx="6858000" cy="914400"/>
          </a:xfrm>
          <a:prstGeom prst="rect">
            <a:avLst/>
          </a:prstGeom>
          <a:solidFill>
            <a:srgbClr val="EFF6FF"/>
          </a:solidFill>
          <a:ln w="15875">
            <a:solidFill>
              <a:srgbClr val="1D4ED8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937760" y="3383280"/>
            <a:ext cx="82296" cy="91440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102352" y="3429000"/>
            <a:ext cx="6629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D4ED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【ヒント】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PUT はオレンジ色、PATCH は紫色で表示されます。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548640" y="5788152"/>
            <a:ext cx="11064240" cy="329184"/>
          </a:xfrm>
          <a:prstGeom prst="rect">
            <a:avLst/>
          </a:prstGeom>
          <a:solidFill>
            <a:srgbClr val="ECFDF5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40080" y="5788152"/>
            <a:ext cx="1088136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4785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できなかった場合：</a:t>
            </a:r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samples の 07_PUT\01 Put Post Full.yml を開いて Send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Meiryo UI"/>
                <a:ea typeface="Meiryo UI"/>
                <a:cs typeface="Meiryo UI"/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【手順 3/3】Body を JSON にして 4 項目を入力 → Send → Ctrl + 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896112"/>
            <a:ext cx="11430000" cy="457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Bruno v4.2.1｜確認日 2026-10-09</a:t>
            </a:r>
            <a:endParaRPr lang="en-US" sz="1000" dirty="0"/>
          </a:p>
        </p:txBody>
      </p:sp>
      <p:pic>
        <p:nvPicPr>
          <p:cNvPr id="5" name="Image 0" descr="実画面（Bruno v4.2.1、Windows 11、2026-10-13 撮影）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051560"/>
            <a:ext cx="6949440" cy="3810983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11480" y="1051560"/>
            <a:ext cx="6949440" cy="3810983"/>
          </a:xfrm>
          <a:prstGeom prst="rect">
            <a:avLst/>
          </a:prstGeom>
          <a:ln w="9525">
            <a:solidFill>
              <a:srgbClr val="D1D5D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11480" y="4880831"/>
            <a:ext cx="6949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実画面（Bruno v4.2.1、Windows 11、2026-10-13 撮影）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393192" y="3941148"/>
            <a:ext cx="2435254" cy="283169"/>
          </a:xfrm>
          <a:prstGeom prst="rect">
            <a:avLst/>
          </a:prstGeom>
          <a:ln w="28575">
            <a:solidFill>
              <a:srgbClr val="E11D2E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221006" y="3246204"/>
            <a:ext cx="2249508" cy="1144643"/>
          </a:xfrm>
          <a:prstGeom prst="rect">
            <a:avLst/>
          </a:prstGeom>
          <a:ln w="28575">
            <a:solidFill>
              <a:srgbClr val="E11D2E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928398" y="3681366"/>
            <a:ext cx="274320" cy="274320"/>
          </a:xfrm>
          <a:prstGeom prst="ellipse">
            <a:avLst/>
          </a:prstGeom>
          <a:solidFill>
            <a:srgbClr val="E11D2E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928398" y="368136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080844" y="2804258"/>
            <a:ext cx="590610" cy="231929"/>
          </a:xfrm>
          <a:prstGeom prst="rect">
            <a:avLst/>
          </a:prstGeom>
          <a:ln w="28575">
            <a:solidFill>
              <a:srgbClr val="E11D2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635240" y="1097280"/>
            <a:ext cx="416052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E11D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①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Body タブ →「No Body ▾」→「JSON」を選ぶ（第6章の手順 6）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E11D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②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入力欄に下の JSON を入力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E11D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③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「Send」→ 結果を確認 → Ctrl + S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7635240" y="3108960"/>
            <a:ext cx="4160520" cy="1508760"/>
          </a:xfrm>
          <a:prstGeom prst="rect">
            <a:avLst/>
          </a:prstGeom>
          <a:solidFill>
            <a:srgbClr val="F3F4F6"/>
          </a:solidFill>
          <a:ln w="12700">
            <a:solidFill>
              <a:srgbClr val="D1D5DB"/>
            </a:solidFill>
          </a:ln>
        </p:spPr>
        <p:txBody>
          <a:bodyPr wrap="square" lIns="101600" tIns="101600" rIns="101600" bIns="10160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"id": 1,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"title": "まるごと置き換え",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"body": "PUT で全項目を送る",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"userId": 1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7635240" y="2834640"/>
            <a:ext cx="4160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コピー用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7635240" y="4709160"/>
            <a:ext cx="4160520" cy="868680"/>
          </a:xfrm>
          <a:prstGeom prst="rect">
            <a:avLst/>
          </a:prstGeom>
          <a:solidFill>
            <a:srgbClr val="FEF2F2"/>
          </a:solidFill>
          <a:ln w="15875">
            <a:solidFill>
              <a:srgbClr val="B91C1C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635240" y="4709160"/>
            <a:ext cx="82296" cy="86868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799832" y="4754880"/>
            <a:ext cx="3931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B91C1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【注意】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 項目のうち 1 つでも抜けると、結果が変わります（次の「title だけを送る PUT」で確かめます）。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548640" y="5788152"/>
            <a:ext cx="11064240" cy="329184"/>
          </a:xfrm>
          <a:prstGeom prst="rect">
            <a:avLst/>
          </a:prstGeom>
          <a:solidFill>
            <a:srgbClr val="ECFDF5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40080" y="5788152"/>
            <a:ext cx="1088136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4785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できなかった場合：</a:t>
            </a:r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samples の 07_PUT\01 Put Post Full.yml を開いて Send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Meiryo UI"/>
                <a:ea typeface="Meiryo UI"/>
                <a:cs typeface="Meiryo UI"/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レスポンスを確認する（すべての項目を送った場合）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896112"/>
            <a:ext cx="11430000" cy="457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Bruno v4.2.1｜確認日 2026-10-09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6144768"/>
            <a:ext cx="1143000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出典：結果は 2026-10-09 に Bruno v4.2.1（画面・CLI）と curl で確認</a:t>
            </a:r>
            <a:endParaRPr lang="en-US" sz="1000" dirty="0"/>
          </a:p>
        </p:txBody>
      </p:sp>
      <p:pic>
        <p:nvPicPr>
          <p:cNvPr id="6" name="Image 0" descr="実画面（Bruno v4.2.1、Windows 11、2026-10-13 撮影）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051560"/>
            <a:ext cx="11338560" cy="3513773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11480" y="1051560"/>
            <a:ext cx="11338560" cy="3513773"/>
          </a:xfrm>
          <a:prstGeom prst="rect">
            <a:avLst/>
          </a:prstGeom>
          <a:ln w="9525">
            <a:solidFill>
              <a:srgbClr val="D1D5D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11480" y="4583620"/>
            <a:ext cx="11338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実画面（Bruno v4.2.1、Windows 11、2026-10-13 撮影）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93192" y="3714369"/>
            <a:ext cx="2248186" cy="263938"/>
          </a:xfrm>
          <a:prstGeom prst="rect">
            <a:avLst/>
          </a:prstGeom>
          <a:ln w="28575">
            <a:solidFill>
              <a:srgbClr val="E11D2E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113645" y="2666143"/>
            <a:ext cx="1211771" cy="216694"/>
          </a:xfrm>
          <a:prstGeom prst="rect">
            <a:avLst/>
          </a:prstGeom>
          <a:ln w="28575">
            <a:solidFill>
              <a:srgbClr val="E11D2E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912864" y="3073622"/>
            <a:ext cx="4713732" cy="1397794"/>
          </a:xfrm>
          <a:prstGeom prst="rect">
            <a:avLst/>
          </a:prstGeom>
          <a:ln w="28575">
            <a:solidFill>
              <a:srgbClr val="E11D2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11480" y="4937760"/>
            <a:ext cx="4206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ステータス：200 OK</a:t>
            </a:r>
            <a:endParaRPr lang="en-US" sz="14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送った 4 項目がそのまま返ってくる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4800600" y="4937760"/>
            <a:ext cx="6949440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すべての項目を送ったので、PATCH との違いはまだ見えません。次のスライドで、title だけを送ってみます。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548640" y="5788152"/>
            <a:ext cx="11064240" cy="329184"/>
          </a:xfrm>
          <a:prstGeom prst="rect">
            <a:avLst/>
          </a:prstGeom>
          <a:solidFill>
            <a:srgbClr val="ECFDF5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40080" y="5788152"/>
            <a:ext cx="1088136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4785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できなかった場合：</a:t>
            </a:r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samples の 07_PUT\01 Put Post Full.yml を開いて Send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Meiryo UI"/>
                <a:ea typeface="Meiryo UI"/>
                <a:cs typeface="Meiryo UI"/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【操作】title だけを送る PUT を作る（07_PUT/02 Put Post Title Only）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896112"/>
            <a:ext cx="11430000" cy="457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Bruno v4.2.1｜確認日 2026-10-09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6144768"/>
            <a:ext cx="1143000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出典：結果は 2026-10-09 に Bruno v4.2.1（画面・CLI）と curl で確認</a:t>
            </a:r>
            <a:endParaRPr lang="en-US" sz="10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051560"/>
          <a:ext cx="1133856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1280160"/>
                <a:gridCol w="3291840"/>
                <a:gridCol w="365760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Request Name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メソッド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URL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Body（JSON）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02 Put Post Title Only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PUT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{{baseUrl}}/posts/1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{ "title": "変更後" }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11480" y="1783080"/>
            <a:ext cx="11338560" cy="3200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07_PUT を右クリック →「New Request」で上の値を入力 → Body を JSON にして入力 → Send → Ctrl + S（作り方は 01 と同じ）</a:t>
            </a:r>
            <a:endParaRPr lang="en-US" sz="1200" dirty="0"/>
          </a:p>
        </p:txBody>
      </p:sp>
      <p:pic>
        <p:nvPicPr>
          <p:cNvPr id="8" name="Image 0" descr="実画面（Bruno v4.2.1、Windows 11、2026-10-13 撮影）　① 送った Body　② レスポンス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2148840"/>
            <a:ext cx="7819273" cy="242316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411480" y="2148840"/>
            <a:ext cx="7819273" cy="2423160"/>
          </a:xfrm>
          <a:prstGeom prst="rect">
            <a:avLst/>
          </a:prstGeom>
          <a:ln w="9525">
            <a:solidFill>
              <a:srgbClr val="D1D5DB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411480" y="4590288"/>
            <a:ext cx="7819273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実画面（Bruno v4.2.1、Windows 11、2026-10-13 撮影）　① 送った Body　② レスポンス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393192" y="4136277"/>
            <a:ext cx="1561741" cy="193369"/>
          </a:xfrm>
          <a:prstGeom prst="rect">
            <a:avLst/>
          </a:prstGeom>
          <a:ln w="28575">
            <a:solidFill>
              <a:srgbClr val="E11D2E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2191217" y="3537614"/>
            <a:ext cx="1443638" cy="396996"/>
          </a:xfrm>
          <a:prstGeom prst="rect">
            <a:avLst/>
          </a:prstGeom>
          <a:ln w="28575">
            <a:solidFill>
              <a:srgbClr val="E11D2E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1898609" y="3598952"/>
            <a:ext cx="274320" cy="274320"/>
          </a:xfrm>
          <a:prstGeom prst="ellipse">
            <a:avLst/>
          </a:prstGeom>
          <a:solidFill>
            <a:srgbClr val="E11D2E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1898609" y="35989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4889274" y="3537614"/>
            <a:ext cx="1649301" cy="543607"/>
          </a:xfrm>
          <a:prstGeom prst="rect">
            <a:avLst/>
          </a:prstGeom>
          <a:ln w="28575">
            <a:solidFill>
              <a:srgbClr val="E11D2E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4596666" y="3672257"/>
            <a:ext cx="274320" cy="274320"/>
          </a:xfrm>
          <a:prstGeom prst="ellipse">
            <a:avLst/>
          </a:prstGeom>
          <a:solidFill>
            <a:srgbClr val="E11D2E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4596666" y="3672257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8823960" y="2148840"/>
            <a:ext cx="292608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① 送った Body は title だけ</a:t>
            </a:r>
            <a:endParaRPr lang="en-US" sz="13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② レスポンスも title と id だけ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411480" y="4983480"/>
            <a:ext cx="11338560" cy="713232"/>
          </a:xfrm>
          <a:prstGeom prst="rect">
            <a:avLst/>
          </a:prstGeom>
          <a:solidFill>
            <a:srgbClr val="FEF2F2"/>
          </a:solidFill>
          <a:ln w="15875">
            <a:solidFill>
              <a:srgbClr val="B91C1C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411480" y="4983480"/>
            <a:ext cx="82296" cy="713232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576072" y="5029200"/>
            <a:ext cx="111099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B91C1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【結果】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body と userId が含まれていません。→ JSONPlaceholder は「送った内容で丸ごと置き換えた」結果を返しています。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548640" y="5788152"/>
            <a:ext cx="11064240" cy="329184"/>
          </a:xfrm>
          <a:prstGeom prst="rect">
            <a:avLst/>
          </a:prstGeom>
          <a:solidFill>
            <a:srgbClr val="ECFDF5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640080" y="5788152"/>
            <a:ext cx="1088136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4785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できなかった場合：</a:t>
            </a:r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samples の 07_PUT\02 Put Post Title Only.yml を開いて Send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Meiryo UI"/>
                <a:ea typeface="Meiryo UI"/>
                <a:cs typeface="Meiryo UI"/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【操作】比べるために PATCH も作る（03 Patch Post Title Only）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896112"/>
            <a:ext cx="11430000" cy="457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Bruno v4.2.1｜確認日 2026-10-09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6144768"/>
            <a:ext cx="1143000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出典：結果は 2026-10-09 に Bruno v4.2.1（画面・CLI）と curl で確認</a:t>
            </a:r>
            <a:endParaRPr lang="en-US" sz="10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051560"/>
          <a:ext cx="1133856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1280160"/>
                <a:gridCol w="3291840"/>
                <a:gridCol w="365760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Request Name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メソッド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URL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Body（JSON）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03 Patch Post Title Only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PATCH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{{baseUrl}}/posts/1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{ "title": "変更後" }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11480" y="1783080"/>
            <a:ext cx="11338560" cy="3200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07_PUT を右クリック →「New Request」→ メソッドは「PATCH」を選ぶ → Body は 02 と同じ → Send → Ctrl + S</a:t>
            </a:r>
            <a:endParaRPr lang="en-US" sz="1200" dirty="0"/>
          </a:p>
        </p:txBody>
      </p:sp>
      <p:pic>
        <p:nvPicPr>
          <p:cNvPr id="8" name="Image 0" descr="実画面（Bruno v4.2.1、Windows 11、2026-10-13 撮影）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2148840"/>
            <a:ext cx="7819273" cy="242316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411480" y="2148840"/>
            <a:ext cx="7819273" cy="2423160"/>
          </a:xfrm>
          <a:prstGeom prst="rect">
            <a:avLst/>
          </a:prstGeom>
          <a:ln w="9525">
            <a:solidFill>
              <a:srgbClr val="D1D5DB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411480" y="4590288"/>
            <a:ext cx="7819273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実画面（Bruno v4.2.1、Windows 11、2026-10-13 撮影）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393192" y="4293070"/>
            <a:ext cx="1561741" cy="193369"/>
          </a:xfrm>
          <a:prstGeom prst="rect">
            <a:avLst/>
          </a:prstGeom>
          <a:ln w="28575">
            <a:solidFill>
              <a:srgbClr val="E11D2E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2191217" y="3537614"/>
            <a:ext cx="1443638" cy="396996"/>
          </a:xfrm>
          <a:prstGeom prst="rect">
            <a:avLst/>
          </a:prstGeom>
          <a:ln w="28575">
            <a:solidFill>
              <a:srgbClr val="E11D2E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1898609" y="3598952"/>
            <a:ext cx="274320" cy="274320"/>
          </a:xfrm>
          <a:prstGeom prst="ellipse">
            <a:avLst/>
          </a:prstGeom>
          <a:solidFill>
            <a:srgbClr val="E11D2E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1898609" y="35989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4889274" y="3537614"/>
            <a:ext cx="3262026" cy="975296"/>
          </a:xfrm>
          <a:prstGeom prst="rect">
            <a:avLst/>
          </a:prstGeom>
          <a:ln w="28575">
            <a:solidFill>
              <a:srgbClr val="E11D2E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4596666" y="3888102"/>
            <a:ext cx="274320" cy="274320"/>
          </a:xfrm>
          <a:prstGeom prst="ellipse">
            <a:avLst/>
          </a:prstGeom>
          <a:solidFill>
            <a:srgbClr val="E11D2E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4596666" y="388810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8823960" y="2148840"/>
            <a:ext cx="292608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① 送った Body は 02 と同じ（title だけ）</a:t>
            </a:r>
            <a:endParaRPr lang="en-US" sz="13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② レスポンスには userId・body も残っている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411480" y="4983480"/>
            <a:ext cx="11338560" cy="713232"/>
          </a:xfrm>
          <a:prstGeom prst="rect">
            <a:avLst/>
          </a:prstGeom>
          <a:solidFill>
            <a:srgbClr val="ECFDF5"/>
          </a:solidFill>
          <a:ln w="15875">
            <a:solidFill>
              <a:srgbClr val="047857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411480" y="4983480"/>
            <a:ext cx="82296" cy="713232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576072" y="5029200"/>
            <a:ext cx="111099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04785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【結果】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同じ Body でも、PATCH は送らなかった項目が残り、PUT（02）は消えました。次のスライドで並べて比べます。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548640" y="5788152"/>
            <a:ext cx="11064240" cy="329184"/>
          </a:xfrm>
          <a:prstGeom prst="rect">
            <a:avLst/>
          </a:prstGeom>
          <a:solidFill>
            <a:srgbClr val="ECFDF5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640080" y="5788152"/>
            <a:ext cx="1088136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4785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できなかった場合：</a:t>
            </a:r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samples の 07_PUT\03 Patch Post Title Only.yml を開いて Send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Meiryo UI"/>
                <a:ea typeface="Meiryo UI"/>
                <a:cs typeface="Meiryo UI"/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PUT と PATCH の比較（同じボディを送る）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896112"/>
            <a:ext cx="11430000" cy="457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Bruno v4.2.1｜確認日 2026-10-09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6144768"/>
            <a:ext cx="1143000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出典：結果は 2026-10-09 に Bruno v4.2.1（画面・CLI）と curl で確認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051560"/>
            <a:ext cx="11064240" cy="411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どちらも URL は {{baseUrl}}/posts/1、ボディは同じ { "title": "変更後" }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1554480"/>
            <a:ext cx="5394960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B91C1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PUT（07_PUT/02 Put Post Title Only）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1920240"/>
            <a:ext cx="5394960" cy="1554480"/>
          </a:xfrm>
          <a:prstGeom prst="rect">
            <a:avLst/>
          </a:prstGeom>
          <a:solidFill>
            <a:srgbClr val="F3F4F6"/>
          </a:solidFill>
          <a:ln w="12700">
            <a:solidFill>
              <a:srgbClr val="D1D5DB"/>
            </a:solidFill>
          </a:ln>
        </p:spPr>
        <p:txBody>
          <a:bodyPr wrap="square" lIns="101600" tIns="101600" rIns="101600" bIns="10160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"title": "変更後",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"id": 1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217920" y="1554480"/>
            <a:ext cx="5394960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4785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PATCH（07_PUT/03 Patch Post Title Only）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217920" y="1920240"/>
            <a:ext cx="5394960" cy="1554480"/>
          </a:xfrm>
          <a:prstGeom prst="rect">
            <a:avLst/>
          </a:prstGeom>
          <a:solidFill>
            <a:srgbClr val="F3F4F6"/>
          </a:solidFill>
          <a:ln w="12700">
            <a:solidFill>
              <a:srgbClr val="D1D5DB"/>
            </a:solidFill>
          </a:ln>
        </p:spPr>
        <p:txBody>
          <a:bodyPr wrap="square" lIns="101600" tIns="101600" rIns="101600" bIns="10160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"userId": 1,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"id": 1,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"title": "変更後",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"body": "quia et suscipit ..."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60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749040"/>
          <a:ext cx="11064240" cy="914400"/>
        </p:xfrm>
        <a:graphic>
          <a:graphicData uri="http://schemas.openxmlformats.org/drawingml/2006/table">
            <a:tbl>
              <a:tblPr/>
              <a:tblGrid>
                <a:gridCol w="3749040"/>
                <a:gridCol w="3657600"/>
                <a:gridCol w="365760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5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PUT</a:t>
                      </a:r>
                      <a:endParaRPr lang="en-US" sz="15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PATCH</a:t>
                      </a:r>
                      <a:endParaRPr lang="en-US" sz="15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送らなかった項目（userId・body）</a:t>
                      </a:r>
                      <a:endParaRPr lang="en-US" sz="15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レスポンスにない（置き換え）</a:t>
                      </a:r>
                      <a:endParaRPr lang="en-US" sz="15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レスポンスに残る（部分更新）</a:t>
                      </a:r>
                      <a:endParaRPr lang="en-US" sz="15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ステータス</a:t>
                      </a:r>
                      <a:endParaRPr lang="en-US" sz="15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200 OK</a:t>
                      </a:r>
                      <a:endParaRPr lang="en-US" sz="15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200 OK</a:t>
                      </a:r>
                      <a:endParaRPr lang="en-US" sz="15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Meiryo UI"/>
                <a:ea typeface="Meiryo UI"/>
                <a:cs typeface="Meiryo UI"/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HTTP 仕様上の意味と JSONPlaceholder の実際の挙動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896112"/>
            <a:ext cx="11430000" cy="457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Bruno v4.2.1｜確認日 2026-10-09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6144768"/>
            <a:ext cx="1143000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出典：RFC 9110（HTTP Semantics）https://www.rfc-editor.org/rfc/rfc9110 ／ https://jsonplaceholder.typicode.com/#guide（2026-10-09 に確認）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188720"/>
            <a:ext cx="5394960" cy="502920"/>
          </a:xfrm>
          <a:prstGeom prst="roundRect">
            <a:avLst>
              <a:gd name="adj" fmla="val 14545"/>
            </a:avLst>
          </a:prstGeom>
          <a:solidFill>
            <a:srgbClr val="1F3A5F"/>
          </a:solidFill>
          <a:ln w="15875">
            <a:solidFill>
              <a:srgbClr val="1F3A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188720"/>
            <a:ext cx="539496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HTTP 仕様上の一般的な意味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1783080"/>
            <a:ext cx="530352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PUT：送った内容で全体を置き換える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PATCH：一部だけを変更する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結果はサーバーに保存される（一般的な API の場合）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217920" y="1188720"/>
            <a:ext cx="5394960" cy="502920"/>
          </a:xfrm>
          <a:prstGeom prst="roundRect">
            <a:avLst>
              <a:gd name="adj" fmla="val 14545"/>
            </a:avLst>
          </a:prstGeom>
          <a:solidFill>
            <a:srgbClr val="D97706"/>
          </a:solidFill>
          <a:ln w="15875">
            <a:solidFill>
              <a:srgbClr val="D9770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17920" y="1188720"/>
            <a:ext cx="539496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JSONPlaceholder での実際の挙動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309360" y="1783080"/>
            <a:ext cx="530352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PUT・PATCH の違いは、レスポンスの形で確認できる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ただし保存はされない（GET すると元のまま）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存在しない ID：PUT は 500、PATCH は 200（本物の API とは異なる）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4114800"/>
            <a:ext cx="11064240" cy="1005840"/>
          </a:xfrm>
          <a:prstGeom prst="rect">
            <a:avLst/>
          </a:prstGeom>
          <a:solidFill>
            <a:srgbClr val="FEF2F2"/>
          </a:solidFill>
          <a:ln w="15875">
            <a:solidFill>
              <a:srgbClr val="B91C1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4114800"/>
            <a:ext cx="82296" cy="100584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3232" y="4160520"/>
            <a:ext cx="10835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B91C1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【注意】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「JSONPlaceholder ではこう返った」ことを、「PUT／PATCH なら必ずこうなる」と思い込まないようにしましょう。実際の業務では、使う API の仕様書を必ず確認します。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Meiryo UI"/>
                <a:ea typeface="Meiryo UI"/>
                <a:cs typeface="Meiryo UI"/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⚠ JSONPlaceholder の制約（PUT）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896112"/>
            <a:ext cx="11430000" cy="457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Bruno v4.2.1｜確認日 2026-10-09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6144768"/>
            <a:ext cx="1143000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出典：https://jsonplaceholder.typicode.com/#guide（2026-10-09 に確認）　結果は 2026-10-09 に Bruno v4.2.1（画面・CLI）と curl で確認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097280"/>
            <a:ext cx="11064240" cy="502920"/>
          </a:xfrm>
          <a:prstGeom prst="rect">
            <a:avLst/>
          </a:prstGeom>
          <a:solidFill>
            <a:srgbClr val="F8FAFC"/>
          </a:solidFill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"The resource is not really updated on the server, but the response is faked as if."</a:t>
            </a:r>
            <a:endParaRPr lang="en-US" sz="1600" dirty="0"/>
          </a:p>
        </p:txBody>
      </p:sp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11064240" cy="914400"/>
        </p:xfrm>
        <a:graphic>
          <a:graphicData uri="http://schemas.openxmlformats.org/drawingml/2006/table">
            <a:tbl>
              <a:tblPr/>
              <a:tblGrid>
                <a:gridCol w="4572000"/>
                <a:gridCol w="649224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確かめたこと</a:t>
                      </a:r>
                      <a:endParaRPr lang="en-US" sz="15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結果</a:t>
                      </a:r>
                      <a:endParaRPr lang="en-US" sz="15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PUT の後に GET /posts/1</a:t>
                      </a:r>
                      <a:endParaRPr lang="en-US" sz="15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元のデータのまま（置き換えは保存されない）</a:t>
                      </a:r>
                      <a:endParaRPr lang="en-US" sz="15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PUT /posts/101（存在しない ID）</a:t>
                      </a:r>
                      <a:endParaRPr lang="en-US" sz="15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500 Internal Server Error（HTML のエラー）</a:t>
                      </a:r>
                      <a:endParaRPr lang="en-US" sz="15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48640" y="3657600"/>
            <a:ext cx="1106424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本物の API で存在しないデータを PUT したときの結果（404 など、または新規作成）は、API の仕様によって異なります。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Meiryo UI"/>
                <a:ea typeface="Meiryo UI"/>
                <a:cs typeface="Meiryo UI"/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演習問題7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896112"/>
            <a:ext cx="11430000" cy="457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Bruno v4.2.1｜確認日 2026-10-09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1097280"/>
            <a:ext cx="11064240" cy="411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07_PUT フォルダに 2 つのリクエストを作り、同じボディで送り比べましょう。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5120640" cy="1463040"/>
          </a:xfrm>
          <a:prstGeom prst="rect">
            <a:avLst/>
          </a:prstGeom>
          <a:solidFill>
            <a:srgbClr val="F3F4F6"/>
          </a:solidFill>
          <a:ln w="12700">
            <a:solidFill>
              <a:srgbClr val="D1D5DB"/>
            </a:solidFill>
          </a:ln>
        </p:spPr>
        <p:txBody>
          <a:bodyPr wrap="square" lIns="101600" tIns="101600" rIns="101600" bIns="10160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"name": "Taro",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"email": "taro@example.com"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3291840"/>
            <a:ext cx="110642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E11D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① </a:t>
            </a:r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PUT {{baseUrl}}/users/1 で送ると、レスポンスにはどの項目が入っていますか？</a:t>
            </a:r>
            <a:endParaRPr lang="en-US" sz="16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E11D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② </a:t>
            </a:r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PATCH {{baseUrl}}/users/1 で送ると、username の値は何ですか？</a:t>
            </a:r>
            <a:endParaRPr lang="en-US" sz="16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E11D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③ </a:t>
            </a:r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①と②の違いを、PUT と PATCH の意味を使って説明してください。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943600" y="1737360"/>
            <a:ext cx="566928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予想してから送りましょう。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5788152"/>
            <a:ext cx="11064240" cy="329184"/>
          </a:xfrm>
          <a:prstGeom prst="rect">
            <a:avLst/>
          </a:prstGeom>
          <a:solidFill>
            <a:srgbClr val="ECFDF5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5788152"/>
            <a:ext cx="1088136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4785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できなかった場合：</a:t>
            </a:r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samples の 07_PUT\Q1 Put User 1.yml と Q2 Patch User 1.yml を開いて Send（解答）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Meiryo UI"/>
                <a:ea typeface="Meiryo UI"/>
                <a:cs typeface="Meiryo UI"/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演習問題7：期待する結果と解答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896112"/>
            <a:ext cx="11430000" cy="457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Bruno v4.2.1｜確認日 2026-10-09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6144768"/>
            <a:ext cx="1143000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出典：2026-10-09 に curl と Bruno CLI 4.2.1 で確認（answers/bruno-hands-on-answers/Ex07_PUT）</a:t>
            </a:r>
            <a:endParaRPr lang="en-US" sz="1000" dirty="0"/>
          </a:p>
        </p:txBody>
      </p:sp>
      <p:graphicFrame>
        <p:nvGraphicFramePr>
          <p:cNvPr id="3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1106424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9418320"/>
              </a:tblGrid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問題</a:t>
                      </a:r>
                      <a:endParaRPr lang="en-US" sz="15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結果</a:t>
                      </a:r>
                      <a:endParaRPr lang="en-US" sz="15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① PUT</a:t>
                      </a:r>
                      <a:endParaRPr lang="en-US" sz="15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200 OK。name・email・id の 3 項目だけ（username・address などは含まれない）</a:t>
                      </a:r>
                      <a:endParaRPr lang="en-US" sz="15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② PATCH</a:t>
                      </a:r>
                      <a:endParaRPr lang="en-US" sz="15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200 OK。username は "Bret"（元の値のまま）。address・phone なども残っている</a:t>
                      </a:r>
                      <a:endParaRPr lang="en-US" sz="15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③ 説明の例</a:t>
                      </a:r>
                      <a:endParaRPr lang="en-US" sz="15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PUT は送った内容で全体を置き換えたため、送らなかった項目がなくなった。PATCH は送った項目だけを変更したため、ほかの項目が残った（いずれも JSONPlaceholder では保存はされない）</a:t>
                      </a:r>
                      <a:endParaRPr lang="en-US" sz="15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Meiryo UI"/>
                <a:ea typeface="Meiryo UI"/>
                <a:cs typeface="Meiryo UI"/>
              </a:defRPr>
            </a:lvl1pPr>
          </a:lstStyle>
          <a:p>
            <a:pPr algn="r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第7章のまとめ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896112"/>
            <a:ext cx="11430000" cy="457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Bruno v4.2.1｜確認日 2026-10-09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1106424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PUT は全体を置き換える、PATCH は一部を変更する（一般的な意味）</a:t>
            </a:r>
            <a:endParaRPr lang="en-US" sz="18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PUT で一部だけ送ると、送らなかった項目が消える場合がある</a:t>
            </a:r>
            <a:endParaRPr lang="en-US" sz="18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JSONPlaceholder でも、レスポンスの形で違いを確認できる</a:t>
            </a:r>
            <a:endParaRPr lang="en-US" sz="18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ただし保存はされず、存在しない ID への動きは本物の API と異なる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Meiryo UI"/>
                <a:ea typeface="Meiryo UI"/>
                <a:cs typeface="Meiryo UI"/>
              </a:defRPr>
            </a:lvl1pPr>
          </a:lstStyle>
          <a:p>
            <a:pPr algn="r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0972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BBF24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第8章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64592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DELETE の基本演習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288036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BBF24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この章で学ぶこと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3291840"/>
            <a:ext cx="1051560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200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DELETE とは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200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対象の指定、DELETE のリクエストを自分で作って送る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200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レスポンスの確認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200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JSONPlaceholder の制約を確かめる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200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第4〜8章のまとめ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56692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目安時間：25 分　｜　対応する学習目標：B5, B6, A5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6080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Bruno v4.2.1｜確認日 2026-10-09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BD5E1"/>
                </a:solidFill>
                <a:latin typeface="Meiryo UI"/>
                <a:ea typeface="Meiryo UI"/>
                <a:cs typeface="Meiryo UI"/>
              </a:defRPr>
            </a:lvl1pPr>
          </a:lstStyle>
          <a:p>
            <a:pPr algn="r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DELETE とは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896112"/>
            <a:ext cx="11430000" cy="457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Bruno v4.2.1｜確認日 2026-10-09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6144768"/>
            <a:ext cx="1143000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出典：RFC 9110（HTTP Semantics）https://www.rfc-editor.org/rfc/rfc9110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097280"/>
            <a:ext cx="1106424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指定したデータを「削除する」ためのメソッドです（HTTP 仕様上の一般的な意味）。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31520" y="1920240"/>
            <a:ext cx="2377440" cy="914400"/>
          </a:xfrm>
          <a:prstGeom prst="roundRect">
            <a:avLst>
              <a:gd name="adj" fmla="val 8000"/>
            </a:avLst>
          </a:prstGeom>
          <a:solidFill>
            <a:srgbClr val="EFF6FF"/>
          </a:solidFill>
          <a:ln w="15875">
            <a:solidFill>
              <a:srgbClr val="1D4E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920240"/>
            <a:ext cx="2377440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Bruno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9052560" y="1920240"/>
            <a:ext cx="2560320" cy="914400"/>
          </a:xfrm>
          <a:prstGeom prst="roundRect">
            <a:avLst>
              <a:gd name="adj" fmla="val 8000"/>
            </a:avLst>
          </a:prstGeom>
          <a:solidFill>
            <a:srgbClr val="FEF3C7"/>
          </a:solidFill>
          <a:ln w="15875">
            <a:solidFill>
              <a:srgbClr val="D9770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052560" y="1920240"/>
            <a:ext cx="2560320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JSONPlaceholder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200400" y="2194560"/>
            <a:ext cx="5760720" cy="914"/>
          </a:xfrm>
          <a:prstGeom prst="line">
            <a:avLst/>
          </a:prstGeom>
          <a:noFill/>
          <a:ln w="31750">
            <a:solidFill>
              <a:srgbClr val="D97706"/>
            </a:solidFill>
            <a:prstDash val="solid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3291840" y="1810512"/>
            <a:ext cx="5577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DELETE /posts/1（投稿 1 を削除して）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 flipH="1">
            <a:off x="3200400" y="2606040"/>
            <a:ext cx="5760720" cy="914"/>
          </a:xfrm>
          <a:prstGeom prst="line">
            <a:avLst/>
          </a:prstGeom>
          <a:noFill/>
          <a:ln w="31750">
            <a:solidFill>
              <a:srgbClr val="D97706"/>
            </a:solidFill>
            <a:prstDash val="solid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3291840" y="2697480"/>
            <a:ext cx="5577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200 OK（削除したふり）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3474720"/>
            <a:ext cx="11064240" cy="1005840"/>
          </a:xfrm>
          <a:prstGeom prst="rect">
            <a:avLst/>
          </a:prstGeom>
          <a:solidFill>
            <a:srgbClr val="FEF2F2"/>
          </a:solidFill>
          <a:ln w="15875">
            <a:solidFill>
              <a:srgbClr val="B91C1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3474720"/>
            <a:ext cx="82296" cy="100584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13232" y="3520440"/>
            <a:ext cx="10835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B91C1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【実際の業務では】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本物のサーバーに DELETE を送ると、データが本当に消えます。業務の API で試すときは、必ずテスト用の環境とデータを使いましょう。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Meiryo UI"/>
                <a:ea typeface="Meiryo UI"/>
                <a:cs typeface="Meiryo UI"/>
              </a:defRPr>
            </a:lvl1pPr>
          </a:lstStyle>
          <a:p>
            <a:pPr algn="r"/>
            <a:fld id="{F7021451-1387-4CA6-816F-3879F97B5CBC}" type="slidenum">
              <a:rPr b="0" lang="en-US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対象の指定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896112"/>
            <a:ext cx="11430000" cy="457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Bruno v4.2.1｜確認日 2026-10-09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6400800" cy="640080"/>
          </a:xfrm>
          <a:prstGeom prst="rect">
            <a:avLst/>
          </a:prstGeom>
          <a:solidFill>
            <a:srgbClr val="F3F4F6"/>
          </a:solidFill>
          <a:ln w="12700">
            <a:solidFill>
              <a:srgbClr val="D1D5DB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DELETE {{baseUrl}}/posts/1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48640" y="2103120"/>
            <a:ext cx="1106424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どのデータを削除するかは URL のパスで指定する（/posts/1 ＝ id が 1 の投稿）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ボディは通常送らない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/posts（一覧）に DELETE を送ると、JSONPlaceholder は 404 を返す（全件削除はできない）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4480560"/>
            <a:ext cx="10972800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※ /posts への DELETE の結果は 2026-10-09 に curl で確認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Meiryo UI"/>
                <a:ea typeface="Meiryo UI"/>
                <a:cs typeface="Meiryo UI"/>
              </a:defRPr>
            </a:lvl1pPr>
          </a:lstStyle>
          <a:p>
            <a:pPr algn="r"/>
            <a:fld id="{F7021451-1387-4CA6-816F-3879F97B5CBC}" type="slidenum">
              <a:rPr b="0" lang="en-US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【操作】DELETE を送る：まずリクエストを自分で作る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896112"/>
            <a:ext cx="11430000" cy="457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Bruno v4.2.1｜確認日 2026-10-09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1106424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作り方は第6・7章と同じです（配布時点では 08_DELETE フォルダはありません）。DELETE は送るデータ（Body）がないので、Body は No Body のままにします。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1874520"/>
            <a:ext cx="5852160" cy="2971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E11D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① 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bruno-hands-on を右クリック →「New Folder」→ 08_DELETE → Create（手順 1/3）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E11D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② 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08_DELETE を右クリック →「New Request」→ 名前を入力し、メソッドを DELETE に変え、URL を入力 → Create（手順 2/3）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E11D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③ 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Body はそのまま Send → 結果を確認 → Ctrl + S（手順 3/3）</a:t>
            </a:r>
            <a:endParaRPr lang="en-US" sz="1300" dirty="0"/>
          </a:p>
        </p:txBody>
      </p:sp>
      <p:graphicFrame>
        <p:nvGraphicFramePr>
          <p:cNvPr id="3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75120" y="1874520"/>
          <a:ext cx="493776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338328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入力する場所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入力する値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Folder Name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08_DELETE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Request Name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01 Delete Post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メソッド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DELETE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URL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{{baseUrl}}/posts/1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Body の種類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No Body（変えない）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48640" y="4937760"/>
            <a:ext cx="11064240" cy="731520"/>
          </a:xfrm>
          <a:prstGeom prst="rect">
            <a:avLst/>
          </a:prstGeom>
          <a:solidFill>
            <a:srgbClr val="FEF2F2"/>
          </a:solidFill>
          <a:ln w="15875">
            <a:solidFill>
              <a:srgbClr val="B91C1C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48640" y="4937760"/>
            <a:ext cx="82296" cy="73152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13232" y="4983480"/>
            <a:ext cx="10835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B91C1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【始める前に】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画面右上の環境が JSONPlaceholder になっていることを確認します。No Environment のままだと {{baseUrl}} が赤字になり、送信に失敗します。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48640" y="5788152"/>
            <a:ext cx="11064240" cy="329184"/>
          </a:xfrm>
          <a:prstGeom prst="rect">
            <a:avLst/>
          </a:prstGeom>
          <a:solidFill>
            <a:srgbClr val="ECFDF5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40080" y="5788152"/>
            <a:ext cx="1088136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4785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できなかった場合：</a:t>
            </a:r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samples の 08_DELETE\01 Delete Post.yml を開いて Send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Meiryo UI"/>
                <a:ea typeface="Meiryo UI"/>
                <a:cs typeface="Meiryo UI"/>
              </a:defRPr>
            </a:lvl1pPr>
          </a:lstStyle>
          <a:p>
            <a:pPr algn="r"/>
            <a:fld id="{F7021451-1387-4CA6-816F-3879F97B5CBC}" type="slidenum">
              <a:rPr b="0" lang="en-US"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【手順 1/3】フォルダ 08_DELETE を作る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896112"/>
            <a:ext cx="11430000" cy="457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Bruno v4.2.1｜確認日 2026-10-09</a:t>
            </a:r>
            <a:endParaRPr lang="en-US" sz="1000" dirty="0"/>
          </a:p>
        </p:txBody>
      </p:sp>
      <p:pic>
        <p:nvPicPr>
          <p:cNvPr id="5" name="Image 0" descr="実画面（Bruno v4.2.1、Windows 11、2026-10-13 撮影）（後ろの画面は暗く表示される）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051560"/>
            <a:ext cx="6949440" cy="282321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11480" y="1051560"/>
            <a:ext cx="6949440" cy="2823210"/>
          </a:xfrm>
          <a:prstGeom prst="rect">
            <a:avLst/>
          </a:prstGeom>
          <a:ln w="9525">
            <a:solidFill>
              <a:srgbClr val="D1D5D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11480" y="3893058"/>
            <a:ext cx="6949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実画面（Bruno v4.2.1、Windows 11、2026-10-13 撮影）（後ろの画面は暗く表示される）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705374" y="2250329"/>
            <a:ext cx="6361652" cy="493538"/>
          </a:xfrm>
          <a:prstGeom prst="rect">
            <a:avLst/>
          </a:prstGeom>
          <a:ln w="28575">
            <a:solidFill>
              <a:srgbClr val="E11D2E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12766" y="2359938"/>
            <a:ext cx="274320" cy="274320"/>
          </a:xfrm>
          <a:prstGeom prst="ellipse">
            <a:avLst/>
          </a:prstGeom>
          <a:solidFill>
            <a:srgbClr val="E11D2E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12766" y="235993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066758" y="3150679"/>
            <a:ext cx="1000268" cy="421148"/>
          </a:xfrm>
          <a:prstGeom prst="rect">
            <a:avLst/>
          </a:prstGeom>
          <a:ln w="28575">
            <a:solidFill>
              <a:srgbClr val="E11D2E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085314" y="3224093"/>
            <a:ext cx="274320" cy="274320"/>
          </a:xfrm>
          <a:prstGeom prst="ellipse">
            <a:avLst/>
          </a:prstGeom>
          <a:solidFill>
            <a:srgbClr val="E11D2E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085314" y="3224093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7635240" y="1097280"/>
            <a:ext cx="416052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E11D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①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サイドバーで bruno-hands-on を右クリック →「New Folder」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E11D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②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Folder Name に 08_DELETE と入力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E11D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③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「Create」をクリック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7635240" y="3246120"/>
            <a:ext cx="4160520" cy="914400"/>
          </a:xfrm>
          <a:prstGeom prst="rect">
            <a:avLst/>
          </a:prstGeom>
          <a:solidFill>
            <a:srgbClr val="EFF6FF"/>
          </a:solidFill>
          <a:ln w="15875">
            <a:solidFill>
              <a:srgbClr val="1D4ED8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7635240" y="3246120"/>
            <a:ext cx="82296" cy="91440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799832" y="3291840"/>
            <a:ext cx="3931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D4ED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【ヒント】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08_DELETE は 09_Chain の下（作成環境）に追加されました。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548640" y="5788152"/>
            <a:ext cx="11064240" cy="329184"/>
          </a:xfrm>
          <a:prstGeom prst="rect">
            <a:avLst/>
          </a:prstGeom>
          <a:solidFill>
            <a:srgbClr val="ECFDF5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40080" y="5788152"/>
            <a:ext cx="1088136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4785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できなかった場合：</a:t>
            </a:r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samples の 08_DELETE\01 Delete Post.yml を開いて Send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Meiryo UI"/>
                <a:ea typeface="Meiryo UI"/>
                <a:cs typeface="Meiryo UI"/>
              </a:defRPr>
            </a:lvl1pPr>
          </a:lstStyle>
          <a:p>
            <a:pPr algn="r"/>
            <a:fld id="{F7021451-1387-4CA6-816F-3879F97B5CBC}" type="slidenum">
              <a:rPr b="0" lang="en-US"/>
              <a:t>38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【手順 2/3】New Request でメソッドを DELETE にする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896112"/>
            <a:ext cx="11430000" cy="457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Bruno v4.2.1｜確認日 2026-10-09</a:t>
            </a:r>
            <a:endParaRPr lang="en-US" sz="1000" dirty="0"/>
          </a:p>
        </p:txBody>
      </p:sp>
      <p:pic>
        <p:nvPicPr>
          <p:cNvPr id="5" name="Image 0" descr="実画面（Bruno v4.2.1、Windows 11、2026-10-13 撮影）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051560"/>
            <a:ext cx="3974254" cy="42976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11480" y="1051560"/>
            <a:ext cx="3974254" cy="4297680"/>
          </a:xfrm>
          <a:prstGeom prst="rect">
            <a:avLst/>
          </a:prstGeom>
          <a:ln w="9525">
            <a:solidFill>
              <a:srgbClr val="D1D5D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11480" y="5367528"/>
            <a:ext cx="397425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実画面（Bruno v4.2.1、Windows 11、2026-10-13 撮影）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571723" y="2433058"/>
            <a:ext cx="3653768" cy="284967"/>
          </a:xfrm>
          <a:prstGeom prst="rect">
            <a:avLst/>
          </a:prstGeom>
          <a:ln w="28575">
            <a:solidFill>
              <a:srgbClr val="E11D2E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79115" y="2438382"/>
            <a:ext cx="274320" cy="274320"/>
          </a:xfrm>
          <a:prstGeom prst="ellipse">
            <a:avLst/>
          </a:prstGeom>
          <a:solidFill>
            <a:srgbClr val="E11D2E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79115" y="243838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71723" y="3030749"/>
            <a:ext cx="673078" cy="290142"/>
          </a:xfrm>
          <a:prstGeom prst="rect">
            <a:avLst/>
          </a:prstGeom>
          <a:ln w="28575">
            <a:solidFill>
              <a:srgbClr val="E11D2E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79115" y="3038660"/>
            <a:ext cx="274320" cy="274320"/>
          </a:xfrm>
          <a:prstGeom prst="ellipse">
            <a:avLst/>
          </a:prstGeom>
          <a:solidFill>
            <a:srgbClr val="E11D2E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79115" y="30386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38995" y="3944103"/>
            <a:ext cx="877483" cy="217694"/>
          </a:xfrm>
          <a:prstGeom prst="rect">
            <a:avLst/>
          </a:prstGeom>
          <a:ln w="28575">
            <a:solidFill>
              <a:srgbClr val="E11D2E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46387" y="3915790"/>
            <a:ext cx="274320" cy="274320"/>
          </a:xfrm>
          <a:prstGeom prst="ellipse">
            <a:avLst/>
          </a:prstGeom>
          <a:solidFill>
            <a:srgbClr val="E11D2E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46387" y="391579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4937760" y="1097280"/>
            <a:ext cx="685800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E11D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①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08_DELETE を右クリック →「New Request」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E11D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②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Request Name：01 Delete Post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E11D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③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「GET ▾」をクリックし、一覧から「DELETE」を選ぶ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E11D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④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URL：{{baseUrl}}/posts/1 →「Create」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4937760" y="3383280"/>
            <a:ext cx="6858000" cy="1005840"/>
          </a:xfrm>
          <a:prstGeom prst="rect">
            <a:avLst/>
          </a:prstGeom>
          <a:solidFill>
            <a:srgbClr val="EFF6FF"/>
          </a:solidFill>
          <a:ln w="15875">
            <a:solidFill>
              <a:srgbClr val="1D4ED8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937760" y="3383280"/>
            <a:ext cx="82296" cy="100584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102352" y="3429000"/>
            <a:ext cx="6629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D4ED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【ヒント】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サイドバーでは DELETE が「DEL」と短く表示されます。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548640" y="5788152"/>
            <a:ext cx="11064240" cy="329184"/>
          </a:xfrm>
          <a:prstGeom prst="rect">
            <a:avLst/>
          </a:prstGeom>
          <a:solidFill>
            <a:srgbClr val="ECFDF5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40080" y="5788152"/>
            <a:ext cx="1088136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4785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できなかった場合：</a:t>
            </a:r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samples の 08_DELETE\01 Delete Post.yml を開いて Send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Meiryo UI"/>
                <a:ea typeface="Meiryo UI"/>
                <a:cs typeface="Meiryo UI"/>
              </a:defRPr>
            </a:lvl1pPr>
          </a:lstStyle>
          <a:p>
            <a:pPr algn="r"/>
            <a:fld id="{F7021451-1387-4CA6-816F-3879F97B5CBC}" type="slidenum">
              <a:rPr b="0" lang="en-US"/>
              <a:t>39</a:t>
            </a:fld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【手順 3/3】Body はそのまま Send して、レスポンスを確認する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896112"/>
            <a:ext cx="11430000" cy="457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Bruno v4.2.1｜確認日 2026-10-09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6144768"/>
            <a:ext cx="1143000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出典：結果は 2026-10-09 に Bruno v4.2.1（画面・CLI）と curl で確認</a:t>
            </a:r>
            <a:endParaRPr lang="en-US" sz="1000" dirty="0"/>
          </a:p>
        </p:txBody>
      </p:sp>
      <p:pic>
        <p:nvPicPr>
          <p:cNvPr id="6" name="Image 0" descr="実画面（Bruno v4.2.1、Windows 11、2026-10-13 撮影）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051560"/>
            <a:ext cx="8595360" cy="3265789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11480" y="1051560"/>
            <a:ext cx="8595360" cy="3265789"/>
          </a:xfrm>
          <a:prstGeom prst="rect">
            <a:avLst/>
          </a:prstGeom>
          <a:ln w="9525">
            <a:solidFill>
              <a:srgbClr val="D1D5D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11480" y="4335637"/>
            <a:ext cx="8595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実画面（Bruno v4.2.1、Windows 11、2026-10-13 撮影）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8442389" y="1906238"/>
            <a:ext cx="475298" cy="251460"/>
          </a:xfrm>
          <a:prstGeom prst="rect">
            <a:avLst/>
          </a:prstGeom>
          <a:ln w="28575">
            <a:solidFill>
              <a:srgbClr val="E11D2E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149780" y="1894808"/>
            <a:ext cx="274320" cy="274320"/>
          </a:xfrm>
          <a:prstGeom prst="ellipse">
            <a:avLst/>
          </a:prstGeom>
          <a:solidFill>
            <a:srgbClr val="E11D2E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149780" y="18948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7864888" y="2271093"/>
            <a:ext cx="824484" cy="173117"/>
          </a:xfrm>
          <a:prstGeom prst="rect">
            <a:avLst/>
          </a:prstGeom>
          <a:ln w="28575">
            <a:solidFill>
              <a:srgbClr val="E11D2E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572280" y="2220492"/>
            <a:ext cx="274320" cy="274320"/>
          </a:xfrm>
          <a:prstGeom prst="ellipse">
            <a:avLst/>
          </a:prstGeom>
          <a:solidFill>
            <a:srgbClr val="E11D2E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572280" y="22204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5335524" y="2579989"/>
            <a:ext cx="681228" cy="186547"/>
          </a:xfrm>
          <a:prstGeom prst="rect">
            <a:avLst/>
          </a:prstGeom>
          <a:ln w="28575">
            <a:solidFill>
              <a:srgbClr val="E11D2E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042916" y="2536103"/>
            <a:ext cx="274320" cy="274320"/>
          </a:xfrm>
          <a:prstGeom prst="ellipse">
            <a:avLst/>
          </a:prstGeom>
          <a:solidFill>
            <a:srgbClr val="E11D2E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042916" y="2536103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393192" y="3925253"/>
            <a:ext cx="1713119" cy="208931"/>
          </a:xfrm>
          <a:prstGeom prst="rect">
            <a:avLst/>
          </a:prstGeom>
          <a:ln w="28575">
            <a:solidFill>
              <a:srgbClr val="E11D2E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189720" y="1051560"/>
            <a:ext cx="256032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E11D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① </a:t>
            </a:r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Body は No Body のまま「Send」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E11D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② </a:t>
            </a:r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ステータス：200 OK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E11D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③ </a:t>
            </a:r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ボディ：{}（空のオブジェクト）→ Ctrl + S で保存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411480" y="4709160"/>
            <a:ext cx="11338560" cy="960120"/>
          </a:xfrm>
          <a:prstGeom prst="rect">
            <a:avLst/>
          </a:prstGeom>
          <a:solidFill>
            <a:srgbClr val="EFF6FF"/>
          </a:solidFill>
          <a:ln w="15875">
            <a:solidFill>
              <a:srgbClr val="1D4ED8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411480" y="4709160"/>
            <a:ext cx="82296" cy="96012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76072" y="4754880"/>
            <a:ext cx="11109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D4ED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【一般的には】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削除に成功したとき、200 OK を返す API もあれば、204 No Content（返す本文がない）を返す API もあります。どちらになるかは API の仕様で決まります。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548640" y="5788152"/>
            <a:ext cx="11064240" cy="329184"/>
          </a:xfrm>
          <a:prstGeom prst="rect">
            <a:avLst/>
          </a:prstGeom>
          <a:solidFill>
            <a:srgbClr val="ECFDF5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40080" y="5788152"/>
            <a:ext cx="1088136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4785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できなかった場合：</a:t>
            </a:r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samples の 08_DELETE\01 Delete Post.yml を開いて Send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Meiryo UI"/>
                <a:ea typeface="Meiryo UI"/>
                <a:cs typeface="Meiryo UI"/>
              </a:defRPr>
            </a:lvl1pPr>
          </a:lstStyle>
          <a:p>
            <a:pPr algn="r"/>
            <a:fld id="{F7021451-1387-4CA6-816F-3879F97B5CBC}" type="slidenum">
              <a:rPr b="0" lang="en-US"/>
              <a:t>40</a:t>
            </a:fld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⚠ JSONPlaceholder の制約（DELETE）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896112"/>
            <a:ext cx="11430000" cy="457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Bruno v4.2.1｜確認日 2026-10-09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6144768"/>
            <a:ext cx="1143000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出典：https://jsonplaceholder.typicode.com/#guide（2026-10-09 に確認）　結果は 2026-10-09 に Bruno v4.2.1（画面・CLI）と curl で確認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11480" y="1051560"/>
            <a:ext cx="11338560" cy="411480"/>
          </a:xfrm>
          <a:prstGeom prst="rect">
            <a:avLst/>
          </a:prstGeom>
          <a:solidFill>
            <a:srgbClr val="F8FAFC"/>
          </a:solidFill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"The resource is not really deleted on the server, but the response is faked as if."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11480" y="1508760"/>
            <a:ext cx="113385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E11D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① 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08_DELETE を右クリック →「New Request」。Request Name：02 Check After Delete、メソッド：GET（そのまま）、URL：{{baseUrl}}/posts/1 →「Create」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E11D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② 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「Send」→ Ctrl + S</a:t>
            </a:r>
            <a:endParaRPr lang="en-US" sz="1300" dirty="0"/>
          </a:p>
        </p:txBody>
      </p:sp>
      <p:pic>
        <p:nvPicPr>
          <p:cNvPr id="8" name="Image 0" descr="実画面（Bruno v4.2.1、Windows 11、2026-10-13 撮影）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2240280"/>
            <a:ext cx="6618276" cy="25146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11480" y="2240280"/>
            <a:ext cx="6618276" cy="2514600"/>
          </a:xfrm>
          <a:prstGeom prst="rect">
            <a:avLst/>
          </a:prstGeom>
          <a:ln w="9525">
            <a:solidFill>
              <a:srgbClr val="D1D5D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11480" y="4773168"/>
            <a:ext cx="66182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実画面（Bruno v4.2.1、Windows 11、2026-10-13 撮影）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93192" y="4581476"/>
            <a:ext cx="1327484" cy="169286"/>
          </a:xfrm>
          <a:prstGeom prst="rect">
            <a:avLst/>
          </a:prstGeom>
          <a:ln w="28575">
            <a:solidFill>
              <a:srgbClr val="E11D2E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00584" y="4528959"/>
            <a:ext cx="274320" cy="274320"/>
          </a:xfrm>
          <a:prstGeom prst="ellipse">
            <a:avLst/>
          </a:prstGeom>
          <a:solidFill>
            <a:srgbClr val="E11D2E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00584" y="4528959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094561" y="3175093"/>
            <a:ext cx="694957" cy="141710"/>
          </a:xfrm>
          <a:prstGeom prst="rect">
            <a:avLst/>
          </a:prstGeom>
          <a:ln w="28575">
            <a:solidFill>
              <a:srgbClr val="E11D2E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496868" y="3717998"/>
            <a:ext cx="2468448" cy="134816"/>
          </a:xfrm>
          <a:prstGeom prst="rect">
            <a:avLst/>
          </a:prstGeom>
          <a:ln w="28575">
            <a:solidFill>
              <a:srgbClr val="E11D2E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9189720" y="2240280"/>
            <a:ext cx="256032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200 OK で、投稿 1 がそのまま返る</a:t>
            </a:r>
            <a:endParaRPr lang="en-US" sz="13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→ 削除は保存されていない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411480" y="5120640"/>
            <a:ext cx="11338560" cy="566928"/>
          </a:xfrm>
          <a:prstGeom prst="rect">
            <a:avLst/>
          </a:prstGeom>
          <a:solidFill>
            <a:srgbClr val="FEF2F2"/>
          </a:solidFill>
          <a:ln w="15875">
            <a:solidFill>
              <a:srgbClr val="B91C1C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11480" y="5120640"/>
            <a:ext cx="82296" cy="56692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76072" y="5166360"/>
            <a:ext cx="11109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B91C1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【本物の API と違う点】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存在しない ID（例：/posts/999）に DELETE しても、JSONPlaceholder は 200 OK を返します。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548640" y="5788152"/>
            <a:ext cx="11064240" cy="329184"/>
          </a:xfrm>
          <a:prstGeom prst="rect">
            <a:avLst/>
          </a:prstGeom>
          <a:solidFill>
            <a:srgbClr val="ECFDF5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40080" y="5788152"/>
            <a:ext cx="1088136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4785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できなかった場合：</a:t>
            </a:r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samples の 08_DELETE\02 Check After Delete.yml を開いて Send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Meiryo UI"/>
                <a:ea typeface="Meiryo UI"/>
                <a:cs typeface="Meiryo UI"/>
              </a:defRPr>
            </a:lvl1pPr>
          </a:lstStyle>
          <a:p>
            <a:pPr algn="r"/>
            <a:fld id="{F7021451-1387-4CA6-816F-3879F97B5CBC}" type="slidenum">
              <a:rPr b="0" lang="en-US"/>
              <a:t>41</a:t>
            </a:fld>
            <a:endParaRPr 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演習問題8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896112"/>
            <a:ext cx="11430000" cy="457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Bruno v4.2.1｜確認日 2026-10-09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1097280"/>
            <a:ext cx="11064240" cy="411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08_DELETE フォルダに新しいリクエストを作りましょう。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200"/>
              </a:spcAft>
              <a:buNone/>
            </a:pPr>
            <a:r>
              <a:rPr lang="en-US" sz="1700" b="1" dirty="0">
                <a:solidFill>
                  <a:srgbClr val="E11D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① </a:t>
            </a:r>
            <a:pPr indent="0" marL="0">
              <a:spcAft>
                <a:spcPts val="1200"/>
              </a:spcAft>
              <a:buNone/>
            </a:pPr>
            <a:r>
              <a:rPr lang="en-US" sz="17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/comments/1 を DELETE してください。ステータスとボディは何ですか？</a:t>
            </a:r>
            <a:endParaRPr lang="en-US" sz="17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700" b="1" dirty="0">
                <a:solidFill>
                  <a:srgbClr val="E11D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② </a:t>
            </a:r>
            <a:pPr indent="0" marL="0">
              <a:spcAft>
                <a:spcPts val="1200"/>
              </a:spcAft>
              <a:buNone/>
            </a:pPr>
            <a:r>
              <a:rPr lang="en-US" sz="17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続けて /comments/1 を GET すると、何が返りますか？</a:t>
            </a:r>
            <a:endParaRPr lang="en-US" sz="17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700" b="1" dirty="0">
                <a:solidFill>
                  <a:srgbClr val="E11D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③ </a:t>
            </a:r>
            <a:pPr indent="0" marL="0">
              <a:spcAft>
                <a:spcPts val="1200"/>
              </a:spcAft>
              <a:buNone/>
            </a:pPr>
            <a:r>
              <a:rPr lang="en-US" sz="17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②の結果になる理由を説明してください。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48640" y="5788152"/>
            <a:ext cx="11064240" cy="329184"/>
          </a:xfrm>
          <a:prstGeom prst="rect">
            <a:avLst/>
          </a:prstGeom>
          <a:solidFill>
            <a:srgbClr val="ECFDF5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5788152"/>
            <a:ext cx="1088136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4785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できなかった場合：</a:t>
            </a:r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samples の 08_DELETE\Q1 Delete Comment 1.yml → Q2 Check Comment 1.yml の順に開いて Send（解答）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Meiryo UI"/>
                <a:ea typeface="Meiryo UI"/>
                <a:cs typeface="Meiryo UI"/>
              </a:defRPr>
            </a:lvl1pPr>
          </a:lstStyle>
          <a:p>
            <a:pPr algn="r"/>
            <a:fld id="{F7021451-1387-4CA6-816F-3879F97B5CBC}" type="slidenum">
              <a:rPr b="0" lang="en-US"/>
              <a:t>42</a:t>
            </a:fld>
            <a:endParaRPr 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演習問題8：期待する結果と解答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896112"/>
            <a:ext cx="11430000" cy="457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Bruno v4.2.1｜確認日 2026-10-09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6144768"/>
            <a:ext cx="1143000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出典：2026-10-09 に curl と Bruno CLI 4.2.1 で確認（answers/bruno-hands-on-answers/Ex08_DELETE）</a:t>
            </a:r>
            <a:endParaRPr lang="en-US" sz="1000" dirty="0"/>
          </a:p>
        </p:txBody>
      </p:sp>
      <p:graphicFrame>
        <p:nvGraphicFramePr>
          <p:cNvPr id="4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1106424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9966960"/>
              </a:tblGrid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問題</a:t>
                      </a:r>
                      <a:endParaRPr lang="en-US" sz="16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結果</a:t>
                      </a:r>
                      <a:endParaRPr lang="en-US" sz="16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①</a:t>
                      </a:r>
                      <a:endParaRPr lang="en-US" sz="16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200 OK、ボディ {}</a:t>
                      </a:r>
                      <a:endParaRPr lang="en-US" sz="16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②</a:t>
                      </a:r>
                      <a:endParaRPr lang="en-US" sz="16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200 OK。コメント 1 のデータがそのまま返る</a:t>
                      </a:r>
                      <a:endParaRPr lang="en-US" sz="16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③</a:t>
                      </a:r>
                      <a:endParaRPr lang="en-US" sz="16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JSONPlaceholder は削除したふりをするだけで、データを本当には削除しないから</a:t>
                      </a:r>
                      <a:endParaRPr lang="en-US" sz="16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Meiryo UI"/>
                <a:ea typeface="Meiryo UI"/>
                <a:cs typeface="Meiryo UI"/>
              </a:defRPr>
            </a:lvl1pPr>
          </a:lstStyle>
          <a:p>
            <a:pPr algn="r"/>
            <a:fld id="{F7021451-1387-4CA6-816F-3879F97B5CBC}" type="slidenum">
              <a:rPr b="0" lang="en-US"/>
              <a:t>43</a:t>
            </a:fld>
            <a:endParaRPr 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第4〜8章のまとめ：5 つのメソッドと JSONPlaceholder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896112"/>
            <a:ext cx="11430000" cy="457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Bruno v4.2.1｜確認日 2026-10-09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6144768"/>
            <a:ext cx="1143000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出典：https://jsonplaceholder.typicode.com/#guide（2026-10-09 に確認）　結果は 2026-10-09 に Bruno v4.2.1（画面・CLI）と curl で確認</a:t>
            </a:r>
            <a:endParaRPr lang="en-US" sz="1000" dirty="0"/>
          </a:p>
        </p:txBody>
      </p:sp>
      <p:graphicFrame>
        <p:nvGraphicFramePr>
          <p:cNvPr id="4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43000"/>
          <a:ext cx="1106424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2377440"/>
                <a:gridCol w="4023360"/>
                <a:gridCol w="320040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メソッド</a:t>
                      </a:r>
                      <a:endParaRPr lang="en-US" sz="15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一般的な意味</a:t>
                      </a:r>
                      <a:endParaRPr lang="en-US" sz="15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JSONPlaceholder の成功時</a:t>
                      </a:r>
                      <a:endParaRPr lang="en-US" sz="15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データは保存される？</a:t>
                      </a:r>
                      <a:endParaRPr lang="en-US" sz="15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GET</a:t>
                      </a:r>
                      <a:endParaRPr lang="en-US" sz="15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取得</a:t>
                      </a:r>
                      <a:endParaRPr lang="en-US" sz="15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200 OK</a:t>
                      </a:r>
                      <a:endParaRPr lang="en-US" sz="15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—（読み取りのみ）</a:t>
                      </a:r>
                      <a:endParaRPr lang="en-US" sz="15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POST</a:t>
                      </a:r>
                      <a:endParaRPr lang="en-US" sz="15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作成</a:t>
                      </a:r>
                      <a:endParaRPr lang="en-US" sz="15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201 Created（id 101 など）</a:t>
                      </a:r>
                      <a:endParaRPr lang="en-US" sz="15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保存されない</a:t>
                      </a:r>
                      <a:endParaRPr lang="en-US" sz="15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PATCH</a:t>
                      </a:r>
                      <a:endParaRPr lang="en-US" sz="15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一部を変更</a:t>
                      </a:r>
                      <a:endParaRPr lang="en-US" sz="15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200 OK（送った項目をマージ）</a:t>
                      </a:r>
                      <a:endParaRPr lang="en-US" sz="15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保存されない</a:t>
                      </a:r>
                      <a:endParaRPr lang="en-US" sz="15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PUT</a:t>
                      </a:r>
                      <a:endParaRPr lang="en-US" sz="15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全体を置き換え</a:t>
                      </a:r>
                      <a:endParaRPr lang="en-US" sz="15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200 OK（送った内容で置き換え）</a:t>
                      </a:r>
                      <a:endParaRPr lang="en-US" sz="15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保存されない</a:t>
                      </a:r>
                      <a:endParaRPr lang="en-US" sz="15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DELETE</a:t>
                      </a:r>
                      <a:endParaRPr lang="en-US" sz="15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削除</a:t>
                      </a:r>
                      <a:endParaRPr lang="en-US" sz="15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200 OK、{}</a:t>
                      </a:r>
                      <a:endParaRPr lang="en-US" sz="15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保存されない（削除されない）</a:t>
                      </a:r>
                      <a:endParaRPr lang="en-US" sz="15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4343400"/>
            <a:ext cx="11064240" cy="1005840"/>
          </a:xfrm>
          <a:prstGeom prst="rect">
            <a:avLst/>
          </a:prstGeom>
          <a:solidFill>
            <a:srgbClr val="F8FAFC"/>
          </a:solidFill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確認できること：リクエストの作り方、ステータスコード、レスポンスの形（PUT と PATCH の違いなど）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確認できないこと：データの保存・変更・削除、認証エラー、入力チェックのエラー、存在しない ID に対する正しいエラー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Meiryo UI"/>
                <a:ea typeface="Meiryo UI"/>
                <a:cs typeface="Meiryo UI"/>
              </a:defRPr>
            </a:lvl1pPr>
          </a:lstStyle>
          <a:p>
            <a:pPr algn="r"/>
            <a:fld id="{F7021451-1387-4CA6-816F-3879F97B5CBC}" type="slidenum">
              <a:rPr b="0" lang="en-US"/>
              <a:t>44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eiryo U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eiryo U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44</Slides>
  <Notes>44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4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Bruno ではじめる API 入門（第6〜8章）</dc:title>
  <dc:subject>PptxGenJS Presentation</dc:subject>
  <dc:creator>Bruno 研修教材</dc:creator>
  <cp:lastModifiedBy>Bruno 研修教材</cp:lastModifiedBy>
  <cp:revision>1</cp:revision>
  <dcterms:created xsi:type="dcterms:W3CDTF">2026-10-13T06:03:21Z</dcterms:created>
  <dcterms:modified xsi:type="dcterms:W3CDTF">2026-10-13T06:03:21Z</dcterms:modified>
</cp:coreProperties>
</file>