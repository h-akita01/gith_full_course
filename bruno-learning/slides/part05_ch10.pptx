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Lst>
  <p:notesMasterIdLst>
    <p:notesMasterId r:id="rId10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notesMaster" Target="notesMasters/notesMaster1.xml"/><Relationship Id="rId109" Type="http://schemas.openxmlformats.org/officeDocument/2006/relationships/presProps" Target="presProps.xml"/><Relationship Id="rId110" Type="http://schemas.openxmlformats.org/officeDocument/2006/relationships/viewProps" Target="viewProps.xml"/><Relationship Id="rId111" Type="http://schemas.openxmlformats.org/officeDocument/2006/relationships/theme" Target="theme/theme1.xml"/><Relationship Id="rId1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p:bgPr>
    </p:bg>
    <p:spTree>
      <p:nvGrpSpPr>
        <p:cNvPr id="1" name=""/>
        <p:cNvGrpSpPr/>
        <p:nvPr/>
      </p:nvGrpSpPr>
      <p:grpSpPr>
        <a:xfrm>
          <a:off x="0" y="0"/>
          <a:ext cx="0" cy="0"/>
          <a:chOff x="0" y="0"/>
          <a:chExt cx="0" cy="0"/>
        </a:xfrm>
      </p:grpSpPr>
      <p:sp>
        <p:nvSpPr>
          <p:cNvPr id="2" name="Text 0"/>
          <p:cNvSpPr/>
          <p:nvPr/>
        </p:nvSpPr>
        <p:spPr>
          <a:xfrm>
            <a:off x="731520" y="1097280"/>
            <a:ext cx="10515600" cy="548640"/>
          </a:xfrm>
          <a:prstGeom prst="rect">
            <a:avLst/>
          </a:prstGeom>
          <a:noFill/>
          <a:ln/>
        </p:spPr>
        <p:txBody>
          <a:bodyPr wrap="square" rtlCol="0" anchor="ctr"/>
          <a:lstStyle/>
          <a:p>
            <a:pPr indent="0" marL="0">
              <a:buNone/>
            </a:pPr>
            <a:r>
              <a:rPr lang="en-US" sz="2200" b="1" dirty="0">
                <a:solidFill>
                  <a:srgbClr val="FBBF24"/>
                </a:solidFill>
                <a:latin typeface="Meiryo UI" pitchFamily="34" charset="0"/>
                <a:ea typeface="Meiryo UI" pitchFamily="34" charset="-122"/>
                <a:cs typeface="Meiryo UI" pitchFamily="34" charset="-120"/>
              </a:rPr>
              <a:t>第10章</a:t>
            </a:r>
            <a:endParaRPr lang="en-US" sz="2200" dirty="0"/>
          </a:p>
        </p:txBody>
      </p:sp>
      <p:sp>
        <p:nvSpPr>
          <p:cNvPr id="3" name="Text 1"/>
          <p:cNvSpPr/>
          <p:nvPr/>
        </p:nvSpPr>
        <p:spPr>
          <a:xfrm>
            <a:off x="731520" y="1645920"/>
            <a:ext cx="10515600" cy="914400"/>
          </a:xfrm>
          <a:prstGeom prst="rect">
            <a:avLst/>
          </a:prstGeom>
          <a:noFill/>
          <a:ln/>
        </p:spPr>
        <p:txBody>
          <a:bodyPr wrap="square" rtlCol="0" anchor="ctr"/>
          <a:lstStyle/>
          <a:p>
            <a:pPr indent="0" marL="0">
              <a:buNone/>
            </a:pPr>
            <a:r>
              <a:rPr lang="en-US" sz="4000" b="1" dirty="0">
                <a:solidFill>
                  <a:srgbClr val="FFFFFF"/>
                </a:solidFill>
                <a:latin typeface="Meiryo UI" pitchFamily="34" charset="0"/>
                <a:ea typeface="Meiryo UI" pitchFamily="34" charset="-122"/>
                <a:cs typeface="Meiryo UI" pitchFamily="34" charset="-120"/>
              </a:rPr>
              <a:t>応用演習と修了確認</a:t>
            </a:r>
            <a:endParaRPr lang="en-US" sz="4000" dirty="0"/>
          </a:p>
        </p:txBody>
      </p:sp>
      <p:sp>
        <p:nvSpPr>
          <p:cNvPr id="4" name="Text 2"/>
          <p:cNvSpPr/>
          <p:nvPr/>
        </p:nvSpPr>
        <p:spPr>
          <a:xfrm>
            <a:off x="731520" y="2880360"/>
            <a:ext cx="10515600" cy="411480"/>
          </a:xfrm>
          <a:prstGeom prst="rect">
            <a:avLst/>
          </a:prstGeom>
          <a:noFill/>
          <a:ln/>
        </p:spPr>
        <p:txBody>
          <a:bodyPr wrap="square" rtlCol="0" anchor="ctr"/>
          <a:lstStyle/>
          <a:p>
            <a:pPr indent="0" marL="0">
              <a:buNone/>
            </a:pPr>
            <a:r>
              <a:rPr lang="en-US" sz="1800" b="1" dirty="0">
                <a:solidFill>
                  <a:srgbClr val="FBBF24"/>
                </a:solidFill>
                <a:latin typeface="Meiryo UI" pitchFamily="34" charset="0"/>
                <a:ea typeface="Meiryo UI" pitchFamily="34" charset="-122"/>
                <a:cs typeface="Meiryo UI" pitchFamily="34" charset="-120"/>
              </a:rPr>
              <a:t>この章で学ぶこと</a:t>
            </a:r>
            <a:endParaRPr lang="en-US" sz="1800" dirty="0"/>
          </a:p>
        </p:txBody>
      </p:sp>
      <p:sp>
        <p:nvSpPr>
          <p:cNvPr id="5" name="Text 3"/>
          <p:cNvSpPr/>
          <p:nvPr/>
        </p:nvSpPr>
        <p:spPr>
          <a:xfrm>
            <a:off x="731520" y="3291840"/>
            <a:ext cx="10515600" cy="2103120"/>
          </a:xfrm>
          <a:prstGeom prst="rect">
            <a:avLst/>
          </a:prstGeom>
          <a:noFill/>
          <a:ln/>
        </p:spPr>
        <p:txBody>
          <a:bodyPr wrap="square" rtlCol="0" anchor="t"/>
          <a:lstStyle/>
          <a:p>
            <a:pPr marL="342900" indent="-342900">
              <a:spcAft>
                <a:spcPts val="600"/>
              </a:spcAft>
              <a:buSzPct val="100000"/>
              <a:buChar char="■"/>
            </a:pPr>
            <a:r>
              <a:rPr lang="en-US" sz="2000" dirty="0">
                <a:solidFill>
                  <a:srgbClr val="FFFFFF"/>
                </a:solidFill>
                <a:latin typeface="Meiryo UI" pitchFamily="34" charset="0"/>
                <a:ea typeface="Meiryo UI" pitchFamily="34" charset="-122"/>
                <a:cs typeface="Meiryo UI" pitchFamily="34" charset="-120"/>
              </a:rPr>
              <a:t>応用演習：整理・環境変数・テスト・まとめて実行・CLI</a:t>
            </a:r>
            <a:endParaRPr lang="en-US" sz="2000" dirty="0"/>
          </a:p>
          <a:p>
            <a:pPr marL="342900" indent="-342900">
              <a:spcAft>
                <a:spcPts val="600"/>
              </a:spcAft>
              <a:buSzPct val="100000"/>
              <a:buChar char="■"/>
            </a:pPr>
            <a:r>
              <a:rPr lang="en-US" sz="2000" dirty="0">
                <a:solidFill>
                  <a:srgbClr val="FFFFFF"/>
                </a:solidFill>
                <a:latin typeface="Meiryo UI" pitchFamily="34" charset="0"/>
                <a:ea typeface="Meiryo UI" pitchFamily="34" charset="-122"/>
                <a:cs typeface="Meiryo UI" pitchFamily="34" charset="-120"/>
              </a:rPr>
              <a:t>業務 API の例：Mambu で法人の口座を開設する</a:t>
            </a:r>
            <a:endParaRPr lang="en-US" sz="2000" dirty="0"/>
          </a:p>
          <a:p>
            <a:pPr marL="342900" indent="-342900">
              <a:spcAft>
                <a:spcPts val="600"/>
              </a:spcAft>
              <a:buSzPct val="100000"/>
              <a:buChar char="■"/>
            </a:pPr>
            <a:r>
              <a:rPr lang="en-US" sz="2000" dirty="0">
                <a:solidFill>
                  <a:srgbClr val="FFFFFF"/>
                </a:solidFill>
                <a:latin typeface="Meiryo UI" pitchFamily="34" charset="0"/>
                <a:ea typeface="Meiryo UI" pitchFamily="34" charset="-122"/>
                <a:cs typeface="Meiryo UI" pitchFamily="34" charset="-120"/>
              </a:rPr>
              <a:t>発展課題：データが保存される模擬 API を自分の PC で動かす</a:t>
            </a:r>
            <a:endParaRPr lang="en-US" sz="2000" dirty="0"/>
          </a:p>
          <a:p>
            <a:pPr marL="342900" indent="-342900">
              <a:spcAft>
                <a:spcPts val="600"/>
              </a:spcAft>
              <a:buSzPct val="100000"/>
              <a:buChar char="■"/>
            </a:pPr>
            <a:r>
              <a:rPr lang="en-US" sz="2000" dirty="0">
                <a:solidFill>
                  <a:srgbClr val="FFFFFF"/>
                </a:solidFill>
                <a:latin typeface="Meiryo UI" pitchFamily="34" charset="0"/>
                <a:ea typeface="Meiryo UI" pitchFamily="34" charset="-122"/>
                <a:cs typeface="Meiryo UI" pitchFamily="34" charset="-120"/>
              </a:rPr>
              <a:t>理解度チェック（15 問）と修了課題（実技）</a:t>
            </a:r>
            <a:endParaRPr lang="en-US" sz="2000" dirty="0"/>
          </a:p>
        </p:txBody>
      </p:sp>
      <p:sp>
        <p:nvSpPr>
          <p:cNvPr id="6" name="Text 4"/>
          <p:cNvSpPr/>
          <p:nvPr/>
        </p:nvSpPr>
        <p:spPr>
          <a:xfrm>
            <a:off x="731520" y="5669280"/>
            <a:ext cx="10515600" cy="365760"/>
          </a:xfrm>
          <a:prstGeom prst="rect">
            <a:avLst/>
          </a:prstGeom>
          <a:noFill/>
          <a:ln/>
        </p:spPr>
        <p:txBody>
          <a:bodyPr wrap="square" rtlCol="0" anchor="ctr"/>
          <a:lstStyle/>
          <a:p>
            <a:pPr indent="0" marL="0">
              <a:buNone/>
            </a:pPr>
            <a:r>
              <a:rPr lang="en-US" sz="1400" dirty="0">
                <a:solidFill>
                  <a:srgbClr val="CBD5E1"/>
                </a:solidFill>
                <a:latin typeface="Meiryo UI" pitchFamily="34" charset="0"/>
                <a:ea typeface="Meiryo UI" pitchFamily="34" charset="-122"/>
                <a:cs typeface="Meiryo UI" pitchFamily="34" charset="-120"/>
              </a:rPr>
              <a:t>目安時間：約 90 分　｜　対応する学習目標：B1〜B8, A1〜A5</a:t>
            </a:r>
            <a:endParaRPr lang="en-US" sz="1400" dirty="0"/>
          </a:p>
        </p:txBody>
      </p:sp>
      <p:sp>
        <p:nvSpPr>
          <p:cNvPr id="7" name="Text 5"/>
          <p:cNvSpPr/>
          <p:nvPr/>
        </p:nvSpPr>
        <p:spPr>
          <a:xfrm>
            <a:off x="731520" y="6080760"/>
            <a:ext cx="7315200" cy="274320"/>
          </a:xfrm>
          <a:prstGeom prst="rect">
            <a:avLst/>
          </a:prstGeom>
          <a:noFill/>
          <a:ln/>
        </p:spPr>
        <p:txBody>
          <a:bodyPr wrap="square" rtlCol="0" anchor="ctr"/>
          <a:lstStyle/>
          <a:p>
            <a:pPr indent="0" marL="0">
              <a:buNone/>
            </a:pPr>
            <a:r>
              <a:rPr lang="en-US" sz="1000" dirty="0">
                <a:solidFill>
                  <a:srgbClr val="CBD5E1"/>
                </a:solidFill>
                <a:latin typeface="Meiryo UI" pitchFamily="34" charset="0"/>
                <a:ea typeface="Meiryo UI" pitchFamily="34" charset="-122"/>
                <a:cs typeface="Meiryo UI" pitchFamily="34" charset="-120"/>
              </a:rPr>
              <a:t>Bruno v4.2.1｜確認日 2026-10-09</a:t>
            </a:r>
            <a:endParaRPr lang="en-US" sz="10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BD5E1"/>
                </a:solidFill>
                <a:latin typeface="Meiryo UI"/>
                <a:ea typeface="Meiryo UI"/>
                <a:cs typeface="Meiryo U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応用演習の全体像</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914400"/>
                <a:gridCol w="6766560"/>
                <a:gridCol w="1737360"/>
                <a:gridCol w="1645920"/>
              </a:tblGrid>
              <a:tr h="548640">
                <a:tc>
                  <a:txBody>
                    <a:bodyPr/>
                    <a:lstStyle/>
                    <a:p>
                      <a:pPr indent="0" marL="0">
                        <a:buNone/>
                      </a:pPr>
                      <a:r>
                        <a:rPr lang="en-US" sz="1400" b="1" dirty="0">
                          <a:solidFill>
                            <a:srgbClr val="FFFFFF"/>
                          </a:solidFill>
                          <a:latin typeface="Meiryo UI" pitchFamily="34" charset="0"/>
                          <a:ea typeface="Meiryo UI" pitchFamily="34" charset="-122"/>
                          <a:cs typeface="Meiryo UI" pitchFamily="34" charset="-120"/>
                        </a:rPr>
                        <a:t>演習</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Meiryo UI" pitchFamily="34" charset="0"/>
                          <a:ea typeface="Meiryo UI" pitchFamily="34" charset="-122"/>
                          <a:cs typeface="Meiryo UI" pitchFamily="34" charset="-120"/>
                        </a:rPr>
                        <a:t>内容</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Meiryo UI" pitchFamily="34" charset="0"/>
                          <a:ea typeface="Meiryo UI" pitchFamily="34" charset="-122"/>
                          <a:cs typeface="Meiryo UI" pitchFamily="34" charset="-120"/>
                        </a:rPr>
                        <a:t>使う章</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Meiryo UI" pitchFamily="34" charset="0"/>
                          <a:ea typeface="Meiryo UI" pitchFamily="34" charset="-122"/>
                          <a:cs typeface="Meiryo UI" pitchFamily="34" charset="-120"/>
                        </a:rPr>
                        <a:t>目安</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54864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10-1</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新しいコレクションに Posts／Comments フォルダを作り、5 つのメソッドのリクエストを整理する</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第3・9章</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15 分</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10-2</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ベース URL を環境変数 {{baseUrl}} で管理する</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第3・9章</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10 分</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54864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10-3</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ステータスコードと JSON の値を確認するアサーション・テストを作る</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第9章</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15 分</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10-4</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Collection Runner で順番に実行し、全件成功を確認する</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第9章</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10 分</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54864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10-5</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CLI で実行し、HTML レポートを作る（任意）</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第9章</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10 分</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4800600"/>
            <a:ext cx="11064240" cy="685800"/>
          </a:xfrm>
          <a:prstGeom prst="rect">
            <a:avLst/>
          </a:prstGeom>
          <a:solidFill>
            <a:srgbClr val="EFF6FF"/>
          </a:solidFill>
          <a:ln w="15875">
            <a:solidFill>
              <a:srgbClr val="1D4ED8"/>
            </a:solidFill>
            <a:prstDash val="solid"/>
          </a:ln>
        </p:spPr>
      </p:sp>
      <p:sp>
        <p:nvSpPr>
          <p:cNvPr id="7" name="Shape 4"/>
          <p:cNvSpPr/>
          <p:nvPr/>
        </p:nvSpPr>
        <p:spPr>
          <a:xfrm>
            <a:off x="548640" y="4800600"/>
            <a:ext cx="82296" cy="685800"/>
          </a:xfrm>
          <a:prstGeom prst="rect">
            <a:avLst/>
          </a:prstGeom>
          <a:solidFill>
            <a:srgbClr val="1D4ED8"/>
          </a:solidFill>
          <a:ln w="12700">
            <a:solidFill>
              <a:srgbClr val="1D4ED8"/>
            </a:solidFill>
            <a:prstDash val="solid"/>
          </a:ln>
        </p:spPr>
      </p:sp>
      <p:sp>
        <p:nvSpPr>
          <p:cNvPr id="8" name="Text 5"/>
          <p:cNvSpPr/>
          <p:nvPr/>
        </p:nvSpPr>
        <p:spPr>
          <a:xfrm>
            <a:off x="713232" y="4846320"/>
            <a:ext cx="10835640" cy="594360"/>
          </a:xfrm>
          <a:prstGeom prst="rect">
            <a:avLst/>
          </a:prstGeom>
          <a:noFill/>
          <a:ln/>
        </p:spPr>
        <p:txBody>
          <a:bodyPr wrap="square" rtlCol="0" anchor="ctr"/>
          <a:lstStyle/>
          <a:p>
            <a:pPr indent="0" marL="0">
              <a:spcAft>
                <a:spcPts val="200"/>
              </a:spcAft>
              <a:buNone/>
            </a:pPr>
            <a:r>
              <a:rPr lang="en-US" sz="1400" b="1" dirty="0">
                <a:solidFill>
                  <a:srgbClr val="1D4ED8"/>
                </a:solidFill>
                <a:latin typeface="Meiryo UI" pitchFamily="34" charset="0"/>
                <a:ea typeface="Meiryo UI" pitchFamily="34" charset="-122"/>
                <a:cs typeface="Meiryo UI" pitchFamily="34" charset="-120"/>
              </a:rPr>
              <a:t>【ヒント】</a:t>
            </a:r>
            <a:endParaRPr lang="en-US" sz="1400" dirty="0"/>
          </a:p>
          <a:p>
            <a:pPr indent="0" marL="0">
              <a:spcAft>
                <a:spcPts val="200"/>
              </a:spcAft>
              <a:buNone/>
            </a:pPr>
            <a:r>
              <a:rPr lang="en-US" sz="1400" dirty="0">
                <a:solidFill>
                  <a:srgbClr val="1F2937"/>
                </a:solidFill>
                <a:latin typeface="Meiryo UI" pitchFamily="34" charset="0"/>
                <a:ea typeface="Meiryo UI" pitchFamily="34" charset="-122"/>
                <a:cs typeface="Meiryo UI" pitchFamily="34" charset="-120"/>
              </a:rPr>
              <a:t>完成形は samples の 10_Final フォルダにあります。うまくいかないときは開いて比べましょう。</a:t>
            </a:r>
            <a:endParaRPr lang="en-US" sz="14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【演習10-1】リクエストをフォルダで整理する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11064240" cy="914400"/>
        </p:xfrm>
        <a:graphic>
          <a:graphicData uri="http://schemas.openxmlformats.org/drawingml/2006/table">
            <a:tbl>
              <a:tblPr/>
              <a:tblGrid>
                <a:gridCol w="1463040"/>
                <a:gridCol w="9601200"/>
              </a:tblGrid>
              <a:tr h="411480">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目的</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1 つのコレクションの中で、目的ごとにリクエストを整理できるようになる</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41148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事前準備</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第3章の手順でコレクションを作れること</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2057400"/>
            <a:ext cx="2743200" cy="320040"/>
          </a:xfrm>
          <a:prstGeom prst="rect">
            <a:avLst/>
          </a:prstGeom>
          <a:noFill/>
          <a:ln/>
        </p:spPr>
        <p:txBody>
          <a:bodyPr wrap="square" lIns="50800" tIns="50800" rIns="50800" bIns="50800" rtlCol="0" anchor="t"/>
          <a:lstStyle/>
          <a:p>
            <a:pPr algn="l" indent="0" marL="0">
              <a:buNone/>
            </a:pPr>
            <a:r>
              <a:rPr lang="en-US" sz="1500" b="1" dirty="0">
                <a:solidFill>
                  <a:srgbClr val="1F3A5F"/>
                </a:solidFill>
                <a:latin typeface="Meiryo UI" pitchFamily="34" charset="0"/>
                <a:ea typeface="Meiryo UI" pitchFamily="34" charset="-122"/>
                <a:cs typeface="Meiryo UI" pitchFamily="34" charset="-120"/>
              </a:rPr>
              <a:t>手順</a:t>
            </a:r>
            <a:endParaRPr lang="en-US" sz="1500" dirty="0"/>
          </a:p>
        </p:txBody>
      </p:sp>
      <p:sp>
        <p:nvSpPr>
          <p:cNvPr id="7" name="Text 4"/>
          <p:cNvSpPr/>
          <p:nvPr/>
        </p:nvSpPr>
        <p:spPr>
          <a:xfrm>
            <a:off x="548640" y="2377440"/>
            <a:ext cx="6766560" cy="3200400"/>
          </a:xfrm>
          <a:prstGeom prst="rect">
            <a:avLst/>
          </a:prstGeom>
          <a:noFill/>
          <a:ln/>
        </p:spPr>
        <p:txBody>
          <a:bodyPr wrap="square" rtlCol="0" anchor="t"/>
          <a:lstStyle/>
          <a:p>
            <a:pPr indent="0" marL="0">
              <a:spcAft>
                <a:spcPts val="6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600"/>
              </a:spcAft>
              <a:buNone/>
            </a:pPr>
            <a:r>
              <a:rPr lang="en-US" sz="1300" dirty="0">
                <a:solidFill>
                  <a:srgbClr val="1F2937"/>
                </a:solidFill>
                <a:latin typeface="Meiryo UI" pitchFamily="34" charset="0"/>
                <a:ea typeface="Meiryo UI" pitchFamily="34" charset="-122"/>
                <a:cs typeface="Meiryo UI" pitchFamily="34" charset="-120"/>
              </a:rPr>
              <a:t>「＋」→ Create collection → Name：Blog-API-Test</a:t>
            </a:r>
            <a:endParaRPr lang="en-US" sz="1300" dirty="0"/>
          </a:p>
          <a:p>
            <a:pPr indent="0" marL="0">
              <a:spcAft>
                <a:spcPts val="6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600"/>
              </a:spcAft>
              <a:buNone/>
            </a:pPr>
            <a:r>
              <a:rPr lang="en-US" sz="1300" dirty="0">
                <a:solidFill>
                  <a:srgbClr val="1F2937"/>
                </a:solidFill>
                <a:latin typeface="Meiryo UI" pitchFamily="34" charset="0"/>
                <a:ea typeface="Meiryo UI" pitchFamily="34" charset="-122"/>
                <a:cs typeface="Meiryo UI" pitchFamily="34" charset="-120"/>
              </a:rPr>
              <a:t>コレクションを右クリック → New Folder → Posts、もう一度 → Comments</a:t>
            </a:r>
            <a:endParaRPr lang="en-US" sz="1300" dirty="0"/>
          </a:p>
          <a:p>
            <a:pPr indent="0" marL="0">
              <a:spcAft>
                <a:spcPts val="600"/>
              </a:spcAft>
              <a:buNone/>
            </a:pPr>
            <a:r>
              <a:rPr lang="en-US" sz="1300" b="1" dirty="0">
                <a:solidFill>
                  <a:srgbClr val="E11D2E"/>
                </a:solidFill>
                <a:latin typeface="Meiryo UI" pitchFamily="34" charset="0"/>
                <a:ea typeface="Meiryo UI" pitchFamily="34" charset="-122"/>
                <a:cs typeface="Meiryo UI" pitchFamily="34" charset="-120"/>
              </a:rPr>
              <a:t>③ </a:t>
            </a:r>
            <a:pPr indent="0" marL="0">
              <a:spcAft>
                <a:spcPts val="600"/>
              </a:spcAft>
              <a:buNone/>
            </a:pPr>
            <a:r>
              <a:rPr lang="en-US" sz="1300" dirty="0">
                <a:solidFill>
                  <a:srgbClr val="1F2937"/>
                </a:solidFill>
                <a:latin typeface="Meiryo UI" pitchFamily="34" charset="0"/>
                <a:ea typeface="Meiryo UI" pitchFamily="34" charset="-122"/>
                <a:cs typeface="Meiryo UI" pitchFamily="34" charset="-120"/>
              </a:rPr>
              <a:t>Posts に 5 つのリクエストを作る：GET /posts/1、POST /posts、PATCH /posts/1、PUT /posts/1、DELETE /posts/1</a:t>
            </a:r>
            <a:endParaRPr lang="en-US" sz="1300" dirty="0"/>
          </a:p>
          <a:p>
            <a:pPr indent="0" marL="0">
              <a:spcAft>
                <a:spcPts val="600"/>
              </a:spcAft>
              <a:buNone/>
            </a:pPr>
            <a:r>
              <a:rPr lang="en-US" sz="1300" b="1" dirty="0">
                <a:solidFill>
                  <a:srgbClr val="E11D2E"/>
                </a:solidFill>
                <a:latin typeface="Meiryo UI" pitchFamily="34" charset="0"/>
                <a:ea typeface="Meiryo UI" pitchFamily="34" charset="-122"/>
                <a:cs typeface="Meiryo UI" pitchFamily="34" charset="-120"/>
              </a:rPr>
              <a:t>④ </a:t>
            </a:r>
            <a:pPr indent="0" marL="0">
              <a:spcAft>
                <a:spcPts val="600"/>
              </a:spcAft>
              <a:buNone/>
            </a:pPr>
            <a:r>
              <a:rPr lang="en-US" sz="1300" dirty="0">
                <a:solidFill>
                  <a:srgbClr val="1F2937"/>
                </a:solidFill>
                <a:latin typeface="Meiryo UI" pitchFamily="34" charset="0"/>
                <a:ea typeface="Meiryo UI" pitchFamily="34" charset="-122"/>
                <a:cs typeface="Meiryo UI" pitchFamily="34" charset="-120"/>
              </a:rPr>
              <a:t>Comments に GET /posts/1/comments を作る</a:t>
            </a:r>
            <a:endParaRPr lang="en-US" sz="1300" dirty="0"/>
          </a:p>
          <a:p>
            <a:pPr indent="0" marL="0">
              <a:spcAft>
                <a:spcPts val="600"/>
              </a:spcAft>
              <a:buNone/>
            </a:pPr>
            <a:r>
              <a:rPr lang="en-US" sz="1300" b="1" dirty="0">
                <a:solidFill>
                  <a:srgbClr val="E11D2E"/>
                </a:solidFill>
                <a:latin typeface="Meiryo UI" pitchFamily="34" charset="0"/>
                <a:ea typeface="Meiryo UI" pitchFamily="34" charset="-122"/>
                <a:cs typeface="Meiryo UI" pitchFamily="34" charset="-120"/>
              </a:rPr>
              <a:t>⑤ </a:t>
            </a:r>
            <a:pPr indent="0" marL="0">
              <a:spcAft>
                <a:spcPts val="600"/>
              </a:spcAft>
              <a:buNone/>
            </a:pPr>
            <a:r>
              <a:rPr lang="en-US" sz="1300" dirty="0">
                <a:solidFill>
                  <a:srgbClr val="1F2937"/>
                </a:solidFill>
                <a:latin typeface="Meiryo UI" pitchFamily="34" charset="0"/>
                <a:ea typeface="Meiryo UI" pitchFamily="34" charset="-122"/>
                <a:cs typeface="Meiryo UI" pitchFamily="34" charset="-120"/>
              </a:rPr>
              <a:t>名前の先頭に 01〜05 の番号を付けて並べる</a:t>
            </a:r>
            <a:endParaRPr lang="en-US" sz="1300" dirty="0"/>
          </a:p>
        </p:txBody>
      </p:sp>
      <p:sp>
        <p:nvSpPr>
          <p:cNvPr id="8" name="Shape 5"/>
          <p:cNvSpPr/>
          <p:nvPr/>
        </p:nvSpPr>
        <p:spPr>
          <a:xfrm>
            <a:off x="7498080" y="2377440"/>
            <a:ext cx="4114800" cy="3017520"/>
          </a:xfrm>
          <a:prstGeom prst="rect">
            <a:avLst/>
          </a:prstGeom>
          <a:solidFill>
            <a:srgbClr val="ECFDF5"/>
          </a:solidFill>
          <a:ln w="15875">
            <a:solidFill>
              <a:srgbClr val="047857"/>
            </a:solidFill>
            <a:prstDash val="solid"/>
          </a:ln>
        </p:spPr>
      </p:sp>
      <p:sp>
        <p:nvSpPr>
          <p:cNvPr id="9" name="Shape 6"/>
          <p:cNvSpPr/>
          <p:nvPr/>
        </p:nvSpPr>
        <p:spPr>
          <a:xfrm>
            <a:off x="7498080" y="2377440"/>
            <a:ext cx="82296" cy="3017520"/>
          </a:xfrm>
          <a:prstGeom prst="rect">
            <a:avLst/>
          </a:prstGeom>
          <a:solidFill>
            <a:srgbClr val="047857"/>
          </a:solidFill>
          <a:ln w="12700">
            <a:solidFill>
              <a:srgbClr val="047857"/>
            </a:solidFill>
            <a:prstDash val="solid"/>
          </a:ln>
        </p:spPr>
      </p:sp>
      <p:sp>
        <p:nvSpPr>
          <p:cNvPr id="10" name="Text 7"/>
          <p:cNvSpPr/>
          <p:nvPr/>
        </p:nvSpPr>
        <p:spPr>
          <a:xfrm>
            <a:off x="7662672" y="2423160"/>
            <a:ext cx="3886200" cy="2926080"/>
          </a:xfrm>
          <a:prstGeom prst="rect">
            <a:avLst/>
          </a:prstGeom>
          <a:noFill/>
          <a:ln/>
        </p:spPr>
        <p:txBody>
          <a:bodyPr wrap="square" rtlCol="0" anchor="t"/>
          <a:lstStyle/>
          <a:p>
            <a:pPr indent="0" marL="0">
              <a:spcAft>
                <a:spcPts val="200"/>
              </a:spcAft>
              <a:buNone/>
            </a:pPr>
            <a:r>
              <a:rPr lang="en-US" sz="1300" b="1" dirty="0">
                <a:solidFill>
                  <a:srgbClr val="047857"/>
                </a:solidFill>
                <a:latin typeface="Meiryo UI" pitchFamily="34" charset="0"/>
                <a:ea typeface="Meiryo UI" pitchFamily="34" charset="-122"/>
                <a:cs typeface="Meiryo UI" pitchFamily="34" charset="-120"/>
              </a:rPr>
              <a:t>【期待する結果】</a:t>
            </a:r>
            <a:endParaRPr lang="en-US" sz="1300" dirty="0"/>
          </a:p>
          <a:p>
            <a:pPr indent="0" marL="0">
              <a:spcAft>
                <a:spcPts val="200"/>
              </a:spcAft>
              <a:buNone/>
            </a:pPr>
            <a:r>
              <a:rPr lang="en-US" sz="1300" dirty="0">
                <a:solidFill>
                  <a:srgbClr val="1F2937"/>
                </a:solidFill>
                <a:latin typeface="Meiryo UI" pitchFamily="34" charset="0"/>
                <a:ea typeface="Meiryo UI" pitchFamily="34" charset="-122"/>
                <a:cs typeface="Meiryo UI" pitchFamily="34" charset="-120"/>
              </a:rPr>
              <a:t>サイドバーに Blog-API-Test ＞ Posts（5 件）・Comments（1 件）が表示される。フォルダの中に .yml ファイルができている</a:t>
            </a:r>
            <a:endParaRPr lang="en-US" sz="1300" dirty="0"/>
          </a:p>
        </p:txBody>
      </p:sp>
      <p:sp>
        <p:nvSpPr>
          <p:cNvPr id="11" name="Shape 8"/>
          <p:cNvSpPr/>
          <p:nvPr/>
        </p:nvSpPr>
        <p:spPr>
          <a:xfrm>
            <a:off x="548640" y="5788152"/>
            <a:ext cx="11064240" cy="329184"/>
          </a:xfrm>
          <a:prstGeom prst="rect">
            <a:avLst/>
          </a:prstGeom>
          <a:solidFill>
            <a:srgbClr val="ECFDF5"/>
          </a:solidFill>
          <a:ln w="12700">
            <a:solidFill>
              <a:srgbClr val="047857"/>
            </a:solidFill>
            <a:prstDash val="solid"/>
          </a:ln>
        </p:spPr>
      </p:sp>
      <p:sp>
        <p:nvSpPr>
          <p:cNvPr id="12" name="Text 9"/>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samples の 10_Final フォルダ（Posts・Comments）を開いて完成形と比べる</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【演習10-2】ベース URL を環境で管理する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11064240" cy="914400"/>
        </p:xfrm>
        <a:graphic>
          <a:graphicData uri="http://schemas.openxmlformats.org/drawingml/2006/table">
            <a:tbl>
              <a:tblPr/>
              <a:tblGrid>
                <a:gridCol w="1463040"/>
                <a:gridCol w="9601200"/>
              </a:tblGrid>
              <a:tr h="411480">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目的</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URL の共通部分を環境変数にして、接続先を切り替えられるようにする</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41148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事前準備</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演習10-1 が終わっていること</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2057400"/>
            <a:ext cx="2743200" cy="320040"/>
          </a:xfrm>
          <a:prstGeom prst="rect">
            <a:avLst/>
          </a:prstGeom>
          <a:noFill/>
          <a:ln/>
        </p:spPr>
        <p:txBody>
          <a:bodyPr wrap="square" lIns="50800" tIns="50800" rIns="50800" bIns="50800" rtlCol="0" anchor="t"/>
          <a:lstStyle/>
          <a:p>
            <a:pPr algn="l" indent="0" marL="0">
              <a:buNone/>
            </a:pPr>
            <a:r>
              <a:rPr lang="en-US" sz="1500" b="1" dirty="0">
                <a:solidFill>
                  <a:srgbClr val="1F3A5F"/>
                </a:solidFill>
                <a:latin typeface="Meiryo UI" pitchFamily="34" charset="0"/>
                <a:ea typeface="Meiryo UI" pitchFamily="34" charset="-122"/>
                <a:cs typeface="Meiryo UI" pitchFamily="34" charset="-120"/>
              </a:rPr>
              <a:t>手順</a:t>
            </a:r>
            <a:endParaRPr lang="en-US" sz="1500" dirty="0"/>
          </a:p>
        </p:txBody>
      </p:sp>
      <p:sp>
        <p:nvSpPr>
          <p:cNvPr id="7" name="Text 4"/>
          <p:cNvSpPr/>
          <p:nvPr/>
        </p:nvSpPr>
        <p:spPr>
          <a:xfrm>
            <a:off x="548640" y="2377440"/>
            <a:ext cx="6766560" cy="3200400"/>
          </a:xfrm>
          <a:prstGeom prst="rect">
            <a:avLst/>
          </a:prstGeom>
          <a:noFill/>
          <a:ln/>
        </p:spPr>
        <p:txBody>
          <a:bodyPr wrap="square" rtlCol="0" anchor="t"/>
          <a:lstStyle/>
          <a:p>
            <a:pPr indent="0" marL="0">
              <a:spcAft>
                <a:spcPts val="6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600"/>
              </a:spcAft>
              <a:buNone/>
            </a:pPr>
            <a:r>
              <a:rPr lang="en-US" sz="1300" dirty="0">
                <a:solidFill>
                  <a:srgbClr val="1F2937"/>
                </a:solidFill>
                <a:latin typeface="Meiryo UI" pitchFamily="34" charset="0"/>
                <a:ea typeface="Meiryo UI" pitchFamily="34" charset="-122"/>
                <a:cs typeface="Meiryo UI" pitchFamily="34" charset="-120"/>
              </a:rPr>
              <a:t>画面右上の環境 → Create → Environment Name：JSONPlaceholder</a:t>
            </a:r>
            <a:endParaRPr lang="en-US" sz="1300" dirty="0"/>
          </a:p>
          <a:p>
            <a:pPr indent="0" marL="0">
              <a:spcAft>
                <a:spcPts val="6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600"/>
              </a:spcAft>
              <a:buNone/>
            </a:pPr>
            <a:r>
              <a:rPr lang="en-US" sz="1300" dirty="0">
                <a:solidFill>
                  <a:srgbClr val="1F2937"/>
                </a:solidFill>
                <a:latin typeface="Meiryo UI" pitchFamily="34" charset="0"/>
                <a:ea typeface="Meiryo UI" pitchFamily="34" charset="-122"/>
                <a:cs typeface="Meiryo UI" pitchFamily="34" charset="-120"/>
              </a:rPr>
              <a:t>Variables に baseUrl ＝ https://jsonplaceholder.typicode.com を入れて Save</a:t>
            </a:r>
            <a:endParaRPr lang="en-US" sz="1300" dirty="0"/>
          </a:p>
          <a:p>
            <a:pPr indent="0" marL="0">
              <a:spcAft>
                <a:spcPts val="600"/>
              </a:spcAft>
              <a:buNone/>
            </a:pPr>
            <a:r>
              <a:rPr lang="en-US" sz="1300" b="1" dirty="0">
                <a:solidFill>
                  <a:srgbClr val="E11D2E"/>
                </a:solidFill>
                <a:latin typeface="Meiryo UI" pitchFamily="34" charset="0"/>
                <a:ea typeface="Meiryo UI" pitchFamily="34" charset="-122"/>
                <a:cs typeface="Meiryo UI" pitchFamily="34" charset="-120"/>
              </a:rPr>
              <a:t>③ </a:t>
            </a:r>
            <a:pPr indent="0" marL="0">
              <a:spcAft>
                <a:spcPts val="600"/>
              </a:spcAft>
              <a:buNone/>
            </a:pPr>
            <a:r>
              <a:rPr lang="en-US" sz="1300" dirty="0">
                <a:solidFill>
                  <a:srgbClr val="1F2937"/>
                </a:solidFill>
                <a:latin typeface="Meiryo UI" pitchFamily="34" charset="0"/>
                <a:ea typeface="Meiryo UI" pitchFamily="34" charset="-122"/>
                <a:cs typeface="Meiryo UI" pitchFamily="34" charset="-120"/>
              </a:rPr>
              <a:t>演習10-1 の全リクエストの URL を {{baseUrl}}/posts/1 のように書き換えて保存</a:t>
            </a:r>
            <a:endParaRPr lang="en-US" sz="1300" dirty="0"/>
          </a:p>
          <a:p>
            <a:pPr indent="0" marL="0">
              <a:spcAft>
                <a:spcPts val="600"/>
              </a:spcAft>
              <a:buNone/>
            </a:pPr>
            <a:r>
              <a:rPr lang="en-US" sz="1300" b="1" dirty="0">
                <a:solidFill>
                  <a:srgbClr val="E11D2E"/>
                </a:solidFill>
                <a:latin typeface="Meiryo UI" pitchFamily="34" charset="0"/>
                <a:ea typeface="Meiryo UI" pitchFamily="34" charset="-122"/>
                <a:cs typeface="Meiryo UI" pitchFamily="34" charset="-120"/>
              </a:rPr>
              <a:t>④ </a:t>
            </a:r>
            <a:pPr indent="0" marL="0">
              <a:spcAft>
                <a:spcPts val="600"/>
              </a:spcAft>
              <a:buNone/>
            </a:pPr>
            <a:r>
              <a:rPr lang="en-US" sz="1300" dirty="0">
                <a:solidFill>
                  <a:srgbClr val="1F2937"/>
                </a:solidFill>
                <a:latin typeface="Meiryo UI" pitchFamily="34" charset="0"/>
                <a:ea typeface="Meiryo UI" pitchFamily="34" charset="-122"/>
                <a:cs typeface="Meiryo UI" pitchFamily="34" charset="-120"/>
              </a:rPr>
              <a:t>画面右上で JSONPlaceholder を選び、1 件 Send</a:t>
            </a:r>
            <a:endParaRPr lang="en-US" sz="1300" dirty="0"/>
          </a:p>
        </p:txBody>
      </p:sp>
      <p:sp>
        <p:nvSpPr>
          <p:cNvPr id="8" name="Shape 5"/>
          <p:cNvSpPr/>
          <p:nvPr/>
        </p:nvSpPr>
        <p:spPr>
          <a:xfrm>
            <a:off x="7498080" y="2377440"/>
            <a:ext cx="4114800" cy="3017520"/>
          </a:xfrm>
          <a:prstGeom prst="rect">
            <a:avLst/>
          </a:prstGeom>
          <a:solidFill>
            <a:srgbClr val="ECFDF5"/>
          </a:solidFill>
          <a:ln w="15875">
            <a:solidFill>
              <a:srgbClr val="047857"/>
            </a:solidFill>
            <a:prstDash val="solid"/>
          </a:ln>
        </p:spPr>
      </p:sp>
      <p:sp>
        <p:nvSpPr>
          <p:cNvPr id="9" name="Shape 6"/>
          <p:cNvSpPr/>
          <p:nvPr/>
        </p:nvSpPr>
        <p:spPr>
          <a:xfrm>
            <a:off x="7498080" y="2377440"/>
            <a:ext cx="82296" cy="3017520"/>
          </a:xfrm>
          <a:prstGeom prst="rect">
            <a:avLst/>
          </a:prstGeom>
          <a:solidFill>
            <a:srgbClr val="047857"/>
          </a:solidFill>
          <a:ln w="12700">
            <a:solidFill>
              <a:srgbClr val="047857"/>
            </a:solidFill>
            <a:prstDash val="solid"/>
          </a:ln>
        </p:spPr>
      </p:sp>
      <p:sp>
        <p:nvSpPr>
          <p:cNvPr id="10" name="Text 7"/>
          <p:cNvSpPr/>
          <p:nvPr/>
        </p:nvSpPr>
        <p:spPr>
          <a:xfrm>
            <a:off x="7662672" y="2423160"/>
            <a:ext cx="3886200" cy="2926080"/>
          </a:xfrm>
          <a:prstGeom prst="rect">
            <a:avLst/>
          </a:prstGeom>
          <a:noFill/>
          <a:ln/>
        </p:spPr>
        <p:txBody>
          <a:bodyPr wrap="square" rtlCol="0" anchor="t"/>
          <a:lstStyle/>
          <a:p>
            <a:pPr indent="0" marL="0">
              <a:spcAft>
                <a:spcPts val="200"/>
              </a:spcAft>
              <a:buNone/>
            </a:pPr>
            <a:r>
              <a:rPr lang="en-US" sz="1300" b="1" dirty="0">
                <a:solidFill>
                  <a:srgbClr val="047857"/>
                </a:solidFill>
                <a:latin typeface="Meiryo UI" pitchFamily="34" charset="0"/>
                <a:ea typeface="Meiryo UI" pitchFamily="34" charset="-122"/>
                <a:cs typeface="Meiryo UI" pitchFamily="34" charset="-120"/>
              </a:rPr>
              <a:t>【期待する結果】</a:t>
            </a:r>
            <a:endParaRPr lang="en-US" sz="1300" dirty="0"/>
          </a:p>
          <a:p>
            <a:pPr indent="0" marL="0">
              <a:spcAft>
                <a:spcPts val="200"/>
              </a:spcAft>
              <a:buNone/>
            </a:pPr>
            <a:r>
              <a:rPr lang="en-US" sz="1300" dirty="0">
                <a:solidFill>
                  <a:srgbClr val="1F2937"/>
                </a:solidFill>
                <a:latin typeface="Meiryo UI" pitchFamily="34" charset="0"/>
                <a:ea typeface="Meiryo UI" pitchFamily="34" charset="-122"/>
                <a:cs typeface="Meiryo UI" pitchFamily="34" charset="-120"/>
              </a:rPr>
              <a:t>{{baseUrl}} が緑で表示され、200 OK などが返る。環境を No Environment に戻すと赤字になり送信に失敗する</a:t>
            </a:r>
            <a:endParaRPr lang="en-US" sz="1300" dirty="0"/>
          </a:p>
        </p:txBody>
      </p:sp>
      <p:sp>
        <p:nvSpPr>
          <p:cNvPr id="11" name="Shape 8"/>
          <p:cNvSpPr/>
          <p:nvPr/>
        </p:nvSpPr>
        <p:spPr>
          <a:xfrm>
            <a:off x="548640" y="5788152"/>
            <a:ext cx="11064240" cy="329184"/>
          </a:xfrm>
          <a:prstGeom prst="rect">
            <a:avLst/>
          </a:prstGeom>
          <a:solidFill>
            <a:srgbClr val="ECFDF5"/>
          </a:solidFill>
          <a:ln w="12700">
            <a:solidFill>
              <a:srgbClr val="047857"/>
            </a:solidFill>
            <a:prstDash val="solid"/>
          </a:ln>
        </p:spPr>
      </p:sp>
      <p:sp>
        <p:nvSpPr>
          <p:cNvPr id="12" name="Text 9"/>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samples の 10_Final を開き、環境 JSONPlaceholder を選んで Send</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【演習10-3】アサーションとテストを作る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11064240" cy="914400"/>
        </p:xfrm>
        <a:graphic>
          <a:graphicData uri="http://schemas.openxmlformats.org/drawingml/2006/table">
            <a:tbl>
              <a:tblPr/>
              <a:tblGrid>
                <a:gridCol w="1463040"/>
                <a:gridCol w="9601200"/>
              </a:tblGrid>
              <a:tr h="411480">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目的</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レスポンスが期待どおりかを自動で確認できるようにする</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41148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事前準備</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演習10-2 が終わっていること</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2057400"/>
            <a:ext cx="2743200" cy="320040"/>
          </a:xfrm>
          <a:prstGeom prst="rect">
            <a:avLst/>
          </a:prstGeom>
          <a:noFill/>
          <a:ln/>
        </p:spPr>
        <p:txBody>
          <a:bodyPr wrap="square" lIns="50800" tIns="50800" rIns="50800" bIns="50800" rtlCol="0" anchor="t"/>
          <a:lstStyle/>
          <a:p>
            <a:pPr algn="l" indent="0" marL="0">
              <a:buNone/>
            </a:pPr>
            <a:r>
              <a:rPr lang="en-US" sz="1500" b="1" dirty="0">
                <a:solidFill>
                  <a:srgbClr val="1F3A5F"/>
                </a:solidFill>
                <a:latin typeface="Meiryo UI" pitchFamily="34" charset="0"/>
                <a:ea typeface="Meiryo UI" pitchFamily="34" charset="-122"/>
                <a:cs typeface="Meiryo UI" pitchFamily="34" charset="-120"/>
              </a:rPr>
              <a:t>手順</a:t>
            </a:r>
            <a:endParaRPr lang="en-US" sz="1500" dirty="0"/>
          </a:p>
        </p:txBody>
      </p:sp>
      <p:sp>
        <p:nvSpPr>
          <p:cNvPr id="7" name="Text 4"/>
          <p:cNvSpPr/>
          <p:nvPr/>
        </p:nvSpPr>
        <p:spPr>
          <a:xfrm>
            <a:off x="548640" y="2377440"/>
            <a:ext cx="6766560" cy="3200400"/>
          </a:xfrm>
          <a:prstGeom prst="rect">
            <a:avLst/>
          </a:prstGeom>
          <a:noFill/>
          <a:ln/>
        </p:spPr>
        <p:txBody>
          <a:bodyPr wrap="square" rtlCol="0" anchor="t"/>
          <a:lstStyle/>
          <a:p>
            <a:pPr indent="0" marL="0">
              <a:spcAft>
                <a:spcPts val="6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600"/>
              </a:spcAft>
              <a:buNone/>
            </a:pPr>
            <a:r>
              <a:rPr lang="en-US" sz="1300" dirty="0">
                <a:solidFill>
                  <a:srgbClr val="1F2937"/>
                </a:solidFill>
                <a:latin typeface="Meiryo UI" pitchFamily="34" charset="0"/>
                <a:ea typeface="Meiryo UI" pitchFamily="34" charset="-122"/>
                <a:cs typeface="Meiryo UI" pitchFamily="34" charset="-120"/>
              </a:rPr>
              <a:t>01 Get Post の Assert タブ：res.status equals 200、res.body.userId equals 1</a:t>
            </a:r>
            <a:endParaRPr lang="en-US" sz="1300" dirty="0"/>
          </a:p>
          <a:p>
            <a:pPr indent="0" marL="0">
              <a:spcAft>
                <a:spcPts val="6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600"/>
              </a:spcAft>
              <a:buNone/>
            </a:pPr>
            <a:r>
              <a:rPr lang="en-US" sz="1300" dirty="0">
                <a:solidFill>
                  <a:srgbClr val="1F2937"/>
                </a:solidFill>
                <a:latin typeface="Meiryo UI" pitchFamily="34" charset="0"/>
                <a:ea typeface="Meiryo UI" pitchFamily="34" charset="-122"/>
                <a:cs typeface="Meiryo UI" pitchFamily="34" charset="-120"/>
              </a:rPr>
              <a:t>02 Create Post の Assert タブ：res.status equals 201</a:t>
            </a:r>
            <a:endParaRPr lang="en-US" sz="1300" dirty="0"/>
          </a:p>
          <a:p>
            <a:pPr indent="0" marL="0">
              <a:spcAft>
                <a:spcPts val="600"/>
              </a:spcAft>
              <a:buNone/>
            </a:pPr>
            <a:r>
              <a:rPr lang="en-US" sz="1300" b="1" dirty="0">
                <a:solidFill>
                  <a:srgbClr val="E11D2E"/>
                </a:solidFill>
                <a:latin typeface="Meiryo UI" pitchFamily="34" charset="0"/>
                <a:ea typeface="Meiryo UI" pitchFamily="34" charset="-122"/>
                <a:cs typeface="Meiryo UI" pitchFamily="34" charset="-120"/>
              </a:rPr>
              <a:t>③ </a:t>
            </a:r>
            <a:pPr indent="0" marL="0">
              <a:spcAft>
                <a:spcPts val="600"/>
              </a:spcAft>
              <a:buNone/>
            </a:pPr>
            <a:r>
              <a:rPr lang="en-US" sz="1300" dirty="0">
                <a:solidFill>
                  <a:srgbClr val="1F2937"/>
                </a:solidFill>
                <a:latin typeface="Meiryo UI" pitchFamily="34" charset="0"/>
                <a:ea typeface="Meiryo UI" pitchFamily="34" charset="-122"/>
                <a:cs typeface="Meiryo UI" pitchFamily="34" charset="-120"/>
              </a:rPr>
              <a:t>01 Get Post の Tests タブに、title が文字列であることを確かめるテストを書く</a:t>
            </a:r>
            <a:endParaRPr lang="en-US" sz="1300" dirty="0"/>
          </a:p>
          <a:p>
            <a:pPr indent="0" marL="0">
              <a:spcAft>
                <a:spcPts val="600"/>
              </a:spcAft>
              <a:buNone/>
            </a:pPr>
            <a:r>
              <a:rPr lang="en-US" sz="1300" b="1" dirty="0">
                <a:solidFill>
                  <a:srgbClr val="E11D2E"/>
                </a:solidFill>
                <a:latin typeface="Meiryo UI" pitchFamily="34" charset="0"/>
                <a:ea typeface="Meiryo UI" pitchFamily="34" charset="-122"/>
                <a:cs typeface="Meiryo UI" pitchFamily="34" charset="-120"/>
              </a:rPr>
              <a:t>④ </a:t>
            </a:r>
            <a:pPr indent="0" marL="0">
              <a:spcAft>
                <a:spcPts val="600"/>
              </a:spcAft>
              <a:buNone/>
            </a:pPr>
            <a:r>
              <a:rPr lang="en-US" sz="1300" dirty="0">
                <a:solidFill>
                  <a:srgbClr val="1F2937"/>
                </a:solidFill>
                <a:latin typeface="Meiryo UI" pitchFamily="34" charset="0"/>
                <a:ea typeface="Meiryo UI" pitchFamily="34" charset="-122"/>
                <a:cs typeface="Meiryo UI" pitchFamily="34" charset="-120"/>
              </a:rPr>
              <a:t>保存して Send → レスポンス側の Tests で Passed を確認</a:t>
            </a:r>
            <a:endParaRPr lang="en-US" sz="1300" dirty="0"/>
          </a:p>
        </p:txBody>
      </p:sp>
      <p:sp>
        <p:nvSpPr>
          <p:cNvPr id="8" name="Shape 5"/>
          <p:cNvSpPr/>
          <p:nvPr/>
        </p:nvSpPr>
        <p:spPr>
          <a:xfrm>
            <a:off x="7498080" y="2377440"/>
            <a:ext cx="4114800" cy="3017520"/>
          </a:xfrm>
          <a:prstGeom prst="rect">
            <a:avLst/>
          </a:prstGeom>
          <a:solidFill>
            <a:srgbClr val="ECFDF5"/>
          </a:solidFill>
          <a:ln w="15875">
            <a:solidFill>
              <a:srgbClr val="047857"/>
            </a:solidFill>
            <a:prstDash val="solid"/>
          </a:ln>
        </p:spPr>
      </p:sp>
      <p:sp>
        <p:nvSpPr>
          <p:cNvPr id="9" name="Shape 6"/>
          <p:cNvSpPr/>
          <p:nvPr/>
        </p:nvSpPr>
        <p:spPr>
          <a:xfrm>
            <a:off x="7498080" y="2377440"/>
            <a:ext cx="82296" cy="3017520"/>
          </a:xfrm>
          <a:prstGeom prst="rect">
            <a:avLst/>
          </a:prstGeom>
          <a:solidFill>
            <a:srgbClr val="047857"/>
          </a:solidFill>
          <a:ln w="12700">
            <a:solidFill>
              <a:srgbClr val="047857"/>
            </a:solidFill>
            <a:prstDash val="solid"/>
          </a:ln>
        </p:spPr>
      </p:sp>
      <p:sp>
        <p:nvSpPr>
          <p:cNvPr id="10" name="Text 7"/>
          <p:cNvSpPr/>
          <p:nvPr/>
        </p:nvSpPr>
        <p:spPr>
          <a:xfrm>
            <a:off x="7662672" y="2423160"/>
            <a:ext cx="3886200" cy="2926080"/>
          </a:xfrm>
          <a:prstGeom prst="rect">
            <a:avLst/>
          </a:prstGeom>
          <a:noFill/>
          <a:ln/>
        </p:spPr>
        <p:txBody>
          <a:bodyPr wrap="square" rtlCol="0" anchor="t"/>
          <a:lstStyle/>
          <a:p>
            <a:pPr indent="0" marL="0">
              <a:spcAft>
                <a:spcPts val="200"/>
              </a:spcAft>
              <a:buNone/>
            </a:pPr>
            <a:r>
              <a:rPr lang="en-US" sz="1300" b="1" dirty="0">
                <a:solidFill>
                  <a:srgbClr val="047857"/>
                </a:solidFill>
                <a:latin typeface="Meiryo UI" pitchFamily="34" charset="0"/>
                <a:ea typeface="Meiryo UI" pitchFamily="34" charset="-122"/>
                <a:cs typeface="Meiryo UI" pitchFamily="34" charset="-120"/>
              </a:rPr>
              <a:t>【期待する結果】</a:t>
            </a:r>
            <a:endParaRPr lang="en-US" sz="1300" dirty="0"/>
          </a:p>
          <a:p>
            <a:pPr indent="0" marL="0">
              <a:spcAft>
                <a:spcPts val="200"/>
              </a:spcAft>
              <a:buNone/>
            </a:pPr>
            <a:r>
              <a:rPr lang="en-US" sz="1300" dirty="0">
                <a:solidFill>
                  <a:srgbClr val="1F2937"/>
                </a:solidFill>
                <a:latin typeface="Meiryo UI" pitchFamily="34" charset="0"/>
                <a:ea typeface="Meiryo UI" pitchFamily="34" charset="-122"/>
                <a:cs typeface="Meiryo UI" pitchFamily="34" charset="-120"/>
              </a:rPr>
              <a:t>すべて Passed。テストの例：</a:t>
            </a:r>
            <a:endParaRPr lang="en-US" sz="1300" dirty="0"/>
          </a:p>
          <a:p>
            <a:pPr indent="0" marL="0">
              <a:spcAft>
                <a:spcPts val="200"/>
              </a:spcAft>
              <a:buNone/>
            </a:pPr>
            <a:r>
              <a:rPr lang="en-US" sz="1300" dirty="0">
                <a:solidFill>
                  <a:srgbClr val="1F2937"/>
                </a:solidFill>
                <a:latin typeface="Meiryo UI" pitchFamily="34" charset="0"/>
                <a:ea typeface="Meiryo UI" pitchFamily="34" charset="-122"/>
                <a:cs typeface="Meiryo UI" pitchFamily="34" charset="-120"/>
              </a:rPr>
              <a:t>test("title は文字列", function () {</a:t>
            </a:r>
            <a:endParaRPr lang="en-US" sz="1300" dirty="0"/>
          </a:p>
          <a:p>
            <a:pPr indent="0" marL="0">
              <a:spcAft>
                <a:spcPts val="200"/>
              </a:spcAft>
              <a:buNone/>
            </a:pPr>
            <a:r>
              <a:rPr lang="en-US" sz="1300" dirty="0">
                <a:solidFill>
                  <a:srgbClr val="1F2937"/>
                </a:solidFill>
                <a:latin typeface="Meiryo UI" pitchFamily="34" charset="0"/>
                <a:ea typeface="Meiryo UI" pitchFamily="34" charset="-122"/>
                <a:cs typeface="Meiryo UI" pitchFamily="34" charset="-120"/>
              </a:rPr>
              <a:t>  expect(res.getBody().title).to.be.a("string");</a:t>
            </a:r>
            <a:endParaRPr lang="en-US" sz="1300" dirty="0"/>
          </a:p>
          <a:p>
            <a:pPr indent="0" marL="0">
              <a:spcAft>
                <a:spcPts val="200"/>
              </a:spcAft>
              <a:buNone/>
            </a:pPr>
            <a:r>
              <a:rPr lang="en-US" sz="1300" dirty="0">
                <a:solidFill>
                  <a:srgbClr val="1F2937"/>
                </a:solidFill>
                <a:latin typeface="Meiryo UI" pitchFamily="34" charset="0"/>
                <a:ea typeface="Meiryo UI" pitchFamily="34" charset="-122"/>
                <a:cs typeface="Meiryo UI" pitchFamily="34" charset="-120"/>
              </a:rPr>
              <a:t>});</a:t>
            </a:r>
            <a:endParaRPr lang="en-US" sz="1300" dirty="0"/>
          </a:p>
        </p:txBody>
      </p:sp>
      <p:sp>
        <p:nvSpPr>
          <p:cNvPr id="11" name="Shape 8"/>
          <p:cNvSpPr/>
          <p:nvPr/>
        </p:nvSpPr>
        <p:spPr>
          <a:xfrm>
            <a:off x="548640" y="5788152"/>
            <a:ext cx="11064240" cy="329184"/>
          </a:xfrm>
          <a:prstGeom prst="rect">
            <a:avLst/>
          </a:prstGeom>
          <a:solidFill>
            <a:srgbClr val="ECFDF5"/>
          </a:solidFill>
          <a:ln w="12700">
            <a:solidFill>
              <a:srgbClr val="047857"/>
            </a:solidFill>
            <a:prstDash val="solid"/>
          </a:ln>
        </p:spPr>
      </p:sp>
      <p:sp>
        <p:nvSpPr>
          <p:cNvPr id="12" name="Text 9"/>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samples の 10_Final\Posts の各 .yml（アサーション・テスト入り）を開いて Send</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【演習10-4】まとめて順番に実行する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11064240" cy="914400"/>
        </p:xfrm>
        <a:graphic>
          <a:graphicData uri="http://schemas.openxmlformats.org/drawingml/2006/table">
            <a:tbl>
              <a:tblPr/>
              <a:tblGrid>
                <a:gridCol w="1463040"/>
                <a:gridCol w="9601200"/>
              </a:tblGrid>
              <a:tr h="411480">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目的</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複数のリクエストを 1 回の操作で実行し、結果を一覧で確認する</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41148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事前準備</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演習10-3 が終わっていること</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2057400"/>
            <a:ext cx="2743200" cy="320040"/>
          </a:xfrm>
          <a:prstGeom prst="rect">
            <a:avLst/>
          </a:prstGeom>
          <a:noFill/>
          <a:ln/>
        </p:spPr>
        <p:txBody>
          <a:bodyPr wrap="square" lIns="50800" tIns="50800" rIns="50800" bIns="50800" rtlCol="0" anchor="t"/>
          <a:lstStyle/>
          <a:p>
            <a:pPr algn="l" indent="0" marL="0">
              <a:buNone/>
            </a:pPr>
            <a:r>
              <a:rPr lang="en-US" sz="1500" b="1" dirty="0">
                <a:solidFill>
                  <a:srgbClr val="1F3A5F"/>
                </a:solidFill>
                <a:latin typeface="Meiryo UI" pitchFamily="34" charset="0"/>
                <a:ea typeface="Meiryo UI" pitchFamily="34" charset="-122"/>
                <a:cs typeface="Meiryo UI" pitchFamily="34" charset="-120"/>
              </a:rPr>
              <a:t>手順</a:t>
            </a:r>
            <a:endParaRPr lang="en-US" sz="1500" dirty="0"/>
          </a:p>
        </p:txBody>
      </p:sp>
      <p:sp>
        <p:nvSpPr>
          <p:cNvPr id="7" name="Text 4"/>
          <p:cNvSpPr/>
          <p:nvPr/>
        </p:nvSpPr>
        <p:spPr>
          <a:xfrm>
            <a:off x="548640" y="2377440"/>
            <a:ext cx="6766560" cy="3200400"/>
          </a:xfrm>
          <a:prstGeom prst="rect">
            <a:avLst/>
          </a:prstGeom>
          <a:noFill/>
          <a:ln/>
        </p:spPr>
        <p:txBody>
          <a:bodyPr wrap="square" rtlCol="0" anchor="t"/>
          <a:lstStyle/>
          <a:p>
            <a:pPr indent="0" marL="0">
              <a:spcAft>
                <a:spcPts val="6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600"/>
              </a:spcAft>
              <a:buNone/>
            </a:pPr>
            <a:r>
              <a:rPr lang="en-US" sz="1300" dirty="0">
                <a:solidFill>
                  <a:srgbClr val="1F2937"/>
                </a:solidFill>
                <a:latin typeface="Meiryo UI" pitchFamily="34" charset="0"/>
                <a:ea typeface="Meiryo UI" pitchFamily="34" charset="-122"/>
                <a:cs typeface="Meiryo UI" pitchFamily="34" charset="-120"/>
              </a:rPr>
              <a:t>Blog-API-Test を右クリック → Run</a:t>
            </a:r>
            <a:endParaRPr lang="en-US" sz="1300" dirty="0"/>
          </a:p>
          <a:p>
            <a:pPr indent="0" marL="0">
              <a:spcAft>
                <a:spcPts val="6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600"/>
              </a:spcAft>
              <a:buNone/>
            </a:pPr>
            <a:r>
              <a:rPr lang="en-US" sz="1300" dirty="0">
                <a:solidFill>
                  <a:srgbClr val="1F2937"/>
                </a:solidFill>
                <a:latin typeface="Meiryo UI" pitchFamily="34" charset="0"/>
                <a:ea typeface="Meiryo UI" pitchFamily="34" charset="-122"/>
                <a:cs typeface="Meiryo UI" pitchFamily="34" charset="-120"/>
              </a:rPr>
              <a:t>「Recursive Run」でフォルダの中も含めて実行</a:t>
            </a:r>
            <a:endParaRPr lang="en-US" sz="1300" dirty="0"/>
          </a:p>
          <a:p>
            <a:pPr indent="0" marL="0">
              <a:spcAft>
                <a:spcPts val="600"/>
              </a:spcAft>
              <a:buNone/>
            </a:pPr>
            <a:r>
              <a:rPr lang="en-US" sz="1300" b="1" dirty="0">
                <a:solidFill>
                  <a:srgbClr val="E11D2E"/>
                </a:solidFill>
                <a:latin typeface="Meiryo UI" pitchFamily="34" charset="0"/>
                <a:ea typeface="Meiryo UI" pitchFamily="34" charset="-122"/>
                <a:cs typeface="Meiryo UI" pitchFamily="34" charset="-120"/>
              </a:rPr>
              <a:t>③ </a:t>
            </a:r>
            <a:pPr indent="0" marL="0">
              <a:spcAft>
                <a:spcPts val="600"/>
              </a:spcAft>
              <a:buNone/>
            </a:pPr>
            <a:r>
              <a:rPr lang="en-US" sz="1300" dirty="0">
                <a:solidFill>
                  <a:srgbClr val="1F2937"/>
                </a:solidFill>
                <a:latin typeface="Meiryo UI" pitchFamily="34" charset="0"/>
                <a:ea typeface="Meiryo UI" pitchFamily="34" charset="-122"/>
                <a:cs typeface="Meiryo UI" pitchFamily="34" charset="-120"/>
              </a:rPr>
              <a:t>Filter の Passed・Failed の件数を確認</a:t>
            </a:r>
            <a:endParaRPr lang="en-US" sz="1300" dirty="0"/>
          </a:p>
          <a:p>
            <a:pPr indent="0" marL="0">
              <a:spcAft>
                <a:spcPts val="600"/>
              </a:spcAft>
              <a:buNone/>
            </a:pPr>
            <a:r>
              <a:rPr lang="en-US" sz="1300" b="1" dirty="0">
                <a:solidFill>
                  <a:srgbClr val="E11D2E"/>
                </a:solidFill>
                <a:latin typeface="Meiryo UI" pitchFamily="34" charset="0"/>
                <a:ea typeface="Meiryo UI" pitchFamily="34" charset="-122"/>
                <a:cs typeface="Meiryo UI" pitchFamily="34" charset="-120"/>
              </a:rPr>
              <a:t>④ </a:t>
            </a:r>
            <a:pPr indent="0" marL="0">
              <a:spcAft>
                <a:spcPts val="600"/>
              </a:spcAft>
              <a:buNone/>
            </a:pPr>
            <a:r>
              <a:rPr lang="en-US" sz="1300" dirty="0">
                <a:solidFill>
                  <a:srgbClr val="1F2937"/>
                </a:solidFill>
                <a:latin typeface="Meiryo UI" pitchFamily="34" charset="0"/>
                <a:ea typeface="Meiryo UI" pitchFamily="34" charset="-122"/>
                <a:cs typeface="Meiryo UI" pitchFamily="34" charset="-120"/>
              </a:rPr>
              <a:t>失敗があれば、その行のステータスをクリックしてレスポンスを確認し、直して Run Again</a:t>
            </a:r>
            <a:endParaRPr lang="en-US" sz="1300" dirty="0"/>
          </a:p>
        </p:txBody>
      </p:sp>
      <p:sp>
        <p:nvSpPr>
          <p:cNvPr id="8" name="Shape 5"/>
          <p:cNvSpPr/>
          <p:nvPr/>
        </p:nvSpPr>
        <p:spPr>
          <a:xfrm>
            <a:off x="7498080" y="2377440"/>
            <a:ext cx="4114800" cy="3017520"/>
          </a:xfrm>
          <a:prstGeom prst="rect">
            <a:avLst/>
          </a:prstGeom>
          <a:solidFill>
            <a:srgbClr val="ECFDF5"/>
          </a:solidFill>
          <a:ln w="15875">
            <a:solidFill>
              <a:srgbClr val="047857"/>
            </a:solidFill>
            <a:prstDash val="solid"/>
          </a:ln>
        </p:spPr>
      </p:sp>
      <p:sp>
        <p:nvSpPr>
          <p:cNvPr id="9" name="Shape 6"/>
          <p:cNvSpPr/>
          <p:nvPr/>
        </p:nvSpPr>
        <p:spPr>
          <a:xfrm>
            <a:off x="7498080" y="2377440"/>
            <a:ext cx="82296" cy="3017520"/>
          </a:xfrm>
          <a:prstGeom prst="rect">
            <a:avLst/>
          </a:prstGeom>
          <a:solidFill>
            <a:srgbClr val="047857"/>
          </a:solidFill>
          <a:ln w="12700">
            <a:solidFill>
              <a:srgbClr val="047857"/>
            </a:solidFill>
            <a:prstDash val="solid"/>
          </a:ln>
        </p:spPr>
      </p:sp>
      <p:sp>
        <p:nvSpPr>
          <p:cNvPr id="10" name="Text 7"/>
          <p:cNvSpPr/>
          <p:nvPr/>
        </p:nvSpPr>
        <p:spPr>
          <a:xfrm>
            <a:off x="7662672" y="2423160"/>
            <a:ext cx="3886200" cy="2926080"/>
          </a:xfrm>
          <a:prstGeom prst="rect">
            <a:avLst/>
          </a:prstGeom>
          <a:noFill/>
          <a:ln/>
        </p:spPr>
        <p:txBody>
          <a:bodyPr wrap="square" rtlCol="0" anchor="t"/>
          <a:lstStyle/>
          <a:p>
            <a:pPr indent="0" marL="0">
              <a:spcAft>
                <a:spcPts val="200"/>
              </a:spcAft>
              <a:buNone/>
            </a:pPr>
            <a:r>
              <a:rPr lang="en-US" sz="1300" b="1" dirty="0">
                <a:solidFill>
                  <a:srgbClr val="047857"/>
                </a:solidFill>
                <a:latin typeface="Meiryo UI" pitchFamily="34" charset="0"/>
                <a:ea typeface="Meiryo UI" pitchFamily="34" charset="-122"/>
                <a:cs typeface="Meiryo UI" pitchFamily="34" charset="-120"/>
              </a:rPr>
              <a:t>【期待する結果】</a:t>
            </a:r>
            <a:endParaRPr lang="en-US" sz="1300" dirty="0"/>
          </a:p>
          <a:p>
            <a:pPr indent="0" marL="0">
              <a:spcAft>
                <a:spcPts val="200"/>
              </a:spcAft>
              <a:buNone/>
            </a:pPr>
            <a:r>
              <a:rPr lang="en-US" sz="1300" dirty="0">
                <a:solidFill>
                  <a:srgbClr val="1F2937"/>
                </a:solidFill>
                <a:latin typeface="Meiryo UI" pitchFamily="34" charset="0"/>
                <a:ea typeface="Meiryo UI" pitchFamily="34" charset="-122"/>
                <a:cs typeface="Meiryo UI" pitchFamily="34" charset="-120"/>
              </a:rPr>
              <a:t>All 6、Passed 6、Failed 0（10_Final の場合）。JSONPlaceholder は保存しないため、POST の後に GET しても新しいデータは取れない点に注意</a:t>
            </a:r>
            <a:endParaRPr lang="en-US" sz="1300" dirty="0"/>
          </a:p>
        </p:txBody>
      </p:sp>
      <p:sp>
        <p:nvSpPr>
          <p:cNvPr id="11" name="Shape 8"/>
          <p:cNvSpPr/>
          <p:nvPr/>
        </p:nvSpPr>
        <p:spPr>
          <a:xfrm>
            <a:off x="548640" y="5788152"/>
            <a:ext cx="11064240" cy="329184"/>
          </a:xfrm>
          <a:prstGeom prst="rect">
            <a:avLst/>
          </a:prstGeom>
          <a:solidFill>
            <a:srgbClr val="ECFDF5"/>
          </a:solidFill>
          <a:ln w="12700">
            <a:solidFill>
              <a:srgbClr val="047857"/>
            </a:solidFill>
            <a:prstDash val="solid"/>
          </a:ln>
        </p:spPr>
      </p:sp>
      <p:sp>
        <p:nvSpPr>
          <p:cNvPr id="12" name="Text 9"/>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samples の 10_Final を右クリック → Run → Recursive Run</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【演習10-5】CLI で実行してレポートを作る（任意）</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11064240" cy="914400"/>
        </p:xfrm>
        <a:graphic>
          <a:graphicData uri="http://schemas.openxmlformats.org/drawingml/2006/table">
            <a:tbl>
              <a:tblPr/>
              <a:tblGrid>
                <a:gridCol w="1463040"/>
                <a:gridCol w="9601200"/>
              </a:tblGrid>
              <a:tr h="411480">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目的</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コマンドで同じテストを実行し、結果をファイルに残す</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41148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事前準備</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Node.js と Bruno CLI が使えること（第9章 9-E）</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2057400"/>
            <a:ext cx="2743200" cy="320040"/>
          </a:xfrm>
          <a:prstGeom prst="rect">
            <a:avLst/>
          </a:prstGeom>
          <a:noFill/>
          <a:ln/>
        </p:spPr>
        <p:txBody>
          <a:bodyPr wrap="square" lIns="50800" tIns="50800" rIns="50800" bIns="50800" rtlCol="0" anchor="t"/>
          <a:lstStyle/>
          <a:p>
            <a:pPr algn="l" indent="0" marL="0">
              <a:buNone/>
            </a:pPr>
            <a:r>
              <a:rPr lang="en-US" sz="1500" b="1" dirty="0">
                <a:solidFill>
                  <a:srgbClr val="1F3A5F"/>
                </a:solidFill>
                <a:latin typeface="Meiryo UI" pitchFamily="34" charset="0"/>
                <a:ea typeface="Meiryo UI" pitchFamily="34" charset="-122"/>
                <a:cs typeface="Meiryo UI" pitchFamily="34" charset="-120"/>
              </a:rPr>
              <a:t>手順</a:t>
            </a:r>
            <a:endParaRPr lang="en-US" sz="1500" dirty="0"/>
          </a:p>
        </p:txBody>
      </p:sp>
      <p:sp>
        <p:nvSpPr>
          <p:cNvPr id="7" name="Text 4"/>
          <p:cNvSpPr/>
          <p:nvPr/>
        </p:nvSpPr>
        <p:spPr>
          <a:xfrm>
            <a:off x="548640" y="2377440"/>
            <a:ext cx="6766560" cy="3200400"/>
          </a:xfrm>
          <a:prstGeom prst="rect">
            <a:avLst/>
          </a:prstGeom>
          <a:noFill/>
          <a:ln/>
        </p:spPr>
        <p:txBody>
          <a:bodyPr wrap="square" rtlCol="0" anchor="t"/>
          <a:lstStyle/>
          <a:p>
            <a:pPr indent="0" marL="0">
              <a:spcAft>
                <a:spcPts val="6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600"/>
              </a:spcAft>
              <a:buNone/>
            </a:pPr>
            <a:r>
              <a:rPr lang="en-US" sz="1300" dirty="0">
                <a:solidFill>
                  <a:srgbClr val="1F2937"/>
                </a:solidFill>
                <a:latin typeface="Meiryo UI" pitchFamily="34" charset="0"/>
                <a:ea typeface="Meiryo UI" pitchFamily="34" charset="-122"/>
                <a:cs typeface="Meiryo UI" pitchFamily="34" charset="-120"/>
              </a:rPr>
              <a:t>ターミナルで Blog-API-Test のフォルダに移動</a:t>
            </a:r>
            <a:endParaRPr lang="en-US" sz="1300" dirty="0"/>
          </a:p>
          <a:p>
            <a:pPr indent="0" marL="0">
              <a:spcAft>
                <a:spcPts val="6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600"/>
              </a:spcAft>
              <a:buNone/>
            </a:pPr>
            <a:r>
              <a:rPr lang="en-US" sz="1300" dirty="0">
                <a:solidFill>
                  <a:srgbClr val="1F2937"/>
                </a:solidFill>
                <a:latin typeface="Meiryo UI" pitchFamily="34" charset="0"/>
                <a:ea typeface="Meiryo UI" pitchFamily="34" charset="-122"/>
                <a:cs typeface="Meiryo UI" pitchFamily="34" charset="-120"/>
              </a:rPr>
              <a:t>bru run -r --env JSONPlaceholder --reporter-html report.html を実行</a:t>
            </a:r>
            <a:endParaRPr lang="en-US" sz="1300" dirty="0"/>
          </a:p>
          <a:p>
            <a:pPr indent="0" marL="0">
              <a:spcAft>
                <a:spcPts val="600"/>
              </a:spcAft>
              <a:buNone/>
            </a:pPr>
            <a:r>
              <a:rPr lang="en-US" sz="1300" b="1" dirty="0">
                <a:solidFill>
                  <a:srgbClr val="E11D2E"/>
                </a:solidFill>
                <a:latin typeface="Meiryo UI" pitchFamily="34" charset="0"/>
                <a:ea typeface="Meiryo UI" pitchFamily="34" charset="-122"/>
                <a:cs typeface="Meiryo UI" pitchFamily="34" charset="-120"/>
              </a:rPr>
              <a:t>③ </a:t>
            </a:r>
            <a:pPr indent="0" marL="0">
              <a:spcAft>
                <a:spcPts val="600"/>
              </a:spcAft>
              <a:buNone/>
            </a:pPr>
            <a:r>
              <a:rPr lang="en-US" sz="1300" dirty="0">
                <a:solidFill>
                  <a:srgbClr val="1F2937"/>
                </a:solidFill>
                <a:latin typeface="Meiryo UI" pitchFamily="34" charset="0"/>
                <a:ea typeface="Meiryo UI" pitchFamily="34" charset="-122"/>
                <a:cs typeface="Meiryo UI" pitchFamily="34" charset="-120"/>
              </a:rPr>
              <a:t>できた report.html をブラウザで開く</a:t>
            </a:r>
            <a:endParaRPr lang="en-US" sz="1300" dirty="0"/>
          </a:p>
        </p:txBody>
      </p:sp>
      <p:sp>
        <p:nvSpPr>
          <p:cNvPr id="8" name="Shape 5"/>
          <p:cNvSpPr/>
          <p:nvPr/>
        </p:nvSpPr>
        <p:spPr>
          <a:xfrm>
            <a:off x="7498080" y="2377440"/>
            <a:ext cx="4114800" cy="3017520"/>
          </a:xfrm>
          <a:prstGeom prst="rect">
            <a:avLst/>
          </a:prstGeom>
          <a:solidFill>
            <a:srgbClr val="ECFDF5"/>
          </a:solidFill>
          <a:ln w="15875">
            <a:solidFill>
              <a:srgbClr val="047857"/>
            </a:solidFill>
            <a:prstDash val="solid"/>
          </a:ln>
        </p:spPr>
      </p:sp>
      <p:sp>
        <p:nvSpPr>
          <p:cNvPr id="9" name="Shape 6"/>
          <p:cNvSpPr/>
          <p:nvPr/>
        </p:nvSpPr>
        <p:spPr>
          <a:xfrm>
            <a:off x="7498080" y="2377440"/>
            <a:ext cx="82296" cy="3017520"/>
          </a:xfrm>
          <a:prstGeom prst="rect">
            <a:avLst/>
          </a:prstGeom>
          <a:solidFill>
            <a:srgbClr val="047857"/>
          </a:solidFill>
          <a:ln w="12700">
            <a:solidFill>
              <a:srgbClr val="047857"/>
            </a:solidFill>
            <a:prstDash val="solid"/>
          </a:ln>
        </p:spPr>
      </p:sp>
      <p:sp>
        <p:nvSpPr>
          <p:cNvPr id="10" name="Text 7"/>
          <p:cNvSpPr/>
          <p:nvPr/>
        </p:nvSpPr>
        <p:spPr>
          <a:xfrm>
            <a:off x="7662672" y="2423160"/>
            <a:ext cx="3886200" cy="2926080"/>
          </a:xfrm>
          <a:prstGeom prst="rect">
            <a:avLst/>
          </a:prstGeom>
          <a:noFill/>
          <a:ln/>
        </p:spPr>
        <p:txBody>
          <a:bodyPr wrap="square" rtlCol="0" anchor="t"/>
          <a:lstStyle/>
          <a:p>
            <a:pPr indent="0" marL="0">
              <a:spcAft>
                <a:spcPts val="200"/>
              </a:spcAft>
              <a:buNone/>
            </a:pPr>
            <a:r>
              <a:rPr lang="en-US" sz="1300" b="1" dirty="0">
                <a:solidFill>
                  <a:srgbClr val="047857"/>
                </a:solidFill>
                <a:latin typeface="Meiryo UI" pitchFamily="34" charset="0"/>
                <a:ea typeface="Meiryo UI" pitchFamily="34" charset="-122"/>
                <a:cs typeface="Meiryo UI" pitchFamily="34" charset="-120"/>
              </a:rPr>
              <a:t>【期待する結果】</a:t>
            </a:r>
            <a:endParaRPr lang="en-US" sz="1300" dirty="0"/>
          </a:p>
          <a:p>
            <a:pPr indent="0" marL="0">
              <a:spcAft>
                <a:spcPts val="200"/>
              </a:spcAft>
              <a:buNone/>
            </a:pPr>
            <a:r>
              <a:rPr lang="en-US" sz="1300" dirty="0">
                <a:solidFill>
                  <a:srgbClr val="1F2937"/>
                </a:solidFill>
                <a:latin typeface="Meiryo UI" pitchFamily="34" charset="0"/>
                <a:ea typeface="Meiryo UI" pitchFamily="34" charset="-122"/>
                <a:cs typeface="Meiryo UI" pitchFamily="34" charset="-120"/>
              </a:rPr>
              <a:t>ターミナルに Status ✓ PASS、Requests 6 (6 Passed)。report.html に件数と結果が表示される</a:t>
            </a:r>
            <a:endParaRPr lang="en-US" sz="1300" dirty="0"/>
          </a:p>
        </p:txBody>
      </p:sp>
      <p:sp>
        <p:nvSpPr>
          <p:cNvPr id="11" name="Shape 8"/>
          <p:cNvSpPr/>
          <p:nvPr/>
        </p:nvSpPr>
        <p:spPr>
          <a:xfrm>
            <a:off x="548640" y="5788152"/>
            <a:ext cx="11064240" cy="329184"/>
          </a:xfrm>
          <a:prstGeom prst="rect">
            <a:avLst/>
          </a:prstGeom>
          <a:solidFill>
            <a:srgbClr val="ECFDF5"/>
          </a:solidFill>
          <a:ln w="12700">
            <a:solidFill>
              <a:srgbClr val="047857"/>
            </a:solidFill>
            <a:prstDash val="solid"/>
          </a:ln>
        </p:spPr>
      </p:sp>
      <p:sp>
        <p:nvSpPr>
          <p:cNvPr id="12" name="Text 9"/>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CLI を使えない場合は演習10-4（画面の Runner）で代わりにします</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応用演習のよくある失敗と対処</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3383280"/>
                <a:gridCol w="4023360"/>
                <a:gridCol w="3657600"/>
              </a:tblGrid>
              <a:tr h="658368">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症状</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原因</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対処</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658368">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getaddrinfo ENOTFOUND {{baseurl}}</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環境を選んでいない、または変数名の大文字小文字が違う</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画面右上で環境を選ぶ。baseUrl の綴りを確認</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658368">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アサーションが Failed</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Value の値や型の違い（"1" と 1 など）</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レスポンスの実際の値を見て Value を直す</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658368">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Runner の順番が想定と違う</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サイドバーの並び順で実行される</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名前の番号で並べ替える</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658368">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bru: command not found</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CLI が入っていない、ターミナルを開き直していない</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npm install -g @usebruno/cli の後、ターミナルを開き直す</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658368">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bru run で何も実行されない</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コレクションのフォルダ以外で実行している</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opencollection.yml があるフォルダに cd する</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A5F"/>
        </a:solidFill>
      </p:bgPr>
    </p:bg>
    <p:spTree>
      <p:nvGrpSpPr>
        <p:cNvPr id="1" name=""/>
        <p:cNvGrpSpPr/>
        <p:nvPr/>
      </p:nvGrpSpPr>
      <p:grpSpPr>
        <a:xfrm>
          <a:off x="0" y="0"/>
          <a:ext cx="0" cy="0"/>
          <a:chOff x="0" y="0"/>
          <a:chExt cx="0" cy="0"/>
        </a:xfrm>
      </p:grpSpPr>
      <p:sp>
        <p:nvSpPr>
          <p:cNvPr id="2" name="Text 0"/>
          <p:cNvSpPr/>
          <p:nvPr/>
        </p:nvSpPr>
        <p:spPr>
          <a:xfrm>
            <a:off x="731520" y="1097280"/>
            <a:ext cx="10515600" cy="548640"/>
          </a:xfrm>
          <a:prstGeom prst="rect">
            <a:avLst/>
          </a:prstGeom>
          <a:noFill/>
          <a:ln/>
        </p:spPr>
        <p:txBody>
          <a:bodyPr wrap="square" lIns="50800" tIns="50800" rIns="50800" bIns="50800" rtlCol="0" anchor="t"/>
          <a:lstStyle/>
          <a:p>
            <a:pPr algn="l" indent="0" marL="0">
              <a:buNone/>
            </a:pPr>
            <a:r>
              <a:rPr lang="en-US" sz="2200" b="1" dirty="0">
                <a:solidFill>
                  <a:srgbClr val="FBBF24"/>
                </a:solidFill>
                <a:latin typeface="Meiryo UI" pitchFamily="34" charset="0"/>
                <a:ea typeface="Meiryo UI" pitchFamily="34" charset="-122"/>
                <a:cs typeface="Meiryo UI" pitchFamily="34" charset="-120"/>
              </a:rPr>
              <a:t>第10章　応用編</a:t>
            </a:r>
            <a:endParaRPr lang="en-US" sz="2200" dirty="0"/>
          </a:p>
        </p:txBody>
      </p:sp>
      <p:sp>
        <p:nvSpPr>
          <p:cNvPr id="3" name="Text 1"/>
          <p:cNvSpPr/>
          <p:nvPr/>
        </p:nvSpPr>
        <p:spPr>
          <a:xfrm>
            <a:off x="731520" y="1645920"/>
            <a:ext cx="10515600" cy="914400"/>
          </a:xfrm>
          <a:prstGeom prst="rect">
            <a:avLst/>
          </a:prstGeom>
          <a:noFill/>
          <a:ln/>
        </p:spPr>
        <p:txBody>
          <a:bodyPr wrap="square" lIns="50800" tIns="50800" rIns="50800" bIns="50800" rtlCol="0" anchor="t"/>
          <a:lstStyle/>
          <a:p>
            <a:pPr algn="l" indent="0" marL="0">
              <a:buNone/>
            </a:pPr>
            <a:r>
              <a:rPr lang="en-US" sz="3600" b="1" dirty="0">
                <a:solidFill>
                  <a:srgbClr val="FFFFFF"/>
                </a:solidFill>
                <a:latin typeface="Meiryo UI" pitchFamily="34" charset="0"/>
                <a:ea typeface="Meiryo UI" pitchFamily="34" charset="-122"/>
                <a:cs typeface="Meiryo UI" pitchFamily="34" charset="-120"/>
              </a:rPr>
              <a:t>Mambu API で法人の預金口座を開設する</a:t>
            </a:r>
            <a:endParaRPr lang="en-US" sz="3600" dirty="0"/>
          </a:p>
        </p:txBody>
      </p:sp>
      <p:sp>
        <p:nvSpPr>
          <p:cNvPr id="4" name="Text 2"/>
          <p:cNvSpPr/>
          <p:nvPr/>
        </p:nvSpPr>
        <p:spPr>
          <a:xfrm>
            <a:off x="731520" y="2560320"/>
            <a:ext cx="10515600" cy="457200"/>
          </a:xfrm>
          <a:prstGeom prst="rect">
            <a:avLst/>
          </a:prstGeom>
          <a:noFill/>
          <a:ln/>
        </p:spPr>
        <p:txBody>
          <a:bodyPr wrap="square" lIns="50800" tIns="50800" rIns="50800" bIns="50800" rtlCol="0" anchor="t"/>
          <a:lstStyle/>
          <a:p>
            <a:pPr algn="l" indent="0" marL="0">
              <a:buNone/>
            </a:pPr>
            <a:r>
              <a:rPr lang="en-US" sz="2000" b="1" dirty="0">
                <a:solidFill>
                  <a:srgbClr val="FCA5A5"/>
                </a:solidFill>
                <a:latin typeface="Meiryo UI" pitchFamily="34" charset="0"/>
                <a:ea typeface="Meiryo UI" pitchFamily="34" charset="-122"/>
                <a:cs typeface="Meiryo UI" pitchFamily="34" charset="-120"/>
              </a:rPr>
              <a:t>（机上演習：API は実行しません）</a:t>
            </a:r>
            <a:endParaRPr lang="en-US" sz="2000" dirty="0"/>
          </a:p>
        </p:txBody>
      </p:sp>
      <p:sp>
        <p:nvSpPr>
          <p:cNvPr id="5" name="Text 3"/>
          <p:cNvSpPr/>
          <p:nvPr/>
        </p:nvSpPr>
        <p:spPr>
          <a:xfrm>
            <a:off x="731520" y="3291840"/>
            <a:ext cx="10515600" cy="411480"/>
          </a:xfrm>
          <a:prstGeom prst="rect">
            <a:avLst/>
          </a:prstGeom>
          <a:noFill/>
          <a:ln/>
        </p:spPr>
        <p:txBody>
          <a:bodyPr wrap="square" lIns="50800" tIns="50800" rIns="50800" bIns="50800" rtlCol="0" anchor="t"/>
          <a:lstStyle/>
          <a:p>
            <a:pPr algn="l" indent="0" marL="0">
              <a:buNone/>
            </a:pPr>
            <a:r>
              <a:rPr lang="en-US" sz="1800" b="1" dirty="0">
                <a:solidFill>
                  <a:srgbClr val="FBBF24"/>
                </a:solidFill>
                <a:latin typeface="Meiryo UI" pitchFamily="34" charset="0"/>
                <a:ea typeface="Meiryo UI" pitchFamily="34" charset="-122"/>
                <a:cs typeface="Meiryo UI" pitchFamily="34" charset="-120"/>
              </a:rPr>
              <a:t>この節の流れ</a:t>
            </a:r>
            <a:endParaRPr lang="en-US" sz="1800" dirty="0"/>
          </a:p>
        </p:txBody>
      </p:sp>
      <p:sp>
        <p:nvSpPr>
          <p:cNvPr id="6" name="Text 4"/>
          <p:cNvSpPr/>
          <p:nvPr/>
        </p:nvSpPr>
        <p:spPr>
          <a:xfrm>
            <a:off x="731520" y="3703320"/>
            <a:ext cx="10515600" cy="1645920"/>
          </a:xfrm>
          <a:prstGeom prst="rect">
            <a:avLst/>
          </a:prstGeom>
          <a:noFill/>
          <a:ln/>
        </p:spPr>
        <p:txBody>
          <a:bodyPr wrap="square" lIns="50800" tIns="50800" rIns="50800" bIns="50800" rtlCol="0" anchor="t"/>
          <a:lstStyle/>
          <a:p>
            <a:pPr algn="l" indent="0" marL="0">
              <a:buNone/>
            </a:pPr>
            <a:r>
              <a:rPr lang="en-US" sz="1700" dirty="0">
                <a:solidFill>
                  <a:srgbClr val="FFFFFF"/>
                </a:solidFill>
                <a:latin typeface="Meiryo UI" pitchFamily="34" charset="0"/>
                <a:ea typeface="Meiryo UI" pitchFamily="34" charset="-122"/>
                <a:cs typeface="Meiryo UI" pitchFamily="34" charset="-120"/>
              </a:rPr>
              <a:t>① 基本を知る（Mambu・用語・法人の表し方・口座の状態）</a:t>
            </a:r>
            <a:endParaRPr lang="en-US" sz="1700" dirty="0"/>
          </a:p>
          <a:p>
            <a:pPr algn="l" indent="0" marL="0">
              <a:buNone/>
            </a:pPr>
            <a:r>
              <a:rPr lang="en-US" sz="1700" dirty="0">
                <a:solidFill>
                  <a:srgbClr val="FFFFFF"/>
                </a:solidFill>
                <a:latin typeface="Meiryo UI" pitchFamily="34" charset="0"/>
                <a:ea typeface="Meiryo UI" pitchFamily="34" charset="-122"/>
                <a:cs typeface="Meiryo UI" pitchFamily="34" charset="-120"/>
              </a:rPr>
              <a:t>② 準備する（受け取る値・Bruno の環境・共通ヘッダー）</a:t>
            </a:r>
            <a:endParaRPr lang="en-US" sz="1700" dirty="0"/>
          </a:p>
          <a:p>
            <a:pPr algn="l" indent="0" marL="0">
              <a:buNone/>
            </a:pPr>
            <a:r>
              <a:rPr lang="en-US" sz="1700" dirty="0">
                <a:solidFill>
                  <a:srgbClr val="FFFFFF"/>
                </a:solidFill>
                <a:latin typeface="Meiryo UI" pitchFamily="34" charset="0"/>
                <a:ea typeface="Meiryo UI" pitchFamily="34" charset="-122"/>
                <a:cs typeface="Meiryo UI" pitchFamily="34" charset="-120"/>
              </a:rPr>
              <a:t>③ 7 つのステップで、法人の顧客登録から利用開始までの 9 つのリクエストを Bruno で 1 つずつ作る</a:t>
            </a:r>
            <a:endParaRPr lang="en-US" sz="1700" dirty="0"/>
          </a:p>
          <a:p>
            <a:pPr algn="l" indent="0" marL="0">
              <a:buNone/>
            </a:pPr>
            <a:r>
              <a:rPr lang="en-US" sz="1700" dirty="0">
                <a:solidFill>
                  <a:srgbClr val="FFFFFF"/>
                </a:solidFill>
                <a:latin typeface="Meiryo UI" pitchFamily="34" charset="0"/>
                <a:ea typeface="Meiryo UI" pitchFamily="34" charset="-122"/>
                <a:cs typeface="Meiryo UI" pitchFamily="34" charset="-120"/>
              </a:rPr>
              <a:t>④ エラーと注意点</a:t>
            </a:r>
            <a:endParaRPr lang="en-US" sz="17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BD5E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この節について（必ず読んでください）</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6" name="Shape 4"/>
          <p:cNvSpPr/>
          <p:nvPr/>
        </p:nvSpPr>
        <p:spPr>
          <a:xfrm>
            <a:off x="548640" y="1188720"/>
            <a:ext cx="11064240" cy="1554480"/>
          </a:xfrm>
          <a:prstGeom prst="rect">
            <a:avLst/>
          </a:prstGeom>
          <a:solidFill>
            <a:srgbClr val="FEF2F2"/>
          </a:solidFill>
          <a:ln w="15875">
            <a:solidFill>
              <a:srgbClr val="B91C1C"/>
            </a:solidFill>
            <a:prstDash val="solid"/>
          </a:ln>
        </p:spPr>
      </p:sp>
      <p:sp>
        <p:nvSpPr>
          <p:cNvPr id="7" name="Shape 5"/>
          <p:cNvSpPr/>
          <p:nvPr/>
        </p:nvSpPr>
        <p:spPr>
          <a:xfrm>
            <a:off x="548640" y="1188720"/>
            <a:ext cx="82296" cy="1554480"/>
          </a:xfrm>
          <a:prstGeom prst="rect">
            <a:avLst/>
          </a:prstGeom>
          <a:solidFill>
            <a:srgbClr val="B91C1C"/>
          </a:solidFill>
          <a:ln w="12700">
            <a:solidFill>
              <a:srgbClr val="B91C1C"/>
            </a:solidFill>
            <a:prstDash val="solid"/>
          </a:ln>
        </p:spPr>
      </p:sp>
      <p:sp>
        <p:nvSpPr>
          <p:cNvPr id="8" name="Text 6"/>
          <p:cNvSpPr/>
          <p:nvPr/>
        </p:nvSpPr>
        <p:spPr>
          <a:xfrm>
            <a:off x="713232" y="1234440"/>
            <a:ext cx="10835640" cy="1463040"/>
          </a:xfrm>
          <a:prstGeom prst="rect">
            <a:avLst/>
          </a:prstGeom>
          <a:noFill/>
          <a:ln/>
        </p:spPr>
        <p:txBody>
          <a:bodyPr wrap="square" rtlCol="0" anchor="ctr"/>
          <a:lstStyle/>
          <a:p>
            <a:pPr indent="0" marL="0">
              <a:spcAft>
                <a:spcPts val="200"/>
              </a:spcAft>
              <a:buNone/>
            </a:pPr>
            <a:r>
              <a:rPr lang="en-US" sz="1400" b="1" dirty="0">
                <a:solidFill>
                  <a:srgbClr val="B91C1C"/>
                </a:solidFill>
                <a:latin typeface="Meiryo UI" pitchFamily="34" charset="0"/>
                <a:ea typeface="Meiryo UI" pitchFamily="34" charset="-122"/>
                <a:cs typeface="Meiryo UI" pitchFamily="34" charset="-120"/>
              </a:rPr>
              <a:t>【この節の API は実行していません】</a:t>
            </a:r>
            <a:endParaRPr lang="en-US" sz="1400" dirty="0"/>
          </a:p>
          <a:p>
            <a:pPr indent="0" marL="0">
              <a:spcAft>
                <a:spcPts val="200"/>
              </a:spcAft>
              <a:buNone/>
            </a:pPr>
            <a:r>
              <a:rPr lang="en-US" sz="1400" dirty="0">
                <a:solidFill>
                  <a:srgbClr val="1F2937"/>
                </a:solidFill>
                <a:latin typeface="Meiryo UI" pitchFamily="34" charset="0"/>
                <a:ea typeface="Meiryo UI" pitchFamily="34" charset="-122"/>
                <a:cs typeface="Meiryo UI" pitchFamily="34" charset="-120"/>
              </a:rPr>
              <a:t>Mambu の API を使うには、契約した環境（テナント）と API キーが必要です。この教材の作成環境にはどちらもないため、実際には送信していません。</a:t>
            </a:r>
            <a:endParaRPr lang="en-US" sz="1400" dirty="0"/>
          </a:p>
          <a:p>
            <a:pPr indent="0" marL="0">
              <a:spcAft>
                <a:spcPts val="200"/>
              </a:spcAft>
              <a:buNone/>
            </a:pPr>
            <a:r>
              <a:rPr lang="en-US" sz="1400" dirty="0">
                <a:solidFill>
                  <a:srgbClr val="1F2937"/>
                </a:solidFill>
                <a:latin typeface="Meiryo UI" pitchFamily="34" charset="0"/>
                <a:ea typeface="Meiryo UI" pitchFamily="34" charset="-122"/>
                <a:cs typeface="Meiryo UI" pitchFamily="34" charset="-120"/>
              </a:rPr>
              <a:t>この節の手順・項目名・ステータスコードは、Mambu 公式の API リファレンス（OpenAPI ファイル）と公式ドキュメントで確認した内容です。</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3017520"/>
          <a:ext cx="11064240" cy="914400"/>
        </p:xfrm>
        <a:graphic>
          <a:graphicData uri="http://schemas.openxmlformats.org/drawingml/2006/table">
            <a:tbl>
              <a:tblPr/>
              <a:tblGrid>
                <a:gridCol w="5532120"/>
                <a:gridCol w="5532120"/>
              </a:tblGrid>
              <a:tr h="548640">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この節でできること</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この節でできないこと</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54864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業務の API の流れを、Bruno の機能（環境・値の受け渡し・アサーション）と結びつけて理解する</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実際に口座を作る・結果を画面で確かめる</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自分のコレクションに 9 つのリクエストを作る（画面での入力・保存まで）</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組織ごとの設定（必須項目・承認の流れ）の確認</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bl>
          </a:graphicData>
        </a:graphic>
      </p:graphicFrame>
      <p:sp>
        <p:nvSpPr>
          <p:cNvPr id="10" name="Shape 7"/>
          <p:cNvSpPr/>
          <p:nvPr/>
        </p:nvSpPr>
        <p:spPr>
          <a:xfrm>
            <a:off x="548640" y="4800600"/>
            <a:ext cx="11064240" cy="822960"/>
          </a:xfrm>
          <a:prstGeom prst="rect">
            <a:avLst/>
          </a:prstGeom>
          <a:solidFill>
            <a:srgbClr val="F3F4F6"/>
          </a:solidFill>
          <a:ln w="15875">
            <a:solidFill>
              <a:srgbClr val="4B5563"/>
            </a:solidFill>
            <a:prstDash val="solid"/>
          </a:ln>
        </p:spPr>
      </p:sp>
      <p:sp>
        <p:nvSpPr>
          <p:cNvPr id="11" name="Shape 8"/>
          <p:cNvSpPr/>
          <p:nvPr/>
        </p:nvSpPr>
        <p:spPr>
          <a:xfrm>
            <a:off x="548640" y="4800600"/>
            <a:ext cx="82296" cy="822960"/>
          </a:xfrm>
          <a:prstGeom prst="rect">
            <a:avLst/>
          </a:prstGeom>
          <a:solidFill>
            <a:srgbClr val="4B5563"/>
          </a:solidFill>
          <a:ln w="12700">
            <a:solidFill>
              <a:srgbClr val="4B5563"/>
            </a:solidFill>
            <a:prstDash val="solid"/>
          </a:ln>
        </p:spPr>
      </p:sp>
      <p:sp>
        <p:nvSpPr>
          <p:cNvPr id="12" name="Text 9"/>
          <p:cNvSpPr/>
          <p:nvPr/>
        </p:nvSpPr>
        <p:spPr>
          <a:xfrm>
            <a:off x="713232" y="4846320"/>
            <a:ext cx="10835640" cy="731520"/>
          </a:xfrm>
          <a:prstGeom prst="rect">
            <a:avLst/>
          </a:prstGeom>
          <a:noFill/>
          <a:ln/>
        </p:spPr>
        <p:txBody>
          <a:bodyPr wrap="square" rtlCol="0" anchor="ctr"/>
          <a:lstStyle/>
          <a:p>
            <a:pPr indent="0" marL="0">
              <a:spcAft>
                <a:spcPts val="200"/>
              </a:spcAft>
              <a:buNone/>
            </a:pPr>
            <a:r>
              <a:rPr lang="en-US" sz="1300" b="1" dirty="0">
                <a:solidFill>
                  <a:srgbClr val="4B5563"/>
                </a:solidFill>
                <a:latin typeface="Meiryo UI" pitchFamily="34" charset="0"/>
                <a:ea typeface="Meiryo UI" pitchFamily="34" charset="-122"/>
                <a:cs typeface="Meiryo UI" pitchFamily="34" charset="-120"/>
              </a:rPr>
              <a:t>【実際に試すときは】</a:t>
            </a:r>
            <a:endParaRPr lang="en-US" sz="1300" dirty="0"/>
          </a:p>
          <a:p>
            <a:pPr indent="0" marL="0">
              <a:spcAft>
                <a:spcPts val="200"/>
              </a:spcAft>
              <a:buNone/>
            </a:pPr>
            <a:r>
              <a:rPr lang="en-US" sz="1300" dirty="0">
                <a:solidFill>
                  <a:srgbClr val="1F2937"/>
                </a:solidFill>
                <a:latin typeface="Meiryo UI" pitchFamily="34" charset="0"/>
                <a:ea typeface="Meiryo UI" pitchFamily="34" charset="-122"/>
                <a:cs typeface="Meiryo UI" pitchFamily="34" charset="-120"/>
              </a:rPr>
              <a:t>必ず組織のサンドボックス（練習・検証用の環境）で、組織の手順と許可に従ってください。本番環境では絶対に試さないでください。</a:t>
            </a:r>
            <a:endParaRPr lang="en-US" sz="13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Mambu とは</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6" name="Text 4"/>
          <p:cNvSpPr/>
          <p:nvPr/>
        </p:nvSpPr>
        <p:spPr>
          <a:xfrm>
            <a:off x="365760" y="6144768"/>
            <a:ext cx="11430000" cy="292608"/>
          </a:xfrm>
          <a:prstGeom prst="rect">
            <a:avLst/>
          </a:prstGeom>
          <a:noFill/>
          <a:ln/>
        </p:spPr>
        <p:txBody>
          <a:bodyPr wrap="square" rtlCol="0" anchor="t"/>
          <a:lstStyle/>
          <a:p>
            <a:pPr indent="0" marL="0">
              <a:buNone/>
            </a:pPr>
            <a:r>
              <a:rPr lang="en-US" sz="1000" dirty="0">
                <a:solidFill>
                  <a:srgbClr val="6B7280"/>
                </a:solidFill>
                <a:latin typeface="Meiryo UI" pitchFamily="34" charset="0"/>
                <a:ea typeface="Meiryo UI" pitchFamily="34" charset="-122"/>
                <a:cs typeface="Meiryo UI" pitchFamily="34" charset="-120"/>
              </a:rPr>
              <a:t>出典：https://docs.mambu.com/api/（2026-10-09 確認）</a:t>
            </a:r>
            <a:endParaRPr lang="en-US" sz="1000" dirty="0"/>
          </a:p>
        </p:txBody>
      </p:sp>
      <p:sp>
        <p:nvSpPr>
          <p:cNvPr id="7" name="Text 5"/>
          <p:cNvSpPr/>
          <p:nvPr/>
        </p:nvSpPr>
        <p:spPr>
          <a:xfrm>
            <a:off x="548640" y="1143000"/>
            <a:ext cx="11064240" cy="640080"/>
          </a:xfrm>
          <a:prstGeom prst="rect">
            <a:avLst/>
          </a:prstGeom>
          <a:noFill/>
          <a:ln/>
        </p:spPr>
        <p:txBody>
          <a:bodyPr wrap="square" lIns="50800" tIns="50800" rIns="50800" bIns="50800" rtlCol="0" anchor="t"/>
          <a:lstStyle/>
          <a:p>
            <a:pPr algn="l" indent="0" marL="0">
              <a:buNone/>
            </a:pPr>
            <a:r>
              <a:rPr lang="en-US" sz="1700" dirty="0">
                <a:solidFill>
                  <a:srgbClr val="1F2937"/>
                </a:solidFill>
                <a:latin typeface="Meiryo UI" pitchFamily="34" charset="0"/>
                <a:ea typeface="Meiryo UI" pitchFamily="34" charset="-122"/>
                <a:cs typeface="Meiryo UI" pitchFamily="34" charset="-120"/>
              </a:rPr>
              <a:t>Mambu（マンブー）は、銀行などの金融機関が使う「コアバンキングシステム」をクラウドで提供するサービスです。</a:t>
            </a:r>
            <a:endParaRPr lang="en-US" sz="1700" dirty="0"/>
          </a:p>
        </p:txBody>
      </p:sp>
      <p:sp>
        <p:nvSpPr>
          <p:cNvPr id="8" name="Shape 6"/>
          <p:cNvSpPr/>
          <p:nvPr/>
        </p:nvSpPr>
        <p:spPr>
          <a:xfrm>
            <a:off x="731520" y="2011680"/>
            <a:ext cx="3840480" cy="1188720"/>
          </a:xfrm>
          <a:prstGeom prst="roundRect">
            <a:avLst>
              <a:gd name="adj" fmla="val 6154"/>
            </a:avLst>
          </a:prstGeom>
          <a:solidFill>
            <a:srgbClr val="FEF3C7"/>
          </a:solidFill>
          <a:ln w="15875">
            <a:solidFill>
              <a:srgbClr val="D97706"/>
            </a:solidFill>
            <a:prstDash val="solid"/>
          </a:ln>
        </p:spPr>
      </p:sp>
      <p:sp>
        <p:nvSpPr>
          <p:cNvPr id="9" name="Text 7"/>
          <p:cNvSpPr/>
          <p:nvPr/>
        </p:nvSpPr>
        <p:spPr>
          <a:xfrm>
            <a:off x="731520" y="2011680"/>
            <a:ext cx="3840480" cy="1188720"/>
          </a:xfrm>
          <a:prstGeom prst="rect">
            <a:avLst/>
          </a:prstGeom>
          <a:noFill/>
          <a:ln/>
        </p:spPr>
        <p:txBody>
          <a:bodyPr wrap="square" lIns="50800" tIns="50800" rIns="50800" bIns="50800" rtlCol="0" anchor="ctr"/>
          <a:lstStyle/>
          <a:p>
            <a:pPr algn="ctr" indent="0" marL="0">
              <a:buNone/>
            </a:pPr>
            <a:r>
              <a:rPr lang="en-US" sz="1600" b="1" dirty="0">
                <a:solidFill>
                  <a:srgbClr val="1F2937"/>
                </a:solidFill>
                <a:latin typeface="Meiryo UI" pitchFamily="34" charset="0"/>
                <a:ea typeface="Meiryo UI" pitchFamily="34" charset="-122"/>
                <a:cs typeface="Meiryo UI" pitchFamily="34" charset="-120"/>
              </a:rPr>
              <a:t>コアバンキングシステム</a:t>
            </a:r>
            <a:endParaRPr lang="en-US" sz="1600" dirty="0"/>
          </a:p>
          <a:p>
            <a:pPr algn="ctr" indent="0" marL="0">
              <a:buNone/>
            </a:pPr>
            <a:r>
              <a:rPr lang="en-US" sz="1600" b="1" dirty="0">
                <a:solidFill>
                  <a:srgbClr val="1F2937"/>
                </a:solidFill>
                <a:latin typeface="Meiryo UI" pitchFamily="34" charset="0"/>
                <a:ea typeface="Meiryo UI" pitchFamily="34" charset="-122"/>
                <a:cs typeface="Meiryo UI" pitchFamily="34" charset="-120"/>
              </a:rPr>
              <a:t>＝ 銀行の中心となる台帳</a:t>
            </a:r>
            <a:endParaRPr lang="en-US" sz="1600" dirty="0"/>
          </a:p>
        </p:txBody>
      </p:sp>
      <p:sp>
        <p:nvSpPr>
          <p:cNvPr id="10" name="Text 8"/>
          <p:cNvSpPr/>
          <p:nvPr/>
        </p:nvSpPr>
        <p:spPr>
          <a:xfrm>
            <a:off x="4937760" y="1965960"/>
            <a:ext cx="6583680" cy="1645920"/>
          </a:xfrm>
          <a:prstGeom prst="rect">
            <a:avLst/>
          </a:prstGeom>
          <a:noFill/>
          <a:ln/>
        </p:spPr>
        <p:txBody>
          <a:bodyPr wrap="square" rtlCol="0" anchor="t"/>
          <a:lstStyle/>
          <a:p>
            <a:pPr marL="228600" indent="-228600">
              <a:spcAft>
                <a:spcPts val="800"/>
              </a:spcAft>
              <a:buSzPct val="100000"/>
              <a:buChar char="•"/>
            </a:pPr>
            <a:r>
              <a:rPr lang="en-US" sz="1600" dirty="0">
                <a:solidFill>
                  <a:srgbClr val="1F2937"/>
                </a:solidFill>
                <a:latin typeface="Meiryo UI" pitchFamily="34" charset="0"/>
                <a:ea typeface="Meiryo UI" pitchFamily="34" charset="-122"/>
                <a:cs typeface="Meiryo UI" pitchFamily="34" charset="-120"/>
              </a:rPr>
              <a:t>顧客（個人・法人）の情報</a:t>
            </a:r>
            <a:endParaRPr lang="en-US" sz="1600" dirty="0"/>
          </a:p>
          <a:p>
            <a:pPr marL="228600" indent="-228600">
              <a:spcAft>
                <a:spcPts val="800"/>
              </a:spcAft>
              <a:buSzPct val="100000"/>
              <a:buChar char="•"/>
            </a:pPr>
            <a:r>
              <a:rPr lang="en-US" sz="1600" dirty="0">
                <a:solidFill>
                  <a:srgbClr val="1F2937"/>
                </a:solidFill>
                <a:latin typeface="Meiryo UI" pitchFamily="34" charset="0"/>
                <a:ea typeface="Meiryo UI" pitchFamily="34" charset="-122"/>
                <a:cs typeface="Meiryo UI" pitchFamily="34" charset="-120"/>
              </a:rPr>
              <a:t>口座（普通預金・当座預金など）</a:t>
            </a:r>
            <a:endParaRPr lang="en-US" sz="1600" dirty="0"/>
          </a:p>
          <a:p>
            <a:pPr marL="228600" indent="-228600">
              <a:spcAft>
                <a:spcPts val="800"/>
              </a:spcAft>
              <a:buSzPct val="100000"/>
              <a:buChar char="•"/>
            </a:pPr>
            <a:r>
              <a:rPr lang="en-US" sz="1600" dirty="0">
                <a:solidFill>
                  <a:srgbClr val="1F2937"/>
                </a:solidFill>
                <a:latin typeface="Meiryo UI" pitchFamily="34" charset="0"/>
                <a:ea typeface="Meiryo UI" pitchFamily="34" charset="-122"/>
                <a:cs typeface="Meiryo UI" pitchFamily="34" charset="-120"/>
              </a:rPr>
              <a:t>入金・出金などの取引の記録</a:t>
            </a:r>
            <a:endParaRPr lang="en-US" sz="1600" dirty="0"/>
          </a:p>
          <a:p>
            <a:pPr marL="228600" indent="-228600">
              <a:spcAft>
                <a:spcPts val="800"/>
              </a:spcAft>
              <a:buSzPct val="100000"/>
              <a:buChar char="•"/>
            </a:pPr>
            <a:r>
              <a:rPr lang="en-US" sz="1600" dirty="0">
                <a:solidFill>
                  <a:srgbClr val="1F2937"/>
                </a:solidFill>
                <a:latin typeface="Meiryo UI" pitchFamily="34" charset="0"/>
                <a:ea typeface="Meiryo UI" pitchFamily="34" charset="-122"/>
                <a:cs typeface="Meiryo UI" pitchFamily="34" charset="-120"/>
              </a:rPr>
              <a:t>残高</a:t>
            </a:r>
            <a:endParaRPr lang="en-US" sz="1600" dirty="0"/>
          </a:p>
        </p:txBody>
      </p:sp>
      <p:sp>
        <p:nvSpPr>
          <p:cNvPr id="11" name="Text 9"/>
          <p:cNvSpPr/>
          <p:nvPr/>
        </p:nvSpPr>
        <p:spPr>
          <a:xfrm>
            <a:off x="548640" y="3840480"/>
            <a:ext cx="11064240" cy="640080"/>
          </a:xfrm>
          <a:prstGeom prst="rect">
            <a:avLst/>
          </a:prstGeom>
          <a:noFill/>
          <a:ln/>
        </p:spPr>
        <p:txBody>
          <a:bodyPr wrap="square" lIns="50800" tIns="50800" rIns="50800" bIns="50800" rtlCol="0" anchor="t"/>
          <a:lstStyle/>
          <a:p>
            <a:pPr algn="l" indent="0" marL="0">
              <a:buNone/>
            </a:pPr>
            <a:r>
              <a:rPr lang="en-US" sz="1500" dirty="0">
                <a:solidFill>
                  <a:srgbClr val="1F2937"/>
                </a:solidFill>
                <a:latin typeface="Meiryo UI" pitchFamily="34" charset="0"/>
                <a:ea typeface="Meiryo UI" pitchFamily="34" charset="-122"/>
                <a:cs typeface="Meiryo UI" pitchFamily="34" charset="-120"/>
              </a:rPr>
              <a:t>Mambu は、これらを API で操作できるようになっています。画面（Web の管理画面）で行う操作の多くを、API でも行えます。</a:t>
            </a:r>
            <a:endParaRPr lang="en-US" sz="15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なぜ API で口座を開設するのか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6" name="Shape 4"/>
          <p:cNvSpPr/>
          <p:nvPr/>
        </p:nvSpPr>
        <p:spPr>
          <a:xfrm>
            <a:off x="548640" y="1371600"/>
            <a:ext cx="2560320" cy="1097280"/>
          </a:xfrm>
          <a:prstGeom prst="roundRect">
            <a:avLst>
              <a:gd name="adj" fmla="val 6667"/>
            </a:avLst>
          </a:prstGeom>
          <a:solidFill>
            <a:srgbClr val="EFF6FF"/>
          </a:solidFill>
          <a:ln w="15875">
            <a:solidFill>
              <a:srgbClr val="1D4ED8"/>
            </a:solidFill>
            <a:prstDash val="solid"/>
          </a:ln>
        </p:spPr>
      </p:sp>
      <p:sp>
        <p:nvSpPr>
          <p:cNvPr id="7" name="Text 5"/>
          <p:cNvSpPr/>
          <p:nvPr/>
        </p:nvSpPr>
        <p:spPr>
          <a:xfrm>
            <a:off x="548640" y="1371600"/>
            <a:ext cx="2560320" cy="1097280"/>
          </a:xfrm>
          <a:prstGeom prst="rect">
            <a:avLst/>
          </a:prstGeom>
          <a:noFill/>
          <a:ln/>
        </p:spPr>
        <p:txBody>
          <a:bodyPr wrap="square" lIns="50800" tIns="50800" rIns="50800" bIns="50800" rtlCol="0" anchor="ctr"/>
          <a:lstStyle/>
          <a:p>
            <a:pPr algn="ctr" indent="0" marL="0">
              <a:buNone/>
            </a:pPr>
            <a:r>
              <a:rPr lang="en-US" sz="1600" dirty="0">
                <a:solidFill>
                  <a:srgbClr val="1F2937"/>
                </a:solidFill>
                <a:latin typeface="Meiryo UI" pitchFamily="34" charset="0"/>
                <a:ea typeface="Meiryo UI" pitchFamily="34" charset="-122"/>
                <a:cs typeface="Meiryo UI" pitchFamily="34" charset="-120"/>
              </a:rPr>
              <a:t>申込みの画面</a:t>
            </a:r>
            <a:endParaRPr lang="en-US" sz="1600" dirty="0"/>
          </a:p>
          <a:p>
            <a:pPr algn="ctr" indent="0" marL="0">
              <a:buNone/>
            </a:pPr>
            <a:r>
              <a:rPr lang="en-US" sz="1600" dirty="0">
                <a:solidFill>
                  <a:srgbClr val="1F2937"/>
                </a:solidFill>
                <a:latin typeface="Meiryo UI" pitchFamily="34" charset="0"/>
                <a:ea typeface="Meiryo UI" pitchFamily="34" charset="-122"/>
                <a:cs typeface="Meiryo UI" pitchFamily="34" charset="-120"/>
              </a:rPr>
              <a:t>（Web・アプリ）</a:t>
            </a:r>
            <a:endParaRPr lang="en-US" sz="1600" dirty="0"/>
          </a:p>
        </p:txBody>
      </p:sp>
      <p:sp>
        <p:nvSpPr>
          <p:cNvPr id="8" name="Shape 6"/>
          <p:cNvSpPr/>
          <p:nvPr/>
        </p:nvSpPr>
        <p:spPr>
          <a:xfrm>
            <a:off x="4023360" y="1371600"/>
            <a:ext cx="2926080" cy="1097280"/>
          </a:xfrm>
          <a:prstGeom prst="roundRect">
            <a:avLst>
              <a:gd name="adj" fmla="val 6667"/>
            </a:avLst>
          </a:prstGeom>
          <a:solidFill>
            <a:srgbClr val="EFF6FF"/>
          </a:solidFill>
          <a:ln w="15875">
            <a:solidFill>
              <a:srgbClr val="1D4ED8"/>
            </a:solidFill>
            <a:prstDash val="solid"/>
          </a:ln>
        </p:spPr>
      </p:sp>
      <p:sp>
        <p:nvSpPr>
          <p:cNvPr id="9" name="Text 7"/>
          <p:cNvSpPr/>
          <p:nvPr/>
        </p:nvSpPr>
        <p:spPr>
          <a:xfrm>
            <a:off x="4023360" y="1371600"/>
            <a:ext cx="2926080" cy="1097280"/>
          </a:xfrm>
          <a:prstGeom prst="rect">
            <a:avLst/>
          </a:prstGeom>
          <a:noFill/>
          <a:ln/>
        </p:spPr>
        <p:txBody>
          <a:bodyPr wrap="square" lIns="50800" tIns="50800" rIns="50800" bIns="50800" rtlCol="0" anchor="ctr"/>
          <a:lstStyle/>
          <a:p>
            <a:pPr algn="ctr" indent="0" marL="0">
              <a:buNone/>
            </a:pPr>
            <a:r>
              <a:rPr lang="en-US" sz="1600" dirty="0">
                <a:solidFill>
                  <a:srgbClr val="1F2937"/>
                </a:solidFill>
                <a:latin typeface="Meiryo UI" pitchFamily="34" charset="0"/>
                <a:ea typeface="Meiryo UI" pitchFamily="34" charset="-122"/>
                <a:cs typeface="Meiryo UI" pitchFamily="34" charset="-120"/>
              </a:rPr>
              <a:t>銀行のシステム</a:t>
            </a:r>
            <a:endParaRPr lang="en-US" sz="1600" dirty="0"/>
          </a:p>
          <a:p>
            <a:pPr algn="ctr" indent="0" marL="0">
              <a:buNone/>
            </a:pPr>
            <a:r>
              <a:rPr lang="en-US" sz="1600" dirty="0">
                <a:solidFill>
                  <a:srgbClr val="1F2937"/>
                </a:solidFill>
                <a:latin typeface="Meiryo UI" pitchFamily="34" charset="0"/>
                <a:ea typeface="Meiryo UI" pitchFamily="34" charset="-122"/>
                <a:cs typeface="Meiryo UI" pitchFamily="34" charset="-120"/>
              </a:rPr>
              <a:t>（審査・本人確認）</a:t>
            </a:r>
            <a:endParaRPr lang="en-US" sz="1600" dirty="0"/>
          </a:p>
        </p:txBody>
      </p:sp>
      <p:sp>
        <p:nvSpPr>
          <p:cNvPr id="10" name="Shape 8"/>
          <p:cNvSpPr/>
          <p:nvPr/>
        </p:nvSpPr>
        <p:spPr>
          <a:xfrm>
            <a:off x="7863840" y="1371600"/>
            <a:ext cx="3291840" cy="1097280"/>
          </a:xfrm>
          <a:prstGeom prst="roundRect">
            <a:avLst>
              <a:gd name="adj" fmla="val 6667"/>
            </a:avLst>
          </a:prstGeom>
          <a:solidFill>
            <a:srgbClr val="FEF3C7"/>
          </a:solidFill>
          <a:ln w="15875">
            <a:solidFill>
              <a:srgbClr val="D97706"/>
            </a:solidFill>
            <a:prstDash val="solid"/>
          </a:ln>
        </p:spPr>
      </p:sp>
      <p:sp>
        <p:nvSpPr>
          <p:cNvPr id="11" name="Text 9"/>
          <p:cNvSpPr/>
          <p:nvPr/>
        </p:nvSpPr>
        <p:spPr>
          <a:xfrm>
            <a:off x="7863840" y="1371600"/>
            <a:ext cx="3291840" cy="1097280"/>
          </a:xfrm>
          <a:prstGeom prst="rect">
            <a:avLst/>
          </a:prstGeom>
          <a:noFill/>
          <a:ln/>
        </p:spPr>
        <p:txBody>
          <a:bodyPr wrap="square" lIns="50800" tIns="50800" rIns="50800" bIns="50800" rtlCol="0" anchor="ctr"/>
          <a:lstStyle/>
          <a:p>
            <a:pPr algn="ctr" indent="0" marL="0">
              <a:buNone/>
            </a:pPr>
            <a:r>
              <a:rPr lang="en-US" sz="1600" b="1" dirty="0">
                <a:solidFill>
                  <a:srgbClr val="1F2937"/>
                </a:solidFill>
                <a:latin typeface="Meiryo UI" pitchFamily="34" charset="0"/>
                <a:ea typeface="Meiryo UI" pitchFamily="34" charset="-122"/>
                <a:cs typeface="Meiryo UI" pitchFamily="34" charset="-120"/>
              </a:rPr>
              <a:t>Mambu</a:t>
            </a:r>
            <a:endParaRPr lang="en-US" sz="1600" dirty="0"/>
          </a:p>
          <a:p>
            <a:pPr algn="ctr" indent="0" marL="0">
              <a:buNone/>
            </a:pPr>
            <a:r>
              <a:rPr lang="en-US" sz="1600" b="1" dirty="0">
                <a:solidFill>
                  <a:srgbClr val="1F2937"/>
                </a:solidFill>
                <a:latin typeface="Meiryo UI" pitchFamily="34" charset="0"/>
                <a:ea typeface="Meiryo UI" pitchFamily="34" charset="-122"/>
                <a:cs typeface="Meiryo UI" pitchFamily="34" charset="-120"/>
              </a:rPr>
              <a:t>（顧客・口座の台帳）</a:t>
            </a:r>
            <a:endParaRPr lang="en-US" sz="1600" dirty="0"/>
          </a:p>
        </p:txBody>
      </p:sp>
      <p:sp>
        <p:nvSpPr>
          <p:cNvPr id="12" name="Shape 10"/>
          <p:cNvSpPr/>
          <p:nvPr/>
        </p:nvSpPr>
        <p:spPr>
          <a:xfrm>
            <a:off x="3154680" y="1920240"/>
            <a:ext cx="822960" cy="914"/>
          </a:xfrm>
          <a:prstGeom prst="line">
            <a:avLst/>
          </a:prstGeom>
          <a:noFill/>
          <a:ln w="31750">
            <a:solidFill>
              <a:srgbClr val="D97706"/>
            </a:solidFill>
            <a:prstDash val="solid"/>
            <a:tailEnd type="triangle"/>
          </a:ln>
        </p:spPr>
      </p:sp>
      <p:sp>
        <p:nvSpPr>
          <p:cNvPr id="13" name="Shape 11"/>
          <p:cNvSpPr/>
          <p:nvPr/>
        </p:nvSpPr>
        <p:spPr>
          <a:xfrm>
            <a:off x="6995160" y="1920240"/>
            <a:ext cx="822960" cy="914"/>
          </a:xfrm>
          <a:prstGeom prst="line">
            <a:avLst/>
          </a:prstGeom>
          <a:noFill/>
          <a:ln w="31750">
            <a:solidFill>
              <a:srgbClr val="D97706"/>
            </a:solidFill>
            <a:prstDash val="solid"/>
            <a:tailEnd type="triangle"/>
          </a:ln>
        </p:spPr>
      </p:sp>
      <p:sp>
        <p:nvSpPr>
          <p:cNvPr id="14" name="Text 12"/>
          <p:cNvSpPr/>
          <p:nvPr/>
        </p:nvSpPr>
        <p:spPr>
          <a:xfrm>
            <a:off x="5943600" y="1536192"/>
            <a:ext cx="2926080" cy="329184"/>
          </a:xfrm>
          <a:prstGeom prst="rect">
            <a:avLst/>
          </a:prstGeom>
          <a:noFill/>
          <a:ln/>
        </p:spPr>
        <p:txBody>
          <a:bodyPr wrap="square" rtlCol="0" anchor="ctr"/>
          <a:lstStyle/>
          <a:p>
            <a:pPr algn="ctr" indent="0" marL="0">
              <a:buNone/>
            </a:pPr>
            <a:r>
              <a:rPr lang="en-US" sz="1300" b="1" dirty="0">
                <a:solidFill>
                  <a:srgbClr val="D97706"/>
                </a:solidFill>
                <a:latin typeface="Meiryo UI" pitchFamily="34" charset="0"/>
                <a:ea typeface="Meiryo UI" pitchFamily="34" charset="-122"/>
                <a:cs typeface="Meiryo UI" pitchFamily="34" charset="-120"/>
              </a:rPr>
              <a:t>API</a:t>
            </a:r>
            <a:endParaRPr lang="en-US" sz="1300" dirty="0"/>
          </a:p>
        </p:txBody>
      </p:sp>
      <p:sp>
        <p:nvSpPr>
          <p:cNvPr id="15" name="Text 13"/>
          <p:cNvSpPr/>
          <p:nvPr/>
        </p:nvSpPr>
        <p:spPr>
          <a:xfrm>
            <a:off x="548640" y="2926080"/>
            <a:ext cx="11064240" cy="1828800"/>
          </a:xfrm>
          <a:prstGeom prst="rect">
            <a:avLst/>
          </a:prstGeom>
          <a:noFill/>
          <a:ln/>
        </p:spPr>
        <p:txBody>
          <a:bodyPr wrap="square" rtlCol="0" anchor="t"/>
          <a:lstStyle/>
          <a:p>
            <a:pPr marL="228600" indent="-228600">
              <a:spcAft>
                <a:spcPts val="800"/>
              </a:spcAft>
              <a:buSzPct val="100000"/>
              <a:buChar char="•"/>
            </a:pPr>
            <a:r>
              <a:rPr lang="en-US" sz="1600" dirty="0">
                <a:solidFill>
                  <a:srgbClr val="1F2937"/>
                </a:solidFill>
                <a:latin typeface="Meiryo UI" pitchFamily="34" charset="0"/>
                <a:ea typeface="Meiryo UI" pitchFamily="34" charset="-122"/>
                <a:cs typeface="Meiryo UI" pitchFamily="34" charset="-120"/>
              </a:rPr>
              <a:t>申込みから口座開設までを、人の手を介さずにつなげられる</a:t>
            </a:r>
            <a:endParaRPr lang="en-US" sz="1600" dirty="0"/>
          </a:p>
          <a:p>
            <a:pPr marL="228600" indent="-228600">
              <a:spcAft>
                <a:spcPts val="800"/>
              </a:spcAft>
              <a:buSzPct val="100000"/>
              <a:buChar char="•"/>
            </a:pPr>
            <a:r>
              <a:rPr lang="en-US" sz="1600" dirty="0">
                <a:solidFill>
                  <a:srgbClr val="1F2937"/>
                </a:solidFill>
                <a:latin typeface="Meiryo UI" pitchFamily="34" charset="0"/>
                <a:ea typeface="Meiryo UI" pitchFamily="34" charset="-122"/>
                <a:cs typeface="Meiryo UI" pitchFamily="34" charset="-120"/>
              </a:rPr>
              <a:t>同じ手順を毎回正確に繰り返せる（入力ミスが減る）</a:t>
            </a:r>
            <a:endParaRPr lang="en-US" sz="1600" dirty="0"/>
          </a:p>
          <a:p>
            <a:pPr marL="228600" indent="-228600">
              <a:spcAft>
                <a:spcPts val="800"/>
              </a:spcAft>
              <a:buSzPct val="100000"/>
              <a:buChar char="•"/>
            </a:pPr>
            <a:r>
              <a:rPr lang="en-US" sz="1600" dirty="0">
                <a:solidFill>
                  <a:srgbClr val="1F2937"/>
                </a:solidFill>
                <a:latin typeface="Meiryo UI" pitchFamily="34" charset="0"/>
                <a:ea typeface="Meiryo UI" pitchFamily="34" charset="-122"/>
                <a:cs typeface="Meiryo UI" pitchFamily="34" charset="-120"/>
              </a:rPr>
              <a:t>テストでは、Bruno で 1 つずつ API を送って動きを確かめる</a:t>
            </a:r>
            <a:endParaRPr lang="en-US" sz="1600" dirty="0"/>
          </a:p>
        </p:txBody>
      </p:sp>
      <p:sp>
        <p:nvSpPr>
          <p:cNvPr id="16" name="Text 14"/>
          <p:cNvSpPr/>
          <p:nvPr/>
        </p:nvSpPr>
        <p:spPr>
          <a:xfrm>
            <a:off x="548640" y="4937760"/>
            <a:ext cx="11064240" cy="365760"/>
          </a:xfrm>
          <a:prstGeom prst="rect">
            <a:avLst/>
          </a:prstGeom>
          <a:noFill/>
          <a:ln/>
        </p:spPr>
        <p:txBody>
          <a:bodyPr wrap="square" lIns="50800" tIns="50800" rIns="50800" bIns="50800" rtlCol="0" anchor="t"/>
          <a:lstStyle/>
          <a:p>
            <a:pPr algn="l" indent="0" marL="0">
              <a:buNone/>
            </a:pPr>
            <a:r>
              <a:rPr lang="en-US" sz="1200" dirty="0">
                <a:solidFill>
                  <a:srgbClr val="6B7280"/>
                </a:solidFill>
                <a:latin typeface="Meiryo UI" pitchFamily="34" charset="0"/>
                <a:ea typeface="Meiryo UI" pitchFamily="34" charset="-122"/>
                <a:cs typeface="Meiryo UI" pitchFamily="34" charset="-120"/>
              </a:rPr>
              <a:t>※ システム構成は説明のための一般的な例です。</a:t>
            </a:r>
            <a:endParaRPr lang="en-US" sz="12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この節で出てくる言葉</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11064240" cy="914400"/>
        </p:xfrm>
        <a:graphic>
          <a:graphicData uri="http://schemas.openxmlformats.org/drawingml/2006/table">
            <a:tbl>
              <a:tblPr/>
              <a:tblGrid>
                <a:gridCol w="3291840"/>
                <a:gridCol w="7772400"/>
              </a:tblGrid>
              <a:tr h="475488">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言葉</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意味</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475488">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テナント</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契約した組織ごとの Mambu の環境。URL の一部になる（例：xxx.mambu.com の xxx）</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サンドボックス</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練習・検証用のテナント。本番とは別</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75488">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Client（クライアント）</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個人の顧客。※ 第1章の「クライアント（頼む側）」とは別の意味</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Group（グループ）</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個人ではない顧客。法人はこれで登録する</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75488">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預金商品（Deposit Product）</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口座の種類のひな形（当座預金・普通預金など）。テナントで設定されている</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預金口座（Deposit Account）</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顧客ごとに作る口座。商品を元に作る</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75488">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取引チャネル（Transaction Channel）</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入金・出金の方法（窓口・振込など）。テナントで設定されている</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encodedKey／id</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データを指す 2 種類の識別子（次のスライドで説明）</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bl>
          </a:graphicData>
        </a:graphic>
      </p:graphicFrame>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法人の表し方：Group（グループ）</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6" name="Text 4"/>
          <p:cNvSpPr/>
          <p:nvPr/>
        </p:nvSpPr>
        <p:spPr>
          <a:xfrm>
            <a:off x="365760" y="6144768"/>
            <a:ext cx="11430000" cy="292608"/>
          </a:xfrm>
          <a:prstGeom prst="rect">
            <a:avLst/>
          </a:prstGeom>
          <a:noFill/>
          <a:ln/>
        </p:spPr>
        <p:txBody>
          <a:bodyPr wrap="square" rtlCol="0" anchor="t"/>
          <a:lstStyle/>
          <a:p>
            <a:pPr indent="0" marL="0">
              <a:buNone/>
            </a:pPr>
            <a:r>
              <a:rPr lang="en-US" sz="1000" dirty="0">
                <a:solidFill>
                  <a:srgbClr val="6B7280"/>
                </a:solidFill>
                <a:latin typeface="Meiryo UI" pitchFamily="34" charset="0"/>
                <a:ea typeface="Meiryo UI" pitchFamily="34" charset="-122"/>
                <a:cs typeface="Meiryo UI" pitchFamily="34" charset="-120"/>
              </a:rPr>
              <a:t>出典：https://docs.mambu.com/docs/clients-and-groups-overview/（2026-10-09 確認）</a:t>
            </a:r>
            <a:endParaRPr lang="en-US" sz="1000" dirty="0"/>
          </a:p>
        </p:txBody>
      </p:sp>
      <p:sp>
        <p:nvSpPr>
          <p:cNvPr id="7" name="Text 5"/>
          <p:cNvSpPr/>
          <p:nvPr/>
        </p:nvSpPr>
        <p:spPr>
          <a:xfrm>
            <a:off x="548640" y="1097280"/>
            <a:ext cx="11064240" cy="502920"/>
          </a:xfrm>
          <a:prstGeom prst="rect">
            <a:avLst/>
          </a:prstGeom>
          <a:solidFill>
            <a:srgbClr val="F8FAFC"/>
          </a:solidFill>
          <a:ln/>
        </p:spPr>
        <p:txBody>
          <a:bodyPr wrap="square" lIns="50800" tIns="50800" rIns="50800" bIns="50800" rtlCol="0" anchor="t"/>
          <a:lstStyle/>
          <a:p>
            <a:pPr algn="l" indent="0" marL="0">
              <a:buNone/>
            </a:pPr>
            <a:r>
              <a:rPr lang="en-US" sz="1400" i="1" dirty="0">
                <a:solidFill>
                  <a:srgbClr val="1F2937"/>
                </a:solidFill>
                <a:latin typeface="Meiryo UI" pitchFamily="34" charset="0"/>
                <a:ea typeface="Meiryo UI" pitchFamily="34" charset="-122"/>
                <a:cs typeface="Meiryo UI" pitchFamily="34" charset="-120"/>
              </a:rPr>
              <a:t>"A group account is used for a client that is not an individual person, such as a business or legal entity."</a:t>
            </a:r>
            <a:endParaRPr lang="en-US" sz="1400" dirty="0"/>
          </a:p>
        </p:txBody>
      </p:sp>
      <p:sp>
        <p:nvSpPr>
          <p:cNvPr id="8" name="Text 6"/>
          <p:cNvSpPr/>
          <p:nvPr/>
        </p:nvSpPr>
        <p:spPr>
          <a:xfrm>
            <a:off x="548640" y="1691640"/>
            <a:ext cx="11064240" cy="457200"/>
          </a:xfrm>
          <a:prstGeom prst="rect">
            <a:avLst/>
          </a:prstGeom>
          <a:noFill/>
          <a:ln/>
        </p:spPr>
        <p:txBody>
          <a:bodyPr wrap="square" lIns="50800" tIns="50800" rIns="50800" bIns="50800" rtlCol="0" anchor="t"/>
          <a:lstStyle/>
          <a:p>
            <a:pPr algn="l" indent="0" marL="0">
              <a:buNone/>
            </a:pPr>
            <a:r>
              <a:rPr lang="en-US" sz="1500" b="1" dirty="0">
                <a:solidFill>
                  <a:srgbClr val="1F2937"/>
                </a:solidFill>
                <a:latin typeface="Meiryo UI" pitchFamily="34" charset="0"/>
                <a:ea typeface="Meiryo UI" pitchFamily="34" charset="-122"/>
                <a:cs typeface="Meiryo UI" pitchFamily="34" charset="-120"/>
              </a:rPr>
              <a:t>＝ 会社などの「個人ではない顧客」は Group として登録します。法人専用の種類（Company など）はありません。</a:t>
            </a:r>
            <a:endParaRPr lang="en-US" sz="1500" dirty="0"/>
          </a:p>
        </p:txBody>
      </p:sp>
      <p:sp>
        <p:nvSpPr>
          <p:cNvPr id="9" name="Shape 7"/>
          <p:cNvSpPr/>
          <p:nvPr/>
        </p:nvSpPr>
        <p:spPr>
          <a:xfrm>
            <a:off x="731520" y="2468880"/>
            <a:ext cx="3931920" cy="1463040"/>
          </a:xfrm>
          <a:prstGeom prst="roundRect">
            <a:avLst>
              <a:gd name="adj" fmla="val 5000"/>
            </a:avLst>
          </a:prstGeom>
          <a:solidFill>
            <a:srgbClr val="FEF3C7"/>
          </a:solidFill>
          <a:ln w="15875">
            <a:solidFill>
              <a:srgbClr val="D97706"/>
            </a:solidFill>
            <a:prstDash val="solid"/>
          </a:ln>
        </p:spPr>
      </p:sp>
      <p:sp>
        <p:nvSpPr>
          <p:cNvPr id="10" name="Text 8"/>
          <p:cNvSpPr/>
          <p:nvPr/>
        </p:nvSpPr>
        <p:spPr>
          <a:xfrm>
            <a:off x="731520" y="2468880"/>
            <a:ext cx="3931920" cy="1463040"/>
          </a:xfrm>
          <a:prstGeom prst="rect">
            <a:avLst/>
          </a:prstGeom>
          <a:noFill/>
          <a:ln/>
        </p:spPr>
        <p:txBody>
          <a:bodyPr wrap="square" lIns="50800" tIns="50800" rIns="50800" bIns="50800" rtlCol="0" anchor="ctr"/>
          <a:lstStyle/>
          <a:p>
            <a:pPr algn="ctr" indent="0" marL="0">
              <a:buNone/>
            </a:pPr>
            <a:r>
              <a:rPr lang="en-US" sz="1400" b="1" dirty="0">
                <a:solidFill>
                  <a:srgbClr val="1F2937"/>
                </a:solidFill>
                <a:latin typeface="Meiryo UI" pitchFamily="34" charset="0"/>
                <a:ea typeface="Meiryo UI" pitchFamily="34" charset="-122"/>
                <a:cs typeface="Meiryo UI" pitchFamily="34" charset="-120"/>
              </a:rPr>
              <a:t>Group（法人）</a:t>
            </a:r>
            <a:endParaRPr lang="en-US" sz="1400" dirty="0"/>
          </a:p>
          <a:p>
            <a:pPr algn="ctr" indent="0" marL="0">
              <a:buNone/>
            </a:pPr>
            <a:r>
              <a:rPr lang="en-US" sz="1400" b="1" dirty="0">
                <a:solidFill>
                  <a:srgbClr val="1F2937"/>
                </a:solidFill>
                <a:latin typeface="Meiryo UI" pitchFamily="34" charset="0"/>
                <a:ea typeface="Meiryo UI" pitchFamily="34" charset="-122"/>
                <a:cs typeface="Meiryo UI" pitchFamily="34" charset="-120"/>
              </a:rPr>
              <a:t>株式会社サンプル</a:t>
            </a:r>
            <a:endParaRPr lang="en-US" sz="1400" dirty="0"/>
          </a:p>
          <a:p>
            <a:pPr algn="ctr" indent="0" marL="0">
              <a:buNone/>
            </a:pPr>
            <a:r>
              <a:rPr lang="en-US" sz="1400" b="1" dirty="0">
                <a:solidFill>
                  <a:srgbClr val="1F2937"/>
                </a:solidFill>
                <a:latin typeface="Meiryo UI" pitchFamily="34" charset="0"/>
                <a:ea typeface="Meiryo UI" pitchFamily="34" charset="-122"/>
                <a:cs typeface="Meiryo UI" pitchFamily="34" charset="-120"/>
              </a:rPr>
              <a:t>種類：法人（groupRoleKey）</a:t>
            </a:r>
            <a:endParaRPr lang="en-US" sz="1400" dirty="0"/>
          </a:p>
        </p:txBody>
      </p:sp>
      <p:sp>
        <p:nvSpPr>
          <p:cNvPr id="11" name="Shape 9"/>
          <p:cNvSpPr/>
          <p:nvPr/>
        </p:nvSpPr>
        <p:spPr>
          <a:xfrm>
            <a:off x="6035040" y="2286000"/>
            <a:ext cx="3291840" cy="822960"/>
          </a:xfrm>
          <a:prstGeom prst="roundRect">
            <a:avLst>
              <a:gd name="adj" fmla="val 8889"/>
            </a:avLst>
          </a:prstGeom>
          <a:solidFill>
            <a:srgbClr val="EFF6FF"/>
          </a:solidFill>
          <a:ln w="15875">
            <a:solidFill>
              <a:srgbClr val="1D4ED8"/>
            </a:solidFill>
            <a:prstDash val="solid"/>
          </a:ln>
        </p:spPr>
      </p:sp>
      <p:sp>
        <p:nvSpPr>
          <p:cNvPr id="12" name="Text 10"/>
          <p:cNvSpPr/>
          <p:nvPr/>
        </p:nvSpPr>
        <p:spPr>
          <a:xfrm>
            <a:off x="6035040" y="2286000"/>
            <a:ext cx="3291840" cy="822960"/>
          </a:xfrm>
          <a:prstGeom prst="rect">
            <a:avLst/>
          </a:prstGeom>
          <a:noFill/>
          <a:ln/>
        </p:spPr>
        <p:txBody>
          <a:bodyPr wrap="square" lIns="50800" tIns="50800" rIns="50800" bIns="50800" rtlCol="0" anchor="ctr"/>
          <a:lstStyle/>
          <a:p>
            <a:pPr algn="ctr" indent="0" marL="0">
              <a:buNone/>
            </a:pPr>
            <a:r>
              <a:rPr lang="en-US" sz="1300" dirty="0">
                <a:solidFill>
                  <a:srgbClr val="1F2937"/>
                </a:solidFill>
                <a:latin typeface="Meiryo UI" pitchFamily="34" charset="0"/>
                <a:ea typeface="Meiryo UI" pitchFamily="34" charset="-122"/>
                <a:cs typeface="Meiryo UI" pitchFamily="34" charset="-120"/>
              </a:rPr>
              <a:t>Client：山田 太郎</a:t>
            </a:r>
            <a:endParaRPr lang="en-US" sz="1300" dirty="0"/>
          </a:p>
          <a:p>
            <a:pPr algn="ctr" indent="0" marL="0">
              <a:buNone/>
            </a:pPr>
            <a:r>
              <a:rPr lang="en-US" sz="1300" dirty="0">
                <a:solidFill>
                  <a:srgbClr val="1F2937"/>
                </a:solidFill>
                <a:latin typeface="Meiryo UI" pitchFamily="34" charset="0"/>
                <a:ea typeface="Meiryo UI" pitchFamily="34" charset="-122"/>
                <a:cs typeface="Meiryo UI" pitchFamily="34" charset="-120"/>
              </a:rPr>
              <a:t>役職：代表取締役</a:t>
            </a:r>
            <a:endParaRPr lang="en-US" sz="1300" dirty="0"/>
          </a:p>
        </p:txBody>
      </p:sp>
      <p:sp>
        <p:nvSpPr>
          <p:cNvPr id="13" name="Shape 11"/>
          <p:cNvSpPr/>
          <p:nvPr/>
        </p:nvSpPr>
        <p:spPr>
          <a:xfrm>
            <a:off x="6035040" y="3337560"/>
            <a:ext cx="3291840" cy="822960"/>
          </a:xfrm>
          <a:prstGeom prst="roundRect">
            <a:avLst>
              <a:gd name="adj" fmla="val 8889"/>
            </a:avLst>
          </a:prstGeom>
          <a:solidFill>
            <a:srgbClr val="EFF6FF"/>
          </a:solidFill>
          <a:ln w="15875">
            <a:solidFill>
              <a:srgbClr val="1D4ED8"/>
            </a:solidFill>
            <a:prstDash val="solid"/>
          </a:ln>
        </p:spPr>
      </p:sp>
      <p:sp>
        <p:nvSpPr>
          <p:cNvPr id="14" name="Text 12"/>
          <p:cNvSpPr/>
          <p:nvPr/>
        </p:nvSpPr>
        <p:spPr>
          <a:xfrm>
            <a:off x="6035040" y="3337560"/>
            <a:ext cx="3291840" cy="822960"/>
          </a:xfrm>
          <a:prstGeom prst="rect">
            <a:avLst/>
          </a:prstGeom>
          <a:noFill/>
          <a:ln/>
        </p:spPr>
        <p:txBody>
          <a:bodyPr wrap="square" lIns="50800" tIns="50800" rIns="50800" bIns="50800" rtlCol="0" anchor="ctr"/>
          <a:lstStyle/>
          <a:p>
            <a:pPr algn="ctr" indent="0" marL="0">
              <a:buNone/>
            </a:pPr>
            <a:r>
              <a:rPr lang="en-US" sz="1300" dirty="0">
                <a:solidFill>
                  <a:srgbClr val="1F2937"/>
                </a:solidFill>
                <a:latin typeface="Meiryo UI" pitchFamily="34" charset="0"/>
                <a:ea typeface="Meiryo UI" pitchFamily="34" charset="-122"/>
                <a:cs typeface="Meiryo UI" pitchFamily="34" charset="-120"/>
              </a:rPr>
              <a:t>Client：鈴木 花子</a:t>
            </a:r>
            <a:endParaRPr lang="en-US" sz="1300" dirty="0"/>
          </a:p>
          <a:p>
            <a:pPr algn="ctr" indent="0" marL="0">
              <a:buNone/>
            </a:pPr>
            <a:r>
              <a:rPr lang="en-US" sz="1300" dirty="0">
                <a:solidFill>
                  <a:srgbClr val="1F2937"/>
                </a:solidFill>
                <a:latin typeface="Meiryo UI" pitchFamily="34" charset="0"/>
                <a:ea typeface="Meiryo UI" pitchFamily="34" charset="-122"/>
                <a:cs typeface="Meiryo UI" pitchFamily="34" charset="-120"/>
              </a:rPr>
              <a:t>役職：経理担当</a:t>
            </a:r>
            <a:endParaRPr lang="en-US" sz="1300" dirty="0"/>
          </a:p>
        </p:txBody>
      </p:sp>
      <p:sp>
        <p:nvSpPr>
          <p:cNvPr id="15" name="Shape 13"/>
          <p:cNvSpPr/>
          <p:nvPr/>
        </p:nvSpPr>
        <p:spPr>
          <a:xfrm flipV="1">
            <a:off x="4709160" y="2697480"/>
            <a:ext cx="1280160" cy="228600"/>
          </a:xfrm>
          <a:prstGeom prst="line">
            <a:avLst/>
          </a:prstGeom>
          <a:noFill/>
          <a:ln w="31750">
            <a:solidFill>
              <a:srgbClr val="D97706"/>
            </a:solidFill>
            <a:prstDash val="solid"/>
            <a:tailEnd type="triangle"/>
          </a:ln>
        </p:spPr>
      </p:sp>
      <p:sp>
        <p:nvSpPr>
          <p:cNvPr id="16" name="Shape 14"/>
          <p:cNvSpPr/>
          <p:nvPr/>
        </p:nvSpPr>
        <p:spPr>
          <a:xfrm>
            <a:off x="4709160" y="3383280"/>
            <a:ext cx="1280160" cy="365760"/>
          </a:xfrm>
          <a:prstGeom prst="line">
            <a:avLst/>
          </a:prstGeom>
          <a:noFill/>
          <a:ln w="31750">
            <a:solidFill>
              <a:srgbClr val="D97706"/>
            </a:solidFill>
            <a:prstDash val="solid"/>
            <a:tailEnd type="triangle"/>
          </a:ln>
        </p:spPr>
      </p:sp>
      <p:sp>
        <p:nvSpPr>
          <p:cNvPr id="17" name="Text 15"/>
          <p:cNvSpPr/>
          <p:nvPr/>
        </p:nvSpPr>
        <p:spPr>
          <a:xfrm>
            <a:off x="9509760" y="3017520"/>
            <a:ext cx="2103120" cy="365760"/>
          </a:xfrm>
          <a:prstGeom prst="rect">
            <a:avLst/>
          </a:prstGeom>
          <a:noFill/>
          <a:ln/>
        </p:spPr>
        <p:txBody>
          <a:bodyPr wrap="square" lIns="50800" tIns="50800" rIns="50800" bIns="50800" rtlCol="0" anchor="t"/>
          <a:lstStyle/>
          <a:p>
            <a:pPr algn="l" indent="0" marL="0">
              <a:buNone/>
            </a:pPr>
            <a:r>
              <a:rPr lang="en-US" sz="1300" dirty="0">
                <a:solidFill>
                  <a:srgbClr val="6B7280"/>
                </a:solidFill>
                <a:latin typeface="Meiryo UI" pitchFamily="34" charset="0"/>
                <a:ea typeface="Meiryo UI" pitchFamily="34" charset="-122"/>
                <a:cs typeface="Meiryo UI" pitchFamily="34" charset="-120"/>
              </a:rPr>
              <a:t>メンバー</a:t>
            </a:r>
            <a:endParaRPr lang="en-US" sz="1300" dirty="0"/>
          </a:p>
        </p:txBody>
      </p:sp>
      <p:sp>
        <p:nvSpPr>
          <p:cNvPr id="18" name="Text 16"/>
          <p:cNvSpPr/>
          <p:nvPr/>
        </p:nvSpPr>
        <p:spPr>
          <a:xfrm>
            <a:off x="548640" y="4343400"/>
            <a:ext cx="11064240" cy="1280160"/>
          </a:xfrm>
          <a:prstGeom prst="rect">
            <a:avLst/>
          </a:prstGeom>
          <a:noFill/>
          <a:ln/>
        </p:spPr>
        <p:txBody>
          <a:bodyPr wrap="square" rtlCol="0" anchor="t"/>
          <a:lstStyle/>
          <a:p>
            <a:pPr marL="228600" indent="-228600">
              <a:spcAft>
                <a:spcPts val="800"/>
              </a:spcAft>
              <a:buSzPct val="100000"/>
              <a:buChar char="•"/>
            </a:pPr>
            <a:r>
              <a:rPr lang="en-US" sz="1400" dirty="0">
                <a:solidFill>
                  <a:srgbClr val="1F2937"/>
                </a:solidFill>
                <a:latin typeface="Meiryo UI" pitchFamily="34" charset="0"/>
                <a:ea typeface="Meiryo UI" pitchFamily="34" charset="-122"/>
                <a:cs typeface="Meiryo UI" pitchFamily="34" charset="-120"/>
              </a:rPr>
              <a:t>役員や担当者は、まず個人の Client として登録し、Group のメンバーにする</a:t>
            </a:r>
            <a:endParaRPr lang="en-US" sz="1400" dirty="0"/>
          </a:p>
          <a:p>
            <a:pPr marL="228600" indent="-228600">
              <a:spcAft>
                <a:spcPts val="800"/>
              </a:spcAft>
              <a:buSzPct val="100000"/>
              <a:buChar char="•"/>
            </a:pPr>
            <a:r>
              <a:rPr lang="en-US" sz="1400" dirty="0">
                <a:solidFill>
                  <a:srgbClr val="1F2937"/>
                </a:solidFill>
                <a:latin typeface="Meiryo UI" pitchFamily="34" charset="0"/>
                <a:ea typeface="Meiryo UI" pitchFamily="34" charset="-122"/>
                <a:cs typeface="Meiryo UI" pitchFamily="34" charset="-120"/>
              </a:rPr>
              <a:t>メンバーには役職（group role name）を付けられる</a:t>
            </a:r>
            <a:endParaRPr lang="en-US" sz="1400" dirty="0"/>
          </a:p>
          <a:p>
            <a:pPr marL="228600" indent="-228600">
              <a:spcAft>
                <a:spcPts val="800"/>
              </a:spcAft>
              <a:buSzPct val="100000"/>
              <a:buChar char="•"/>
            </a:pPr>
            <a:r>
              <a:rPr lang="en-US" sz="1400" dirty="0">
                <a:solidFill>
                  <a:srgbClr val="1F2937"/>
                </a:solidFill>
                <a:latin typeface="Meiryo UI" pitchFamily="34" charset="0"/>
                <a:ea typeface="Meiryo UI" pitchFamily="34" charset="-122"/>
                <a:cs typeface="Meiryo UI" pitchFamily="34" charset="-120"/>
              </a:rPr>
              <a:t>法人用の Group の種類と役職の一覧は、テナントで設定されている</a:t>
            </a:r>
            <a:endParaRPr lang="en-US" sz="14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encodedKey と id：2 種類の識別子</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6" name="Text 4"/>
          <p:cNvSpPr/>
          <p:nvPr/>
        </p:nvSpPr>
        <p:spPr>
          <a:xfrm>
            <a:off x="365760" y="6144768"/>
            <a:ext cx="11430000" cy="292608"/>
          </a:xfrm>
          <a:prstGeom prst="rect">
            <a:avLst/>
          </a:prstGeom>
          <a:noFill/>
          <a:ln/>
        </p:spPr>
        <p:txBody>
          <a:bodyPr wrap="square" rtlCol="0" anchor="t"/>
          <a:lstStyle/>
          <a:p>
            <a:pPr indent="0" marL="0">
              <a:buNone/>
            </a:pPr>
            <a:r>
              <a:rPr lang="en-US" sz="1000" dirty="0">
                <a:solidFill>
                  <a:srgbClr val="6B7280"/>
                </a:solidFill>
                <a:latin typeface="Meiryo UI" pitchFamily="34" charset="0"/>
                <a:ea typeface="Meiryo UI" pitchFamily="34" charset="-122"/>
                <a:cs typeface="Meiryo UI" pitchFamily="34" charset="-120"/>
              </a:rPr>
              <a:t>出典：https://docs.mambu.com/swagger_files/v2/groups.json・deposits.json（公式 OpenAPI、2026-10-09 確認）</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2377440"/>
                <a:gridCol w="4343400"/>
                <a:gridCol w="4343400"/>
              </a:tblGrid>
              <a:tr h="640080">
                <a:tc>
                  <a:txBody>
                    <a:bodyPr/>
                    <a:lstStyle/>
                    <a:p>
                      <a:pPr indent="0" marL="0">
                        <a:buNone/>
                      </a:pP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encodedKey</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id</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64008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どんな値</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Mambu が付ける長い内部キー</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人が読みやすい番号・記号（テナントの設定による）</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64008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この節での使い道</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名義人の指定（accountHolderKey）、メンバーの指定（clientKey）など、Body の中</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口座を URL で指定するとき（/deposits/{id}）</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64008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どこで手に入る</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POST のレスポンスの encodedKey</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POST のレスポンスの id</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4023360"/>
            <a:ext cx="11064240" cy="914400"/>
          </a:xfrm>
          <a:prstGeom prst="rect">
            <a:avLst/>
          </a:prstGeom>
          <a:solidFill>
            <a:srgbClr val="ECFDF5"/>
          </a:solidFill>
          <a:ln w="15875">
            <a:solidFill>
              <a:srgbClr val="047857"/>
            </a:solidFill>
            <a:prstDash val="solid"/>
          </a:ln>
        </p:spPr>
      </p:sp>
      <p:sp>
        <p:nvSpPr>
          <p:cNvPr id="9" name="Shape 6"/>
          <p:cNvSpPr/>
          <p:nvPr/>
        </p:nvSpPr>
        <p:spPr>
          <a:xfrm>
            <a:off x="548640" y="4023360"/>
            <a:ext cx="82296" cy="914400"/>
          </a:xfrm>
          <a:prstGeom prst="rect">
            <a:avLst/>
          </a:prstGeom>
          <a:solidFill>
            <a:srgbClr val="047857"/>
          </a:solidFill>
          <a:ln w="12700">
            <a:solidFill>
              <a:srgbClr val="047857"/>
            </a:solidFill>
            <a:prstDash val="solid"/>
          </a:ln>
        </p:spPr>
      </p:sp>
      <p:sp>
        <p:nvSpPr>
          <p:cNvPr id="10" name="Text 7"/>
          <p:cNvSpPr/>
          <p:nvPr/>
        </p:nvSpPr>
        <p:spPr>
          <a:xfrm>
            <a:off x="713232" y="4069080"/>
            <a:ext cx="10835640" cy="822960"/>
          </a:xfrm>
          <a:prstGeom prst="rect">
            <a:avLst/>
          </a:prstGeom>
          <a:noFill/>
          <a:ln/>
        </p:spPr>
        <p:txBody>
          <a:bodyPr wrap="square" rtlCol="0" anchor="ctr"/>
          <a:lstStyle/>
          <a:p>
            <a:pPr indent="0" marL="0">
              <a:spcAft>
                <a:spcPts val="200"/>
              </a:spcAft>
              <a:buNone/>
            </a:pPr>
            <a:r>
              <a:rPr lang="en-US" sz="1400" b="1" dirty="0">
                <a:solidFill>
                  <a:srgbClr val="047857"/>
                </a:solidFill>
                <a:latin typeface="Meiryo UI" pitchFamily="34" charset="0"/>
                <a:ea typeface="Meiryo UI" pitchFamily="34" charset="-122"/>
                <a:cs typeface="Meiryo UI" pitchFamily="34" charset="-120"/>
              </a:rPr>
              <a:t>【Bruno で使う技】</a:t>
            </a:r>
            <a:endParaRPr lang="en-US" sz="1400" dirty="0"/>
          </a:p>
          <a:p>
            <a:pPr indent="0" marL="0">
              <a:spcAft>
                <a:spcPts val="200"/>
              </a:spcAft>
              <a:buNone/>
            </a:pPr>
            <a:r>
              <a:rPr lang="en-US" sz="1400" dirty="0">
                <a:solidFill>
                  <a:srgbClr val="1F2937"/>
                </a:solidFill>
                <a:latin typeface="Meiryo UI" pitchFamily="34" charset="0"/>
                <a:ea typeface="Meiryo UI" pitchFamily="34" charset="-122"/>
                <a:cs typeface="Meiryo UI" pitchFamily="34" charset="-120"/>
              </a:rPr>
              <a:t>レスポンスで返ってきた encodedKey や id を、Post Response のスクリプト（bru.setVar）で保存し、次のリクエストで {{変数名}} として使います（第9章 TIPS「値の受け渡し」）。</a:t>
            </a:r>
            <a:endParaRPr lang="en-US" sz="1400" dirty="0"/>
          </a:p>
        </p:txBody>
      </p:sp>
      <p:sp>
        <p:nvSpPr>
          <p:cNvPr id="11" name="Text 8"/>
          <p:cNvSpPr/>
          <p:nvPr/>
        </p:nvSpPr>
        <p:spPr>
          <a:xfrm>
            <a:off x="548640" y="5120640"/>
            <a:ext cx="11064240" cy="365760"/>
          </a:xfrm>
          <a:prstGeom prst="rect">
            <a:avLst/>
          </a:prstGeom>
          <a:noFill/>
          <a:ln/>
        </p:spPr>
        <p:txBody>
          <a:bodyPr wrap="square" lIns="50800" tIns="50800" rIns="50800" bIns="50800" rtlCol="0" anchor="t"/>
          <a:lstStyle/>
          <a:p>
            <a:pPr algn="l" indent="0" marL="0">
              <a:buNone/>
            </a:pPr>
            <a:r>
              <a:rPr lang="en-US" sz="1200" dirty="0">
                <a:solidFill>
                  <a:srgbClr val="6B7280"/>
                </a:solidFill>
                <a:latin typeface="Meiryo UI" pitchFamily="34" charset="0"/>
                <a:ea typeface="Meiryo UI" pitchFamily="34" charset="-122"/>
                <a:cs typeface="Meiryo UI" pitchFamily="34" charset="-120"/>
              </a:rPr>
              <a:t>※ 口座の URL（/deposits/{depositAccountId}）は「ID または encodedKey」を受け付けると公式仕様に書かれています。</a:t>
            </a:r>
            <a:endParaRPr lang="en-US" sz="12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預金口座の状態（accountState）の変化</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6" name="Text 4"/>
          <p:cNvSpPr/>
          <p:nvPr/>
        </p:nvSpPr>
        <p:spPr>
          <a:xfrm>
            <a:off x="365760" y="6144768"/>
            <a:ext cx="11430000" cy="292608"/>
          </a:xfrm>
          <a:prstGeom prst="rect">
            <a:avLst/>
          </a:prstGeom>
          <a:noFill/>
          <a:ln/>
        </p:spPr>
        <p:txBody>
          <a:bodyPr wrap="square" rtlCol="0" anchor="t"/>
          <a:lstStyle/>
          <a:p>
            <a:pPr indent="0" marL="0">
              <a:buNone/>
            </a:pPr>
            <a:r>
              <a:rPr lang="en-US" sz="1000" dirty="0">
                <a:solidFill>
                  <a:srgbClr val="6B7280"/>
                </a:solidFill>
                <a:latin typeface="Meiryo UI" pitchFamily="34" charset="0"/>
                <a:ea typeface="Meiryo UI" pitchFamily="34" charset="-122"/>
                <a:cs typeface="Meiryo UI" pitchFamily="34" charset="-120"/>
              </a:rPr>
              <a:t>出典：https://docs.mambu.com/docs/deposit-accounts-life-cycle-and-states/（2026-10-09 確認）</a:t>
            </a:r>
            <a:endParaRPr lang="en-US" sz="1000" dirty="0"/>
          </a:p>
        </p:txBody>
      </p:sp>
      <p:sp>
        <p:nvSpPr>
          <p:cNvPr id="7" name="Shape 5"/>
          <p:cNvSpPr/>
          <p:nvPr/>
        </p:nvSpPr>
        <p:spPr>
          <a:xfrm>
            <a:off x="640080" y="1371600"/>
            <a:ext cx="3017520" cy="1097280"/>
          </a:xfrm>
          <a:prstGeom prst="roundRect">
            <a:avLst>
              <a:gd name="adj" fmla="val 6667"/>
            </a:avLst>
          </a:prstGeom>
          <a:solidFill>
            <a:srgbClr val="F8FAFC"/>
          </a:solidFill>
          <a:ln w="15875">
            <a:solidFill>
              <a:srgbClr val="1F3A5F"/>
            </a:solidFill>
            <a:prstDash val="solid"/>
          </a:ln>
        </p:spPr>
      </p:sp>
      <p:sp>
        <p:nvSpPr>
          <p:cNvPr id="8" name="Text 6"/>
          <p:cNvSpPr/>
          <p:nvPr/>
        </p:nvSpPr>
        <p:spPr>
          <a:xfrm>
            <a:off x="640080" y="1371600"/>
            <a:ext cx="3017520" cy="1097280"/>
          </a:xfrm>
          <a:prstGeom prst="rect">
            <a:avLst/>
          </a:prstGeom>
          <a:noFill/>
          <a:ln/>
        </p:spPr>
        <p:txBody>
          <a:bodyPr wrap="square" lIns="50800" tIns="50800" rIns="50800" bIns="50800" rtlCol="0" anchor="ctr"/>
          <a:lstStyle/>
          <a:p>
            <a:pPr algn="ctr" indent="0" marL="0">
              <a:buNone/>
            </a:pPr>
            <a:r>
              <a:rPr lang="en-US" sz="1600" b="1" dirty="0">
                <a:solidFill>
                  <a:srgbClr val="1F2937"/>
                </a:solidFill>
                <a:latin typeface="Meiryo UI" pitchFamily="34" charset="0"/>
                <a:ea typeface="Meiryo UI" pitchFamily="34" charset="-122"/>
                <a:cs typeface="Meiryo UI" pitchFamily="34" charset="-120"/>
              </a:rPr>
              <a:t>PENDING_APPROVAL</a:t>
            </a:r>
            <a:endParaRPr lang="en-US" sz="1600" dirty="0"/>
          </a:p>
          <a:p>
            <a:pPr algn="ctr" indent="0" marL="0">
              <a:buNone/>
            </a:pPr>
            <a:r>
              <a:rPr lang="en-US" sz="1600" b="1" dirty="0">
                <a:solidFill>
                  <a:srgbClr val="1F2937"/>
                </a:solidFill>
                <a:latin typeface="Meiryo UI" pitchFamily="34" charset="0"/>
                <a:ea typeface="Meiryo UI" pitchFamily="34" charset="-122"/>
                <a:cs typeface="Meiryo UI" pitchFamily="34" charset="-120"/>
              </a:rPr>
              <a:t>承認待ち</a:t>
            </a:r>
            <a:endParaRPr lang="en-US" sz="1600" dirty="0"/>
          </a:p>
        </p:txBody>
      </p:sp>
      <p:sp>
        <p:nvSpPr>
          <p:cNvPr id="9" name="Text 7"/>
          <p:cNvSpPr/>
          <p:nvPr/>
        </p:nvSpPr>
        <p:spPr>
          <a:xfrm>
            <a:off x="640080" y="2514600"/>
            <a:ext cx="3017520" cy="365760"/>
          </a:xfrm>
          <a:prstGeom prst="rect">
            <a:avLst/>
          </a:prstGeom>
          <a:noFill/>
          <a:ln/>
        </p:spPr>
        <p:txBody>
          <a:bodyPr wrap="square" lIns="50800" tIns="50800" rIns="50800" bIns="50800" rtlCol="0" anchor="t"/>
          <a:lstStyle/>
          <a:p>
            <a:pPr algn="ctr" indent="0" marL="0">
              <a:buNone/>
            </a:pPr>
            <a:r>
              <a:rPr lang="en-US" sz="1300" dirty="0">
                <a:solidFill>
                  <a:srgbClr val="6B7280"/>
                </a:solidFill>
                <a:latin typeface="Meiryo UI" pitchFamily="34" charset="0"/>
                <a:ea typeface="Meiryo UI" pitchFamily="34" charset="-122"/>
                <a:cs typeface="Meiryo UI" pitchFamily="34" charset="-120"/>
              </a:rPr>
              <a:t>作った直後</a:t>
            </a:r>
            <a:endParaRPr lang="en-US" sz="1300" dirty="0"/>
          </a:p>
        </p:txBody>
      </p:sp>
      <p:sp>
        <p:nvSpPr>
          <p:cNvPr id="10" name="Shape 8"/>
          <p:cNvSpPr/>
          <p:nvPr/>
        </p:nvSpPr>
        <p:spPr>
          <a:xfrm>
            <a:off x="3703320" y="1920240"/>
            <a:ext cx="685800" cy="914"/>
          </a:xfrm>
          <a:prstGeom prst="line">
            <a:avLst/>
          </a:prstGeom>
          <a:noFill/>
          <a:ln w="31750">
            <a:solidFill>
              <a:srgbClr val="D97706"/>
            </a:solidFill>
            <a:prstDash val="solid"/>
            <a:tailEnd type="triangle"/>
          </a:ln>
        </p:spPr>
      </p:sp>
      <p:sp>
        <p:nvSpPr>
          <p:cNvPr id="11" name="Shape 9"/>
          <p:cNvSpPr/>
          <p:nvPr/>
        </p:nvSpPr>
        <p:spPr>
          <a:xfrm>
            <a:off x="4434840" y="1371600"/>
            <a:ext cx="3017520" cy="1097280"/>
          </a:xfrm>
          <a:prstGeom prst="roundRect">
            <a:avLst>
              <a:gd name="adj" fmla="val 6667"/>
            </a:avLst>
          </a:prstGeom>
          <a:solidFill>
            <a:srgbClr val="F8FAFC"/>
          </a:solidFill>
          <a:ln w="15875">
            <a:solidFill>
              <a:srgbClr val="1F3A5F"/>
            </a:solidFill>
            <a:prstDash val="solid"/>
          </a:ln>
        </p:spPr>
      </p:sp>
      <p:sp>
        <p:nvSpPr>
          <p:cNvPr id="12" name="Text 10"/>
          <p:cNvSpPr/>
          <p:nvPr/>
        </p:nvSpPr>
        <p:spPr>
          <a:xfrm>
            <a:off x="4434840" y="1371600"/>
            <a:ext cx="3017520" cy="1097280"/>
          </a:xfrm>
          <a:prstGeom prst="rect">
            <a:avLst/>
          </a:prstGeom>
          <a:noFill/>
          <a:ln/>
        </p:spPr>
        <p:txBody>
          <a:bodyPr wrap="square" lIns="50800" tIns="50800" rIns="50800" bIns="50800" rtlCol="0" anchor="ctr"/>
          <a:lstStyle/>
          <a:p>
            <a:pPr algn="ctr" indent="0" marL="0">
              <a:buNone/>
            </a:pPr>
            <a:r>
              <a:rPr lang="en-US" sz="1600" b="1" dirty="0">
                <a:solidFill>
                  <a:srgbClr val="1F2937"/>
                </a:solidFill>
                <a:latin typeface="Meiryo UI" pitchFamily="34" charset="0"/>
                <a:ea typeface="Meiryo UI" pitchFamily="34" charset="-122"/>
                <a:cs typeface="Meiryo UI" pitchFamily="34" charset="-120"/>
              </a:rPr>
              <a:t>APPROVED</a:t>
            </a:r>
            <a:endParaRPr lang="en-US" sz="1600" dirty="0"/>
          </a:p>
          <a:p>
            <a:pPr algn="ctr" indent="0" marL="0">
              <a:buNone/>
            </a:pPr>
            <a:r>
              <a:rPr lang="en-US" sz="1600" b="1" dirty="0">
                <a:solidFill>
                  <a:srgbClr val="1F2937"/>
                </a:solidFill>
                <a:latin typeface="Meiryo UI" pitchFamily="34" charset="0"/>
                <a:ea typeface="Meiryo UI" pitchFamily="34" charset="-122"/>
                <a:cs typeface="Meiryo UI" pitchFamily="34" charset="-120"/>
              </a:rPr>
              <a:t>承認済み</a:t>
            </a:r>
            <a:endParaRPr lang="en-US" sz="1600" dirty="0"/>
          </a:p>
        </p:txBody>
      </p:sp>
      <p:sp>
        <p:nvSpPr>
          <p:cNvPr id="13" name="Text 11"/>
          <p:cNvSpPr/>
          <p:nvPr/>
        </p:nvSpPr>
        <p:spPr>
          <a:xfrm>
            <a:off x="4434840" y="2514600"/>
            <a:ext cx="3017520" cy="365760"/>
          </a:xfrm>
          <a:prstGeom prst="rect">
            <a:avLst/>
          </a:prstGeom>
          <a:noFill/>
          <a:ln/>
        </p:spPr>
        <p:txBody>
          <a:bodyPr wrap="square" lIns="50800" tIns="50800" rIns="50800" bIns="50800" rtlCol="0" anchor="t"/>
          <a:lstStyle/>
          <a:p>
            <a:pPr algn="ctr" indent="0" marL="0">
              <a:buNone/>
            </a:pPr>
            <a:r>
              <a:rPr lang="en-US" sz="1300" dirty="0">
                <a:solidFill>
                  <a:srgbClr val="6B7280"/>
                </a:solidFill>
                <a:latin typeface="Meiryo UI" pitchFamily="34" charset="0"/>
                <a:ea typeface="Meiryo UI" pitchFamily="34" charset="-122"/>
                <a:cs typeface="Meiryo UI" pitchFamily="34" charset="-120"/>
              </a:rPr>
              <a:t>承認（APPROVE）した後</a:t>
            </a:r>
            <a:endParaRPr lang="en-US" sz="1300" dirty="0"/>
          </a:p>
        </p:txBody>
      </p:sp>
      <p:sp>
        <p:nvSpPr>
          <p:cNvPr id="14" name="Shape 12"/>
          <p:cNvSpPr/>
          <p:nvPr/>
        </p:nvSpPr>
        <p:spPr>
          <a:xfrm>
            <a:off x="7498080" y="1920240"/>
            <a:ext cx="685800" cy="914"/>
          </a:xfrm>
          <a:prstGeom prst="line">
            <a:avLst/>
          </a:prstGeom>
          <a:noFill/>
          <a:ln w="31750">
            <a:solidFill>
              <a:srgbClr val="D97706"/>
            </a:solidFill>
            <a:prstDash val="solid"/>
            <a:tailEnd type="triangle"/>
          </a:ln>
        </p:spPr>
      </p:sp>
      <p:sp>
        <p:nvSpPr>
          <p:cNvPr id="15" name="Shape 13"/>
          <p:cNvSpPr/>
          <p:nvPr/>
        </p:nvSpPr>
        <p:spPr>
          <a:xfrm>
            <a:off x="8229600" y="1371600"/>
            <a:ext cx="3017520" cy="1097280"/>
          </a:xfrm>
          <a:prstGeom prst="roundRect">
            <a:avLst>
              <a:gd name="adj" fmla="val 6667"/>
            </a:avLst>
          </a:prstGeom>
          <a:solidFill>
            <a:srgbClr val="ECFDF5"/>
          </a:solidFill>
          <a:ln w="15875">
            <a:solidFill>
              <a:srgbClr val="047857"/>
            </a:solidFill>
            <a:prstDash val="solid"/>
          </a:ln>
        </p:spPr>
      </p:sp>
      <p:sp>
        <p:nvSpPr>
          <p:cNvPr id="16" name="Text 14"/>
          <p:cNvSpPr/>
          <p:nvPr/>
        </p:nvSpPr>
        <p:spPr>
          <a:xfrm>
            <a:off x="8229600" y="1371600"/>
            <a:ext cx="3017520" cy="1097280"/>
          </a:xfrm>
          <a:prstGeom prst="rect">
            <a:avLst/>
          </a:prstGeom>
          <a:noFill/>
          <a:ln/>
        </p:spPr>
        <p:txBody>
          <a:bodyPr wrap="square" lIns="50800" tIns="50800" rIns="50800" bIns="50800" rtlCol="0" anchor="ctr"/>
          <a:lstStyle/>
          <a:p>
            <a:pPr algn="ctr" indent="0" marL="0">
              <a:buNone/>
            </a:pPr>
            <a:r>
              <a:rPr lang="en-US" sz="1600" b="1" dirty="0">
                <a:solidFill>
                  <a:srgbClr val="1F2937"/>
                </a:solidFill>
                <a:latin typeface="Meiryo UI" pitchFamily="34" charset="0"/>
                <a:ea typeface="Meiryo UI" pitchFamily="34" charset="-122"/>
                <a:cs typeface="Meiryo UI" pitchFamily="34" charset="-120"/>
              </a:rPr>
              <a:t>ACTIVE</a:t>
            </a:r>
            <a:endParaRPr lang="en-US" sz="1600" dirty="0"/>
          </a:p>
          <a:p>
            <a:pPr algn="ctr" indent="0" marL="0">
              <a:buNone/>
            </a:pPr>
            <a:r>
              <a:rPr lang="en-US" sz="1600" b="1" dirty="0">
                <a:solidFill>
                  <a:srgbClr val="1F2937"/>
                </a:solidFill>
                <a:latin typeface="Meiryo UI" pitchFamily="34" charset="0"/>
                <a:ea typeface="Meiryo UI" pitchFamily="34" charset="-122"/>
                <a:cs typeface="Meiryo UI" pitchFamily="34" charset="-120"/>
              </a:rPr>
              <a:t>利用中</a:t>
            </a:r>
            <a:endParaRPr lang="en-US" sz="1600" dirty="0"/>
          </a:p>
        </p:txBody>
      </p:sp>
      <p:sp>
        <p:nvSpPr>
          <p:cNvPr id="17" name="Text 15"/>
          <p:cNvSpPr/>
          <p:nvPr/>
        </p:nvSpPr>
        <p:spPr>
          <a:xfrm>
            <a:off x="8229600" y="2514600"/>
            <a:ext cx="3017520" cy="365760"/>
          </a:xfrm>
          <a:prstGeom prst="rect">
            <a:avLst/>
          </a:prstGeom>
          <a:noFill/>
          <a:ln/>
        </p:spPr>
        <p:txBody>
          <a:bodyPr wrap="square" lIns="50800" tIns="50800" rIns="50800" bIns="50800" rtlCol="0" anchor="t"/>
          <a:lstStyle/>
          <a:p>
            <a:pPr algn="ctr" indent="0" marL="0">
              <a:buNone/>
            </a:pPr>
            <a:r>
              <a:rPr lang="en-US" sz="1300" dirty="0">
                <a:solidFill>
                  <a:srgbClr val="6B7280"/>
                </a:solidFill>
                <a:latin typeface="Meiryo UI" pitchFamily="34" charset="0"/>
                <a:ea typeface="Meiryo UI" pitchFamily="34" charset="-122"/>
                <a:cs typeface="Meiryo UI" pitchFamily="34" charset="-120"/>
              </a:rPr>
              <a:t>初回の取引で自動的に</a:t>
            </a:r>
            <a:endParaRPr lang="en-US" sz="1300" dirty="0"/>
          </a:p>
        </p:txBody>
      </p:sp>
      <p:sp>
        <p:nvSpPr>
          <p:cNvPr id="18" name="Text 16"/>
          <p:cNvSpPr/>
          <p:nvPr/>
        </p:nvSpPr>
        <p:spPr>
          <a:xfrm>
            <a:off x="548640" y="3154680"/>
            <a:ext cx="10972800" cy="320040"/>
          </a:xfrm>
          <a:prstGeom prst="rect">
            <a:avLst/>
          </a:prstGeom>
          <a:noFill/>
          <a:ln/>
        </p:spPr>
        <p:txBody>
          <a:bodyPr wrap="square" lIns="50800" tIns="50800" rIns="50800" bIns="50800" rtlCol="0" anchor="t"/>
          <a:lstStyle/>
          <a:p>
            <a:pPr algn="l" indent="0" marL="0">
              <a:buNone/>
            </a:pPr>
            <a:r>
              <a:rPr lang="en-US" sz="1300" dirty="0">
                <a:solidFill>
                  <a:srgbClr val="6B7280"/>
                </a:solidFill>
                <a:latin typeface="Meiryo UI" pitchFamily="34" charset="0"/>
                <a:ea typeface="Meiryo UI" pitchFamily="34" charset="-122"/>
                <a:cs typeface="Meiryo UI" pitchFamily="34" charset="-120"/>
              </a:rPr>
              <a:t>公式の説明（原文）</a:t>
            </a:r>
            <a:endParaRPr lang="en-US" sz="1300" dirty="0"/>
          </a:p>
        </p:txBody>
      </p:sp>
      <p:sp>
        <p:nvSpPr>
          <p:cNvPr id="19" name="Text 17"/>
          <p:cNvSpPr/>
          <p:nvPr/>
        </p:nvSpPr>
        <p:spPr>
          <a:xfrm>
            <a:off x="548640" y="3474720"/>
            <a:ext cx="11064240" cy="502920"/>
          </a:xfrm>
          <a:prstGeom prst="rect">
            <a:avLst/>
          </a:prstGeom>
          <a:solidFill>
            <a:srgbClr val="F8FAFC"/>
          </a:solidFill>
          <a:ln/>
        </p:spPr>
        <p:txBody>
          <a:bodyPr wrap="square" lIns="50800" tIns="50800" rIns="50800" bIns="50800" rtlCol="0" anchor="t"/>
          <a:lstStyle/>
          <a:p>
            <a:pPr algn="l" indent="0" marL="0">
              <a:buNone/>
            </a:pPr>
            <a:r>
              <a:rPr lang="en-US" sz="1300" i="1" dirty="0">
                <a:solidFill>
                  <a:srgbClr val="1F2937"/>
                </a:solidFill>
                <a:latin typeface="Meiryo UI" pitchFamily="34" charset="0"/>
                <a:ea typeface="Meiryo UI" pitchFamily="34" charset="-122"/>
                <a:cs typeface="Meiryo UI" pitchFamily="34" charset="-120"/>
              </a:rPr>
              <a:t>"Once the client makes any transaction (deposit, withdrawal or transfer) on the account, it will become "Active"."</a:t>
            </a:r>
            <a:endParaRPr lang="en-US" sz="1300" dirty="0"/>
          </a:p>
        </p:txBody>
      </p:sp>
      <p:sp>
        <p:nvSpPr>
          <p:cNvPr id="20" name="Text 18"/>
          <p:cNvSpPr/>
          <p:nvPr/>
        </p:nvSpPr>
        <p:spPr>
          <a:xfrm>
            <a:off x="548640" y="4069080"/>
            <a:ext cx="11064240" cy="411480"/>
          </a:xfrm>
          <a:prstGeom prst="rect">
            <a:avLst/>
          </a:prstGeom>
          <a:noFill/>
          <a:ln/>
        </p:spPr>
        <p:txBody>
          <a:bodyPr wrap="square" lIns="50800" tIns="50800" rIns="50800" bIns="50800" rtlCol="0" anchor="t"/>
          <a:lstStyle/>
          <a:p>
            <a:pPr algn="l" indent="0" marL="0">
              <a:buNone/>
            </a:pPr>
            <a:r>
              <a:rPr lang="en-US" sz="1500" b="1" dirty="0">
                <a:solidFill>
                  <a:srgbClr val="1F2937"/>
                </a:solidFill>
                <a:latin typeface="Meiryo UI" pitchFamily="34" charset="0"/>
                <a:ea typeface="Meiryo UI" pitchFamily="34" charset="-122"/>
                <a:cs typeface="Meiryo UI" pitchFamily="34" charset="-120"/>
              </a:rPr>
              <a:t>＝ 承認済みの口座で、入金・出金・振替のどれかを行うと「利用中（ACTIVE）」になる</a:t>
            </a:r>
            <a:endParaRPr lang="en-US" sz="1500" dirty="0"/>
          </a:p>
        </p:txBody>
      </p:sp>
      <p:sp>
        <p:nvSpPr>
          <p:cNvPr id="21" name="Shape 19"/>
          <p:cNvSpPr/>
          <p:nvPr/>
        </p:nvSpPr>
        <p:spPr>
          <a:xfrm>
            <a:off x="548640" y="4709160"/>
            <a:ext cx="11064240" cy="685800"/>
          </a:xfrm>
          <a:prstGeom prst="rect">
            <a:avLst/>
          </a:prstGeom>
          <a:solidFill>
            <a:srgbClr val="EFF6FF"/>
          </a:solidFill>
          <a:ln w="15875">
            <a:solidFill>
              <a:srgbClr val="1D4ED8"/>
            </a:solidFill>
            <a:prstDash val="solid"/>
          </a:ln>
        </p:spPr>
      </p:sp>
      <p:sp>
        <p:nvSpPr>
          <p:cNvPr id="22" name="Shape 20"/>
          <p:cNvSpPr/>
          <p:nvPr/>
        </p:nvSpPr>
        <p:spPr>
          <a:xfrm>
            <a:off x="548640" y="4709160"/>
            <a:ext cx="82296" cy="685800"/>
          </a:xfrm>
          <a:prstGeom prst="rect">
            <a:avLst/>
          </a:prstGeom>
          <a:solidFill>
            <a:srgbClr val="1D4ED8"/>
          </a:solidFill>
          <a:ln w="12700">
            <a:solidFill>
              <a:srgbClr val="1D4ED8"/>
            </a:solidFill>
            <a:prstDash val="solid"/>
          </a:ln>
        </p:spPr>
      </p:sp>
      <p:sp>
        <p:nvSpPr>
          <p:cNvPr id="23" name="Text 21"/>
          <p:cNvSpPr/>
          <p:nvPr/>
        </p:nvSpPr>
        <p:spPr>
          <a:xfrm>
            <a:off x="713232" y="4754880"/>
            <a:ext cx="10835640" cy="594360"/>
          </a:xfrm>
          <a:prstGeom prst="rect">
            <a:avLst/>
          </a:prstGeom>
          <a:noFill/>
          <a:ln/>
        </p:spPr>
        <p:txBody>
          <a:bodyPr wrap="square" rtlCol="0" anchor="ctr"/>
          <a:lstStyle/>
          <a:p>
            <a:pPr indent="0" marL="0">
              <a:spcAft>
                <a:spcPts val="200"/>
              </a:spcAft>
              <a:buNone/>
            </a:pPr>
            <a:r>
              <a:rPr lang="en-US" sz="1400" b="1" dirty="0">
                <a:solidFill>
                  <a:srgbClr val="1D4ED8"/>
                </a:solidFill>
                <a:latin typeface="Meiryo UI" pitchFamily="34" charset="0"/>
                <a:ea typeface="Meiryo UI" pitchFamily="34" charset="-122"/>
                <a:cs typeface="Meiryo UI" pitchFamily="34" charset="-120"/>
              </a:rPr>
              <a:t>【ヒント】</a:t>
            </a:r>
            <a:endParaRPr lang="en-US" sz="1400" dirty="0"/>
          </a:p>
          <a:p>
            <a:pPr indent="0" marL="0">
              <a:spcAft>
                <a:spcPts val="200"/>
              </a:spcAft>
              <a:buNone/>
            </a:pPr>
            <a:r>
              <a:rPr lang="en-US" sz="1400" dirty="0">
                <a:solidFill>
                  <a:srgbClr val="1F2937"/>
                </a:solidFill>
                <a:latin typeface="Meiryo UI" pitchFamily="34" charset="0"/>
                <a:ea typeface="Meiryo UI" pitchFamily="34" charset="-122"/>
                <a:cs typeface="Meiryo UI" pitchFamily="34" charset="-120"/>
              </a:rPr>
              <a:t>この節のゴールは「口座が ACTIVE になること」です。最後のステップで、アサーションを使って確認します。</a:t>
            </a:r>
            <a:endParaRPr lang="en-US" sz="14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全体の流れ：7 つのステップ</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640080"/>
                <a:gridCol w="3657600"/>
                <a:gridCol w="1463040"/>
                <a:gridCol w="5303520"/>
              </a:tblGrid>
              <a:tr h="530352">
                <a:tc>
                  <a:txBody>
                    <a:bodyPr/>
                    <a:lstStyle/>
                    <a:p>
                      <a:pPr indent="0" marL="0">
                        <a:buNone/>
                      </a:pP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Meiryo UI" pitchFamily="34" charset="0"/>
                          <a:ea typeface="Meiryo UI" pitchFamily="34" charset="-122"/>
                          <a:cs typeface="Meiryo UI" pitchFamily="34" charset="-120"/>
                        </a:rPr>
                        <a:t>やること</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Meiryo UI" pitchFamily="34" charset="0"/>
                          <a:ea typeface="Meiryo UI" pitchFamily="34" charset="-122"/>
                          <a:cs typeface="Meiryo UI" pitchFamily="34" charset="-120"/>
                        </a:rPr>
                        <a:t>メソッド</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Meiryo UI" pitchFamily="34" charset="0"/>
                          <a:ea typeface="Meiryo UI" pitchFamily="34" charset="-122"/>
                          <a:cs typeface="Meiryo UI" pitchFamily="34" charset="-120"/>
                        </a:rPr>
                        <a:t>ポイント</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530352">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①</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設定値を確認する</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GET</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支店・預金商品・取引チャネル</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530352">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②</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役員を登録する</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POST</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個人の Client</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530352">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③</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法人を登録する</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POST</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Group（役員をメンバーに）</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530352">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④</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預金口座を作る</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POST</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状態：PENDING_APPROVAL</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530352">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⑤</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口座を承認する</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POST</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状態：APPROVED</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530352">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⑥</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初回入金をする</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POST</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状態：ACTIVE になる</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530352">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⑦</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口座を確認する</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GET</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ACTIVE と残高を確認</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7" name="Text 4"/>
          <p:cNvSpPr/>
          <p:nvPr/>
        </p:nvSpPr>
        <p:spPr>
          <a:xfrm>
            <a:off x="548640" y="5577840"/>
            <a:ext cx="11064240" cy="365760"/>
          </a:xfrm>
          <a:prstGeom prst="rect">
            <a:avLst/>
          </a:prstGeom>
          <a:noFill/>
          <a:ln/>
        </p:spPr>
        <p:txBody>
          <a:bodyPr wrap="square" lIns="50800" tIns="50800" rIns="50800" bIns="50800" rtlCol="0" anchor="t"/>
          <a:lstStyle/>
          <a:p>
            <a:pPr algn="l" indent="0" marL="0">
              <a:buNone/>
            </a:pPr>
            <a:r>
              <a:rPr lang="en-US" sz="1300" dirty="0">
                <a:solidFill>
                  <a:srgbClr val="6B7280"/>
                </a:solidFill>
                <a:latin typeface="Meiryo UI" pitchFamily="34" charset="0"/>
                <a:ea typeface="Meiryo UI" pitchFamily="34" charset="-122"/>
                <a:cs typeface="Meiryo UI" pitchFamily="34" charset="-120"/>
              </a:rPr>
              <a:t>参考コレクション：exercises\mambu-corporate-onboarding（01〜09 の 9 リクエスト。①は 3 つ）</a:t>
            </a:r>
            <a:endParaRPr lang="en-US" sz="13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準備1：組織から受け取る値</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11064240" cy="914400"/>
        </p:xfrm>
        <a:graphic>
          <a:graphicData uri="http://schemas.openxmlformats.org/drawingml/2006/table">
            <a:tbl>
              <a:tblPr/>
              <a:tblGrid>
                <a:gridCol w="3840480"/>
                <a:gridCol w="3931920"/>
                <a:gridCol w="3291840"/>
              </a:tblGrid>
              <a:tr h="457200">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受け取るもの</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何に使うか</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環境変数の名前（例）</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45720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テナントの URL</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リクエストの送り先</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baseUrl</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API キー</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本人確認（認証）</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apiKey（Secret）</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5720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支店の key</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顧客・口座の担当支店</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branchKey</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法人用の Group の種類の key</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法人であることの指定</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groupTypeKey</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5720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役職の key</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役員の役職の指定</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roleNameKey</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預金商品の key</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どの種類の口座を作るか</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depositProductKey</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5720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取引チャネルの ID</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入金の方法</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channelId</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顧客の初期状態の設定</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承認が必要かどうか（後述）</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bl>
          </a:graphicData>
        </a:graphic>
      </p:graphicFrame>
      <p:sp>
        <p:nvSpPr>
          <p:cNvPr id="7" name="Text 4"/>
          <p:cNvSpPr/>
          <p:nvPr/>
        </p:nvSpPr>
        <p:spPr>
          <a:xfrm>
            <a:off x="548640" y="5486400"/>
            <a:ext cx="11064240" cy="365760"/>
          </a:xfrm>
          <a:prstGeom prst="rect">
            <a:avLst/>
          </a:prstGeom>
          <a:noFill/>
          <a:ln/>
        </p:spPr>
        <p:txBody>
          <a:bodyPr wrap="square" lIns="50800" tIns="50800" rIns="50800" bIns="50800" rtlCol="0" anchor="t"/>
          <a:lstStyle/>
          <a:p>
            <a:pPr algn="l" indent="0" marL="0">
              <a:buNone/>
            </a:pPr>
            <a:r>
              <a:rPr lang="en-US" sz="1300" dirty="0">
                <a:solidFill>
                  <a:srgbClr val="6B7280"/>
                </a:solidFill>
                <a:latin typeface="Meiryo UI" pitchFamily="34" charset="0"/>
                <a:ea typeface="Meiryo UI" pitchFamily="34" charset="-122"/>
                <a:cs typeface="Meiryo UI" pitchFamily="34" charset="-120"/>
              </a:rPr>
              <a:t>支店（branchKey）は準備3 で入れ、ステップ①の 01 で確認できます。預金商品・取引チャネルは、ステップ①のスクリプトで環境に自動で入ります。</a:t>
            </a:r>
            <a:endParaRPr lang="en-US" sz="13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準備2：練習用のコレクションを用意する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6" name="Text 4"/>
          <p:cNvSpPr/>
          <p:nvPr/>
        </p:nvSpPr>
        <p:spPr>
          <a:xfrm>
            <a:off x="548640" y="1097280"/>
            <a:ext cx="11064240" cy="411480"/>
          </a:xfrm>
          <a:prstGeom prst="rect">
            <a:avLst/>
          </a:prstGeom>
          <a:noFill/>
          <a:ln/>
        </p:spPr>
        <p:txBody>
          <a:bodyPr wrap="square" lIns="50800" tIns="50800" rIns="50800" bIns="50800" rtlCol="0" anchor="t"/>
          <a:lstStyle/>
          <a:p>
            <a:pPr algn="l" indent="0" marL="0">
              <a:buNone/>
            </a:pPr>
            <a:r>
              <a:rPr lang="en-US" sz="1600" b="1" dirty="0">
                <a:solidFill>
                  <a:srgbClr val="1F2937"/>
                </a:solidFill>
                <a:latin typeface="Meiryo UI" pitchFamily="34" charset="0"/>
                <a:ea typeface="Meiryo UI" pitchFamily="34" charset="-122"/>
                <a:cs typeface="Meiryo UI" pitchFamily="34" charset="-120"/>
              </a:rPr>
              <a:t>この節では、自分のコレクション mambu-practice に 9 つのリクエストを 1 つずつ作ります。</a:t>
            </a:r>
            <a:endParaRPr lang="en-US" sz="1600" dirty="0"/>
          </a:p>
        </p:txBody>
      </p:sp>
      <p:sp>
        <p:nvSpPr>
          <p:cNvPr id="7" name="Text 5"/>
          <p:cNvSpPr/>
          <p:nvPr/>
        </p:nvSpPr>
        <p:spPr>
          <a:xfrm>
            <a:off x="548640" y="1600200"/>
            <a:ext cx="6400800" cy="3291840"/>
          </a:xfrm>
          <a:prstGeom prst="rect">
            <a:avLst/>
          </a:prstGeom>
          <a:noFill/>
          <a:ln/>
        </p:spPr>
        <p:txBody>
          <a:bodyPr wrap="square" rtlCol="0" anchor="t"/>
          <a:lstStyle/>
          <a:p>
            <a:pPr indent="0" marL="0">
              <a:spcAft>
                <a:spcPts val="900"/>
              </a:spcAft>
              <a:buNone/>
            </a:pPr>
            <a:r>
              <a:rPr lang="en-US" sz="1400" b="1" dirty="0">
                <a:solidFill>
                  <a:srgbClr val="E11D2E"/>
                </a:solidFill>
                <a:latin typeface="Meiryo UI" pitchFamily="34" charset="0"/>
                <a:ea typeface="Meiryo UI" pitchFamily="34" charset="-122"/>
                <a:cs typeface="Meiryo UI" pitchFamily="34" charset="-120"/>
              </a:rPr>
              <a:t>① </a:t>
            </a:r>
            <a:pPr indent="0" marL="0">
              <a:spcAft>
                <a:spcPts val="900"/>
              </a:spcAft>
              <a:buNone/>
            </a:pPr>
            <a:r>
              <a:rPr lang="en-US" sz="1400" dirty="0">
                <a:solidFill>
                  <a:srgbClr val="1F2937"/>
                </a:solidFill>
                <a:latin typeface="Meiryo UI" pitchFamily="34" charset="0"/>
                <a:ea typeface="Meiryo UI" pitchFamily="34" charset="-122"/>
                <a:cs typeface="Meiryo UI" pitchFamily="34" charset="-120"/>
              </a:rPr>
              <a:t>第3章の手順で、新しいコレクション mambu-practice を作る</a:t>
            </a:r>
            <a:endParaRPr lang="en-US" sz="1400" dirty="0"/>
          </a:p>
          <a:p>
            <a:pPr indent="0" marL="0">
              <a:spcAft>
                <a:spcPts val="900"/>
              </a:spcAft>
              <a:buNone/>
            </a:pPr>
            <a:r>
              <a:rPr lang="en-US" sz="1400" b="1" dirty="0">
                <a:solidFill>
                  <a:srgbClr val="E11D2E"/>
                </a:solidFill>
                <a:latin typeface="Meiryo UI" pitchFamily="34" charset="0"/>
                <a:ea typeface="Meiryo UI" pitchFamily="34" charset="-122"/>
                <a:cs typeface="Meiryo UI" pitchFamily="34" charset="-120"/>
              </a:rPr>
              <a:t>② </a:t>
            </a:r>
            <a:pPr indent="0" marL="0">
              <a:spcAft>
                <a:spcPts val="900"/>
              </a:spcAft>
              <a:buNone/>
            </a:pPr>
            <a:r>
              <a:rPr lang="en-US" sz="1400" dirty="0">
                <a:solidFill>
                  <a:srgbClr val="1F2937"/>
                </a:solidFill>
                <a:latin typeface="Meiryo UI" pitchFamily="34" charset="0"/>
                <a:ea typeface="Meiryo UI" pitchFamily="34" charset="-122"/>
                <a:cs typeface="Meiryo UI" pitchFamily="34" charset="-120"/>
              </a:rPr>
              <a:t>環境 Mambu-Sandbox を用意する。方法A：参考コレクションの environments フォルダにある Mambu-Sandbox.yml を、mambu-practice の中の environments フォルダ（なければ作る）にコピーする。方法B：Ctrl + E →「＋」で Mambu-Sandbox を作り、6 つの変数（準備3 の表）を自分で追加する</a:t>
            </a:r>
            <a:endParaRPr lang="en-US" sz="1400" dirty="0"/>
          </a:p>
          <a:p>
            <a:pPr indent="0" marL="0">
              <a:spcAft>
                <a:spcPts val="900"/>
              </a:spcAft>
              <a:buNone/>
            </a:pPr>
            <a:r>
              <a:rPr lang="en-US" sz="1400" b="1" dirty="0">
                <a:solidFill>
                  <a:srgbClr val="E11D2E"/>
                </a:solidFill>
                <a:latin typeface="Meiryo UI" pitchFamily="34" charset="0"/>
                <a:ea typeface="Meiryo UI" pitchFamily="34" charset="-122"/>
                <a:cs typeface="Meiryo UI" pitchFamily="34" charset="-120"/>
              </a:rPr>
              <a:t>③ </a:t>
            </a:r>
            <a:pPr indent="0" marL="0">
              <a:spcAft>
                <a:spcPts val="900"/>
              </a:spcAft>
              <a:buNone/>
            </a:pPr>
            <a:r>
              <a:rPr lang="en-US" sz="1400" dirty="0">
                <a:solidFill>
                  <a:srgbClr val="1F2937"/>
                </a:solidFill>
                <a:latin typeface="Meiryo UI" pitchFamily="34" charset="0"/>
                <a:ea typeface="Meiryo UI" pitchFamily="34" charset="-122"/>
                <a:cs typeface="Meiryo UI" pitchFamily="34" charset="-120"/>
              </a:rPr>
              <a:t>完成形を見たいときは、参考コレクション mambu-corporate-onboarding を「＋」→「Open collection」で開く</a:t>
            </a:r>
            <a:endParaRPr lang="en-US" sz="1400" dirty="0"/>
          </a:p>
        </p:txBody>
      </p:sp>
      <p:sp>
        <p:nvSpPr>
          <p:cNvPr id="8" name="Text 6"/>
          <p:cNvSpPr/>
          <p:nvPr/>
        </p:nvSpPr>
        <p:spPr>
          <a:xfrm>
            <a:off x="7223760" y="1600200"/>
            <a:ext cx="4389120" cy="1828800"/>
          </a:xfrm>
          <a:prstGeom prst="rect">
            <a:avLst/>
          </a:prstGeom>
          <a:solidFill>
            <a:srgbClr val="F3F4F6"/>
          </a:solidFill>
          <a:ln w="12700">
            <a:solidFill>
              <a:srgbClr val="D1D5DB"/>
            </a:solidFill>
          </a:ln>
        </p:spPr>
        <p:txBody>
          <a:bodyPr wrap="square" lIns="101600" tIns="101600" rIns="101600" bIns="101600" rtlCol="0" anchor="t"/>
          <a:lstStyle/>
          <a:p>
            <a:pPr indent="0" marL="0">
              <a:buNone/>
            </a:pPr>
            <a:r>
              <a:rPr lang="en-US" sz="1100" dirty="0">
                <a:solidFill>
                  <a:srgbClr val="111827"/>
                </a:solidFill>
                <a:latin typeface="Consolas" pitchFamily="34" charset="0"/>
                <a:ea typeface="Consolas" pitchFamily="34" charset="-122"/>
                <a:cs typeface="Consolas" pitchFamily="34" charset="-120"/>
              </a:rPr>
              <a:t>mambu-corporate-onboarding\（参考・完成形）</a:t>
            </a:r>
            <a:endParaRPr lang="en-US" sz="1100" dirty="0"/>
          </a:p>
          <a:p>
            <a:pPr indent="0" marL="0">
              <a:buNone/>
            </a:pPr>
            <a:r>
              <a:rPr lang="en-US" sz="1100" dirty="0">
                <a:solidFill>
                  <a:srgbClr val="111827"/>
                </a:solidFill>
                <a:latin typeface="Consolas" pitchFamily="34" charset="0"/>
                <a:ea typeface="Consolas" pitchFamily="34" charset="-122"/>
                <a:cs typeface="Consolas" pitchFamily="34" charset="-120"/>
              </a:rPr>
              <a:t>├─ opencollection.yml   … 共通ヘッダー</a:t>
            </a:r>
            <a:endParaRPr lang="en-US" sz="1100" dirty="0"/>
          </a:p>
          <a:p>
            <a:pPr indent="0" marL="0">
              <a:buNone/>
            </a:pPr>
            <a:r>
              <a:rPr lang="en-US" sz="1100" dirty="0">
                <a:solidFill>
                  <a:srgbClr val="111827"/>
                </a:solidFill>
                <a:latin typeface="Consolas" pitchFamily="34" charset="0"/>
                <a:ea typeface="Consolas" pitchFamily="34" charset="-122"/>
                <a:cs typeface="Consolas" pitchFamily="34" charset="-120"/>
              </a:rPr>
              <a:t>├─ environments\Mambu-Sandbox.yml</a:t>
            </a:r>
            <a:endParaRPr lang="en-US" sz="1100" dirty="0"/>
          </a:p>
          <a:p>
            <a:pPr indent="0" marL="0">
              <a:buNone/>
            </a:pPr>
            <a:r>
              <a:rPr lang="en-US" sz="1100" dirty="0">
                <a:solidFill>
                  <a:srgbClr val="111827"/>
                </a:solidFill>
                <a:latin typeface="Consolas" pitchFamily="34" charset="0"/>
                <a:ea typeface="Consolas" pitchFamily="34" charset="-122"/>
                <a:cs typeface="Consolas" pitchFamily="34" charset="-120"/>
              </a:rPr>
              <a:t>├─ 01 Get Branches.yml</a:t>
            </a:r>
            <a:endParaRPr lang="en-US" sz="1100" dirty="0"/>
          </a:p>
          <a:p>
            <a:pPr indent="0" marL="0">
              <a:buNone/>
            </a:pPr>
            <a:r>
              <a:rPr lang="en-US" sz="1100" dirty="0">
                <a:solidFill>
                  <a:srgbClr val="111827"/>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111827"/>
                </a:solidFill>
                <a:latin typeface="Consolas" pitchFamily="34" charset="0"/>
                <a:ea typeface="Consolas" pitchFamily="34" charset="-122"/>
                <a:cs typeface="Consolas" pitchFamily="34" charset="-120"/>
              </a:rPr>
              <a:t>└─ 09 Check Deposit Account.yml</a:t>
            </a:r>
            <a:endParaRPr lang="en-US" sz="1100" dirty="0"/>
          </a:p>
        </p:txBody>
      </p:sp>
      <p:sp>
        <p:nvSpPr>
          <p:cNvPr id="9" name="Shape 7"/>
          <p:cNvSpPr/>
          <p:nvPr/>
        </p:nvSpPr>
        <p:spPr>
          <a:xfrm>
            <a:off x="7223760" y="3657600"/>
            <a:ext cx="4389120" cy="1737360"/>
          </a:xfrm>
          <a:prstGeom prst="rect">
            <a:avLst/>
          </a:prstGeom>
          <a:solidFill>
            <a:srgbClr val="FEF2F2"/>
          </a:solidFill>
          <a:ln w="15875">
            <a:solidFill>
              <a:srgbClr val="B91C1C"/>
            </a:solidFill>
            <a:prstDash val="solid"/>
          </a:ln>
        </p:spPr>
      </p:sp>
      <p:sp>
        <p:nvSpPr>
          <p:cNvPr id="10" name="Shape 8"/>
          <p:cNvSpPr/>
          <p:nvPr/>
        </p:nvSpPr>
        <p:spPr>
          <a:xfrm>
            <a:off x="7223760" y="3657600"/>
            <a:ext cx="82296" cy="1737360"/>
          </a:xfrm>
          <a:prstGeom prst="rect">
            <a:avLst/>
          </a:prstGeom>
          <a:solidFill>
            <a:srgbClr val="B91C1C"/>
          </a:solidFill>
          <a:ln w="12700">
            <a:solidFill>
              <a:srgbClr val="B91C1C"/>
            </a:solidFill>
            <a:prstDash val="solid"/>
          </a:ln>
        </p:spPr>
      </p:sp>
      <p:sp>
        <p:nvSpPr>
          <p:cNvPr id="11" name="Text 9"/>
          <p:cNvSpPr/>
          <p:nvPr/>
        </p:nvSpPr>
        <p:spPr>
          <a:xfrm>
            <a:off x="7388352" y="3703320"/>
            <a:ext cx="4160520" cy="1645920"/>
          </a:xfrm>
          <a:prstGeom prst="rect">
            <a:avLst/>
          </a:prstGeom>
          <a:noFill/>
          <a:ln/>
        </p:spPr>
        <p:txBody>
          <a:bodyPr wrap="square" rtlCol="0" anchor="t"/>
          <a:lstStyle/>
          <a:p>
            <a:pPr indent="0" marL="0">
              <a:spcAft>
                <a:spcPts val="200"/>
              </a:spcAft>
              <a:buNone/>
            </a:pPr>
            <a:r>
              <a:rPr lang="en-US" sz="1200" b="1" dirty="0">
                <a:solidFill>
                  <a:srgbClr val="B91C1C"/>
                </a:solidFill>
                <a:latin typeface="Meiryo UI" pitchFamily="34" charset="0"/>
                <a:ea typeface="Meiryo UI" pitchFamily="34" charset="-122"/>
                <a:cs typeface="Meiryo UI" pitchFamily="34" charset="-120"/>
              </a:rPr>
              <a:t>【注意】</a:t>
            </a:r>
            <a:endParaRPr lang="en-US" sz="1200" dirty="0"/>
          </a:p>
          <a:p>
            <a:pPr indent="0" marL="0">
              <a:spcAft>
                <a:spcPts val="200"/>
              </a:spcAft>
              <a:buNone/>
            </a:pPr>
            <a:r>
              <a:rPr lang="en-US" sz="1200" dirty="0">
                <a:solidFill>
                  <a:srgbClr val="1F2937"/>
                </a:solidFill>
                <a:latin typeface="Meiryo UI" pitchFamily="34" charset="0"/>
                <a:ea typeface="Meiryo UI" pitchFamily="34" charset="-122"/>
                <a:cs typeface="Meiryo UI" pitchFamily="34" charset="-120"/>
              </a:rPr>
              <a:t>参考コレクションも、この節で作るリクエストも、送信はしていません。作成環境では、Bruno の画面で入力・保存できることと、保存したファイルが参考コレクションと一致することを確認しました。</a:t>
            </a:r>
            <a:endParaRPr lang="en-US" sz="1200" dirty="0"/>
          </a:p>
        </p:txBody>
      </p:sp>
      <p:sp>
        <p:nvSpPr>
          <p:cNvPr id="12" name="Text 10"/>
          <p:cNvSpPr/>
          <p:nvPr/>
        </p:nvSpPr>
        <p:spPr>
          <a:xfrm>
            <a:off x="548640" y="5029200"/>
            <a:ext cx="6400800" cy="365760"/>
          </a:xfrm>
          <a:prstGeom prst="rect">
            <a:avLst/>
          </a:prstGeom>
          <a:noFill/>
          <a:ln/>
        </p:spPr>
        <p:txBody>
          <a:bodyPr wrap="square" lIns="50800" tIns="50800" rIns="50800" bIns="50800" rtlCol="0" anchor="t"/>
          <a:lstStyle/>
          <a:p>
            <a:pPr algn="l" indent="0" marL="0">
              <a:buNone/>
            </a:pPr>
            <a:r>
              <a:rPr lang="en-US" sz="1200" dirty="0">
                <a:solidFill>
                  <a:srgbClr val="6B7280"/>
                </a:solidFill>
                <a:latin typeface="Meiryo UI" pitchFamily="34" charset="0"/>
                <a:ea typeface="Meiryo UI" pitchFamily="34" charset="-122"/>
                <a:cs typeface="Meiryo UI" pitchFamily="34" charset="-120"/>
              </a:rPr>
              <a:t>作成環境では方法A（ファイルのコピー）で環境を用意しました。</a:t>
            </a:r>
            <a:endParaRPr lang="en-US" sz="12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準備3：環境に入れる値と、入れるタイミング</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6" name="Text 4"/>
          <p:cNvSpPr/>
          <p:nvPr/>
        </p:nvSpPr>
        <p:spPr>
          <a:xfrm>
            <a:off x="548640" y="1051560"/>
            <a:ext cx="11064240" cy="457200"/>
          </a:xfrm>
          <a:prstGeom prst="rect">
            <a:avLst/>
          </a:prstGeom>
          <a:noFill/>
          <a:ln/>
        </p:spPr>
        <p:txBody>
          <a:bodyPr wrap="square" lIns="50800" tIns="50800" rIns="50800" bIns="50800" rtlCol="0" anchor="t"/>
          <a:lstStyle/>
          <a:p>
            <a:pPr algn="l" indent="0" marL="0">
              <a:buNone/>
            </a:pPr>
            <a:r>
              <a:rPr lang="en-US" sz="1400" b="1" dirty="0">
                <a:solidFill>
                  <a:srgbClr val="1F2937"/>
                </a:solidFill>
                <a:latin typeface="Meiryo UI" pitchFamily="34" charset="0"/>
                <a:ea typeface="Meiryo UI" pitchFamily="34" charset="-122"/>
                <a:cs typeface="Meiryo UI" pitchFamily="34" charset="-120"/>
              </a:rPr>
              <a:t>環境 Mambu-Sandbox には 6 つの変数と 1 つの Secret があります。準備3 で入れるのは baseUrl と branchKey の 2 つ（と API キー）だけです。</a:t>
            </a:r>
            <a:endParaRPr lang="en-US" sz="1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468880"/>
                <a:gridCol w="3200400"/>
                <a:gridCol w="2834640"/>
                <a:gridCol w="2560320"/>
              </a:tblGrid>
              <a:tr h="402336">
                <a:tc>
                  <a:txBody>
                    <a:bodyPr/>
                    <a:lstStyle/>
                    <a:p>
                      <a:pPr indent="0" marL="0">
                        <a:buNone/>
                      </a:pPr>
                      <a:r>
                        <a:rPr lang="en-US" sz="1250" b="1" dirty="0">
                          <a:solidFill>
                            <a:srgbClr val="FFFFFF"/>
                          </a:solidFill>
                          <a:latin typeface="Meiryo UI" pitchFamily="34" charset="0"/>
                          <a:ea typeface="Meiryo UI" pitchFamily="34" charset="-122"/>
                          <a:cs typeface="Meiryo UI" pitchFamily="34" charset="-120"/>
                        </a:rPr>
                        <a:t>変数</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250" b="1" dirty="0">
                          <a:solidFill>
                            <a:srgbClr val="FFFFFF"/>
                          </a:solidFill>
                          <a:latin typeface="Meiryo UI" pitchFamily="34" charset="0"/>
                          <a:ea typeface="Meiryo UI" pitchFamily="34" charset="-122"/>
                          <a:cs typeface="Meiryo UI" pitchFamily="34" charset="-120"/>
                        </a:rPr>
                        <a:t>何の値か</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250" b="1" dirty="0">
                          <a:solidFill>
                            <a:srgbClr val="FFFFFF"/>
                          </a:solidFill>
                          <a:latin typeface="Meiryo UI" pitchFamily="34" charset="0"/>
                          <a:ea typeface="Meiryo UI" pitchFamily="34" charset="-122"/>
                          <a:cs typeface="Meiryo UI" pitchFamily="34" charset="-120"/>
                        </a:rPr>
                        <a:t>どこで使うか</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250" b="1" dirty="0">
                          <a:solidFill>
                            <a:srgbClr val="FFFFFF"/>
                          </a:solidFill>
                          <a:latin typeface="Meiryo UI" pitchFamily="34" charset="0"/>
                          <a:ea typeface="Meiryo UI" pitchFamily="34" charset="-122"/>
                          <a:cs typeface="Meiryo UI" pitchFamily="34" charset="-120"/>
                        </a:rPr>
                        <a:t>いつ入れるか</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402336">
                <a:tc>
                  <a:txBody>
                    <a:bodyPr/>
                    <a:lstStyle/>
                    <a:p>
                      <a:pPr indent="0" marL="0">
                        <a:buNone/>
                      </a:pPr>
                      <a:r>
                        <a:rPr lang="en-US" sz="1250" b="1" dirty="0">
                          <a:solidFill>
                            <a:srgbClr val="B91C1C"/>
                          </a:solidFill>
                          <a:latin typeface="Meiryo UI" pitchFamily="34" charset="0"/>
                          <a:ea typeface="Meiryo UI" pitchFamily="34" charset="-122"/>
                          <a:cs typeface="Meiryo UI" pitchFamily="34" charset="-120"/>
                        </a:rPr>
                        <a:t>baseUrl</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Meiryo UI" pitchFamily="34" charset="0"/>
                          <a:ea typeface="Meiryo UI" pitchFamily="34" charset="-122"/>
                          <a:cs typeface="Meiryo UI" pitchFamily="34" charset="-120"/>
                        </a:rPr>
                        <a:t>テナント（組織の Mambu の環境）の URL</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Meiryo UI" pitchFamily="34" charset="0"/>
                          <a:ea typeface="Meiryo UI" pitchFamily="34" charset="-122"/>
                          <a:cs typeface="Meiryo UI" pitchFamily="34" charset="-120"/>
                        </a:rPr>
                        <a:t>全リクエストの URL の先頭</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50" b="1" dirty="0">
                          <a:solidFill>
                            <a:srgbClr val="B91C1C"/>
                          </a:solidFill>
                          <a:latin typeface="Meiryo UI" pitchFamily="34" charset="0"/>
                          <a:ea typeface="Meiryo UI" pitchFamily="34" charset="-122"/>
                          <a:cs typeface="Meiryo UI" pitchFamily="34" charset="-120"/>
                        </a:rPr>
                        <a:t>★ 準備3（いま）</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02336">
                <a:tc>
                  <a:txBody>
                    <a:bodyPr/>
                    <a:lstStyle/>
                    <a:p>
                      <a:pPr indent="0" marL="0">
                        <a:buNone/>
                      </a:pPr>
                      <a:r>
                        <a:rPr lang="en-US" sz="1250" b="1" dirty="0">
                          <a:solidFill>
                            <a:srgbClr val="B91C1C"/>
                          </a:solidFill>
                          <a:latin typeface="Meiryo UI" pitchFamily="34" charset="0"/>
                          <a:ea typeface="Meiryo UI" pitchFamily="34" charset="-122"/>
                          <a:cs typeface="Meiryo UI" pitchFamily="34" charset="-120"/>
                        </a:rPr>
                        <a:t>branchKey</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250" dirty="0">
                          <a:solidFill>
                            <a:srgbClr val="1F2937"/>
                          </a:solidFill>
                          <a:latin typeface="Meiryo UI" pitchFamily="34" charset="0"/>
                          <a:ea typeface="Meiryo UI" pitchFamily="34" charset="-122"/>
                          <a:cs typeface="Meiryo UI" pitchFamily="34" charset="-120"/>
                        </a:rPr>
                        <a:t>担当支店の encodedKey</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250" dirty="0">
                          <a:solidFill>
                            <a:srgbClr val="1F2937"/>
                          </a:solidFill>
                          <a:latin typeface="Meiryo UI" pitchFamily="34" charset="0"/>
                          <a:ea typeface="Meiryo UI" pitchFamily="34" charset="-122"/>
                          <a:cs typeface="Meiryo UI" pitchFamily="34" charset="-120"/>
                        </a:rPr>
                        <a:t>②③④ の Body（assignedBranchKey）</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250" b="1" dirty="0">
                          <a:solidFill>
                            <a:srgbClr val="B91C1C"/>
                          </a:solidFill>
                          <a:latin typeface="Meiryo UI" pitchFamily="34" charset="0"/>
                          <a:ea typeface="Meiryo UI" pitchFamily="34" charset="-122"/>
                          <a:cs typeface="Meiryo UI" pitchFamily="34" charset="-120"/>
                        </a:rPr>
                        <a:t>★ 準備3（いま）</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02336">
                <a:tc>
                  <a:txBody>
                    <a:bodyPr/>
                    <a:lstStyle/>
                    <a:p>
                      <a:pPr indent="0" marL="0">
                        <a:buNone/>
                      </a:pPr>
                      <a:r>
                        <a:rPr lang="en-US" sz="1250" dirty="0">
                          <a:solidFill>
                            <a:srgbClr val="1F2937"/>
                          </a:solidFill>
                          <a:latin typeface="Meiryo UI" pitchFamily="34" charset="0"/>
                          <a:ea typeface="Meiryo UI" pitchFamily="34" charset="-122"/>
                          <a:cs typeface="Meiryo UI" pitchFamily="34" charset="-120"/>
                        </a:rPr>
                        <a:t>groupTypeKey・roleNameKey</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Meiryo UI" pitchFamily="34" charset="0"/>
                          <a:ea typeface="Meiryo UI" pitchFamily="34" charset="-122"/>
                          <a:cs typeface="Meiryo UI" pitchFamily="34" charset="-120"/>
                        </a:rPr>
                        <a:t>法人用の Group の種類・役職の key</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Meiryo UI" pitchFamily="34" charset="0"/>
                          <a:ea typeface="Meiryo UI" pitchFamily="34" charset="-122"/>
                          <a:cs typeface="Meiryo UI" pitchFamily="34" charset="-120"/>
                        </a:rPr>
                        <a:t>③ の Body</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Meiryo UI" pitchFamily="34" charset="0"/>
                          <a:ea typeface="Meiryo UI" pitchFamily="34" charset="-122"/>
                          <a:cs typeface="Meiryo UI" pitchFamily="34" charset="-120"/>
                        </a:rPr>
                        <a:t>ステップ①の最後（組織から受け取った値を手で入力）</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02336">
                <a:tc>
                  <a:txBody>
                    <a:bodyPr/>
                    <a:lstStyle/>
                    <a:p>
                      <a:pPr indent="0" marL="0">
                        <a:buNone/>
                      </a:pPr>
                      <a:r>
                        <a:rPr lang="en-US" sz="1250" dirty="0">
                          <a:solidFill>
                            <a:srgbClr val="1F2937"/>
                          </a:solidFill>
                          <a:latin typeface="Meiryo UI" pitchFamily="34" charset="0"/>
                          <a:ea typeface="Meiryo UI" pitchFamily="34" charset="-122"/>
                          <a:cs typeface="Meiryo UI" pitchFamily="34" charset="-120"/>
                        </a:rPr>
                        <a:t>depositProductKey</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250" dirty="0">
                          <a:solidFill>
                            <a:srgbClr val="1F2937"/>
                          </a:solidFill>
                          <a:latin typeface="Meiryo UI" pitchFamily="34" charset="0"/>
                          <a:ea typeface="Meiryo UI" pitchFamily="34" charset="-122"/>
                          <a:cs typeface="Meiryo UI" pitchFamily="34" charset="-120"/>
                        </a:rPr>
                        <a:t>預金商品の encodedKey</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250" dirty="0">
                          <a:solidFill>
                            <a:srgbClr val="1F2937"/>
                          </a:solidFill>
                          <a:latin typeface="Meiryo UI" pitchFamily="34" charset="0"/>
                          <a:ea typeface="Meiryo UI" pitchFamily="34" charset="-122"/>
                          <a:cs typeface="Meiryo UI" pitchFamily="34" charset="-120"/>
                        </a:rPr>
                        <a:t>④ の Body</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250" dirty="0">
                          <a:solidFill>
                            <a:srgbClr val="1F2937"/>
                          </a:solidFill>
                          <a:latin typeface="Meiryo UI" pitchFamily="34" charset="0"/>
                          <a:ea typeface="Meiryo UI" pitchFamily="34" charset="-122"/>
                          <a:cs typeface="Meiryo UI" pitchFamily="34" charset="-120"/>
                        </a:rPr>
                        <a:t>ステップ①（02 の Script で自動）</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02336">
                <a:tc>
                  <a:txBody>
                    <a:bodyPr/>
                    <a:lstStyle/>
                    <a:p>
                      <a:pPr indent="0" marL="0">
                        <a:buNone/>
                      </a:pPr>
                      <a:r>
                        <a:rPr lang="en-US" sz="1250" dirty="0">
                          <a:solidFill>
                            <a:srgbClr val="1F2937"/>
                          </a:solidFill>
                          <a:latin typeface="Meiryo UI" pitchFamily="34" charset="0"/>
                          <a:ea typeface="Meiryo UI" pitchFamily="34" charset="-122"/>
                          <a:cs typeface="Meiryo UI" pitchFamily="34" charset="-120"/>
                        </a:rPr>
                        <a:t>channelId</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Meiryo UI" pitchFamily="34" charset="0"/>
                          <a:ea typeface="Meiryo UI" pitchFamily="34" charset="-122"/>
                          <a:cs typeface="Meiryo UI" pitchFamily="34" charset="-120"/>
                        </a:rPr>
                        <a:t>取引チャネルの id</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Meiryo UI" pitchFamily="34" charset="0"/>
                          <a:ea typeface="Meiryo UI" pitchFamily="34" charset="-122"/>
                          <a:cs typeface="Meiryo UI" pitchFamily="34" charset="-120"/>
                        </a:rPr>
                        <a:t>⑥ の Body</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Meiryo UI" pitchFamily="34" charset="0"/>
                          <a:ea typeface="Meiryo UI" pitchFamily="34" charset="-122"/>
                          <a:cs typeface="Meiryo UI" pitchFamily="34" charset="-120"/>
                        </a:rPr>
                        <a:t>ステップ①（03 の Script で自動）</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02336">
                <a:tc>
                  <a:txBody>
                    <a:bodyPr/>
                    <a:lstStyle/>
                    <a:p>
                      <a:pPr indent="0" marL="0">
                        <a:buNone/>
                      </a:pPr>
                      <a:r>
                        <a:rPr lang="en-US" sz="1250" dirty="0">
                          <a:solidFill>
                            <a:srgbClr val="1F2937"/>
                          </a:solidFill>
                          <a:latin typeface="Meiryo UI" pitchFamily="34" charset="0"/>
                          <a:ea typeface="Meiryo UI" pitchFamily="34" charset="-122"/>
                          <a:cs typeface="Meiryo UI" pitchFamily="34" charset="-120"/>
                        </a:rPr>
                        <a:t>apiKey（Secret）</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250" dirty="0">
                          <a:solidFill>
                            <a:srgbClr val="1F2937"/>
                          </a:solidFill>
                          <a:latin typeface="Meiryo UI" pitchFamily="34" charset="0"/>
                          <a:ea typeface="Meiryo UI" pitchFamily="34" charset="-122"/>
                          <a:cs typeface="Meiryo UI" pitchFamily="34" charset="-120"/>
                        </a:rPr>
                        <a:t>API キー</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250" dirty="0">
                          <a:solidFill>
                            <a:srgbClr val="1F2937"/>
                          </a:solidFill>
                          <a:latin typeface="Meiryo UI" pitchFamily="34" charset="0"/>
                          <a:ea typeface="Meiryo UI" pitchFamily="34" charset="-122"/>
                          <a:cs typeface="Meiryo UI" pitchFamily="34" charset="-120"/>
                        </a:rPr>
                        <a:t>全リクエストのヘッダー（準備4）</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250" dirty="0">
                          <a:solidFill>
                            <a:srgbClr val="1F2937"/>
                          </a:solidFill>
                          <a:latin typeface="Meiryo UI" pitchFamily="34" charset="0"/>
                          <a:ea typeface="Meiryo UI" pitchFamily="34" charset="-122"/>
                          <a:cs typeface="Meiryo UI" pitchFamily="34" charset="-120"/>
                        </a:rPr>
                        <a:t>準備3（Secrets タブ）</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bl>
          </a:graphicData>
        </a:graphic>
      </p:graphicFrame>
      <p:sp>
        <p:nvSpPr>
          <p:cNvPr id="8" name="Shape 5"/>
          <p:cNvSpPr/>
          <p:nvPr/>
        </p:nvSpPr>
        <p:spPr>
          <a:xfrm>
            <a:off x="548640" y="4709160"/>
            <a:ext cx="11064240" cy="1051560"/>
          </a:xfrm>
          <a:prstGeom prst="rect">
            <a:avLst/>
          </a:prstGeom>
          <a:solidFill>
            <a:srgbClr val="ECFDF5"/>
          </a:solidFill>
          <a:ln w="15875">
            <a:solidFill>
              <a:srgbClr val="047857"/>
            </a:solidFill>
            <a:prstDash val="solid"/>
          </a:ln>
        </p:spPr>
      </p:sp>
      <p:sp>
        <p:nvSpPr>
          <p:cNvPr id="9" name="Shape 6"/>
          <p:cNvSpPr/>
          <p:nvPr/>
        </p:nvSpPr>
        <p:spPr>
          <a:xfrm>
            <a:off x="548640" y="4709160"/>
            <a:ext cx="82296" cy="1051560"/>
          </a:xfrm>
          <a:prstGeom prst="rect">
            <a:avLst/>
          </a:prstGeom>
          <a:solidFill>
            <a:srgbClr val="047857"/>
          </a:solidFill>
          <a:ln w="12700">
            <a:solidFill>
              <a:srgbClr val="047857"/>
            </a:solidFill>
            <a:prstDash val="solid"/>
          </a:ln>
        </p:spPr>
      </p:sp>
      <p:sp>
        <p:nvSpPr>
          <p:cNvPr id="10" name="Text 7"/>
          <p:cNvSpPr/>
          <p:nvPr/>
        </p:nvSpPr>
        <p:spPr>
          <a:xfrm>
            <a:off x="713232" y="4754880"/>
            <a:ext cx="10835640" cy="960120"/>
          </a:xfrm>
          <a:prstGeom prst="rect">
            <a:avLst/>
          </a:prstGeom>
          <a:noFill/>
          <a:ln/>
        </p:spPr>
        <p:txBody>
          <a:bodyPr wrap="square" rtlCol="0" anchor="ctr"/>
          <a:lstStyle/>
          <a:p>
            <a:pPr indent="0" marL="0">
              <a:spcAft>
                <a:spcPts val="200"/>
              </a:spcAft>
              <a:buNone/>
            </a:pPr>
            <a:r>
              <a:rPr lang="en-US" sz="1250" b="1" dirty="0">
                <a:solidFill>
                  <a:srgbClr val="047857"/>
                </a:solidFill>
                <a:latin typeface="Meiryo UI" pitchFamily="34" charset="0"/>
                <a:ea typeface="Meiryo UI" pitchFamily="34" charset="-122"/>
                <a:cs typeface="Meiryo UI" pitchFamily="34" charset="-120"/>
              </a:rPr>
              <a:t>【なぜ 2 つだけ先に入れるのか】</a:t>
            </a:r>
            <a:endParaRPr lang="en-US" sz="1250" dirty="0"/>
          </a:p>
          <a:p>
            <a:pPr indent="0" marL="0">
              <a:spcAft>
                <a:spcPts val="200"/>
              </a:spcAft>
              <a:buNone/>
            </a:pPr>
            <a:r>
              <a:rPr lang="en-US" sz="1250" dirty="0">
                <a:solidFill>
                  <a:srgbClr val="1F2937"/>
                </a:solidFill>
                <a:latin typeface="Meiryo UI" pitchFamily="34" charset="0"/>
                <a:ea typeface="Meiryo UI" pitchFamily="34" charset="-122"/>
                <a:cs typeface="Meiryo UI" pitchFamily="34" charset="-120"/>
              </a:rPr>
              <a:t>baseUrl がないと、ステップ①の GET も含めてどのリクエストも送れません。branchKey は組織が決める値（どの支店で口座を扱うか）なので、最初に受け取って入れておきます。depositProductKey・channelId はステップ①のスクリプトが自動で入れ、groupTypeKey・roleNameKey はステップ①の最後に手で入れます（それまでは SET_BY_ORGANIZATION のままで構いません）。</a:t>
            </a:r>
            <a:endParaRPr lang="en-US" sz="125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準備3：baseUrl とは（リクエストの送り先）</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6" name="Text 4"/>
          <p:cNvSpPr/>
          <p:nvPr/>
        </p:nvSpPr>
        <p:spPr>
          <a:xfrm>
            <a:off x="365760" y="6144768"/>
            <a:ext cx="11430000" cy="292608"/>
          </a:xfrm>
          <a:prstGeom prst="rect">
            <a:avLst/>
          </a:prstGeom>
          <a:noFill/>
          <a:ln/>
        </p:spPr>
        <p:txBody>
          <a:bodyPr wrap="square" rtlCol="0" anchor="t"/>
          <a:lstStyle/>
          <a:p>
            <a:pPr indent="0" marL="0">
              <a:buNone/>
            </a:pPr>
            <a:r>
              <a:rPr lang="en-US" sz="1000" dirty="0">
                <a:solidFill>
                  <a:srgbClr val="6B7280"/>
                </a:solidFill>
                <a:latin typeface="Meiryo UI" pitchFamily="34" charset="0"/>
                <a:ea typeface="Meiryo UI" pitchFamily="34" charset="-122"/>
                <a:cs typeface="Meiryo UI" pitchFamily="34" charset="-120"/>
              </a:rPr>
              <a:t>出典：https://docs.mambu.com/api/pages/api-v2/base-urls/ ／ …/sandbox/ ／ …/authentication/（2026-10-09 確認）</a:t>
            </a:r>
            <a:endParaRPr lang="en-US" sz="1000" dirty="0"/>
          </a:p>
        </p:txBody>
      </p:sp>
      <p:sp>
        <p:nvSpPr>
          <p:cNvPr id="7" name="Shape 5"/>
          <p:cNvSpPr/>
          <p:nvPr/>
        </p:nvSpPr>
        <p:spPr>
          <a:xfrm>
            <a:off x="822960" y="1234440"/>
            <a:ext cx="1280160" cy="640080"/>
          </a:xfrm>
          <a:prstGeom prst="roundRect">
            <a:avLst>
              <a:gd name="adj" fmla="val 11429"/>
            </a:avLst>
          </a:prstGeom>
          <a:solidFill>
            <a:srgbClr val="F8FAFC"/>
          </a:solidFill>
          <a:ln w="15875">
            <a:solidFill>
              <a:srgbClr val="1F3A5F"/>
            </a:solidFill>
            <a:prstDash val="solid"/>
          </a:ln>
        </p:spPr>
      </p:sp>
      <p:sp>
        <p:nvSpPr>
          <p:cNvPr id="8" name="Text 6"/>
          <p:cNvSpPr/>
          <p:nvPr/>
        </p:nvSpPr>
        <p:spPr>
          <a:xfrm>
            <a:off x="822960" y="1234440"/>
            <a:ext cx="1280160" cy="640080"/>
          </a:xfrm>
          <a:prstGeom prst="rect">
            <a:avLst/>
          </a:prstGeom>
          <a:noFill/>
          <a:ln/>
        </p:spPr>
        <p:txBody>
          <a:bodyPr wrap="square" lIns="50800" tIns="50800" rIns="50800" bIns="50800" rtlCol="0" anchor="ctr"/>
          <a:lstStyle/>
          <a:p>
            <a:pPr algn="ctr" indent="0" marL="0">
              <a:buNone/>
            </a:pPr>
            <a:r>
              <a:rPr lang="en-US" sz="1500" b="1" dirty="0">
                <a:solidFill>
                  <a:srgbClr val="1F2937"/>
                </a:solidFill>
                <a:latin typeface="Consolas" pitchFamily="34" charset="0"/>
                <a:ea typeface="Consolas" pitchFamily="34" charset="-122"/>
                <a:cs typeface="Consolas" pitchFamily="34" charset="-120"/>
              </a:rPr>
              <a:t>https://</a:t>
            </a:r>
            <a:endParaRPr lang="en-US" sz="1500" dirty="0"/>
          </a:p>
        </p:txBody>
      </p:sp>
      <p:sp>
        <p:nvSpPr>
          <p:cNvPr id="9" name="Text 7"/>
          <p:cNvSpPr/>
          <p:nvPr/>
        </p:nvSpPr>
        <p:spPr>
          <a:xfrm>
            <a:off x="822960" y="1920240"/>
            <a:ext cx="1280160" cy="594360"/>
          </a:xfrm>
          <a:prstGeom prst="rect">
            <a:avLst/>
          </a:prstGeom>
          <a:noFill/>
          <a:ln/>
        </p:spPr>
        <p:txBody>
          <a:bodyPr wrap="square" lIns="50800" tIns="50800" rIns="50800" bIns="50800" rtlCol="0" anchor="t"/>
          <a:lstStyle/>
          <a:p>
            <a:pPr algn="ctr" indent="0" marL="0">
              <a:buNone/>
            </a:pPr>
            <a:r>
              <a:rPr lang="en-US" sz="1200" dirty="0">
                <a:solidFill>
                  <a:srgbClr val="6B7280"/>
                </a:solidFill>
                <a:latin typeface="Meiryo UI" pitchFamily="34" charset="0"/>
                <a:ea typeface="Meiryo UI" pitchFamily="34" charset="-122"/>
                <a:cs typeface="Meiryo UI" pitchFamily="34" charset="-120"/>
              </a:rPr>
              <a:t>通信の方式</a:t>
            </a:r>
            <a:endParaRPr lang="en-US" sz="1200" dirty="0"/>
          </a:p>
        </p:txBody>
      </p:sp>
      <p:sp>
        <p:nvSpPr>
          <p:cNvPr id="10" name="Shape 8"/>
          <p:cNvSpPr/>
          <p:nvPr/>
        </p:nvSpPr>
        <p:spPr>
          <a:xfrm>
            <a:off x="2194560" y="1234440"/>
            <a:ext cx="2377440" cy="640080"/>
          </a:xfrm>
          <a:prstGeom prst="roundRect">
            <a:avLst>
              <a:gd name="adj" fmla="val 11429"/>
            </a:avLst>
          </a:prstGeom>
          <a:solidFill>
            <a:srgbClr val="FEF3C7"/>
          </a:solidFill>
          <a:ln w="15875">
            <a:solidFill>
              <a:srgbClr val="D97706"/>
            </a:solidFill>
            <a:prstDash val="solid"/>
          </a:ln>
        </p:spPr>
      </p:sp>
      <p:sp>
        <p:nvSpPr>
          <p:cNvPr id="11" name="Text 9"/>
          <p:cNvSpPr/>
          <p:nvPr/>
        </p:nvSpPr>
        <p:spPr>
          <a:xfrm>
            <a:off x="2194560" y="1234440"/>
            <a:ext cx="2377440" cy="640080"/>
          </a:xfrm>
          <a:prstGeom prst="rect">
            <a:avLst/>
          </a:prstGeom>
          <a:noFill/>
          <a:ln/>
        </p:spPr>
        <p:txBody>
          <a:bodyPr wrap="square" lIns="50800" tIns="50800" rIns="50800" bIns="50800" rtlCol="0" anchor="ctr"/>
          <a:lstStyle/>
          <a:p>
            <a:pPr algn="ctr" indent="0" marL="0">
              <a:buNone/>
            </a:pPr>
            <a:r>
              <a:rPr lang="en-US" sz="1500" b="1" dirty="0">
                <a:solidFill>
                  <a:srgbClr val="1F2937"/>
                </a:solidFill>
                <a:latin typeface="Consolas" pitchFamily="34" charset="0"/>
                <a:ea typeface="Consolas" pitchFamily="34" charset="-122"/>
                <a:cs typeface="Consolas" pitchFamily="34" charset="-120"/>
              </a:rPr>
              <a:t>example-bank</a:t>
            </a:r>
            <a:endParaRPr lang="en-US" sz="1500" dirty="0"/>
          </a:p>
        </p:txBody>
      </p:sp>
      <p:sp>
        <p:nvSpPr>
          <p:cNvPr id="12" name="Text 10"/>
          <p:cNvSpPr/>
          <p:nvPr/>
        </p:nvSpPr>
        <p:spPr>
          <a:xfrm>
            <a:off x="2194560" y="1920240"/>
            <a:ext cx="2377440" cy="594360"/>
          </a:xfrm>
          <a:prstGeom prst="rect">
            <a:avLst/>
          </a:prstGeom>
          <a:noFill/>
          <a:ln/>
        </p:spPr>
        <p:txBody>
          <a:bodyPr wrap="square" lIns="50800" tIns="50800" rIns="50800" bIns="50800" rtlCol="0" anchor="t"/>
          <a:lstStyle/>
          <a:p>
            <a:pPr algn="ctr" indent="0" marL="0">
              <a:buNone/>
            </a:pPr>
            <a:r>
              <a:rPr lang="en-US" sz="1200" dirty="0">
                <a:solidFill>
                  <a:srgbClr val="6B7280"/>
                </a:solidFill>
                <a:latin typeface="Meiryo UI" pitchFamily="34" charset="0"/>
                <a:ea typeface="Meiryo UI" pitchFamily="34" charset="-122"/>
                <a:cs typeface="Meiryo UI" pitchFamily="34" charset="-120"/>
              </a:rPr>
              <a:t>テナント名</a:t>
            </a:r>
            <a:endParaRPr lang="en-US" sz="1200" dirty="0"/>
          </a:p>
          <a:p>
            <a:pPr algn="ctr" indent="0" marL="0">
              <a:buNone/>
            </a:pPr>
            <a:r>
              <a:rPr lang="en-US" sz="1200" dirty="0">
                <a:solidFill>
                  <a:srgbClr val="6B7280"/>
                </a:solidFill>
                <a:latin typeface="Meiryo UI" pitchFamily="34" charset="0"/>
                <a:ea typeface="Meiryo UI" pitchFamily="34" charset="-122"/>
                <a:cs typeface="Meiryo UI" pitchFamily="34" charset="-120"/>
              </a:rPr>
              <a:t>（組織ごとに違う）</a:t>
            </a:r>
            <a:endParaRPr lang="en-US" sz="1200" dirty="0"/>
          </a:p>
        </p:txBody>
      </p:sp>
      <p:sp>
        <p:nvSpPr>
          <p:cNvPr id="13" name="Shape 11"/>
          <p:cNvSpPr/>
          <p:nvPr/>
        </p:nvSpPr>
        <p:spPr>
          <a:xfrm>
            <a:off x="4663440" y="1234440"/>
            <a:ext cx="3291840" cy="640080"/>
          </a:xfrm>
          <a:prstGeom prst="roundRect">
            <a:avLst>
              <a:gd name="adj" fmla="val 11429"/>
            </a:avLst>
          </a:prstGeom>
          <a:solidFill>
            <a:srgbClr val="EFF6FF"/>
          </a:solidFill>
          <a:ln w="15875">
            <a:solidFill>
              <a:srgbClr val="1D4ED8"/>
            </a:solidFill>
            <a:prstDash val="solid"/>
          </a:ln>
        </p:spPr>
      </p:sp>
      <p:sp>
        <p:nvSpPr>
          <p:cNvPr id="14" name="Text 12"/>
          <p:cNvSpPr/>
          <p:nvPr/>
        </p:nvSpPr>
        <p:spPr>
          <a:xfrm>
            <a:off x="4663440" y="1234440"/>
            <a:ext cx="3291840" cy="640080"/>
          </a:xfrm>
          <a:prstGeom prst="rect">
            <a:avLst/>
          </a:prstGeom>
          <a:noFill/>
          <a:ln/>
        </p:spPr>
        <p:txBody>
          <a:bodyPr wrap="square" lIns="50800" tIns="50800" rIns="50800" bIns="50800" rtlCol="0" anchor="ctr"/>
          <a:lstStyle/>
          <a:p>
            <a:pPr algn="ctr" indent="0" marL="0">
              <a:buNone/>
            </a:pPr>
            <a:r>
              <a:rPr lang="en-US" sz="1500" b="1" dirty="0">
                <a:solidFill>
                  <a:srgbClr val="1F2937"/>
                </a:solidFill>
                <a:latin typeface="Consolas" pitchFamily="34" charset="0"/>
                <a:ea typeface="Consolas" pitchFamily="34" charset="-122"/>
                <a:cs typeface="Consolas" pitchFamily="34" charset="-120"/>
              </a:rPr>
              <a:t>.sandbox.mambu.com</a:t>
            </a:r>
            <a:endParaRPr lang="en-US" sz="1500" dirty="0"/>
          </a:p>
        </p:txBody>
      </p:sp>
      <p:sp>
        <p:nvSpPr>
          <p:cNvPr id="15" name="Text 13"/>
          <p:cNvSpPr/>
          <p:nvPr/>
        </p:nvSpPr>
        <p:spPr>
          <a:xfrm>
            <a:off x="4663440" y="1920240"/>
            <a:ext cx="3291840" cy="594360"/>
          </a:xfrm>
          <a:prstGeom prst="rect">
            <a:avLst/>
          </a:prstGeom>
          <a:noFill/>
          <a:ln/>
        </p:spPr>
        <p:txBody>
          <a:bodyPr wrap="square" lIns="50800" tIns="50800" rIns="50800" bIns="50800" rtlCol="0" anchor="t"/>
          <a:lstStyle/>
          <a:p>
            <a:pPr algn="ctr" indent="0" marL="0">
              <a:buNone/>
            </a:pPr>
            <a:r>
              <a:rPr lang="en-US" sz="1200" dirty="0">
                <a:solidFill>
                  <a:srgbClr val="6B7280"/>
                </a:solidFill>
                <a:latin typeface="Meiryo UI" pitchFamily="34" charset="0"/>
                <a:ea typeface="Meiryo UI" pitchFamily="34" charset="-122"/>
                <a:cs typeface="Meiryo UI" pitchFamily="34" charset="-120"/>
              </a:rPr>
              <a:t>サンドボックス（練習用）</a:t>
            </a:r>
            <a:endParaRPr lang="en-US" sz="1200" dirty="0"/>
          </a:p>
          <a:p>
            <a:pPr algn="ctr" indent="0" marL="0">
              <a:buNone/>
            </a:pPr>
            <a:r>
              <a:rPr lang="en-US" sz="1200" dirty="0">
                <a:solidFill>
                  <a:srgbClr val="6B7280"/>
                </a:solidFill>
                <a:latin typeface="Meiryo UI" pitchFamily="34" charset="0"/>
                <a:ea typeface="Meiryo UI" pitchFamily="34" charset="-122"/>
                <a:cs typeface="Meiryo UI" pitchFamily="34" charset="-120"/>
              </a:rPr>
              <a:t>本番は .mambu.com</a:t>
            </a:r>
            <a:endParaRPr lang="en-US" sz="1200" dirty="0"/>
          </a:p>
        </p:txBody>
      </p:sp>
      <p:sp>
        <p:nvSpPr>
          <p:cNvPr id="16" name="Shape 14"/>
          <p:cNvSpPr/>
          <p:nvPr/>
        </p:nvSpPr>
        <p:spPr>
          <a:xfrm>
            <a:off x="8046720" y="1234440"/>
            <a:ext cx="1097280" cy="640080"/>
          </a:xfrm>
          <a:prstGeom prst="roundRect">
            <a:avLst>
              <a:gd name="adj" fmla="val 11429"/>
            </a:avLst>
          </a:prstGeom>
          <a:solidFill>
            <a:srgbClr val="F8FAFC"/>
          </a:solidFill>
          <a:ln w="15875">
            <a:solidFill>
              <a:srgbClr val="1F3A5F"/>
            </a:solidFill>
            <a:prstDash val="solid"/>
          </a:ln>
        </p:spPr>
      </p:sp>
      <p:sp>
        <p:nvSpPr>
          <p:cNvPr id="17" name="Text 15"/>
          <p:cNvSpPr/>
          <p:nvPr/>
        </p:nvSpPr>
        <p:spPr>
          <a:xfrm>
            <a:off x="8046720" y="1234440"/>
            <a:ext cx="1097280" cy="640080"/>
          </a:xfrm>
          <a:prstGeom prst="rect">
            <a:avLst/>
          </a:prstGeom>
          <a:noFill/>
          <a:ln/>
        </p:spPr>
        <p:txBody>
          <a:bodyPr wrap="square" lIns="50800" tIns="50800" rIns="50800" bIns="50800" rtlCol="0" anchor="ctr"/>
          <a:lstStyle/>
          <a:p>
            <a:pPr algn="ctr" indent="0" marL="0">
              <a:buNone/>
            </a:pPr>
            <a:r>
              <a:rPr lang="en-US" sz="1500" b="1" dirty="0">
                <a:solidFill>
                  <a:srgbClr val="1F2937"/>
                </a:solidFill>
                <a:latin typeface="Consolas" pitchFamily="34" charset="0"/>
                <a:ea typeface="Consolas" pitchFamily="34" charset="-122"/>
                <a:cs typeface="Consolas" pitchFamily="34" charset="-120"/>
              </a:rPr>
              <a:t>/api</a:t>
            </a:r>
            <a:endParaRPr lang="en-US" sz="1500" dirty="0"/>
          </a:p>
        </p:txBody>
      </p:sp>
      <p:sp>
        <p:nvSpPr>
          <p:cNvPr id="18" name="Text 16"/>
          <p:cNvSpPr/>
          <p:nvPr/>
        </p:nvSpPr>
        <p:spPr>
          <a:xfrm>
            <a:off x="8046720" y="1920240"/>
            <a:ext cx="1097280" cy="594360"/>
          </a:xfrm>
          <a:prstGeom prst="rect">
            <a:avLst/>
          </a:prstGeom>
          <a:noFill/>
          <a:ln/>
        </p:spPr>
        <p:txBody>
          <a:bodyPr wrap="square" lIns="50800" tIns="50800" rIns="50800" bIns="50800" rtlCol="0" anchor="t"/>
          <a:lstStyle/>
          <a:p>
            <a:pPr algn="ctr" indent="0" marL="0">
              <a:buNone/>
            </a:pPr>
            <a:r>
              <a:rPr lang="en-US" sz="1200" dirty="0">
                <a:solidFill>
                  <a:srgbClr val="6B7280"/>
                </a:solidFill>
                <a:latin typeface="Meiryo UI" pitchFamily="34" charset="0"/>
                <a:ea typeface="Meiryo UI" pitchFamily="34" charset="-122"/>
                <a:cs typeface="Meiryo UI" pitchFamily="34" charset="-120"/>
              </a:rPr>
              <a:t>API の入口</a:t>
            </a:r>
            <a:endParaRPr lang="en-US" sz="1200" dirty="0"/>
          </a:p>
        </p:txBody>
      </p:sp>
      <p:sp>
        <p:nvSpPr>
          <p:cNvPr id="19" name="Text 17"/>
          <p:cNvSpPr/>
          <p:nvPr/>
        </p:nvSpPr>
        <p:spPr>
          <a:xfrm>
            <a:off x="548640" y="2697480"/>
            <a:ext cx="11064240" cy="365760"/>
          </a:xfrm>
          <a:prstGeom prst="rect">
            <a:avLst/>
          </a:prstGeom>
          <a:noFill/>
          <a:ln/>
        </p:spPr>
        <p:txBody>
          <a:bodyPr wrap="square" lIns="50800" tIns="50800" rIns="50800" bIns="50800" rtlCol="0" anchor="t"/>
          <a:lstStyle/>
          <a:p>
            <a:pPr algn="l" indent="0" marL="0">
              <a:buNone/>
            </a:pPr>
            <a:r>
              <a:rPr lang="en-US" sz="1500" dirty="0">
                <a:solidFill>
                  <a:srgbClr val="1F2937"/>
                </a:solidFill>
                <a:latin typeface="Meiryo UI" pitchFamily="34" charset="0"/>
                <a:ea typeface="Meiryo UI" pitchFamily="34" charset="-122"/>
                <a:cs typeface="Meiryo UI" pitchFamily="34" charset="-120"/>
              </a:rPr>
              <a:t>Bruno では、URL に {{baseUrl}} と書くと、送るときに環境の値に置き換わります。</a:t>
            </a:r>
            <a:endParaRPr lang="en-US" sz="1500" dirty="0"/>
          </a:p>
        </p:txBody>
      </p:sp>
      <p:sp>
        <p:nvSpPr>
          <p:cNvPr id="20" name="Text 18"/>
          <p:cNvSpPr/>
          <p:nvPr/>
        </p:nvSpPr>
        <p:spPr>
          <a:xfrm>
            <a:off x="548640" y="3154680"/>
            <a:ext cx="6583680" cy="1143000"/>
          </a:xfrm>
          <a:prstGeom prst="rect">
            <a:avLst/>
          </a:prstGeom>
          <a:solidFill>
            <a:srgbClr val="F3F4F6"/>
          </a:solidFill>
          <a:ln w="12700">
            <a:solidFill>
              <a:srgbClr val="D1D5DB"/>
            </a:solidFill>
          </a:ln>
        </p:spPr>
        <p:txBody>
          <a:bodyPr wrap="square" lIns="101600" tIns="101600" rIns="101600" bIns="101600" rtlCol="0" anchor="t"/>
          <a:lstStyle/>
          <a:p>
            <a:pPr indent="0" marL="0">
              <a:buNone/>
            </a:pPr>
            <a:r>
              <a:rPr lang="en-US" sz="1400" dirty="0">
                <a:solidFill>
                  <a:srgbClr val="111827"/>
                </a:solidFill>
                <a:latin typeface="Consolas" pitchFamily="34" charset="0"/>
                <a:ea typeface="Consolas" pitchFamily="34" charset="-122"/>
                <a:cs typeface="Consolas" pitchFamily="34" charset="-120"/>
              </a:rPr>
              <a:t>{{baseUrl}}/branches</a:t>
            </a:r>
            <a:endParaRPr lang="en-US" sz="1400" dirty="0"/>
          </a:p>
          <a:p>
            <a:pPr indent="0" marL="0">
              <a:buNone/>
            </a:pPr>
            <a:r>
              <a:rPr lang="en-US" sz="1400" dirty="0">
                <a:solidFill>
                  <a:srgbClr val="111827"/>
                </a:solidFill>
                <a:latin typeface="Consolas" pitchFamily="34" charset="0"/>
                <a:ea typeface="Consolas" pitchFamily="34" charset="-122"/>
                <a:cs typeface="Consolas" pitchFamily="34" charset="-120"/>
              </a:rPr>
              <a:t>　↓ 送るとき</a:t>
            </a:r>
            <a:endParaRPr lang="en-US" sz="1400" dirty="0"/>
          </a:p>
          <a:p>
            <a:pPr indent="0" marL="0">
              <a:buNone/>
            </a:pPr>
            <a:r>
              <a:rPr lang="en-US" sz="1400" dirty="0">
                <a:solidFill>
                  <a:srgbClr val="111827"/>
                </a:solidFill>
                <a:latin typeface="Consolas" pitchFamily="34" charset="0"/>
                <a:ea typeface="Consolas" pitchFamily="34" charset="-122"/>
                <a:cs typeface="Consolas" pitchFamily="34" charset="-120"/>
              </a:rPr>
              <a:t>https://example-bank.sandbox.mambu.com/api/branches</a:t>
            </a:r>
            <a:endParaRPr lang="en-US" sz="1400" dirty="0"/>
          </a:p>
        </p:txBody>
      </p:sp>
      <p:sp>
        <p:nvSpPr>
          <p:cNvPr id="21" name="Text 19"/>
          <p:cNvSpPr/>
          <p:nvPr/>
        </p:nvSpPr>
        <p:spPr>
          <a:xfrm>
            <a:off x="7406640" y="3108960"/>
            <a:ext cx="4206240" cy="1463040"/>
          </a:xfrm>
          <a:prstGeom prst="rect">
            <a:avLst/>
          </a:prstGeom>
          <a:noFill/>
          <a:ln/>
        </p:spPr>
        <p:txBody>
          <a:bodyPr wrap="square" rtlCol="0" anchor="t"/>
          <a:lstStyle/>
          <a:p>
            <a:pPr marL="228600" indent="-228600">
              <a:spcAft>
                <a:spcPts val="500"/>
              </a:spcAft>
              <a:buSzPct val="100000"/>
              <a:buChar char="•"/>
            </a:pPr>
            <a:r>
              <a:rPr lang="en-US" sz="1300" dirty="0">
                <a:solidFill>
                  <a:srgbClr val="1F2937"/>
                </a:solidFill>
                <a:latin typeface="Meiryo UI" pitchFamily="34" charset="0"/>
                <a:ea typeface="Meiryo UI" pitchFamily="34" charset="-122"/>
                <a:cs typeface="Meiryo UI" pitchFamily="34" charset="-120"/>
              </a:rPr>
              <a:t>9 つのリクエストすべてが {{baseUrl}} から始まる</a:t>
            </a:r>
            <a:endParaRPr lang="en-US" sz="1300" dirty="0"/>
          </a:p>
          <a:p>
            <a:pPr marL="228600" indent="-228600">
              <a:spcAft>
                <a:spcPts val="500"/>
              </a:spcAft>
              <a:buSzPct val="100000"/>
              <a:buChar char="•"/>
            </a:pPr>
            <a:r>
              <a:rPr lang="en-US" sz="1300" dirty="0">
                <a:solidFill>
                  <a:srgbClr val="1F2937"/>
                </a:solidFill>
                <a:latin typeface="Meiryo UI" pitchFamily="34" charset="0"/>
                <a:ea typeface="Meiryo UI" pitchFamily="34" charset="-122"/>
                <a:cs typeface="Meiryo UI" pitchFamily="34" charset="-120"/>
              </a:rPr>
              <a:t>組織のテナント名に変わっても、ここを 1 か所直すだけでよい</a:t>
            </a:r>
            <a:endParaRPr lang="en-US" sz="1300" dirty="0"/>
          </a:p>
          <a:p>
            <a:pPr marL="228600" indent="-228600">
              <a:spcAft>
                <a:spcPts val="500"/>
              </a:spcAft>
              <a:buSzPct val="100000"/>
              <a:buChar char="•"/>
            </a:pPr>
            <a:r>
              <a:rPr lang="en-US" sz="1300" dirty="0">
                <a:solidFill>
                  <a:srgbClr val="1F2937"/>
                </a:solidFill>
                <a:latin typeface="Meiryo UI" pitchFamily="34" charset="0"/>
                <a:ea typeface="Meiryo UI" pitchFamily="34" charset="-122"/>
                <a:cs typeface="Meiryo UI" pitchFamily="34" charset="-120"/>
              </a:rPr>
              <a:t>入れる値は組織から受け取る（例の example-bank はダミー）</a:t>
            </a:r>
            <a:endParaRPr lang="en-US" sz="1300" dirty="0"/>
          </a:p>
        </p:txBody>
      </p:sp>
      <p:sp>
        <p:nvSpPr>
          <p:cNvPr id="22" name="Shape 20"/>
          <p:cNvSpPr/>
          <p:nvPr/>
        </p:nvSpPr>
        <p:spPr>
          <a:xfrm>
            <a:off x="548640" y="4572000"/>
            <a:ext cx="11064240" cy="914400"/>
          </a:xfrm>
          <a:prstGeom prst="rect">
            <a:avLst/>
          </a:prstGeom>
          <a:solidFill>
            <a:srgbClr val="FEF2F2"/>
          </a:solidFill>
          <a:ln w="15875">
            <a:solidFill>
              <a:srgbClr val="B91C1C"/>
            </a:solidFill>
            <a:prstDash val="solid"/>
          </a:ln>
        </p:spPr>
      </p:sp>
      <p:sp>
        <p:nvSpPr>
          <p:cNvPr id="23" name="Shape 21"/>
          <p:cNvSpPr/>
          <p:nvPr/>
        </p:nvSpPr>
        <p:spPr>
          <a:xfrm>
            <a:off x="548640" y="4572000"/>
            <a:ext cx="82296" cy="914400"/>
          </a:xfrm>
          <a:prstGeom prst="rect">
            <a:avLst/>
          </a:prstGeom>
          <a:solidFill>
            <a:srgbClr val="B91C1C"/>
          </a:solidFill>
          <a:ln w="12700">
            <a:solidFill>
              <a:srgbClr val="B91C1C"/>
            </a:solidFill>
            <a:prstDash val="solid"/>
          </a:ln>
        </p:spPr>
      </p:sp>
      <p:sp>
        <p:nvSpPr>
          <p:cNvPr id="24" name="Text 22"/>
          <p:cNvSpPr/>
          <p:nvPr/>
        </p:nvSpPr>
        <p:spPr>
          <a:xfrm>
            <a:off x="713232" y="4617720"/>
            <a:ext cx="10835640" cy="822960"/>
          </a:xfrm>
          <a:prstGeom prst="rect">
            <a:avLst/>
          </a:prstGeom>
          <a:noFill/>
          <a:ln/>
        </p:spPr>
        <p:txBody>
          <a:bodyPr wrap="square" rtlCol="0" anchor="ctr"/>
          <a:lstStyle/>
          <a:p>
            <a:pPr indent="0" marL="0">
              <a:spcAft>
                <a:spcPts val="200"/>
              </a:spcAft>
              <a:buNone/>
            </a:pPr>
            <a:r>
              <a:rPr lang="en-US" sz="1300" b="1" dirty="0">
                <a:solidFill>
                  <a:srgbClr val="B91C1C"/>
                </a:solidFill>
                <a:latin typeface="Meiryo UI" pitchFamily="34" charset="0"/>
                <a:ea typeface="Meiryo UI" pitchFamily="34" charset="-122"/>
                <a:cs typeface="Meiryo UI" pitchFamily="34" charset="-120"/>
              </a:rPr>
              <a:t>【本番の URL は入れない】</a:t>
            </a:r>
            <a:endParaRPr lang="en-US" sz="1300" dirty="0"/>
          </a:p>
          <a:p>
            <a:pPr indent="0" marL="0">
              <a:spcAft>
                <a:spcPts val="200"/>
              </a:spcAft>
              <a:buNone/>
            </a:pPr>
            <a:r>
              <a:rPr lang="en-US" sz="1300" dirty="0">
                <a:solidFill>
                  <a:srgbClr val="1F2937"/>
                </a:solidFill>
                <a:latin typeface="Meiryo UI" pitchFamily="34" charset="0"/>
                <a:ea typeface="Meiryo UI" pitchFamily="34" charset="-122"/>
                <a:cs typeface="Meiryo UI" pitchFamily="34" charset="-120"/>
              </a:rPr>
              <a:t>練習では必ず .sandbox. が入った URL（サンドボックス）を使います。本番（https://テナント名.mambu.com/api）を入れると、本物の顧客・口座を作ってしまいます。</a:t>
            </a:r>
            <a:endParaRPr lang="en-US" sz="13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準備3：branchKey とは（担当支店）</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6" name="Text 4"/>
          <p:cNvSpPr/>
          <p:nvPr/>
        </p:nvSpPr>
        <p:spPr>
          <a:xfrm>
            <a:off x="365760" y="6144768"/>
            <a:ext cx="11430000" cy="292608"/>
          </a:xfrm>
          <a:prstGeom prst="rect">
            <a:avLst/>
          </a:prstGeom>
          <a:noFill/>
          <a:ln/>
        </p:spPr>
        <p:txBody>
          <a:bodyPr wrap="square" rtlCol="0" anchor="t"/>
          <a:lstStyle/>
          <a:p>
            <a:pPr indent="0" marL="0">
              <a:buNone/>
            </a:pPr>
            <a:r>
              <a:rPr lang="en-US" sz="1000" dirty="0">
                <a:solidFill>
                  <a:srgbClr val="6B7280"/>
                </a:solidFill>
                <a:latin typeface="Meiryo UI" pitchFamily="34" charset="0"/>
                <a:ea typeface="Meiryo UI" pitchFamily="34" charset="-122"/>
                <a:cs typeface="Meiryo UI" pitchFamily="34" charset="-120"/>
              </a:rPr>
              <a:t>出典：https://docs.mambu.com/swagger_files/v2/branches.json・clients.json・groups.json・deposits.json（公式 OpenAPI、2026-10-09 確認）</a:t>
            </a:r>
            <a:endParaRPr lang="en-US" sz="1000" dirty="0"/>
          </a:p>
        </p:txBody>
      </p:sp>
      <p:sp>
        <p:nvSpPr>
          <p:cNvPr id="7" name="Text 5"/>
          <p:cNvSpPr/>
          <p:nvPr/>
        </p:nvSpPr>
        <p:spPr>
          <a:xfrm>
            <a:off x="548640" y="1097280"/>
            <a:ext cx="11064240" cy="685800"/>
          </a:xfrm>
          <a:prstGeom prst="rect">
            <a:avLst/>
          </a:prstGeom>
          <a:noFill/>
          <a:ln/>
        </p:spPr>
        <p:txBody>
          <a:bodyPr wrap="square" lIns="50800" tIns="50800" rIns="50800" bIns="50800" rtlCol="0" anchor="t"/>
          <a:lstStyle/>
          <a:p>
            <a:pPr algn="l" indent="0" marL="0">
              <a:buNone/>
            </a:pPr>
            <a:r>
              <a:rPr lang="en-US" sz="1500" dirty="0">
                <a:solidFill>
                  <a:srgbClr val="1F2937"/>
                </a:solidFill>
                <a:latin typeface="Meiryo UI" pitchFamily="34" charset="0"/>
                <a:ea typeface="Meiryo UI" pitchFamily="34" charset="-122"/>
                <a:cs typeface="Meiryo UI" pitchFamily="34" charset="-120"/>
              </a:rPr>
              <a:t>Mambu では、顧客（個人・法人）と口座に「担当の支店」を付けられます。branchKey には、その支店の encodedKey（Mambu が付けた長い内部キー）を入れます。</a:t>
            </a:r>
            <a:endParaRPr lang="en-US" sz="15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7315200" cy="914400"/>
        </p:xfrm>
        <a:graphic>
          <a:graphicData uri="http://schemas.openxmlformats.org/drawingml/2006/table">
            <a:tbl>
              <a:tblPr/>
              <a:tblGrid>
                <a:gridCol w="1097280"/>
                <a:gridCol w="3291840"/>
                <a:gridCol w="2926080"/>
              </a:tblGrid>
              <a:tr h="411480">
                <a:tc>
                  <a:txBody>
                    <a:bodyPr/>
                    <a:lstStyle/>
                    <a:p>
                      <a:pPr indent="0" marL="0">
                        <a:buNone/>
                      </a:pPr>
                      <a:r>
                        <a:rPr lang="en-US" sz="1250" b="1" dirty="0">
                          <a:solidFill>
                            <a:srgbClr val="FFFFFF"/>
                          </a:solidFill>
                          <a:latin typeface="Meiryo UI" pitchFamily="34" charset="0"/>
                          <a:ea typeface="Meiryo UI" pitchFamily="34" charset="-122"/>
                          <a:cs typeface="Meiryo UI" pitchFamily="34" charset="-120"/>
                        </a:rPr>
                        <a:t>ステップ</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250" b="1" dirty="0">
                          <a:solidFill>
                            <a:srgbClr val="FFFFFF"/>
                          </a:solidFill>
                          <a:latin typeface="Meiryo UI" pitchFamily="34" charset="0"/>
                          <a:ea typeface="Meiryo UI" pitchFamily="34" charset="-122"/>
                          <a:cs typeface="Meiryo UI" pitchFamily="34" charset="-120"/>
                        </a:rPr>
                        <a:t>リクエスト</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250" b="1" dirty="0">
                          <a:solidFill>
                            <a:srgbClr val="FFFFFF"/>
                          </a:solidFill>
                          <a:latin typeface="Meiryo UI" pitchFamily="34" charset="0"/>
                          <a:ea typeface="Meiryo UI" pitchFamily="34" charset="-122"/>
                          <a:cs typeface="Meiryo UI" pitchFamily="34" charset="-120"/>
                        </a:rPr>
                        <a:t>Body の項目</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411480">
                <a:tc>
                  <a:txBody>
                    <a:bodyPr/>
                    <a:lstStyle/>
                    <a:p>
                      <a:pPr indent="0" marL="0">
                        <a:buNone/>
                      </a:pPr>
                      <a:r>
                        <a:rPr lang="en-US" sz="1250" dirty="0">
                          <a:solidFill>
                            <a:srgbClr val="1F2937"/>
                          </a:solidFill>
                          <a:latin typeface="Meiryo UI" pitchFamily="34" charset="0"/>
                          <a:ea typeface="Meiryo UI" pitchFamily="34" charset="-122"/>
                          <a:cs typeface="Meiryo UI" pitchFamily="34" charset="-120"/>
                        </a:rPr>
                        <a:t>②</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Meiryo UI" pitchFamily="34" charset="0"/>
                          <a:ea typeface="Meiryo UI" pitchFamily="34" charset="-122"/>
                          <a:cs typeface="Meiryo UI" pitchFamily="34" charset="-120"/>
                        </a:rPr>
                        <a:t>04 Create Director Client（役員）</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Meiryo UI" pitchFamily="34" charset="0"/>
                          <a:ea typeface="Meiryo UI" pitchFamily="34" charset="-122"/>
                          <a:cs typeface="Meiryo UI" pitchFamily="34" charset="-120"/>
                        </a:rPr>
                        <a:t>"assignedBranchKey": "{{branchKey}}"</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11480">
                <a:tc>
                  <a:txBody>
                    <a:bodyPr/>
                    <a:lstStyle/>
                    <a:p>
                      <a:pPr indent="0" marL="0">
                        <a:buNone/>
                      </a:pPr>
                      <a:r>
                        <a:rPr lang="en-US" sz="1250" dirty="0">
                          <a:solidFill>
                            <a:srgbClr val="1F2937"/>
                          </a:solidFill>
                          <a:latin typeface="Meiryo UI" pitchFamily="34" charset="0"/>
                          <a:ea typeface="Meiryo UI" pitchFamily="34" charset="-122"/>
                          <a:cs typeface="Meiryo UI" pitchFamily="34" charset="-120"/>
                        </a:rPr>
                        <a:t>③</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250" dirty="0">
                          <a:solidFill>
                            <a:srgbClr val="1F2937"/>
                          </a:solidFill>
                          <a:latin typeface="Meiryo UI" pitchFamily="34" charset="0"/>
                          <a:ea typeface="Meiryo UI" pitchFamily="34" charset="-122"/>
                          <a:cs typeface="Meiryo UI" pitchFamily="34" charset="-120"/>
                        </a:rPr>
                        <a:t>05 Create Corporate Group（法人）</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250" dirty="0">
                          <a:solidFill>
                            <a:srgbClr val="1F2937"/>
                          </a:solidFill>
                          <a:latin typeface="Meiryo UI" pitchFamily="34" charset="0"/>
                          <a:ea typeface="Meiryo UI" pitchFamily="34" charset="-122"/>
                          <a:cs typeface="Meiryo UI" pitchFamily="34" charset="-120"/>
                        </a:rPr>
                        <a:t>"assignedBranchKey": "{{branchKey}}"</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11480">
                <a:tc>
                  <a:txBody>
                    <a:bodyPr/>
                    <a:lstStyle/>
                    <a:p>
                      <a:pPr indent="0" marL="0">
                        <a:buNone/>
                      </a:pPr>
                      <a:r>
                        <a:rPr lang="en-US" sz="1250" dirty="0">
                          <a:solidFill>
                            <a:srgbClr val="1F2937"/>
                          </a:solidFill>
                          <a:latin typeface="Meiryo UI" pitchFamily="34" charset="0"/>
                          <a:ea typeface="Meiryo UI" pitchFamily="34" charset="-122"/>
                          <a:cs typeface="Meiryo UI" pitchFamily="34" charset="-120"/>
                        </a:rPr>
                        <a:t>④</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Meiryo UI" pitchFamily="34" charset="0"/>
                          <a:ea typeface="Meiryo UI" pitchFamily="34" charset="-122"/>
                          <a:cs typeface="Meiryo UI" pitchFamily="34" charset="-120"/>
                        </a:rPr>
                        <a:t>06 Create Deposit Account（口座）</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Meiryo UI" pitchFamily="34" charset="0"/>
                          <a:ea typeface="Meiryo UI" pitchFamily="34" charset="-122"/>
                          <a:cs typeface="Meiryo UI" pitchFamily="34" charset="-120"/>
                        </a:rPr>
                        <a:t>"assignedBranchKey": "{{branchKey}}"</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9" name="Shape 6"/>
          <p:cNvSpPr/>
          <p:nvPr/>
        </p:nvSpPr>
        <p:spPr>
          <a:xfrm>
            <a:off x="8138160" y="1920240"/>
            <a:ext cx="3474720" cy="1737360"/>
          </a:xfrm>
          <a:prstGeom prst="rect">
            <a:avLst/>
          </a:prstGeom>
          <a:solidFill>
            <a:srgbClr val="EFF6FF"/>
          </a:solidFill>
          <a:ln w="15875">
            <a:solidFill>
              <a:srgbClr val="1D4ED8"/>
            </a:solidFill>
            <a:prstDash val="solid"/>
          </a:ln>
        </p:spPr>
      </p:sp>
      <p:sp>
        <p:nvSpPr>
          <p:cNvPr id="10" name="Shape 7"/>
          <p:cNvSpPr/>
          <p:nvPr/>
        </p:nvSpPr>
        <p:spPr>
          <a:xfrm>
            <a:off x="8138160" y="1920240"/>
            <a:ext cx="82296" cy="1737360"/>
          </a:xfrm>
          <a:prstGeom prst="rect">
            <a:avLst/>
          </a:prstGeom>
          <a:solidFill>
            <a:srgbClr val="1D4ED8"/>
          </a:solidFill>
          <a:ln w="12700">
            <a:solidFill>
              <a:srgbClr val="1D4ED8"/>
            </a:solidFill>
            <a:prstDash val="solid"/>
          </a:ln>
        </p:spPr>
      </p:sp>
      <p:sp>
        <p:nvSpPr>
          <p:cNvPr id="11" name="Text 8"/>
          <p:cNvSpPr/>
          <p:nvPr/>
        </p:nvSpPr>
        <p:spPr>
          <a:xfrm>
            <a:off x="8302752" y="1965960"/>
            <a:ext cx="3246120" cy="1645920"/>
          </a:xfrm>
          <a:prstGeom prst="rect">
            <a:avLst/>
          </a:prstGeom>
          <a:noFill/>
          <a:ln/>
        </p:spPr>
        <p:txBody>
          <a:bodyPr wrap="square" rtlCol="0" anchor="t"/>
          <a:lstStyle/>
          <a:p>
            <a:pPr indent="0" marL="0">
              <a:spcAft>
                <a:spcPts val="200"/>
              </a:spcAft>
              <a:buNone/>
            </a:pPr>
            <a:r>
              <a:rPr lang="en-US" sz="1250" b="1" dirty="0">
                <a:solidFill>
                  <a:srgbClr val="1D4ED8"/>
                </a:solidFill>
                <a:latin typeface="Meiryo UI" pitchFamily="34" charset="0"/>
                <a:ea typeface="Meiryo UI" pitchFamily="34" charset="-122"/>
                <a:cs typeface="Meiryo UI" pitchFamily="34" charset="-120"/>
              </a:rPr>
              <a:t>【同じ値を 3 回使う】</a:t>
            </a:r>
            <a:endParaRPr lang="en-US" sz="1250" dirty="0"/>
          </a:p>
          <a:p>
            <a:pPr indent="0" marL="0">
              <a:spcAft>
                <a:spcPts val="200"/>
              </a:spcAft>
              <a:buNone/>
            </a:pPr>
            <a:r>
              <a:rPr lang="en-US" sz="1250" dirty="0">
                <a:solidFill>
                  <a:srgbClr val="1F2937"/>
                </a:solidFill>
                <a:latin typeface="Meiryo UI" pitchFamily="34" charset="0"/>
                <a:ea typeface="Meiryo UI" pitchFamily="34" charset="-122"/>
                <a:cs typeface="Meiryo UI" pitchFamily="34" charset="-120"/>
              </a:rPr>
              <a:t>役員・法人・口座を同じ支店の担当にするため、3 つのリクエストで同じ {{branchKey}} を使います。環境に 1 回入れておけば、毎回コピーする必要がありません。</a:t>
            </a:r>
            <a:endParaRPr lang="en-US" sz="1250" dirty="0"/>
          </a:p>
        </p:txBody>
      </p:sp>
      <p:sp>
        <p:nvSpPr>
          <p:cNvPr id="12" name="Text 9"/>
          <p:cNvSpPr/>
          <p:nvPr/>
        </p:nvSpPr>
        <p:spPr>
          <a:xfrm>
            <a:off x="548640" y="3931920"/>
            <a:ext cx="11064240" cy="1737360"/>
          </a:xfrm>
          <a:prstGeom prst="rect">
            <a:avLst/>
          </a:prstGeom>
          <a:noFill/>
          <a:ln/>
        </p:spPr>
        <p:txBody>
          <a:bodyPr wrap="square" rtlCol="0" anchor="t"/>
          <a:lstStyle/>
          <a:p>
            <a:pPr marL="228600" indent="-228600">
              <a:spcAft>
                <a:spcPts val="600"/>
              </a:spcAft>
              <a:buSzPct val="100000"/>
              <a:buChar char="•"/>
            </a:pPr>
            <a:r>
              <a:rPr lang="en-US" sz="1300" dirty="0">
                <a:solidFill>
                  <a:srgbClr val="1F2937"/>
                </a:solidFill>
                <a:latin typeface="Meiryo UI" pitchFamily="34" charset="0"/>
                <a:ea typeface="Meiryo UI" pitchFamily="34" charset="-122"/>
                <a:cs typeface="Meiryo UI" pitchFamily="34" charset="-120"/>
              </a:rPr>
              <a:t>値は組織から受け取る（どの支店で口座を扱うかは組織が決める）</a:t>
            </a:r>
            <a:endParaRPr lang="en-US" sz="1300" dirty="0"/>
          </a:p>
          <a:p>
            <a:pPr marL="228600" indent="-228600">
              <a:spcAft>
                <a:spcPts val="600"/>
              </a:spcAft>
              <a:buSzPct val="100000"/>
              <a:buChar char="•"/>
            </a:pPr>
            <a:r>
              <a:rPr lang="en-US" sz="1300" dirty="0">
                <a:solidFill>
                  <a:srgbClr val="1F2937"/>
                </a:solidFill>
                <a:latin typeface="Meiryo UI" pitchFamily="34" charset="0"/>
                <a:ea typeface="Meiryo UI" pitchFamily="34" charset="-122"/>
                <a:cs typeface="Meiryo UI" pitchFamily="34" charset="-120"/>
              </a:rPr>
              <a:t>ステップ①の 01 Get Branches で支店の一覧を取り、受け取った値と同じ encodedKey の支店があるかを確かめられる</a:t>
            </a:r>
            <a:endParaRPr lang="en-US" sz="1300" dirty="0"/>
          </a:p>
          <a:p>
            <a:pPr marL="228600" indent="-228600">
              <a:spcAft>
                <a:spcPts val="600"/>
              </a:spcAft>
              <a:buSzPct val="100000"/>
              <a:buChar char="•"/>
            </a:pPr>
            <a:r>
              <a:rPr lang="en-US" sz="1300" dirty="0">
                <a:solidFill>
                  <a:srgbClr val="1F2937"/>
                </a:solidFill>
                <a:latin typeface="Meiryo UI" pitchFamily="34" charset="0"/>
                <a:ea typeface="Meiryo UI" pitchFamily="34" charset="-122"/>
                <a:cs typeface="Meiryo UI" pitchFamily="34" charset="-120"/>
              </a:rPr>
              <a:t>assignedBranchKey は仕様上は任意ですが、テナントの設定によっては必要になります（条件は公式資料で確認できていません）</a:t>
            </a:r>
            <a:endParaRPr lang="en-US" sz="13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準備3【1/4】画面右上で環境 Mambu-Sandbox を選ぶ</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7680960" cy="4308831"/>
          </a:xfrm>
          <a:prstGeom prst="rect">
            <a:avLst/>
          </a:prstGeom>
        </p:spPr>
      </p:pic>
      <p:sp>
        <p:nvSpPr>
          <p:cNvPr id="7" name="Shape 4"/>
          <p:cNvSpPr/>
          <p:nvPr/>
        </p:nvSpPr>
        <p:spPr>
          <a:xfrm>
            <a:off x="411480" y="1051560"/>
            <a:ext cx="7680960" cy="4308831"/>
          </a:xfrm>
          <a:prstGeom prst="rect">
            <a:avLst/>
          </a:prstGeom>
          <a:ln w="9525">
            <a:solidFill>
              <a:srgbClr val="D1D5DB"/>
            </a:solidFill>
            <a:prstDash val="solid"/>
          </a:ln>
        </p:spPr>
      </p:sp>
      <p:sp>
        <p:nvSpPr>
          <p:cNvPr id="8" name="Text 5"/>
          <p:cNvSpPr/>
          <p:nvPr/>
        </p:nvSpPr>
        <p:spPr>
          <a:xfrm>
            <a:off x="411480" y="5378679"/>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6800237" y="1201878"/>
            <a:ext cx="1151252" cy="252018"/>
          </a:xfrm>
          <a:prstGeom prst="rect">
            <a:avLst/>
          </a:prstGeom>
          <a:ln w="28575">
            <a:solidFill>
              <a:srgbClr val="E11D2E"/>
            </a:solidFill>
            <a:prstDash val="solid"/>
          </a:ln>
        </p:spPr>
      </p:sp>
      <p:sp>
        <p:nvSpPr>
          <p:cNvPr id="10" name="Shape 7"/>
          <p:cNvSpPr/>
          <p:nvPr/>
        </p:nvSpPr>
        <p:spPr>
          <a:xfrm>
            <a:off x="6507629" y="1190727"/>
            <a:ext cx="274320" cy="274320"/>
          </a:xfrm>
          <a:prstGeom prst="ellipse">
            <a:avLst/>
          </a:prstGeom>
          <a:solidFill>
            <a:srgbClr val="E11D2E"/>
          </a:solidFill>
          <a:ln w="15875">
            <a:solidFill>
              <a:srgbClr val="FFFFFF"/>
            </a:solidFill>
            <a:prstDash val="solid"/>
          </a:ln>
        </p:spPr>
      </p:sp>
      <p:sp>
        <p:nvSpPr>
          <p:cNvPr id="11" name="Text 8"/>
          <p:cNvSpPr/>
          <p:nvPr/>
        </p:nvSpPr>
        <p:spPr>
          <a:xfrm>
            <a:off x="6507629" y="1190727"/>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6182013" y="2597565"/>
            <a:ext cx="1703906" cy="261385"/>
          </a:xfrm>
          <a:prstGeom prst="rect">
            <a:avLst/>
          </a:prstGeom>
          <a:ln w="28575">
            <a:solidFill>
              <a:srgbClr val="E11D2E"/>
            </a:solidFill>
            <a:prstDash val="solid"/>
          </a:ln>
        </p:spPr>
      </p:sp>
      <p:sp>
        <p:nvSpPr>
          <p:cNvPr id="13" name="Shape 10"/>
          <p:cNvSpPr/>
          <p:nvPr/>
        </p:nvSpPr>
        <p:spPr>
          <a:xfrm>
            <a:off x="5889405" y="2591097"/>
            <a:ext cx="274320" cy="274320"/>
          </a:xfrm>
          <a:prstGeom prst="ellipse">
            <a:avLst/>
          </a:prstGeom>
          <a:solidFill>
            <a:srgbClr val="E11D2E"/>
          </a:solidFill>
          <a:ln w="15875">
            <a:solidFill>
              <a:srgbClr val="FFFFFF"/>
            </a:solidFill>
            <a:prstDash val="solid"/>
          </a:ln>
        </p:spPr>
      </p:sp>
      <p:sp>
        <p:nvSpPr>
          <p:cNvPr id="14" name="Text 11"/>
          <p:cNvSpPr/>
          <p:nvPr/>
        </p:nvSpPr>
        <p:spPr>
          <a:xfrm>
            <a:off x="5889405" y="2591097"/>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Text 12"/>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画面右上の環境（最初は No Environment）をクリック</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一覧から「Mambu-Sandbox」を選ぶ</a:t>
            </a:r>
            <a:endParaRPr lang="en-US" sz="1300" dirty="0"/>
          </a:p>
        </p:txBody>
      </p:sp>
      <p:sp>
        <p:nvSpPr>
          <p:cNvPr id="16" name="Shape 13"/>
          <p:cNvSpPr/>
          <p:nvPr/>
        </p:nvSpPr>
        <p:spPr>
          <a:xfrm>
            <a:off x="8275320" y="4114800"/>
            <a:ext cx="3520440" cy="1508760"/>
          </a:xfrm>
          <a:prstGeom prst="rect">
            <a:avLst/>
          </a:prstGeom>
          <a:solidFill>
            <a:srgbClr val="EFF6FF"/>
          </a:solidFill>
          <a:ln w="15875">
            <a:solidFill>
              <a:srgbClr val="1D4ED8"/>
            </a:solidFill>
            <a:prstDash val="solid"/>
          </a:ln>
        </p:spPr>
      </p:sp>
      <p:sp>
        <p:nvSpPr>
          <p:cNvPr id="17" name="Shape 14"/>
          <p:cNvSpPr/>
          <p:nvPr/>
        </p:nvSpPr>
        <p:spPr>
          <a:xfrm>
            <a:off x="8275320" y="4114800"/>
            <a:ext cx="82296" cy="1508760"/>
          </a:xfrm>
          <a:prstGeom prst="rect">
            <a:avLst/>
          </a:prstGeom>
          <a:solidFill>
            <a:srgbClr val="1D4ED8"/>
          </a:solidFill>
          <a:ln w="12700">
            <a:solidFill>
              <a:srgbClr val="1D4ED8"/>
            </a:solidFill>
            <a:prstDash val="solid"/>
          </a:ln>
        </p:spPr>
      </p:sp>
      <p:sp>
        <p:nvSpPr>
          <p:cNvPr id="18" name="Text 15"/>
          <p:cNvSpPr/>
          <p:nvPr/>
        </p:nvSpPr>
        <p:spPr>
          <a:xfrm>
            <a:off x="8439912" y="4160520"/>
            <a:ext cx="3291840" cy="1417320"/>
          </a:xfrm>
          <a:prstGeom prst="rect">
            <a:avLst/>
          </a:prstGeom>
          <a:noFill/>
          <a:ln/>
        </p:spPr>
        <p:txBody>
          <a:bodyPr wrap="square" rtlCol="0" anchor="t"/>
          <a:lstStyle/>
          <a:p>
            <a:pPr indent="0" marL="0">
              <a:spcAft>
                <a:spcPts val="200"/>
              </a:spcAft>
              <a:buNone/>
            </a:pPr>
            <a:r>
              <a:rPr lang="en-US" sz="1150" b="1" dirty="0">
                <a:solidFill>
                  <a:srgbClr val="1D4ED8"/>
                </a:solidFill>
                <a:latin typeface="Meiryo UI" pitchFamily="34" charset="0"/>
                <a:ea typeface="Meiryo UI" pitchFamily="34" charset="-122"/>
                <a:cs typeface="Meiryo UI" pitchFamily="34" charset="-120"/>
              </a:rPr>
              <a:t>【ヒント】</a:t>
            </a:r>
            <a:endParaRPr lang="en-US" sz="1150" dirty="0"/>
          </a:p>
          <a:p>
            <a:pPr indent="0" marL="0">
              <a:spcAft>
                <a:spcPts val="200"/>
              </a:spcAft>
              <a:buNone/>
            </a:pPr>
            <a:r>
              <a:rPr lang="en-US" sz="1150" dirty="0">
                <a:solidFill>
                  <a:srgbClr val="1F2937"/>
                </a:solidFill>
                <a:latin typeface="Meiryo UI" pitchFamily="34" charset="0"/>
                <a:ea typeface="Meiryo UI" pitchFamily="34" charset="-122"/>
                <a:cs typeface="Meiryo UI" pitchFamily="34" charset="-120"/>
              </a:rPr>
              <a:t>環境を選ばないと {{baseUrl}} などの変数が赤色になり、値が入りません（第9章）。</a:t>
            </a:r>
            <a:endParaRPr lang="en-US" sz="115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準備3：仮の文字 SET_BY_ORGANIZATION とは</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6" name="Text 4"/>
          <p:cNvSpPr/>
          <p:nvPr/>
        </p:nvSpPr>
        <p:spPr>
          <a:xfrm>
            <a:off x="548640" y="1051560"/>
            <a:ext cx="11064240" cy="731520"/>
          </a:xfrm>
          <a:prstGeom prst="rect">
            <a:avLst/>
          </a:prstGeom>
          <a:noFill/>
          <a:ln/>
        </p:spPr>
        <p:txBody>
          <a:bodyPr wrap="square" lIns="50800" tIns="50800" rIns="50800" bIns="50800" rtlCol="0" anchor="t"/>
          <a:lstStyle/>
          <a:p>
            <a:pPr algn="l" indent="0" marL="0">
              <a:buNone/>
            </a:pPr>
            <a:r>
              <a:rPr lang="en-US" sz="1400" dirty="0">
                <a:solidFill>
                  <a:srgbClr val="1F2937"/>
                </a:solidFill>
                <a:latin typeface="Meiryo UI" pitchFamily="34" charset="0"/>
                <a:ea typeface="Meiryo UI" pitchFamily="34" charset="-122"/>
                <a:cs typeface="Meiryo UI" pitchFamily="34" charset="-120"/>
              </a:rPr>
              <a:t>参考コレクションの環境ファイル（Mambu-Sandbox.yml）には、本物の値の代わりに「仮の文字」が入っています。教材の作成者が「ここに本物の値を入れてください」という目印として入れたもので、Mambu や Bruno の機能ではありません。</a:t>
            </a:r>
            <a:endParaRPr lang="en-US" sz="14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64240" cy="914400"/>
        </p:xfrm>
        <a:graphic>
          <a:graphicData uri="http://schemas.openxmlformats.org/drawingml/2006/table">
            <a:tbl>
              <a:tblPr/>
              <a:tblGrid>
                <a:gridCol w="2743200"/>
                <a:gridCol w="2926080"/>
                <a:gridCol w="2651760"/>
                <a:gridCol w="2743200"/>
              </a:tblGrid>
              <a:tr h="548640">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仮の文字</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英語の意味</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つまり</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置き換える値</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548640">
                <a:tc>
                  <a:txBody>
                    <a:bodyPr/>
                    <a:lstStyle/>
                    <a:p>
                      <a:pPr indent="0" marL="0">
                        <a:buNone/>
                      </a:pPr>
                      <a:r>
                        <a:rPr lang="en-US" sz="1300" dirty="0">
                          <a:solidFill>
                            <a:srgbClr val="1F2937"/>
                          </a:solidFill>
                          <a:latin typeface="Consolas" pitchFamily="34" charset="0"/>
                          <a:ea typeface="Consolas" pitchFamily="34" charset="-122"/>
                          <a:cs typeface="Consolas" pitchFamily="34" charset="-120"/>
                        </a:rPr>
                        <a:t>YOUR_TENANT</a:t>
                      </a:r>
                      <a:endParaRPr lang="en-US" sz="1300" dirty="0">
                        <a:latin typeface="Consolas" charset="0"/>
                        <a:ea typeface="Consolas" charset="0"/>
                        <a:cs typeface="Consolas"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あなたのテナント</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テナント名を入れる場所</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組織のテナント名（例：example-bank）</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1F2937"/>
                          </a:solidFill>
                          <a:latin typeface="Consolas" pitchFamily="34" charset="0"/>
                          <a:ea typeface="Consolas" pitchFamily="34" charset="-122"/>
                          <a:cs typeface="Consolas" pitchFamily="34" charset="-120"/>
                        </a:rPr>
                        <a:t>SET_BY_ORGANIZATION</a:t>
                      </a:r>
                      <a:endParaRPr lang="en-US" sz="1300" dirty="0">
                        <a:latin typeface="Consolas" charset="0"/>
                        <a:ea typeface="Consolas" charset="0"/>
                        <a:cs typeface="Consolas"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組織が設定する（set by organization）</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組織から受け取る値を入れる場所</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組織から受け取った key や ID（例：8a44b1c2…）</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bl>
          </a:graphicData>
        </a:graphic>
      </p:graphicFrame>
      <p:sp>
        <p:nvSpPr>
          <p:cNvPr id="8" name="Text 5"/>
          <p:cNvSpPr/>
          <p:nvPr/>
        </p:nvSpPr>
        <p:spPr>
          <a:xfrm>
            <a:off x="548640" y="4206240"/>
            <a:ext cx="6035040" cy="1097280"/>
          </a:xfrm>
          <a:prstGeom prst="rect">
            <a:avLst/>
          </a:prstGeom>
          <a:solidFill>
            <a:srgbClr val="F3F4F6"/>
          </a:solidFill>
          <a:ln w="12700">
            <a:solidFill>
              <a:srgbClr val="D1D5DB"/>
            </a:solidFill>
          </a:ln>
        </p:spPr>
        <p:txBody>
          <a:bodyPr wrap="square" lIns="101600" tIns="101600" rIns="101600" bIns="101600" rtlCol="0" anchor="t"/>
          <a:lstStyle/>
          <a:p>
            <a:pPr indent="0" marL="0">
              <a:buNone/>
            </a:pPr>
            <a:r>
              <a:rPr lang="en-US" sz="1250" dirty="0">
                <a:solidFill>
                  <a:srgbClr val="111827"/>
                </a:solidFill>
                <a:latin typeface="Consolas" pitchFamily="34" charset="0"/>
                <a:ea typeface="Consolas" pitchFamily="34" charset="-122"/>
                <a:cs typeface="Consolas" pitchFamily="34" charset="-120"/>
              </a:rPr>
              <a:t>baseUrl    https://YOUR_TENANT.sandbox.mambu.com/api</a:t>
            </a:r>
            <a:endParaRPr lang="en-US" sz="1250" dirty="0"/>
          </a:p>
          <a:p>
            <a:pPr indent="0" marL="0">
              <a:buNone/>
            </a:pPr>
            <a:r>
              <a:rPr lang="en-US" sz="1250" dirty="0">
                <a:solidFill>
                  <a:srgbClr val="111827"/>
                </a:solidFill>
                <a:latin typeface="Consolas" pitchFamily="34" charset="0"/>
                <a:ea typeface="Consolas" pitchFamily="34" charset="-122"/>
                <a:cs typeface="Consolas" pitchFamily="34" charset="-120"/>
              </a:rPr>
              <a:t>　　　　　→ https://example-bank.sandbox.mambu.com/api</a:t>
            </a:r>
            <a:endParaRPr lang="en-US" sz="1250" dirty="0"/>
          </a:p>
          <a:p>
            <a:pPr indent="0" marL="0">
              <a:buNone/>
            </a:pPr>
            <a:r>
              <a:rPr lang="en-US" sz="1250" dirty="0">
                <a:solidFill>
                  <a:srgbClr val="111827"/>
                </a:solidFill>
                <a:latin typeface="Consolas" pitchFamily="34" charset="0"/>
                <a:ea typeface="Consolas" pitchFamily="34" charset="-122"/>
                <a:cs typeface="Consolas" pitchFamily="34" charset="-120"/>
              </a:rPr>
              <a:t>branchKey  SET_BY_ORGANIZATION</a:t>
            </a:r>
            <a:endParaRPr lang="en-US" sz="1250" dirty="0"/>
          </a:p>
          <a:p>
            <a:pPr indent="0" marL="0">
              <a:buNone/>
            </a:pPr>
            <a:r>
              <a:rPr lang="en-US" sz="1250" dirty="0">
                <a:solidFill>
                  <a:srgbClr val="111827"/>
                </a:solidFill>
                <a:latin typeface="Consolas" pitchFamily="34" charset="0"/>
                <a:ea typeface="Consolas" pitchFamily="34" charset="-122"/>
                <a:cs typeface="Consolas" pitchFamily="34" charset="-120"/>
              </a:rPr>
              <a:t>　　　　　→ 8a44b1c27f6d4e2a017f6d5b3c2e0011</a:t>
            </a:r>
            <a:endParaRPr lang="en-US" sz="1250" dirty="0"/>
          </a:p>
        </p:txBody>
      </p:sp>
      <p:sp>
        <p:nvSpPr>
          <p:cNvPr id="9" name="Text 6"/>
          <p:cNvSpPr/>
          <p:nvPr/>
        </p:nvSpPr>
        <p:spPr>
          <a:xfrm>
            <a:off x="548640" y="3931920"/>
            <a:ext cx="6035040" cy="274320"/>
          </a:xfrm>
          <a:prstGeom prst="rect">
            <a:avLst/>
          </a:prstGeom>
          <a:noFill/>
          <a:ln/>
        </p:spPr>
        <p:txBody>
          <a:bodyPr wrap="square" rtlCol="0" anchor="ctr"/>
          <a:lstStyle/>
          <a:p>
            <a:pPr indent="0" marL="0">
              <a:buNone/>
            </a:pPr>
            <a:r>
              <a:rPr lang="en-US" sz="1100" dirty="0">
                <a:solidFill>
                  <a:srgbClr val="6B7280"/>
                </a:solidFill>
                <a:latin typeface="Meiryo UI" pitchFamily="34" charset="0"/>
                <a:ea typeface="Meiryo UI" pitchFamily="34" charset="-122"/>
                <a:cs typeface="Meiryo UI" pitchFamily="34" charset="-120"/>
              </a:rPr>
              <a:t>置き換えの例（値はダミー）</a:t>
            </a:r>
            <a:endParaRPr lang="en-US" sz="1100" dirty="0"/>
          </a:p>
        </p:txBody>
      </p:sp>
      <p:sp>
        <p:nvSpPr>
          <p:cNvPr id="10" name="Shape 7"/>
          <p:cNvSpPr/>
          <p:nvPr/>
        </p:nvSpPr>
        <p:spPr>
          <a:xfrm>
            <a:off x="6812280" y="3931920"/>
            <a:ext cx="4800600" cy="1371600"/>
          </a:xfrm>
          <a:prstGeom prst="rect">
            <a:avLst/>
          </a:prstGeom>
          <a:solidFill>
            <a:srgbClr val="FEF2F2"/>
          </a:solidFill>
          <a:ln w="15875">
            <a:solidFill>
              <a:srgbClr val="B91C1C"/>
            </a:solidFill>
            <a:prstDash val="solid"/>
          </a:ln>
        </p:spPr>
      </p:sp>
      <p:sp>
        <p:nvSpPr>
          <p:cNvPr id="11" name="Shape 8"/>
          <p:cNvSpPr/>
          <p:nvPr/>
        </p:nvSpPr>
        <p:spPr>
          <a:xfrm>
            <a:off x="6812280" y="3931920"/>
            <a:ext cx="82296" cy="1371600"/>
          </a:xfrm>
          <a:prstGeom prst="rect">
            <a:avLst/>
          </a:prstGeom>
          <a:solidFill>
            <a:srgbClr val="B91C1C"/>
          </a:solidFill>
          <a:ln w="12700">
            <a:solidFill>
              <a:srgbClr val="B91C1C"/>
            </a:solidFill>
            <a:prstDash val="solid"/>
          </a:ln>
        </p:spPr>
      </p:sp>
      <p:sp>
        <p:nvSpPr>
          <p:cNvPr id="12" name="Text 9"/>
          <p:cNvSpPr/>
          <p:nvPr/>
        </p:nvSpPr>
        <p:spPr>
          <a:xfrm>
            <a:off x="6976872" y="3977640"/>
            <a:ext cx="4572000" cy="1280160"/>
          </a:xfrm>
          <a:prstGeom prst="rect">
            <a:avLst/>
          </a:prstGeom>
          <a:noFill/>
          <a:ln/>
        </p:spPr>
        <p:txBody>
          <a:bodyPr wrap="square" rtlCol="0" anchor="t"/>
          <a:lstStyle/>
          <a:p>
            <a:pPr indent="0" marL="0">
              <a:spcAft>
                <a:spcPts val="200"/>
              </a:spcAft>
              <a:buNone/>
            </a:pPr>
            <a:r>
              <a:rPr lang="en-US" sz="1200" b="1" dirty="0">
                <a:solidFill>
                  <a:srgbClr val="B91C1C"/>
                </a:solidFill>
                <a:latin typeface="Meiryo UI" pitchFamily="34" charset="0"/>
                <a:ea typeface="Meiryo UI" pitchFamily="34" charset="-122"/>
                <a:cs typeface="Meiryo UI" pitchFamily="34" charset="-120"/>
              </a:rPr>
              <a:t>【置き換えないまま送ると】</a:t>
            </a:r>
            <a:endParaRPr lang="en-US" sz="1200" dirty="0"/>
          </a:p>
          <a:p>
            <a:pPr indent="0" marL="0">
              <a:spcAft>
                <a:spcPts val="200"/>
              </a:spcAft>
              <a:buNone/>
            </a:pPr>
            <a:r>
              <a:rPr lang="en-US" sz="1200" dirty="0">
                <a:solidFill>
                  <a:srgbClr val="1F2937"/>
                </a:solidFill>
                <a:latin typeface="Meiryo UI" pitchFamily="34" charset="0"/>
                <a:ea typeface="Meiryo UI" pitchFamily="34" charset="-122"/>
                <a:cs typeface="Meiryo UI" pitchFamily="34" charset="-120"/>
              </a:rPr>
              <a:t>Bruno は仮の文字をそのまま送ります。URL は存在しないテナントあてになり、Body の key は Mambu に「正しくない key」として扱われ、エラーになります（例：支店の key が違うと 400 INVALID_BRANCH_KEY）。</a:t>
            </a:r>
            <a:endParaRPr lang="en-US" sz="1200" dirty="0"/>
          </a:p>
        </p:txBody>
      </p:sp>
      <p:sp>
        <p:nvSpPr>
          <p:cNvPr id="13" name="Text 10"/>
          <p:cNvSpPr/>
          <p:nvPr/>
        </p:nvSpPr>
        <p:spPr>
          <a:xfrm>
            <a:off x="548640" y="5394960"/>
            <a:ext cx="11064240" cy="411480"/>
          </a:xfrm>
          <a:prstGeom prst="rect">
            <a:avLst/>
          </a:prstGeom>
          <a:noFill/>
          <a:ln/>
        </p:spPr>
        <p:txBody>
          <a:bodyPr wrap="square" lIns="50800" tIns="50800" rIns="50800" bIns="50800" rtlCol="0" anchor="t"/>
          <a:lstStyle/>
          <a:p>
            <a:pPr algn="l" indent="0" marL="0">
              <a:buNone/>
            </a:pPr>
            <a:r>
              <a:rPr lang="en-US" sz="1300" b="1" dirty="0">
                <a:solidFill>
                  <a:srgbClr val="1F3A5F"/>
                </a:solidFill>
                <a:latin typeface="Meiryo UI" pitchFamily="34" charset="0"/>
                <a:ea typeface="Meiryo UI" pitchFamily="34" charset="-122"/>
                <a:cs typeface="Meiryo UI" pitchFamily="34" charset="-120"/>
              </a:rPr>
              <a:t>まだ値が分からない 4 つの変数は、仮の文字のままで構いません。Description（説明）列にも、何に置き換えるかが書いてあります。</a:t>
            </a:r>
            <a:endParaRPr lang="en-US" sz="13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準備3【2/4】Variables を開き、変える 2 行を確かめる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7680960" cy="4320540"/>
          </a:xfrm>
          <a:prstGeom prst="rect">
            <a:avLst/>
          </a:prstGeom>
        </p:spPr>
      </p:pic>
      <p:sp>
        <p:nvSpPr>
          <p:cNvPr id="7" name="Shape 4"/>
          <p:cNvSpPr/>
          <p:nvPr/>
        </p:nvSpPr>
        <p:spPr>
          <a:xfrm>
            <a:off x="411480" y="1051560"/>
            <a:ext cx="7680960" cy="4320540"/>
          </a:xfrm>
          <a:prstGeom prst="rect">
            <a:avLst/>
          </a:prstGeom>
          <a:ln w="9525">
            <a:solidFill>
              <a:srgbClr val="D1D5DB"/>
            </a:solidFill>
            <a:prstDash val="solid"/>
          </a:ln>
        </p:spPr>
      </p:sp>
      <p:sp>
        <p:nvSpPr>
          <p:cNvPr id="8" name="Text 5"/>
          <p:cNvSpPr/>
          <p:nvPr/>
        </p:nvSpPr>
        <p:spPr>
          <a:xfrm>
            <a:off x="411480" y="5390388"/>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489204" y="1542136"/>
            <a:ext cx="641452" cy="267005"/>
          </a:xfrm>
          <a:prstGeom prst="rect">
            <a:avLst/>
          </a:prstGeom>
          <a:ln w="28575">
            <a:solidFill>
              <a:srgbClr val="E11D2E"/>
            </a:solidFill>
            <a:prstDash val="solid"/>
          </a:ln>
        </p:spPr>
      </p:sp>
      <p:sp>
        <p:nvSpPr>
          <p:cNvPr id="10" name="Shape 7"/>
          <p:cNvSpPr/>
          <p:nvPr/>
        </p:nvSpPr>
        <p:spPr>
          <a:xfrm>
            <a:off x="352044" y="1404976"/>
            <a:ext cx="274320" cy="274320"/>
          </a:xfrm>
          <a:prstGeom prst="ellipse">
            <a:avLst/>
          </a:prstGeom>
          <a:solidFill>
            <a:srgbClr val="E11D2E"/>
          </a:solidFill>
          <a:ln w="15875">
            <a:solidFill>
              <a:srgbClr val="FFFFFF"/>
            </a:solidFill>
            <a:prstDash val="solid"/>
          </a:ln>
        </p:spPr>
      </p:sp>
      <p:sp>
        <p:nvSpPr>
          <p:cNvPr id="11" name="Text 8"/>
          <p:cNvSpPr/>
          <p:nvPr/>
        </p:nvSpPr>
        <p:spPr>
          <a:xfrm>
            <a:off x="352044" y="140497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3379165" y="2291029"/>
            <a:ext cx="4395521" cy="372618"/>
          </a:xfrm>
          <a:prstGeom prst="rect">
            <a:avLst/>
          </a:prstGeom>
          <a:ln w="28575">
            <a:solidFill>
              <a:srgbClr val="E11D2E"/>
            </a:solidFill>
            <a:prstDash val="solid"/>
          </a:ln>
        </p:spPr>
      </p:sp>
      <p:sp>
        <p:nvSpPr>
          <p:cNvPr id="13" name="Shape 10"/>
          <p:cNvSpPr/>
          <p:nvPr/>
        </p:nvSpPr>
        <p:spPr>
          <a:xfrm>
            <a:off x="3086557" y="2340178"/>
            <a:ext cx="274320" cy="274320"/>
          </a:xfrm>
          <a:prstGeom prst="ellipse">
            <a:avLst/>
          </a:prstGeom>
          <a:solidFill>
            <a:srgbClr val="E11D2E"/>
          </a:solidFill>
          <a:ln w="15875">
            <a:solidFill>
              <a:srgbClr val="FFFFFF"/>
            </a:solidFill>
            <a:prstDash val="solid"/>
          </a:ln>
        </p:spPr>
      </p:sp>
      <p:sp>
        <p:nvSpPr>
          <p:cNvPr id="14" name="Text 11"/>
          <p:cNvSpPr/>
          <p:nvPr/>
        </p:nvSpPr>
        <p:spPr>
          <a:xfrm>
            <a:off x="3086557" y="234017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Shape 12"/>
          <p:cNvSpPr/>
          <p:nvPr/>
        </p:nvSpPr>
        <p:spPr>
          <a:xfrm>
            <a:off x="3379165" y="2627071"/>
            <a:ext cx="4395521" cy="372618"/>
          </a:xfrm>
          <a:prstGeom prst="rect">
            <a:avLst/>
          </a:prstGeom>
          <a:ln w="28575">
            <a:solidFill>
              <a:srgbClr val="E11D2E"/>
            </a:solidFill>
            <a:prstDash val="solid"/>
          </a:ln>
        </p:spPr>
      </p:sp>
      <p:sp>
        <p:nvSpPr>
          <p:cNvPr id="16" name="Shape 13"/>
          <p:cNvSpPr/>
          <p:nvPr/>
        </p:nvSpPr>
        <p:spPr>
          <a:xfrm>
            <a:off x="3086557" y="2676220"/>
            <a:ext cx="274320" cy="274320"/>
          </a:xfrm>
          <a:prstGeom prst="ellipse">
            <a:avLst/>
          </a:prstGeom>
          <a:solidFill>
            <a:srgbClr val="E11D2E"/>
          </a:solidFill>
          <a:ln w="15875">
            <a:solidFill>
              <a:srgbClr val="FFFFFF"/>
            </a:solidFill>
            <a:prstDash val="solid"/>
          </a:ln>
        </p:spPr>
      </p:sp>
      <p:sp>
        <p:nvSpPr>
          <p:cNvPr id="17" name="Text 14"/>
          <p:cNvSpPr/>
          <p:nvPr/>
        </p:nvSpPr>
        <p:spPr>
          <a:xfrm>
            <a:off x="3086557" y="26762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8" name="Text 15"/>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Ctrl + E で環境の設定を開き、「Variables」タブを選ぶ</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baseUrl の行：最初は https://YOUR_TENANT.sandbox.mambu.com/api（YOUR_TENANT ＝ テナント名を入れる場所）</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③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branchKey の行：最初は SET_BY_ORGANIZATION（＝ 組織から受け取る値を入れる場所）</a:t>
            </a:r>
            <a:endParaRPr lang="en-US" sz="1300" dirty="0"/>
          </a:p>
        </p:txBody>
      </p:sp>
      <p:sp>
        <p:nvSpPr>
          <p:cNvPr id="19" name="Shape 16"/>
          <p:cNvSpPr/>
          <p:nvPr/>
        </p:nvSpPr>
        <p:spPr>
          <a:xfrm>
            <a:off x="8275320" y="3931920"/>
            <a:ext cx="3520440" cy="1463040"/>
          </a:xfrm>
          <a:prstGeom prst="rect">
            <a:avLst/>
          </a:prstGeom>
          <a:solidFill>
            <a:srgbClr val="EFF6FF"/>
          </a:solidFill>
          <a:ln w="15875">
            <a:solidFill>
              <a:srgbClr val="1D4ED8"/>
            </a:solidFill>
            <a:prstDash val="solid"/>
          </a:ln>
        </p:spPr>
      </p:sp>
      <p:sp>
        <p:nvSpPr>
          <p:cNvPr id="20" name="Shape 17"/>
          <p:cNvSpPr/>
          <p:nvPr/>
        </p:nvSpPr>
        <p:spPr>
          <a:xfrm>
            <a:off x="8275320" y="3931920"/>
            <a:ext cx="82296" cy="1463040"/>
          </a:xfrm>
          <a:prstGeom prst="rect">
            <a:avLst/>
          </a:prstGeom>
          <a:solidFill>
            <a:srgbClr val="1D4ED8"/>
          </a:solidFill>
          <a:ln w="12700">
            <a:solidFill>
              <a:srgbClr val="1D4ED8"/>
            </a:solidFill>
            <a:prstDash val="solid"/>
          </a:ln>
        </p:spPr>
      </p:sp>
      <p:sp>
        <p:nvSpPr>
          <p:cNvPr id="21" name="Text 18"/>
          <p:cNvSpPr/>
          <p:nvPr/>
        </p:nvSpPr>
        <p:spPr>
          <a:xfrm>
            <a:off x="8439912" y="3977640"/>
            <a:ext cx="3291840" cy="1371600"/>
          </a:xfrm>
          <a:prstGeom prst="rect">
            <a:avLst/>
          </a:prstGeom>
          <a:noFill/>
          <a:ln/>
        </p:spPr>
        <p:txBody>
          <a:bodyPr wrap="square" rtlCol="0" anchor="t"/>
          <a:lstStyle/>
          <a:p>
            <a:pPr indent="0" marL="0">
              <a:spcAft>
                <a:spcPts val="200"/>
              </a:spcAft>
              <a:buNone/>
            </a:pPr>
            <a:r>
              <a:rPr lang="en-US" sz="1150" b="1" dirty="0">
                <a:solidFill>
                  <a:srgbClr val="1D4ED8"/>
                </a:solidFill>
                <a:latin typeface="Meiryo UI" pitchFamily="34" charset="0"/>
                <a:ea typeface="Meiryo UI" pitchFamily="34" charset="-122"/>
                <a:cs typeface="Meiryo UI" pitchFamily="34" charset="-120"/>
              </a:rPr>
              <a:t>【ヒント】</a:t>
            </a:r>
            <a:endParaRPr lang="en-US" sz="1150" dirty="0"/>
          </a:p>
          <a:p>
            <a:pPr indent="0" marL="0">
              <a:spcAft>
                <a:spcPts val="200"/>
              </a:spcAft>
              <a:buNone/>
            </a:pPr>
            <a:r>
              <a:rPr lang="en-US" sz="1150" dirty="0">
                <a:solidFill>
                  <a:srgbClr val="1F2937"/>
                </a:solidFill>
                <a:latin typeface="Meiryo UI" pitchFamily="34" charset="0"/>
                <a:ea typeface="Meiryo UI" pitchFamily="34" charset="-122"/>
                <a:cs typeface="Meiryo UI" pitchFamily="34" charset="-120"/>
              </a:rPr>
              <a:t>どちらも仮の文字です（前のスライド）。残りの 4 行も SET_BY_ORGANIZATION のままですが、まだ変えません。ステップ①で入ります（2 つはスクリプトで自動、2 つは手で入力）。</a:t>
            </a:r>
            <a:endParaRPr lang="en-US" sz="115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準備3【3/4】baseUrl と branchKey を入力して Save</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7680960" cy="4320540"/>
          </a:xfrm>
          <a:prstGeom prst="rect">
            <a:avLst/>
          </a:prstGeom>
        </p:spPr>
      </p:pic>
      <p:sp>
        <p:nvSpPr>
          <p:cNvPr id="7" name="Shape 4"/>
          <p:cNvSpPr/>
          <p:nvPr/>
        </p:nvSpPr>
        <p:spPr>
          <a:xfrm>
            <a:off x="411480" y="1051560"/>
            <a:ext cx="7680960" cy="4320540"/>
          </a:xfrm>
          <a:prstGeom prst="rect">
            <a:avLst/>
          </a:prstGeom>
          <a:ln w="9525">
            <a:solidFill>
              <a:srgbClr val="D1D5DB"/>
            </a:solidFill>
            <a:prstDash val="solid"/>
          </a:ln>
        </p:spPr>
      </p:sp>
      <p:sp>
        <p:nvSpPr>
          <p:cNvPr id="8" name="Text 5"/>
          <p:cNvSpPr/>
          <p:nvPr/>
        </p:nvSpPr>
        <p:spPr>
          <a:xfrm>
            <a:off x="411480" y="5390388"/>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3379165" y="2291029"/>
            <a:ext cx="4395521" cy="372618"/>
          </a:xfrm>
          <a:prstGeom prst="rect">
            <a:avLst/>
          </a:prstGeom>
          <a:ln w="28575">
            <a:solidFill>
              <a:srgbClr val="E11D2E"/>
            </a:solidFill>
            <a:prstDash val="solid"/>
          </a:ln>
        </p:spPr>
      </p:sp>
      <p:sp>
        <p:nvSpPr>
          <p:cNvPr id="10" name="Shape 7"/>
          <p:cNvSpPr/>
          <p:nvPr/>
        </p:nvSpPr>
        <p:spPr>
          <a:xfrm>
            <a:off x="3086557" y="2340178"/>
            <a:ext cx="274320" cy="274320"/>
          </a:xfrm>
          <a:prstGeom prst="ellipse">
            <a:avLst/>
          </a:prstGeom>
          <a:solidFill>
            <a:srgbClr val="E11D2E"/>
          </a:solidFill>
          <a:ln w="15875">
            <a:solidFill>
              <a:srgbClr val="FFFFFF"/>
            </a:solidFill>
            <a:prstDash val="solid"/>
          </a:ln>
        </p:spPr>
      </p:sp>
      <p:sp>
        <p:nvSpPr>
          <p:cNvPr id="11" name="Text 8"/>
          <p:cNvSpPr/>
          <p:nvPr/>
        </p:nvSpPr>
        <p:spPr>
          <a:xfrm>
            <a:off x="3086557" y="234017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3379165" y="2627071"/>
            <a:ext cx="4395521" cy="372618"/>
          </a:xfrm>
          <a:prstGeom prst="rect">
            <a:avLst/>
          </a:prstGeom>
          <a:ln w="28575">
            <a:solidFill>
              <a:srgbClr val="E11D2E"/>
            </a:solidFill>
            <a:prstDash val="solid"/>
          </a:ln>
        </p:spPr>
      </p:sp>
      <p:sp>
        <p:nvSpPr>
          <p:cNvPr id="13" name="Shape 10"/>
          <p:cNvSpPr/>
          <p:nvPr/>
        </p:nvSpPr>
        <p:spPr>
          <a:xfrm>
            <a:off x="3086557" y="2676220"/>
            <a:ext cx="274320" cy="274320"/>
          </a:xfrm>
          <a:prstGeom prst="ellipse">
            <a:avLst/>
          </a:prstGeom>
          <a:solidFill>
            <a:srgbClr val="E11D2E"/>
          </a:solidFill>
          <a:ln w="15875">
            <a:solidFill>
              <a:srgbClr val="FFFFFF"/>
            </a:solidFill>
            <a:prstDash val="solid"/>
          </a:ln>
        </p:spPr>
      </p:sp>
      <p:sp>
        <p:nvSpPr>
          <p:cNvPr id="14" name="Text 11"/>
          <p:cNvSpPr/>
          <p:nvPr/>
        </p:nvSpPr>
        <p:spPr>
          <a:xfrm>
            <a:off x="3086557" y="26762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Shape 12"/>
          <p:cNvSpPr/>
          <p:nvPr/>
        </p:nvSpPr>
        <p:spPr>
          <a:xfrm>
            <a:off x="508406" y="4720133"/>
            <a:ext cx="612648" cy="324612"/>
          </a:xfrm>
          <a:prstGeom prst="rect">
            <a:avLst/>
          </a:prstGeom>
          <a:ln w="28575">
            <a:solidFill>
              <a:srgbClr val="E11D2E"/>
            </a:solidFill>
            <a:prstDash val="solid"/>
          </a:ln>
        </p:spPr>
      </p:sp>
      <p:sp>
        <p:nvSpPr>
          <p:cNvPr id="16" name="Shape 13"/>
          <p:cNvSpPr/>
          <p:nvPr/>
        </p:nvSpPr>
        <p:spPr>
          <a:xfrm>
            <a:off x="215798" y="4745279"/>
            <a:ext cx="274320" cy="274320"/>
          </a:xfrm>
          <a:prstGeom prst="ellipse">
            <a:avLst/>
          </a:prstGeom>
          <a:solidFill>
            <a:srgbClr val="E11D2E"/>
          </a:solidFill>
          <a:ln w="15875">
            <a:solidFill>
              <a:srgbClr val="FFFFFF"/>
            </a:solidFill>
            <a:prstDash val="solid"/>
          </a:ln>
        </p:spPr>
      </p:sp>
      <p:sp>
        <p:nvSpPr>
          <p:cNvPr id="17" name="Text 14"/>
          <p:cNvSpPr/>
          <p:nvPr/>
        </p:nvSpPr>
        <p:spPr>
          <a:xfrm>
            <a:off x="215798" y="4745279"/>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8" name="Text 15"/>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baseUrl の Value をクリックして全部消し、組織のテナントの URL を入力（例：https://example-bank.sandbox.mambu.com/api）</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branchKey の Value に、組織から受け取った支店の encodedKey を入力</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③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「Save」をクリック（画面上部に Changes saved successfully と出る）</a:t>
            </a:r>
            <a:endParaRPr lang="en-US" sz="1300" dirty="0"/>
          </a:p>
        </p:txBody>
      </p:sp>
      <p:sp>
        <p:nvSpPr>
          <p:cNvPr id="19" name="Shape 16"/>
          <p:cNvSpPr/>
          <p:nvPr/>
        </p:nvSpPr>
        <p:spPr>
          <a:xfrm>
            <a:off x="8275320" y="4023360"/>
            <a:ext cx="3520440" cy="1600200"/>
          </a:xfrm>
          <a:prstGeom prst="rect">
            <a:avLst/>
          </a:prstGeom>
          <a:solidFill>
            <a:srgbClr val="FEF2F2"/>
          </a:solidFill>
          <a:ln w="15875">
            <a:solidFill>
              <a:srgbClr val="B91C1C"/>
            </a:solidFill>
            <a:prstDash val="solid"/>
          </a:ln>
        </p:spPr>
      </p:sp>
      <p:sp>
        <p:nvSpPr>
          <p:cNvPr id="20" name="Shape 17"/>
          <p:cNvSpPr/>
          <p:nvPr/>
        </p:nvSpPr>
        <p:spPr>
          <a:xfrm>
            <a:off x="8275320" y="4023360"/>
            <a:ext cx="82296" cy="1600200"/>
          </a:xfrm>
          <a:prstGeom prst="rect">
            <a:avLst/>
          </a:prstGeom>
          <a:solidFill>
            <a:srgbClr val="B91C1C"/>
          </a:solidFill>
          <a:ln w="12700">
            <a:solidFill>
              <a:srgbClr val="B91C1C"/>
            </a:solidFill>
            <a:prstDash val="solid"/>
          </a:ln>
        </p:spPr>
      </p:sp>
      <p:sp>
        <p:nvSpPr>
          <p:cNvPr id="21" name="Text 18"/>
          <p:cNvSpPr/>
          <p:nvPr/>
        </p:nvSpPr>
        <p:spPr>
          <a:xfrm>
            <a:off x="8439912" y="4069080"/>
            <a:ext cx="3291840" cy="1508760"/>
          </a:xfrm>
          <a:prstGeom prst="rect">
            <a:avLst/>
          </a:prstGeom>
          <a:noFill/>
          <a:ln/>
        </p:spPr>
        <p:txBody>
          <a:bodyPr wrap="square" rtlCol="0" anchor="t"/>
          <a:lstStyle/>
          <a:p>
            <a:pPr indent="0" marL="0">
              <a:spcAft>
                <a:spcPts val="200"/>
              </a:spcAft>
              <a:buNone/>
            </a:pPr>
            <a:r>
              <a:rPr lang="en-US" sz="1150" b="1" dirty="0">
                <a:solidFill>
                  <a:srgbClr val="B91C1C"/>
                </a:solidFill>
                <a:latin typeface="Meiryo UI" pitchFamily="34" charset="0"/>
                <a:ea typeface="Meiryo UI" pitchFamily="34" charset="-122"/>
                <a:cs typeface="Meiryo UI" pitchFamily="34" charset="-120"/>
              </a:rPr>
              <a:t>【この画面の値について】</a:t>
            </a:r>
            <a:endParaRPr lang="en-US" sz="1150" dirty="0"/>
          </a:p>
          <a:p>
            <a:pPr indent="0" marL="0">
              <a:spcAft>
                <a:spcPts val="200"/>
              </a:spcAft>
              <a:buNone/>
            </a:pPr>
            <a:r>
              <a:rPr lang="en-US" sz="1150" dirty="0">
                <a:solidFill>
                  <a:srgbClr val="1F2937"/>
                </a:solidFill>
                <a:latin typeface="Meiryo UI" pitchFamily="34" charset="0"/>
                <a:ea typeface="Meiryo UI" pitchFamily="34" charset="-122"/>
                <a:cs typeface="Meiryo UI" pitchFamily="34" charset="-120"/>
              </a:rPr>
              <a:t>画面の値はダミー（例）です。Value 欄をクリックして Ctrl + A で全選択してから入力すると、元の文字を残さずに書き換えられます。</a:t>
            </a:r>
            <a:endParaRPr lang="en-US" sz="115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準備3【4/4】Secrets タブで apiKey を入れる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7680960" cy="4320540"/>
          </a:xfrm>
          <a:prstGeom prst="rect">
            <a:avLst/>
          </a:prstGeom>
        </p:spPr>
      </p:pic>
      <p:sp>
        <p:nvSpPr>
          <p:cNvPr id="7" name="Shape 4"/>
          <p:cNvSpPr/>
          <p:nvPr/>
        </p:nvSpPr>
        <p:spPr>
          <a:xfrm>
            <a:off x="411480" y="1051560"/>
            <a:ext cx="7680960" cy="4320540"/>
          </a:xfrm>
          <a:prstGeom prst="rect">
            <a:avLst/>
          </a:prstGeom>
          <a:ln w="9525">
            <a:solidFill>
              <a:srgbClr val="D1D5DB"/>
            </a:solidFill>
            <a:prstDash val="solid"/>
          </a:ln>
        </p:spPr>
      </p:sp>
      <p:sp>
        <p:nvSpPr>
          <p:cNvPr id="8" name="Text 5"/>
          <p:cNvSpPr/>
          <p:nvPr/>
        </p:nvSpPr>
        <p:spPr>
          <a:xfrm>
            <a:off x="411480" y="5390388"/>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1266901" y="1542136"/>
            <a:ext cx="535838" cy="267005"/>
          </a:xfrm>
          <a:prstGeom prst="rect">
            <a:avLst/>
          </a:prstGeom>
          <a:ln w="28575">
            <a:solidFill>
              <a:srgbClr val="E11D2E"/>
            </a:solidFill>
            <a:prstDash val="solid"/>
          </a:ln>
        </p:spPr>
      </p:sp>
      <p:sp>
        <p:nvSpPr>
          <p:cNvPr id="10" name="Shape 7"/>
          <p:cNvSpPr/>
          <p:nvPr/>
        </p:nvSpPr>
        <p:spPr>
          <a:xfrm>
            <a:off x="1129741" y="1404976"/>
            <a:ext cx="274320" cy="274320"/>
          </a:xfrm>
          <a:prstGeom prst="ellipse">
            <a:avLst/>
          </a:prstGeom>
          <a:solidFill>
            <a:srgbClr val="E11D2E"/>
          </a:solidFill>
          <a:ln w="15875">
            <a:solidFill>
              <a:srgbClr val="FFFFFF"/>
            </a:solidFill>
            <a:prstDash val="solid"/>
          </a:ln>
        </p:spPr>
      </p:sp>
      <p:sp>
        <p:nvSpPr>
          <p:cNvPr id="11" name="Text 8"/>
          <p:cNvSpPr/>
          <p:nvPr/>
        </p:nvSpPr>
        <p:spPr>
          <a:xfrm>
            <a:off x="1129741" y="140497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3379165" y="2281428"/>
            <a:ext cx="4395521" cy="343814"/>
          </a:xfrm>
          <a:prstGeom prst="rect">
            <a:avLst/>
          </a:prstGeom>
          <a:ln w="28575">
            <a:solidFill>
              <a:srgbClr val="E11D2E"/>
            </a:solidFill>
            <a:prstDash val="solid"/>
          </a:ln>
        </p:spPr>
      </p:sp>
      <p:sp>
        <p:nvSpPr>
          <p:cNvPr id="13" name="Shape 10"/>
          <p:cNvSpPr/>
          <p:nvPr/>
        </p:nvSpPr>
        <p:spPr>
          <a:xfrm>
            <a:off x="3086557" y="2316175"/>
            <a:ext cx="274320" cy="274320"/>
          </a:xfrm>
          <a:prstGeom prst="ellipse">
            <a:avLst/>
          </a:prstGeom>
          <a:solidFill>
            <a:srgbClr val="E11D2E"/>
          </a:solidFill>
          <a:ln w="15875">
            <a:solidFill>
              <a:srgbClr val="FFFFFF"/>
            </a:solidFill>
            <a:prstDash val="solid"/>
          </a:ln>
        </p:spPr>
      </p:sp>
      <p:sp>
        <p:nvSpPr>
          <p:cNvPr id="14" name="Text 11"/>
          <p:cNvSpPr/>
          <p:nvPr/>
        </p:nvSpPr>
        <p:spPr>
          <a:xfrm>
            <a:off x="3086557" y="2316175"/>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Shape 12"/>
          <p:cNvSpPr/>
          <p:nvPr/>
        </p:nvSpPr>
        <p:spPr>
          <a:xfrm>
            <a:off x="508406" y="3039923"/>
            <a:ext cx="612648" cy="315011"/>
          </a:xfrm>
          <a:prstGeom prst="rect">
            <a:avLst/>
          </a:prstGeom>
          <a:ln w="28575">
            <a:solidFill>
              <a:srgbClr val="E11D2E"/>
            </a:solidFill>
            <a:prstDash val="solid"/>
          </a:ln>
        </p:spPr>
      </p:sp>
      <p:sp>
        <p:nvSpPr>
          <p:cNvPr id="16" name="Shape 13"/>
          <p:cNvSpPr/>
          <p:nvPr/>
        </p:nvSpPr>
        <p:spPr>
          <a:xfrm>
            <a:off x="215798" y="3060268"/>
            <a:ext cx="274320" cy="274320"/>
          </a:xfrm>
          <a:prstGeom prst="ellipse">
            <a:avLst/>
          </a:prstGeom>
          <a:solidFill>
            <a:srgbClr val="E11D2E"/>
          </a:solidFill>
          <a:ln w="15875">
            <a:solidFill>
              <a:srgbClr val="FFFFFF"/>
            </a:solidFill>
            <a:prstDash val="solid"/>
          </a:ln>
        </p:spPr>
      </p:sp>
      <p:sp>
        <p:nvSpPr>
          <p:cNvPr id="17" name="Text 14"/>
          <p:cNvSpPr/>
          <p:nvPr/>
        </p:nvSpPr>
        <p:spPr>
          <a:xfrm>
            <a:off x="215798" y="306026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8" name="Text 15"/>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「Secrets」タブを選ぶ</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apiKey の Value に API キーを入力する（入力すると * で隠れる。目のアイコンで表示を切り替え）</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③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「Save」をクリック</a:t>
            </a:r>
            <a:endParaRPr lang="en-US" sz="1300" dirty="0"/>
          </a:p>
        </p:txBody>
      </p:sp>
      <p:sp>
        <p:nvSpPr>
          <p:cNvPr id="19" name="Shape 16"/>
          <p:cNvSpPr/>
          <p:nvPr/>
        </p:nvSpPr>
        <p:spPr>
          <a:xfrm>
            <a:off x="8275320" y="3749040"/>
            <a:ext cx="3520440" cy="1874520"/>
          </a:xfrm>
          <a:prstGeom prst="rect">
            <a:avLst/>
          </a:prstGeom>
          <a:solidFill>
            <a:srgbClr val="FEF2F2"/>
          </a:solidFill>
          <a:ln w="15875">
            <a:solidFill>
              <a:srgbClr val="B91C1C"/>
            </a:solidFill>
            <a:prstDash val="solid"/>
          </a:ln>
        </p:spPr>
      </p:sp>
      <p:sp>
        <p:nvSpPr>
          <p:cNvPr id="20" name="Shape 17"/>
          <p:cNvSpPr/>
          <p:nvPr/>
        </p:nvSpPr>
        <p:spPr>
          <a:xfrm>
            <a:off x="8275320" y="3749040"/>
            <a:ext cx="82296" cy="1874520"/>
          </a:xfrm>
          <a:prstGeom prst="rect">
            <a:avLst/>
          </a:prstGeom>
          <a:solidFill>
            <a:srgbClr val="B91C1C"/>
          </a:solidFill>
          <a:ln w="12700">
            <a:solidFill>
              <a:srgbClr val="B91C1C"/>
            </a:solidFill>
            <a:prstDash val="solid"/>
          </a:ln>
        </p:spPr>
      </p:sp>
      <p:sp>
        <p:nvSpPr>
          <p:cNvPr id="21" name="Text 18"/>
          <p:cNvSpPr/>
          <p:nvPr/>
        </p:nvSpPr>
        <p:spPr>
          <a:xfrm>
            <a:off x="8439912" y="3794760"/>
            <a:ext cx="3291840" cy="1783080"/>
          </a:xfrm>
          <a:prstGeom prst="rect">
            <a:avLst/>
          </a:prstGeom>
          <a:noFill/>
          <a:ln/>
        </p:spPr>
        <p:txBody>
          <a:bodyPr wrap="square" rtlCol="0" anchor="t"/>
          <a:lstStyle/>
          <a:p>
            <a:pPr indent="0" marL="0">
              <a:spcAft>
                <a:spcPts val="200"/>
              </a:spcAft>
              <a:buNone/>
            </a:pPr>
            <a:r>
              <a:rPr lang="en-US" sz="1150" b="1" dirty="0">
                <a:solidFill>
                  <a:srgbClr val="B91C1C"/>
                </a:solidFill>
                <a:latin typeface="Meiryo UI" pitchFamily="34" charset="0"/>
                <a:ea typeface="Meiryo UI" pitchFamily="34" charset="-122"/>
                <a:cs typeface="Meiryo UI" pitchFamily="34" charset="-120"/>
              </a:rPr>
              <a:t>【API キーは必ず Secrets に】</a:t>
            </a:r>
            <a:endParaRPr lang="en-US" sz="1150" dirty="0"/>
          </a:p>
          <a:p>
            <a:pPr indent="0" marL="0">
              <a:spcAft>
                <a:spcPts val="200"/>
              </a:spcAft>
              <a:buNone/>
            </a:pPr>
            <a:r>
              <a:rPr lang="en-US" sz="1150" dirty="0">
                <a:solidFill>
                  <a:srgbClr val="1F2937"/>
                </a:solidFill>
                <a:latin typeface="Meiryo UI" pitchFamily="34" charset="0"/>
                <a:ea typeface="Meiryo UI" pitchFamily="34" charset="-122"/>
                <a:cs typeface="Meiryo UI" pitchFamily="34" charset="-120"/>
              </a:rPr>
              <a:t>API キーは変数ではなく秘密の値（Secret）なので、Variables とは別のタブに入れます。Secrets の値はファイル・エクスポート・Git に含まれません（第3章 3-F）。画面の値は練習用のダミーです。</a:t>
            </a:r>
            <a:endParaRPr lang="en-US" sz="115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準備4：すべてのリクエストに付ける 3 つのヘッダー（完成形）</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7680960" cy="3291840"/>
          </a:xfrm>
          <a:prstGeom prst="rect">
            <a:avLst/>
          </a:prstGeom>
        </p:spPr>
      </p:pic>
      <p:sp>
        <p:nvSpPr>
          <p:cNvPr id="7" name="Shape 4"/>
          <p:cNvSpPr/>
          <p:nvPr/>
        </p:nvSpPr>
        <p:spPr>
          <a:xfrm>
            <a:off x="411480" y="1051560"/>
            <a:ext cx="7680960" cy="3291840"/>
          </a:xfrm>
          <a:prstGeom prst="rect">
            <a:avLst/>
          </a:prstGeom>
          <a:ln w="9525">
            <a:solidFill>
              <a:srgbClr val="D1D5DB"/>
            </a:solidFill>
            <a:prstDash val="solid"/>
          </a:ln>
        </p:spPr>
      </p:sp>
      <p:sp>
        <p:nvSpPr>
          <p:cNvPr id="8" name="Text 5"/>
          <p:cNvSpPr/>
          <p:nvPr/>
        </p:nvSpPr>
        <p:spPr>
          <a:xfrm>
            <a:off x="411480" y="4361688"/>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393192" y="1273302"/>
            <a:ext cx="1737360" cy="187452"/>
          </a:xfrm>
          <a:prstGeom prst="rect">
            <a:avLst/>
          </a:prstGeom>
          <a:ln w="28575">
            <a:solidFill>
              <a:srgbClr val="E11D2E"/>
            </a:solidFill>
            <a:prstDash val="solid"/>
          </a:ln>
        </p:spPr>
      </p:sp>
      <p:sp>
        <p:nvSpPr>
          <p:cNvPr id="10" name="Shape 7"/>
          <p:cNvSpPr/>
          <p:nvPr/>
        </p:nvSpPr>
        <p:spPr>
          <a:xfrm>
            <a:off x="2258568" y="1335024"/>
            <a:ext cx="640080" cy="235458"/>
          </a:xfrm>
          <a:prstGeom prst="rect">
            <a:avLst/>
          </a:prstGeom>
          <a:ln w="28575">
            <a:solidFill>
              <a:srgbClr val="E11D2E"/>
            </a:solidFill>
            <a:prstDash val="solid"/>
          </a:ln>
        </p:spPr>
      </p:sp>
      <p:sp>
        <p:nvSpPr>
          <p:cNvPr id="11" name="Shape 8"/>
          <p:cNvSpPr/>
          <p:nvPr/>
        </p:nvSpPr>
        <p:spPr>
          <a:xfrm>
            <a:off x="2395728" y="2452878"/>
            <a:ext cx="3575304" cy="283464"/>
          </a:xfrm>
          <a:prstGeom prst="rect">
            <a:avLst/>
          </a:prstGeom>
          <a:ln w="28575">
            <a:solidFill>
              <a:srgbClr val="E11D2E"/>
            </a:solidFill>
            <a:prstDash val="solid"/>
          </a:ln>
        </p:spPr>
      </p:sp>
      <p:sp>
        <p:nvSpPr>
          <p:cNvPr id="12" name="Shape 9"/>
          <p:cNvSpPr/>
          <p:nvPr/>
        </p:nvSpPr>
        <p:spPr>
          <a:xfrm>
            <a:off x="2103120" y="2457450"/>
            <a:ext cx="274320" cy="274320"/>
          </a:xfrm>
          <a:prstGeom prst="ellipse">
            <a:avLst/>
          </a:prstGeom>
          <a:solidFill>
            <a:srgbClr val="E11D2E"/>
          </a:solidFill>
          <a:ln w="15875">
            <a:solidFill>
              <a:srgbClr val="FFFFFF"/>
            </a:solidFill>
            <a:prstDash val="solid"/>
          </a:ln>
        </p:spPr>
      </p:sp>
      <p:sp>
        <p:nvSpPr>
          <p:cNvPr id="13" name="Text 10"/>
          <p:cNvSpPr/>
          <p:nvPr/>
        </p:nvSpPr>
        <p:spPr>
          <a:xfrm>
            <a:off x="2103120" y="245745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4" name="Shape 11"/>
          <p:cNvSpPr/>
          <p:nvPr/>
        </p:nvSpPr>
        <p:spPr>
          <a:xfrm>
            <a:off x="2395728" y="2699766"/>
            <a:ext cx="3575304" cy="283464"/>
          </a:xfrm>
          <a:prstGeom prst="rect">
            <a:avLst/>
          </a:prstGeom>
          <a:ln w="28575">
            <a:solidFill>
              <a:srgbClr val="E11D2E"/>
            </a:solidFill>
            <a:prstDash val="solid"/>
          </a:ln>
        </p:spPr>
      </p:sp>
      <p:sp>
        <p:nvSpPr>
          <p:cNvPr id="15" name="Shape 12"/>
          <p:cNvSpPr/>
          <p:nvPr/>
        </p:nvSpPr>
        <p:spPr>
          <a:xfrm>
            <a:off x="2103120" y="2704338"/>
            <a:ext cx="274320" cy="274320"/>
          </a:xfrm>
          <a:prstGeom prst="ellipse">
            <a:avLst/>
          </a:prstGeom>
          <a:solidFill>
            <a:srgbClr val="E11D2E"/>
          </a:solidFill>
          <a:ln w="15875">
            <a:solidFill>
              <a:srgbClr val="FFFFFF"/>
            </a:solidFill>
            <a:prstDash val="solid"/>
          </a:ln>
        </p:spPr>
      </p:sp>
      <p:sp>
        <p:nvSpPr>
          <p:cNvPr id="16" name="Text 13"/>
          <p:cNvSpPr/>
          <p:nvPr/>
        </p:nvSpPr>
        <p:spPr>
          <a:xfrm>
            <a:off x="2103120" y="270433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7" name="Shape 14"/>
          <p:cNvSpPr/>
          <p:nvPr/>
        </p:nvSpPr>
        <p:spPr>
          <a:xfrm>
            <a:off x="2395728" y="2946654"/>
            <a:ext cx="3575304" cy="283464"/>
          </a:xfrm>
          <a:prstGeom prst="rect">
            <a:avLst/>
          </a:prstGeom>
          <a:ln w="28575">
            <a:solidFill>
              <a:srgbClr val="E11D2E"/>
            </a:solidFill>
            <a:prstDash val="solid"/>
          </a:ln>
        </p:spPr>
      </p:sp>
      <p:sp>
        <p:nvSpPr>
          <p:cNvPr id="18" name="Shape 15"/>
          <p:cNvSpPr/>
          <p:nvPr/>
        </p:nvSpPr>
        <p:spPr>
          <a:xfrm>
            <a:off x="2103120" y="2951226"/>
            <a:ext cx="274320" cy="274320"/>
          </a:xfrm>
          <a:prstGeom prst="ellipse">
            <a:avLst/>
          </a:prstGeom>
          <a:solidFill>
            <a:srgbClr val="E11D2E"/>
          </a:solidFill>
          <a:ln w="15875">
            <a:solidFill>
              <a:srgbClr val="FFFFFF"/>
            </a:solidFill>
            <a:prstDash val="solid"/>
          </a:ln>
        </p:spPr>
      </p:sp>
      <p:sp>
        <p:nvSpPr>
          <p:cNvPr id="19" name="Text 16"/>
          <p:cNvSpPr/>
          <p:nvPr/>
        </p:nvSpPr>
        <p:spPr>
          <a:xfrm>
            <a:off x="2103120" y="295122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20" name="Text 17"/>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Accept ＝ application/vnd.mambu.v2+json：Mambu の API v2 を使うという指定</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apiKey ＝ {{apiKey}}：API キーによる本人確認（値は準備3 で Secrets に入れたもの）</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③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User-Agent ＝ bruno-training：送り手（アプリ）の名前</a:t>
            </a:r>
            <a:endParaRPr lang="en-US" sz="1300" dirty="0"/>
          </a:p>
        </p:txBody>
      </p:sp>
      <p:sp>
        <p:nvSpPr>
          <p:cNvPr id="21" name="Text 18"/>
          <p:cNvSpPr/>
          <p:nvPr/>
        </p:nvSpPr>
        <p:spPr>
          <a:xfrm>
            <a:off x="5829300" y="1051560"/>
            <a:ext cx="2263140" cy="137160"/>
          </a:xfrm>
          <a:prstGeom prst="rect">
            <a:avLst/>
          </a:prstGeom>
          <a:solidFill>
            <a:srgbClr val="FFFFFF"/>
          </a:solidFill>
          <a:ln/>
        </p:spPr>
        <p:txBody>
          <a:bodyPr wrap="square" lIns="12700" tIns="12700" rIns="12700" bIns="12700" rtlCol="0" anchor="ctr"/>
          <a:lstStyle/>
          <a:p>
            <a:pPr indent="0" marL="0">
              <a:buNone/>
            </a:pPr>
            <a:endParaRPr lang="en-US" sz="900" dirty="0"/>
          </a:p>
        </p:txBody>
      </p:sp>
      <p:sp>
        <p:nvSpPr>
          <p:cNvPr id="22" name="Shape 19"/>
          <p:cNvSpPr/>
          <p:nvPr/>
        </p:nvSpPr>
        <p:spPr>
          <a:xfrm>
            <a:off x="8275320" y="3611880"/>
            <a:ext cx="3520440" cy="2011680"/>
          </a:xfrm>
          <a:prstGeom prst="rect">
            <a:avLst/>
          </a:prstGeom>
          <a:solidFill>
            <a:srgbClr val="ECFDF5"/>
          </a:solidFill>
          <a:ln w="15875">
            <a:solidFill>
              <a:srgbClr val="047857"/>
            </a:solidFill>
            <a:prstDash val="solid"/>
          </a:ln>
        </p:spPr>
      </p:sp>
      <p:sp>
        <p:nvSpPr>
          <p:cNvPr id="23" name="Shape 20"/>
          <p:cNvSpPr/>
          <p:nvPr/>
        </p:nvSpPr>
        <p:spPr>
          <a:xfrm>
            <a:off x="8275320" y="3611880"/>
            <a:ext cx="82296" cy="2011680"/>
          </a:xfrm>
          <a:prstGeom prst="rect">
            <a:avLst/>
          </a:prstGeom>
          <a:solidFill>
            <a:srgbClr val="047857"/>
          </a:solidFill>
          <a:ln w="12700">
            <a:solidFill>
              <a:srgbClr val="047857"/>
            </a:solidFill>
            <a:prstDash val="solid"/>
          </a:ln>
        </p:spPr>
      </p:sp>
      <p:sp>
        <p:nvSpPr>
          <p:cNvPr id="24" name="Text 21"/>
          <p:cNvSpPr/>
          <p:nvPr/>
        </p:nvSpPr>
        <p:spPr>
          <a:xfrm>
            <a:off x="8439912" y="3657600"/>
            <a:ext cx="3291840" cy="1920240"/>
          </a:xfrm>
          <a:prstGeom prst="rect">
            <a:avLst/>
          </a:prstGeom>
          <a:noFill/>
          <a:ln/>
        </p:spPr>
        <p:txBody>
          <a:bodyPr wrap="square" rtlCol="0" anchor="t"/>
          <a:lstStyle/>
          <a:p>
            <a:pPr indent="0" marL="0">
              <a:spcAft>
                <a:spcPts val="200"/>
              </a:spcAft>
              <a:buNone/>
            </a:pPr>
            <a:r>
              <a:rPr lang="en-US" sz="1150" b="1" dirty="0">
                <a:solidFill>
                  <a:srgbClr val="047857"/>
                </a:solidFill>
                <a:latin typeface="Meiryo UI" pitchFamily="34" charset="0"/>
                <a:ea typeface="Meiryo UI" pitchFamily="34" charset="-122"/>
                <a:cs typeface="Meiryo UI" pitchFamily="34" charset="-120"/>
              </a:rPr>
              <a:t>【この画面について】</a:t>
            </a:r>
            <a:endParaRPr lang="en-US" sz="1150" dirty="0"/>
          </a:p>
          <a:p>
            <a:pPr indent="0" marL="0">
              <a:spcAft>
                <a:spcPts val="200"/>
              </a:spcAft>
              <a:buNone/>
            </a:pPr>
            <a:r>
              <a:rPr lang="en-US" sz="1150" dirty="0">
                <a:solidFill>
                  <a:srgbClr val="1F2937"/>
                </a:solidFill>
                <a:latin typeface="Meiryo UI" pitchFamily="34" charset="0"/>
                <a:ea typeface="Meiryo UI" pitchFamily="34" charset="-122"/>
                <a:cs typeface="Meiryo UI" pitchFamily="34" charset="-120"/>
              </a:rPr>
              <a:t>左のサイドバーで選んだコレクション mambu-practice の設定画面（赤枠の Collection タブ → Headers タブ）に 3 つ入れ終わった状態です。ここに入れると、9 つのリクエストすべてに自動で付きます。次のスライドで理由、そのあとで入れ方を説明します。</a:t>
            </a:r>
            <a:endParaRPr lang="en-US" sz="115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準備4：なぜこの 3 つのヘッダーを入れるのか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6" name="Text 4"/>
          <p:cNvSpPr/>
          <p:nvPr/>
        </p:nvSpPr>
        <p:spPr>
          <a:xfrm>
            <a:off x="365760" y="6144768"/>
            <a:ext cx="11430000" cy="292608"/>
          </a:xfrm>
          <a:prstGeom prst="rect">
            <a:avLst/>
          </a:prstGeom>
          <a:noFill/>
          <a:ln/>
        </p:spPr>
        <p:txBody>
          <a:bodyPr wrap="square" rtlCol="0" anchor="t"/>
          <a:lstStyle/>
          <a:p>
            <a:pPr indent="0" marL="0">
              <a:buNone/>
            </a:pPr>
            <a:r>
              <a:rPr lang="en-US" sz="1000" dirty="0">
                <a:solidFill>
                  <a:srgbClr val="6B7280"/>
                </a:solidFill>
                <a:latin typeface="Meiryo UI" pitchFamily="34" charset="0"/>
                <a:ea typeface="Meiryo UI" pitchFamily="34" charset="-122"/>
                <a:cs typeface="Meiryo UI" pitchFamily="34" charset="-120"/>
              </a:rPr>
              <a:t>出典：https://docs.mambu.com/docs/mambu-apis/ ／ …/api-v2/authentication/ ／ …/audit-trail-and-the-user-agent-header/（2026-10-09 確認）</a:t>
            </a:r>
            <a:endParaRPr lang="en-US" sz="1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11064240" cy="914400"/>
        </p:xfrm>
        <a:graphic>
          <a:graphicData uri="http://schemas.openxmlformats.org/drawingml/2006/table">
            <a:tbl>
              <a:tblPr/>
              <a:tblGrid>
                <a:gridCol w="3017520"/>
                <a:gridCol w="4572000"/>
                <a:gridCol w="3474720"/>
              </a:tblGrid>
              <a:tr h="777240">
                <a:tc>
                  <a:txBody>
                    <a:bodyPr/>
                    <a:lstStyle/>
                    <a:p>
                      <a:pPr indent="0" marL="0">
                        <a:buNone/>
                      </a:pPr>
                      <a:r>
                        <a:rPr lang="en-US" sz="1250" b="1" dirty="0">
                          <a:solidFill>
                            <a:srgbClr val="FFFFFF"/>
                          </a:solidFill>
                          <a:latin typeface="Meiryo UI" pitchFamily="34" charset="0"/>
                          <a:ea typeface="Meiryo UI" pitchFamily="34" charset="-122"/>
                          <a:cs typeface="Meiryo UI" pitchFamily="34" charset="-120"/>
                        </a:rPr>
                        <a:t>ヘッダー（値）</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250" b="1" dirty="0">
                          <a:solidFill>
                            <a:srgbClr val="FFFFFF"/>
                          </a:solidFill>
                          <a:latin typeface="Meiryo UI" pitchFamily="34" charset="0"/>
                          <a:ea typeface="Meiryo UI" pitchFamily="34" charset="-122"/>
                          <a:cs typeface="Meiryo UI" pitchFamily="34" charset="-120"/>
                        </a:rPr>
                        <a:t>入れる理由</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250" b="1" dirty="0">
                          <a:solidFill>
                            <a:srgbClr val="FFFFFF"/>
                          </a:solidFill>
                          <a:latin typeface="Meiryo UI" pitchFamily="34" charset="0"/>
                          <a:ea typeface="Meiryo UI" pitchFamily="34" charset="-122"/>
                          <a:cs typeface="Meiryo UI" pitchFamily="34" charset="-120"/>
                        </a:rPr>
                        <a:t>入れないと</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777240">
                <a:tc>
                  <a:txBody>
                    <a:bodyPr/>
                    <a:lstStyle/>
                    <a:p>
                      <a:pPr indent="0" marL="0">
                        <a:buNone/>
                      </a:pPr>
                      <a:r>
                        <a:rPr lang="en-US" sz="1250" dirty="0">
                          <a:solidFill>
                            <a:srgbClr val="1F2937"/>
                          </a:solidFill>
                          <a:latin typeface="Meiryo UI" pitchFamily="34" charset="0"/>
                          <a:ea typeface="Meiryo UI" pitchFamily="34" charset="-122"/>
                          <a:cs typeface="Meiryo UI" pitchFamily="34" charset="-120"/>
                        </a:rPr>
                        <a:t>Accept</a:t>
                      </a:r>
                      <a:endParaRPr lang="en-US" sz="1250" dirty="0">
                        <a:latin typeface="Meiryo UI" charset="0"/>
                        <a:ea typeface="Meiryo UI" charset="0"/>
                        <a:cs typeface="Meiryo UI" charset="0"/>
                      </a:endParaRPr>
                    </a:p>
                    <a:p>
                      <a:pPr indent="0" marL="0">
                        <a:buNone/>
                      </a:pPr>
                      <a:r>
                        <a:rPr lang="en-US" sz="1250" dirty="0">
                          <a:solidFill>
                            <a:srgbClr val="1F2937"/>
                          </a:solidFill>
                          <a:latin typeface="Meiryo UI" pitchFamily="34" charset="0"/>
                          <a:ea typeface="Meiryo UI" pitchFamily="34" charset="-122"/>
                          <a:cs typeface="Meiryo UI" pitchFamily="34" charset="-120"/>
                        </a:rPr>
                        <a:t>（application/vnd.mambu.v2+json）</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Meiryo UI" pitchFamily="34" charset="0"/>
                          <a:ea typeface="Meiryo UI" pitchFamily="34" charset="-122"/>
                          <a:cs typeface="Meiryo UI" pitchFamily="34" charset="-120"/>
                        </a:rPr>
                        <a:t>Mambu に「API の v2 を使います」と伝える。公式に「すべての v2 リクエストで必須」とある</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Meiryo UI" pitchFamily="34" charset="0"/>
                          <a:ea typeface="Meiryo UI" pitchFamily="34" charset="-122"/>
                          <a:cs typeface="Meiryo UI" pitchFamily="34" charset="-120"/>
                        </a:rPr>
                        <a:t>必須の指定がないため、正しく扱われない（どんなエラーになるかは未確認）</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777240">
                <a:tc>
                  <a:txBody>
                    <a:bodyPr/>
                    <a:lstStyle/>
                    <a:p>
                      <a:pPr indent="0" marL="0">
                        <a:buNone/>
                      </a:pPr>
                      <a:r>
                        <a:rPr lang="en-US" sz="1250" dirty="0">
                          <a:solidFill>
                            <a:srgbClr val="1F2937"/>
                          </a:solidFill>
                          <a:latin typeface="Meiryo UI" pitchFamily="34" charset="0"/>
                          <a:ea typeface="Meiryo UI" pitchFamily="34" charset="-122"/>
                          <a:cs typeface="Meiryo UI" pitchFamily="34" charset="-120"/>
                        </a:rPr>
                        <a:t>apiKey</a:t>
                      </a:r>
                      <a:endParaRPr lang="en-US" sz="1250" dirty="0">
                        <a:latin typeface="Meiryo UI" charset="0"/>
                        <a:ea typeface="Meiryo UI" charset="0"/>
                        <a:cs typeface="Meiryo UI" charset="0"/>
                      </a:endParaRPr>
                    </a:p>
                    <a:p>
                      <a:pPr indent="0" marL="0">
                        <a:buNone/>
                      </a:pPr>
                      <a:r>
                        <a:rPr lang="en-US" sz="1250" dirty="0">
                          <a:solidFill>
                            <a:srgbClr val="1F2937"/>
                          </a:solidFill>
                          <a:latin typeface="Meiryo UI" pitchFamily="34" charset="0"/>
                          <a:ea typeface="Meiryo UI" pitchFamily="34" charset="-122"/>
                          <a:cs typeface="Meiryo UI" pitchFamily="34" charset="-120"/>
                        </a:rPr>
                        <a:t>（{{apiKey}}）</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250" dirty="0">
                          <a:solidFill>
                            <a:srgbClr val="1F2937"/>
                          </a:solidFill>
                          <a:latin typeface="Meiryo UI" pitchFamily="34" charset="0"/>
                          <a:ea typeface="Meiryo UI" pitchFamily="34" charset="-122"/>
                          <a:cs typeface="Meiryo UI" pitchFamily="34" charset="-120"/>
                        </a:rPr>
                        <a:t>Mambu が「API を使ってよい相手か」を確かめる（認証）。値は準備3 で Secrets に入れた API キー</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250" dirty="0">
                          <a:solidFill>
                            <a:srgbClr val="1F2937"/>
                          </a:solidFill>
                          <a:latin typeface="Meiryo UI" pitchFamily="34" charset="0"/>
                          <a:ea typeface="Meiryo UI" pitchFamily="34" charset="-122"/>
                          <a:cs typeface="Meiryo UI" pitchFamily="34" charset="-120"/>
                        </a:rPr>
                        <a:t>認証に失敗し（401）、どのリクエストも実行されない</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777240">
                <a:tc>
                  <a:txBody>
                    <a:bodyPr/>
                    <a:lstStyle/>
                    <a:p>
                      <a:pPr indent="0" marL="0">
                        <a:buNone/>
                      </a:pPr>
                      <a:r>
                        <a:rPr lang="en-US" sz="1250" dirty="0">
                          <a:solidFill>
                            <a:srgbClr val="1F2937"/>
                          </a:solidFill>
                          <a:latin typeface="Meiryo UI" pitchFamily="34" charset="0"/>
                          <a:ea typeface="Meiryo UI" pitchFamily="34" charset="-122"/>
                          <a:cs typeface="Meiryo UI" pitchFamily="34" charset="-120"/>
                        </a:rPr>
                        <a:t>User-Agent</a:t>
                      </a:r>
                      <a:endParaRPr lang="en-US" sz="1250" dirty="0">
                        <a:latin typeface="Meiryo UI" charset="0"/>
                        <a:ea typeface="Meiryo UI" charset="0"/>
                        <a:cs typeface="Meiryo UI" charset="0"/>
                      </a:endParaRPr>
                    </a:p>
                    <a:p>
                      <a:pPr indent="0" marL="0">
                        <a:buNone/>
                      </a:pPr>
                      <a:r>
                        <a:rPr lang="en-US" sz="1250" dirty="0">
                          <a:solidFill>
                            <a:srgbClr val="1F2937"/>
                          </a:solidFill>
                          <a:latin typeface="Meiryo UI" pitchFamily="34" charset="0"/>
                          <a:ea typeface="Meiryo UI" pitchFamily="34" charset="-122"/>
                          <a:cs typeface="Meiryo UI" pitchFamily="34" charset="-120"/>
                        </a:rPr>
                        <a:t>（bruno-training）</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Meiryo UI" pitchFamily="34" charset="0"/>
                          <a:ea typeface="Meiryo UI" pitchFamily="34" charset="-122"/>
                          <a:cs typeface="Meiryo UI" pitchFamily="34" charset="-120"/>
                        </a:rPr>
                        <a:t>送り手のアプリの名前。監査ログ（Audit Trail：誰が何をしたかの記録）が有効なテナントでは必須。研修の操作だと分かる名前にする</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Meiryo UI" pitchFamily="34" charset="0"/>
                          <a:ea typeface="Meiryo UI" pitchFamily="34" charset="-122"/>
                          <a:cs typeface="Meiryo UI" pitchFamily="34" charset="-120"/>
                        </a:rPr>
                        <a:t>監査ログが有効なテナントでは、必須の項目がないため通らない（どんなエラーになるかは未確認）</a:t>
                      </a:r>
                      <a:endParaRPr lang="en-US" sz="125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4526280"/>
            <a:ext cx="5486400" cy="1143000"/>
          </a:xfrm>
          <a:prstGeom prst="rect">
            <a:avLst/>
          </a:prstGeom>
          <a:solidFill>
            <a:srgbClr val="ECFDF5"/>
          </a:solidFill>
          <a:ln w="15875">
            <a:solidFill>
              <a:srgbClr val="047857"/>
            </a:solidFill>
            <a:prstDash val="solid"/>
          </a:ln>
        </p:spPr>
      </p:sp>
      <p:sp>
        <p:nvSpPr>
          <p:cNvPr id="9" name="Shape 6"/>
          <p:cNvSpPr/>
          <p:nvPr/>
        </p:nvSpPr>
        <p:spPr>
          <a:xfrm>
            <a:off x="548640" y="4526280"/>
            <a:ext cx="82296" cy="1143000"/>
          </a:xfrm>
          <a:prstGeom prst="rect">
            <a:avLst/>
          </a:prstGeom>
          <a:solidFill>
            <a:srgbClr val="047857"/>
          </a:solidFill>
          <a:ln w="12700">
            <a:solidFill>
              <a:srgbClr val="047857"/>
            </a:solidFill>
            <a:prstDash val="solid"/>
          </a:ln>
        </p:spPr>
      </p:sp>
      <p:sp>
        <p:nvSpPr>
          <p:cNvPr id="10" name="Text 7"/>
          <p:cNvSpPr/>
          <p:nvPr/>
        </p:nvSpPr>
        <p:spPr>
          <a:xfrm>
            <a:off x="713232" y="4572000"/>
            <a:ext cx="5257800" cy="1051560"/>
          </a:xfrm>
          <a:prstGeom prst="rect">
            <a:avLst/>
          </a:prstGeom>
          <a:noFill/>
          <a:ln/>
        </p:spPr>
        <p:txBody>
          <a:bodyPr wrap="square" rtlCol="0" anchor="t"/>
          <a:lstStyle/>
          <a:p>
            <a:pPr indent="0" marL="0">
              <a:spcAft>
                <a:spcPts val="200"/>
              </a:spcAft>
              <a:buNone/>
            </a:pPr>
            <a:r>
              <a:rPr lang="en-US" sz="1250" b="1" dirty="0">
                <a:solidFill>
                  <a:srgbClr val="047857"/>
                </a:solidFill>
                <a:latin typeface="Meiryo UI" pitchFamily="34" charset="0"/>
                <a:ea typeface="Meiryo UI" pitchFamily="34" charset="-122"/>
                <a:cs typeface="Meiryo UI" pitchFamily="34" charset="-120"/>
              </a:rPr>
              <a:t>【なぜコレクションに入れるのか】</a:t>
            </a:r>
            <a:endParaRPr lang="en-US" sz="1250" dirty="0"/>
          </a:p>
          <a:p>
            <a:pPr indent="0" marL="0">
              <a:spcAft>
                <a:spcPts val="200"/>
              </a:spcAft>
              <a:buNone/>
            </a:pPr>
            <a:r>
              <a:rPr lang="en-US" sz="1250" dirty="0">
                <a:solidFill>
                  <a:srgbClr val="1F2937"/>
                </a:solidFill>
                <a:latin typeface="Meiryo UI" pitchFamily="34" charset="0"/>
                <a:ea typeface="Meiryo UI" pitchFamily="34" charset="-122"/>
                <a:cs typeface="Meiryo UI" pitchFamily="34" charset="-120"/>
              </a:rPr>
              <a:t>3 つとも 9 つのリクエストすべてで同じ値です。コレクションの Headers に 1 回入れれば全リクエストに自動で付き、値を変えるときも 1 か所で済みます。</a:t>
            </a:r>
            <a:endParaRPr lang="en-US" sz="1250" dirty="0"/>
          </a:p>
        </p:txBody>
      </p:sp>
      <p:sp>
        <p:nvSpPr>
          <p:cNvPr id="11" name="Shape 8"/>
          <p:cNvSpPr/>
          <p:nvPr/>
        </p:nvSpPr>
        <p:spPr>
          <a:xfrm>
            <a:off x="6172200" y="4526280"/>
            <a:ext cx="5440680" cy="1143000"/>
          </a:xfrm>
          <a:prstGeom prst="rect">
            <a:avLst/>
          </a:prstGeom>
          <a:solidFill>
            <a:srgbClr val="EFF6FF"/>
          </a:solidFill>
          <a:ln w="15875">
            <a:solidFill>
              <a:srgbClr val="1D4ED8"/>
            </a:solidFill>
            <a:prstDash val="solid"/>
          </a:ln>
        </p:spPr>
      </p:sp>
      <p:sp>
        <p:nvSpPr>
          <p:cNvPr id="12" name="Shape 9"/>
          <p:cNvSpPr/>
          <p:nvPr/>
        </p:nvSpPr>
        <p:spPr>
          <a:xfrm>
            <a:off x="6172200" y="4526280"/>
            <a:ext cx="82296" cy="1143000"/>
          </a:xfrm>
          <a:prstGeom prst="rect">
            <a:avLst/>
          </a:prstGeom>
          <a:solidFill>
            <a:srgbClr val="1D4ED8"/>
          </a:solidFill>
          <a:ln w="12700">
            <a:solidFill>
              <a:srgbClr val="1D4ED8"/>
            </a:solidFill>
            <a:prstDash val="solid"/>
          </a:ln>
        </p:spPr>
      </p:sp>
      <p:sp>
        <p:nvSpPr>
          <p:cNvPr id="13" name="Text 10"/>
          <p:cNvSpPr/>
          <p:nvPr/>
        </p:nvSpPr>
        <p:spPr>
          <a:xfrm>
            <a:off x="6336792" y="4572000"/>
            <a:ext cx="5212080" cy="1051560"/>
          </a:xfrm>
          <a:prstGeom prst="rect">
            <a:avLst/>
          </a:prstGeom>
          <a:noFill/>
          <a:ln/>
        </p:spPr>
        <p:txBody>
          <a:bodyPr wrap="square" rtlCol="0" anchor="t"/>
          <a:lstStyle/>
          <a:p>
            <a:pPr indent="0" marL="0">
              <a:spcAft>
                <a:spcPts val="200"/>
              </a:spcAft>
              <a:buNone/>
            </a:pPr>
            <a:r>
              <a:rPr lang="en-US" sz="1250" b="1" dirty="0">
                <a:solidFill>
                  <a:srgbClr val="1D4ED8"/>
                </a:solidFill>
                <a:latin typeface="Meiryo UI" pitchFamily="34" charset="0"/>
                <a:ea typeface="Meiryo UI" pitchFamily="34" charset="-122"/>
                <a:cs typeface="Meiryo UI" pitchFamily="34" charset="-120"/>
              </a:rPr>
              <a:t>【コレクションに入れないヘッダー】</a:t>
            </a:r>
            <a:endParaRPr lang="en-US" sz="1250" dirty="0"/>
          </a:p>
          <a:p>
            <a:pPr indent="0" marL="0">
              <a:spcAft>
                <a:spcPts val="200"/>
              </a:spcAft>
              <a:buNone/>
            </a:pPr>
            <a:r>
              <a:rPr lang="en-US" sz="1250" dirty="0">
                <a:solidFill>
                  <a:srgbClr val="1F2937"/>
                </a:solidFill>
                <a:latin typeface="Meiryo UI" pitchFamily="34" charset="0"/>
                <a:ea typeface="Meiryo UI" pitchFamily="34" charset="-122"/>
                <a:cs typeface="Meiryo UI" pitchFamily="34" charset="-120"/>
              </a:rPr>
              <a:t>Idempotency-Key は POST だけに付け、値も毎回変わるので、各リクエストの Headers に入れます（ステップ②〜⑥）。Content-Type は Body を JSON にすると自動で付きます（第5章）。</a:t>
            </a:r>
            <a:endParaRPr lang="en-US" sz="125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準備4【1/4】コレクション名をクリックして設定画面を開く</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7620000" cy="4343400"/>
          </a:xfrm>
          <a:prstGeom prst="rect">
            <a:avLst/>
          </a:prstGeom>
        </p:spPr>
      </p:pic>
      <p:sp>
        <p:nvSpPr>
          <p:cNvPr id="7" name="Shape 4"/>
          <p:cNvSpPr/>
          <p:nvPr/>
        </p:nvSpPr>
        <p:spPr>
          <a:xfrm>
            <a:off x="411480" y="1051560"/>
            <a:ext cx="7620000" cy="4343400"/>
          </a:xfrm>
          <a:prstGeom prst="rect">
            <a:avLst/>
          </a:prstGeom>
          <a:ln w="9525">
            <a:solidFill>
              <a:srgbClr val="D1D5DB"/>
            </a:solidFill>
            <a:prstDash val="solid"/>
          </a:ln>
        </p:spPr>
      </p:sp>
      <p:sp>
        <p:nvSpPr>
          <p:cNvPr id="8" name="Text 5"/>
          <p:cNvSpPr/>
          <p:nvPr/>
        </p:nvSpPr>
        <p:spPr>
          <a:xfrm>
            <a:off x="411480" y="5413248"/>
            <a:ext cx="762000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393192" y="1376172"/>
            <a:ext cx="1926336" cy="196596"/>
          </a:xfrm>
          <a:prstGeom prst="rect">
            <a:avLst/>
          </a:prstGeom>
          <a:ln w="28575">
            <a:solidFill>
              <a:srgbClr val="E11D2E"/>
            </a:solidFill>
            <a:prstDash val="solid"/>
          </a:ln>
        </p:spPr>
      </p:sp>
      <p:sp>
        <p:nvSpPr>
          <p:cNvPr id="10" name="Shape 7"/>
          <p:cNvSpPr/>
          <p:nvPr/>
        </p:nvSpPr>
        <p:spPr>
          <a:xfrm>
            <a:off x="100584" y="1337310"/>
            <a:ext cx="274320" cy="274320"/>
          </a:xfrm>
          <a:prstGeom prst="ellipse">
            <a:avLst/>
          </a:prstGeom>
          <a:solidFill>
            <a:srgbClr val="E11D2E"/>
          </a:solidFill>
          <a:ln w="15875">
            <a:solidFill>
              <a:srgbClr val="FFFFFF"/>
            </a:solidFill>
            <a:prstDash val="solid"/>
          </a:ln>
        </p:spPr>
      </p:sp>
      <p:sp>
        <p:nvSpPr>
          <p:cNvPr id="11" name="Text 8"/>
          <p:cNvSpPr/>
          <p:nvPr/>
        </p:nvSpPr>
        <p:spPr>
          <a:xfrm>
            <a:off x="100584" y="133731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3014472" y="1825752"/>
            <a:ext cx="432816" cy="295656"/>
          </a:xfrm>
          <a:prstGeom prst="rect">
            <a:avLst/>
          </a:prstGeom>
          <a:ln w="28575">
            <a:solidFill>
              <a:srgbClr val="E11D2E"/>
            </a:solidFill>
            <a:prstDash val="solid"/>
          </a:ln>
        </p:spPr>
      </p:sp>
      <p:sp>
        <p:nvSpPr>
          <p:cNvPr id="13" name="Shape 10"/>
          <p:cNvSpPr/>
          <p:nvPr/>
        </p:nvSpPr>
        <p:spPr>
          <a:xfrm>
            <a:off x="2877312" y="1688592"/>
            <a:ext cx="274320" cy="274320"/>
          </a:xfrm>
          <a:prstGeom prst="ellipse">
            <a:avLst/>
          </a:prstGeom>
          <a:solidFill>
            <a:srgbClr val="E11D2E"/>
          </a:solidFill>
          <a:ln w="15875">
            <a:solidFill>
              <a:srgbClr val="FFFFFF"/>
            </a:solidFill>
            <a:prstDash val="solid"/>
          </a:ln>
        </p:spPr>
      </p:sp>
      <p:sp>
        <p:nvSpPr>
          <p:cNvPr id="14" name="Text 11"/>
          <p:cNvSpPr/>
          <p:nvPr/>
        </p:nvSpPr>
        <p:spPr>
          <a:xfrm>
            <a:off x="2877312" y="168859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Text 12"/>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サイドバーでコレクション名 mambu-practice をクリック → 右側にコレクションの設定画面（Overview）が開く</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「Headers」タブをクリック</a:t>
            </a:r>
            <a:endParaRPr lang="en-US" sz="1300" dirty="0"/>
          </a:p>
        </p:txBody>
      </p:sp>
      <p:sp>
        <p:nvSpPr>
          <p:cNvPr id="16" name="Text 13"/>
          <p:cNvSpPr/>
          <p:nvPr/>
        </p:nvSpPr>
        <p:spPr>
          <a:xfrm>
            <a:off x="2895600" y="2788920"/>
            <a:ext cx="4678680" cy="320040"/>
          </a:xfrm>
          <a:prstGeom prst="rect">
            <a:avLst/>
          </a:prstGeom>
          <a:solidFill>
            <a:srgbClr val="FFFFFF"/>
          </a:solidFill>
          <a:ln/>
        </p:spPr>
        <p:txBody>
          <a:bodyPr wrap="square" lIns="12700" tIns="12700" rIns="12700" bIns="12700" rtlCol="0" anchor="ctr"/>
          <a:lstStyle/>
          <a:p>
            <a:pPr indent="0" marL="0">
              <a:buNone/>
            </a:pPr>
            <a:r>
              <a:rPr lang="en-US" sz="900" dirty="0">
                <a:solidFill>
                  <a:srgbClr val="374151"/>
                </a:solidFill>
              </a:rPr>
              <a:t>（コレクションの保存場所。画面ではパスが表示されます）</a:t>
            </a:r>
            <a:endParaRPr lang="en-US" sz="900" dirty="0"/>
          </a:p>
        </p:txBody>
      </p:sp>
      <p:sp>
        <p:nvSpPr>
          <p:cNvPr id="17" name="Shape 14"/>
          <p:cNvSpPr/>
          <p:nvPr/>
        </p:nvSpPr>
        <p:spPr>
          <a:xfrm>
            <a:off x="8275320" y="4114800"/>
            <a:ext cx="3520440" cy="1508760"/>
          </a:xfrm>
          <a:prstGeom prst="rect">
            <a:avLst/>
          </a:prstGeom>
          <a:solidFill>
            <a:srgbClr val="FEF2F2"/>
          </a:solidFill>
          <a:ln w="15875">
            <a:solidFill>
              <a:srgbClr val="B91C1C"/>
            </a:solidFill>
            <a:prstDash val="solid"/>
          </a:ln>
        </p:spPr>
      </p:sp>
      <p:sp>
        <p:nvSpPr>
          <p:cNvPr id="18" name="Shape 15"/>
          <p:cNvSpPr/>
          <p:nvPr/>
        </p:nvSpPr>
        <p:spPr>
          <a:xfrm>
            <a:off x="8275320" y="4114800"/>
            <a:ext cx="82296" cy="1508760"/>
          </a:xfrm>
          <a:prstGeom prst="rect">
            <a:avLst/>
          </a:prstGeom>
          <a:solidFill>
            <a:srgbClr val="B91C1C"/>
          </a:solidFill>
          <a:ln w="12700">
            <a:solidFill>
              <a:srgbClr val="B91C1C"/>
            </a:solidFill>
            <a:prstDash val="solid"/>
          </a:ln>
        </p:spPr>
      </p:sp>
      <p:sp>
        <p:nvSpPr>
          <p:cNvPr id="19" name="Text 16"/>
          <p:cNvSpPr/>
          <p:nvPr/>
        </p:nvSpPr>
        <p:spPr>
          <a:xfrm>
            <a:off x="8439912" y="4160520"/>
            <a:ext cx="3291840" cy="1417320"/>
          </a:xfrm>
          <a:prstGeom prst="rect">
            <a:avLst/>
          </a:prstGeom>
          <a:noFill/>
          <a:ln/>
        </p:spPr>
        <p:txBody>
          <a:bodyPr wrap="square" rtlCol="0" anchor="t"/>
          <a:lstStyle/>
          <a:p>
            <a:pPr indent="0" marL="0">
              <a:spcAft>
                <a:spcPts val="200"/>
              </a:spcAft>
              <a:buNone/>
            </a:pPr>
            <a:r>
              <a:rPr lang="en-US" sz="1150" b="1" dirty="0">
                <a:solidFill>
                  <a:srgbClr val="B91C1C"/>
                </a:solidFill>
                <a:latin typeface="Meiryo UI" pitchFamily="34" charset="0"/>
                <a:ea typeface="Meiryo UI" pitchFamily="34" charset="-122"/>
                <a:cs typeface="Meiryo UI" pitchFamily="34" charset="-120"/>
              </a:rPr>
              <a:t>【間違えやすいところ】</a:t>
            </a:r>
            <a:endParaRPr lang="en-US" sz="1150" dirty="0"/>
          </a:p>
          <a:p>
            <a:pPr indent="0" marL="0">
              <a:spcAft>
                <a:spcPts val="200"/>
              </a:spcAft>
              <a:buNone/>
            </a:pPr>
            <a:r>
              <a:rPr lang="en-US" sz="1150" dirty="0">
                <a:solidFill>
                  <a:srgbClr val="1F2937"/>
                </a:solidFill>
                <a:latin typeface="Meiryo UI" pitchFamily="34" charset="0"/>
                <a:ea typeface="Meiryo UI" pitchFamily="34" charset="-122"/>
                <a:cs typeface="Meiryo UI" pitchFamily="34" charset="-120"/>
              </a:rPr>
              <a:t>リクエストの Headers タブではなく、コレクションの設定画面の Headers タブです。間違えると、そのリクエストにしか付きません。</a:t>
            </a:r>
            <a:endParaRPr lang="en-US" sz="115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準備4【2/4】Headers タブを確かめる（最初は空）</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7680960" cy="3291840"/>
          </a:xfrm>
          <a:prstGeom prst="rect">
            <a:avLst/>
          </a:prstGeom>
        </p:spPr>
      </p:pic>
      <p:sp>
        <p:nvSpPr>
          <p:cNvPr id="7" name="Shape 4"/>
          <p:cNvSpPr/>
          <p:nvPr/>
        </p:nvSpPr>
        <p:spPr>
          <a:xfrm>
            <a:off x="411480" y="1051560"/>
            <a:ext cx="7680960" cy="3291840"/>
          </a:xfrm>
          <a:prstGeom prst="rect">
            <a:avLst/>
          </a:prstGeom>
          <a:ln w="9525">
            <a:solidFill>
              <a:srgbClr val="D1D5DB"/>
            </a:solidFill>
            <a:prstDash val="solid"/>
          </a:ln>
        </p:spPr>
      </p:sp>
      <p:sp>
        <p:nvSpPr>
          <p:cNvPr id="8" name="Text 5"/>
          <p:cNvSpPr/>
          <p:nvPr/>
        </p:nvSpPr>
        <p:spPr>
          <a:xfrm>
            <a:off x="411480" y="4361688"/>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393192" y="1273302"/>
            <a:ext cx="1737360" cy="187452"/>
          </a:xfrm>
          <a:prstGeom prst="rect">
            <a:avLst/>
          </a:prstGeom>
          <a:ln w="28575">
            <a:solidFill>
              <a:srgbClr val="E11D2E"/>
            </a:solidFill>
            <a:prstDash val="solid"/>
          </a:ln>
        </p:spPr>
      </p:sp>
      <p:sp>
        <p:nvSpPr>
          <p:cNvPr id="10" name="Shape 7"/>
          <p:cNvSpPr/>
          <p:nvPr/>
        </p:nvSpPr>
        <p:spPr>
          <a:xfrm>
            <a:off x="2258568" y="1335024"/>
            <a:ext cx="640080" cy="235458"/>
          </a:xfrm>
          <a:prstGeom prst="rect">
            <a:avLst/>
          </a:prstGeom>
          <a:ln w="28575">
            <a:solidFill>
              <a:srgbClr val="E11D2E"/>
            </a:solidFill>
            <a:prstDash val="solid"/>
          </a:ln>
        </p:spPr>
      </p:sp>
      <p:sp>
        <p:nvSpPr>
          <p:cNvPr id="11" name="Shape 8"/>
          <p:cNvSpPr/>
          <p:nvPr/>
        </p:nvSpPr>
        <p:spPr>
          <a:xfrm>
            <a:off x="2752344" y="1677924"/>
            <a:ext cx="393192" cy="269748"/>
          </a:xfrm>
          <a:prstGeom prst="rect">
            <a:avLst/>
          </a:prstGeom>
          <a:ln w="28575">
            <a:solidFill>
              <a:srgbClr val="E11D2E"/>
            </a:solidFill>
            <a:prstDash val="solid"/>
          </a:ln>
        </p:spPr>
      </p:sp>
      <p:sp>
        <p:nvSpPr>
          <p:cNvPr id="12" name="Shape 9"/>
          <p:cNvSpPr/>
          <p:nvPr/>
        </p:nvSpPr>
        <p:spPr>
          <a:xfrm>
            <a:off x="2615184" y="1540764"/>
            <a:ext cx="274320" cy="274320"/>
          </a:xfrm>
          <a:prstGeom prst="ellipse">
            <a:avLst/>
          </a:prstGeom>
          <a:solidFill>
            <a:srgbClr val="E11D2E"/>
          </a:solidFill>
          <a:ln w="15875">
            <a:solidFill>
              <a:srgbClr val="FFFFFF"/>
            </a:solidFill>
            <a:prstDash val="solid"/>
          </a:ln>
        </p:spPr>
      </p:sp>
      <p:sp>
        <p:nvSpPr>
          <p:cNvPr id="13" name="Text 10"/>
          <p:cNvSpPr/>
          <p:nvPr/>
        </p:nvSpPr>
        <p:spPr>
          <a:xfrm>
            <a:off x="2615184" y="154076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4" name="Shape 11"/>
          <p:cNvSpPr/>
          <p:nvPr/>
        </p:nvSpPr>
        <p:spPr>
          <a:xfrm>
            <a:off x="2292858" y="2452878"/>
            <a:ext cx="5440680" cy="283464"/>
          </a:xfrm>
          <a:prstGeom prst="rect">
            <a:avLst/>
          </a:prstGeom>
          <a:ln w="28575">
            <a:solidFill>
              <a:srgbClr val="E11D2E"/>
            </a:solidFill>
            <a:prstDash val="solid"/>
          </a:ln>
        </p:spPr>
      </p:sp>
      <p:sp>
        <p:nvSpPr>
          <p:cNvPr id="15" name="Shape 12"/>
          <p:cNvSpPr/>
          <p:nvPr/>
        </p:nvSpPr>
        <p:spPr>
          <a:xfrm>
            <a:off x="2000250" y="2457450"/>
            <a:ext cx="274320" cy="274320"/>
          </a:xfrm>
          <a:prstGeom prst="ellipse">
            <a:avLst/>
          </a:prstGeom>
          <a:solidFill>
            <a:srgbClr val="E11D2E"/>
          </a:solidFill>
          <a:ln w="15875">
            <a:solidFill>
              <a:srgbClr val="FFFFFF"/>
            </a:solidFill>
            <a:prstDash val="solid"/>
          </a:ln>
        </p:spPr>
      </p:sp>
      <p:sp>
        <p:nvSpPr>
          <p:cNvPr id="16" name="Text 13"/>
          <p:cNvSpPr/>
          <p:nvPr/>
        </p:nvSpPr>
        <p:spPr>
          <a:xfrm>
            <a:off x="2000250" y="245745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7" name="Text 14"/>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左のサイドバーで mambu-practice が選ばれ、上のタブが「Collection」になっている（＝コレクションの設定画面）ことと、「Headers」タブが選ばれていることを確認</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表は空で、Name・Value・Description の入力欄が 1 行だけある</a:t>
            </a:r>
            <a:endParaRPr lang="en-US" sz="1300" dirty="0"/>
          </a:p>
        </p:txBody>
      </p:sp>
      <p:sp>
        <p:nvSpPr>
          <p:cNvPr id="18" name="Shape 15"/>
          <p:cNvSpPr/>
          <p:nvPr/>
        </p:nvSpPr>
        <p:spPr>
          <a:xfrm>
            <a:off x="8275320" y="4114800"/>
            <a:ext cx="3520440" cy="1508760"/>
          </a:xfrm>
          <a:prstGeom prst="rect">
            <a:avLst/>
          </a:prstGeom>
          <a:solidFill>
            <a:srgbClr val="EFF6FF"/>
          </a:solidFill>
          <a:ln w="15875">
            <a:solidFill>
              <a:srgbClr val="1D4ED8"/>
            </a:solidFill>
            <a:prstDash val="solid"/>
          </a:ln>
        </p:spPr>
      </p:sp>
      <p:sp>
        <p:nvSpPr>
          <p:cNvPr id="19" name="Shape 16"/>
          <p:cNvSpPr/>
          <p:nvPr/>
        </p:nvSpPr>
        <p:spPr>
          <a:xfrm>
            <a:off x="8275320" y="4114800"/>
            <a:ext cx="82296" cy="1508760"/>
          </a:xfrm>
          <a:prstGeom prst="rect">
            <a:avLst/>
          </a:prstGeom>
          <a:solidFill>
            <a:srgbClr val="1D4ED8"/>
          </a:solidFill>
          <a:ln w="12700">
            <a:solidFill>
              <a:srgbClr val="1D4ED8"/>
            </a:solidFill>
            <a:prstDash val="solid"/>
          </a:ln>
        </p:spPr>
      </p:sp>
      <p:sp>
        <p:nvSpPr>
          <p:cNvPr id="20" name="Text 17"/>
          <p:cNvSpPr/>
          <p:nvPr/>
        </p:nvSpPr>
        <p:spPr>
          <a:xfrm>
            <a:off x="8439912" y="4160520"/>
            <a:ext cx="3291840" cy="1417320"/>
          </a:xfrm>
          <a:prstGeom prst="rect">
            <a:avLst/>
          </a:prstGeom>
          <a:noFill/>
          <a:ln/>
        </p:spPr>
        <p:txBody>
          <a:bodyPr wrap="square" rtlCol="0" anchor="t"/>
          <a:lstStyle/>
          <a:p>
            <a:pPr indent="0" marL="0">
              <a:spcAft>
                <a:spcPts val="200"/>
              </a:spcAft>
              <a:buNone/>
            </a:pPr>
            <a:r>
              <a:rPr lang="en-US" sz="1150" b="1" dirty="0">
                <a:solidFill>
                  <a:srgbClr val="1D4ED8"/>
                </a:solidFill>
                <a:latin typeface="Meiryo UI" pitchFamily="34" charset="0"/>
                <a:ea typeface="Meiryo UI" pitchFamily="34" charset="-122"/>
                <a:cs typeface="Meiryo UI" pitchFamily="34" charset="-120"/>
              </a:rPr>
              <a:t>【ヒント】</a:t>
            </a:r>
            <a:endParaRPr lang="en-US" sz="1150" dirty="0"/>
          </a:p>
          <a:p>
            <a:pPr indent="0" marL="0">
              <a:spcAft>
                <a:spcPts val="200"/>
              </a:spcAft>
              <a:buNone/>
            </a:pPr>
            <a:r>
              <a:rPr lang="en-US" sz="1150" dirty="0">
                <a:solidFill>
                  <a:srgbClr val="1F2937"/>
                </a:solidFill>
                <a:latin typeface="Meiryo UI" pitchFamily="34" charset="0"/>
                <a:ea typeface="Meiryo UI" pitchFamily="34" charset="-122"/>
                <a:cs typeface="Meiryo UI" pitchFamily="34" charset="-120"/>
              </a:rPr>
              <a:t>画面の説明文「Add request headers that will be sent with every request in this collection.」＝「このコレクションのすべてのリクエストと一緒に送るヘッダーを追加します」という意味です。</a:t>
            </a:r>
            <a:endParaRPr lang="en-US" sz="115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準備4【3/4】Name と Value を 3 行入力する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7680960" cy="3291840"/>
          </a:xfrm>
          <a:prstGeom prst="rect">
            <a:avLst/>
          </a:prstGeom>
        </p:spPr>
      </p:pic>
      <p:sp>
        <p:nvSpPr>
          <p:cNvPr id="7" name="Shape 4"/>
          <p:cNvSpPr/>
          <p:nvPr/>
        </p:nvSpPr>
        <p:spPr>
          <a:xfrm>
            <a:off x="411480" y="1051560"/>
            <a:ext cx="7680960" cy="3291840"/>
          </a:xfrm>
          <a:prstGeom prst="rect">
            <a:avLst/>
          </a:prstGeom>
          <a:ln w="9525">
            <a:solidFill>
              <a:srgbClr val="D1D5DB"/>
            </a:solidFill>
            <a:prstDash val="solid"/>
          </a:ln>
        </p:spPr>
      </p:sp>
      <p:sp>
        <p:nvSpPr>
          <p:cNvPr id="8" name="Text 5"/>
          <p:cNvSpPr/>
          <p:nvPr/>
        </p:nvSpPr>
        <p:spPr>
          <a:xfrm>
            <a:off x="411480" y="4361688"/>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393192" y="1273302"/>
            <a:ext cx="1737360" cy="187452"/>
          </a:xfrm>
          <a:prstGeom prst="rect">
            <a:avLst/>
          </a:prstGeom>
          <a:ln w="28575">
            <a:solidFill>
              <a:srgbClr val="E11D2E"/>
            </a:solidFill>
            <a:prstDash val="solid"/>
          </a:ln>
        </p:spPr>
      </p:sp>
      <p:sp>
        <p:nvSpPr>
          <p:cNvPr id="10" name="Shape 7"/>
          <p:cNvSpPr/>
          <p:nvPr/>
        </p:nvSpPr>
        <p:spPr>
          <a:xfrm>
            <a:off x="2258568" y="1335024"/>
            <a:ext cx="640080" cy="235458"/>
          </a:xfrm>
          <a:prstGeom prst="rect">
            <a:avLst/>
          </a:prstGeom>
          <a:ln w="28575">
            <a:solidFill>
              <a:srgbClr val="E11D2E"/>
            </a:solidFill>
            <a:prstDash val="solid"/>
          </a:ln>
        </p:spPr>
      </p:sp>
      <p:sp>
        <p:nvSpPr>
          <p:cNvPr id="11" name="Shape 8"/>
          <p:cNvSpPr/>
          <p:nvPr/>
        </p:nvSpPr>
        <p:spPr>
          <a:xfrm>
            <a:off x="2395728" y="2452878"/>
            <a:ext cx="1133856" cy="777240"/>
          </a:xfrm>
          <a:prstGeom prst="rect">
            <a:avLst/>
          </a:prstGeom>
          <a:ln w="28575">
            <a:solidFill>
              <a:srgbClr val="E11D2E"/>
            </a:solidFill>
            <a:prstDash val="solid"/>
          </a:ln>
        </p:spPr>
      </p:sp>
      <p:sp>
        <p:nvSpPr>
          <p:cNvPr id="12" name="Shape 9"/>
          <p:cNvSpPr/>
          <p:nvPr/>
        </p:nvSpPr>
        <p:spPr>
          <a:xfrm>
            <a:off x="2103120" y="2704338"/>
            <a:ext cx="274320" cy="274320"/>
          </a:xfrm>
          <a:prstGeom prst="ellipse">
            <a:avLst/>
          </a:prstGeom>
          <a:solidFill>
            <a:srgbClr val="E11D2E"/>
          </a:solidFill>
          <a:ln w="15875">
            <a:solidFill>
              <a:srgbClr val="FFFFFF"/>
            </a:solidFill>
            <a:prstDash val="solid"/>
          </a:ln>
        </p:spPr>
      </p:sp>
      <p:sp>
        <p:nvSpPr>
          <p:cNvPr id="13" name="Text 10"/>
          <p:cNvSpPr/>
          <p:nvPr/>
        </p:nvSpPr>
        <p:spPr>
          <a:xfrm>
            <a:off x="2103120" y="270433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4" name="Shape 11"/>
          <p:cNvSpPr/>
          <p:nvPr/>
        </p:nvSpPr>
        <p:spPr>
          <a:xfrm>
            <a:off x="3493008" y="2452878"/>
            <a:ext cx="2478024" cy="777240"/>
          </a:xfrm>
          <a:prstGeom prst="rect">
            <a:avLst/>
          </a:prstGeom>
          <a:ln w="28575">
            <a:solidFill>
              <a:srgbClr val="E11D2E"/>
            </a:solidFill>
            <a:prstDash val="solid"/>
          </a:ln>
        </p:spPr>
      </p:sp>
      <p:sp>
        <p:nvSpPr>
          <p:cNvPr id="15" name="Shape 12"/>
          <p:cNvSpPr/>
          <p:nvPr/>
        </p:nvSpPr>
        <p:spPr>
          <a:xfrm>
            <a:off x="5833872" y="2315718"/>
            <a:ext cx="274320" cy="274320"/>
          </a:xfrm>
          <a:prstGeom prst="ellipse">
            <a:avLst/>
          </a:prstGeom>
          <a:solidFill>
            <a:srgbClr val="E11D2E"/>
          </a:solidFill>
          <a:ln w="15875">
            <a:solidFill>
              <a:srgbClr val="FFFFFF"/>
            </a:solidFill>
            <a:prstDash val="solid"/>
          </a:ln>
        </p:spPr>
      </p:sp>
      <p:sp>
        <p:nvSpPr>
          <p:cNvPr id="16" name="Text 13"/>
          <p:cNvSpPr/>
          <p:nvPr/>
        </p:nvSpPr>
        <p:spPr>
          <a:xfrm>
            <a:off x="5833872" y="231571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7" name="Text 14"/>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Name に 1 行ずつ入力：Accept、apiKey、User-Agent</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Value に 1 行ずつ入力：application/vnd.mambu.v2+json、{{apiKey}}、bruno-training</a:t>
            </a:r>
            <a:endParaRPr lang="en-US" sz="1300" dirty="0"/>
          </a:p>
        </p:txBody>
      </p:sp>
      <p:sp>
        <p:nvSpPr>
          <p:cNvPr id="18" name="Shape 15"/>
          <p:cNvSpPr/>
          <p:nvPr/>
        </p:nvSpPr>
        <p:spPr>
          <a:xfrm>
            <a:off x="8275320" y="3749040"/>
            <a:ext cx="3520440" cy="1874520"/>
          </a:xfrm>
          <a:prstGeom prst="rect">
            <a:avLst/>
          </a:prstGeom>
          <a:solidFill>
            <a:srgbClr val="EFF6FF"/>
          </a:solidFill>
          <a:ln w="15875">
            <a:solidFill>
              <a:srgbClr val="1D4ED8"/>
            </a:solidFill>
            <a:prstDash val="solid"/>
          </a:ln>
        </p:spPr>
      </p:sp>
      <p:sp>
        <p:nvSpPr>
          <p:cNvPr id="19" name="Shape 16"/>
          <p:cNvSpPr/>
          <p:nvPr/>
        </p:nvSpPr>
        <p:spPr>
          <a:xfrm>
            <a:off x="8275320" y="3749040"/>
            <a:ext cx="82296" cy="1874520"/>
          </a:xfrm>
          <a:prstGeom prst="rect">
            <a:avLst/>
          </a:prstGeom>
          <a:solidFill>
            <a:srgbClr val="1D4ED8"/>
          </a:solidFill>
          <a:ln w="12700">
            <a:solidFill>
              <a:srgbClr val="1D4ED8"/>
            </a:solidFill>
            <a:prstDash val="solid"/>
          </a:ln>
        </p:spPr>
      </p:sp>
      <p:sp>
        <p:nvSpPr>
          <p:cNvPr id="20" name="Text 17"/>
          <p:cNvSpPr/>
          <p:nvPr/>
        </p:nvSpPr>
        <p:spPr>
          <a:xfrm>
            <a:off x="8439912" y="3794760"/>
            <a:ext cx="3291840" cy="1783080"/>
          </a:xfrm>
          <a:prstGeom prst="rect">
            <a:avLst/>
          </a:prstGeom>
          <a:noFill/>
          <a:ln/>
        </p:spPr>
        <p:txBody>
          <a:bodyPr wrap="square" rtlCol="0" anchor="t"/>
          <a:lstStyle/>
          <a:p>
            <a:pPr indent="0" marL="0">
              <a:spcAft>
                <a:spcPts val="200"/>
              </a:spcAft>
              <a:buNone/>
            </a:pPr>
            <a:r>
              <a:rPr lang="en-US" sz="1150" b="1" dirty="0">
                <a:solidFill>
                  <a:srgbClr val="1D4ED8"/>
                </a:solidFill>
                <a:latin typeface="Meiryo UI" pitchFamily="34" charset="0"/>
                <a:ea typeface="Meiryo UI" pitchFamily="34" charset="-122"/>
                <a:cs typeface="Meiryo UI" pitchFamily="34" charset="-120"/>
              </a:rPr>
              <a:t>【ヒント】</a:t>
            </a:r>
            <a:endParaRPr lang="en-US" sz="1150" dirty="0"/>
          </a:p>
          <a:p>
            <a:pPr indent="0" marL="0">
              <a:spcAft>
                <a:spcPts val="200"/>
              </a:spcAft>
              <a:buNone/>
            </a:pPr>
            <a:r>
              <a:rPr lang="en-US" sz="1150" dirty="0">
                <a:solidFill>
                  <a:srgbClr val="1F2937"/>
                </a:solidFill>
                <a:latin typeface="Meiryo UI" pitchFamily="34" charset="0"/>
                <a:ea typeface="Meiryo UI" pitchFamily="34" charset="-122"/>
                <a:cs typeface="Meiryo UI" pitchFamily="34" charset="-120"/>
              </a:rPr>
              <a:t>1 行入力すると、下に新しい空の行が出ます。{{apiKey}} が緑色なら、環境 Mambu-Sandbox の Secret（準備3【4/4】）が見つかっています。赤色のときは、画面右上で環境を選びます。</a:t>
            </a:r>
            <a:endParaRPr lang="en-US" sz="115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準備4【4/4】Save で保存する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7680960" cy="3291840"/>
          </a:xfrm>
          <a:prstGeom prst="rect">
            <a:avLst/>
          </a:prstGeom>
        </p:spPr>
      </p:pic>
      <p:sp>
        <p:nvSpPr>
          <p:cNvPr id="7" name="Shape 4"/>
          <p:cNvSpPr/>
          <p:nvPr/>
        </p:nvSpPr>
        <p:spPr>
          <a:xfrm>
            <a:off x="411480" y="1051560"/>
            <a:ext cx="7680960" cy="3291840"/>
          </a:xfrm>
          <a:prstGeom prst="rect">
            <a:avLst/>
          </a:prstGeom>
          <a:ln w="9525">
            <a:solidFill>
              <a:srgbClr val="D1D5DB"/>
            </a:solidFill>
            <a:prstDash val="solid"/>
          </a:ln>
        </p:spPr>
      </p:sp>
      <p:sp>
        <p:nvSpPr>
          <p:cNvPr id="8" name="Text 5"/>
          <p:cNvSpPr/>
          <p:nvPr/>
        </p:nvSpPr>
        <p:spPr>
          <a:xfrm>
            <a:off x="411480" y="4361688"/>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393192" y="1273302"/>
            <a:ext cx="1737360" cy="187452"/>
          </a:xfrm>
          <a:prstGeom prst="rect">
            <a:avLst/>
          </a:prstGeom>
          <a:ln w="28575">
            <a:solidFill>
              <a:srgbClr val="E11D2E"/>
            </a:solidFill>
            <a:prstDash val="solid"/>
          </a:ln>
        </p:spPr>
      </p:sp>
      <p:sp>
        <p:nvSpPr>
          <p:cNvPr id="10" name="Shape 7"/>
          <p:cNvSpPr/>
          <p:nvPr/>
        </p:nvSpPr>
        <p:spPr>
          <a:xfrm>
            <a:off x="2258568" y="1335024"/>
            <a:ext cx="640080" cy="235458"/>
          </a:xfrm>
          <a:prstGeom prst="rect">
            <a:avLst/>
          </a:prstGeom>
          <a:ln w="28575">
            <a:solidFill>
              <a:srgbClr val="E11D2E"/>
            </a:solidFill>
            <a:prstDash val="solid"/>
          </a:ln>
        </p:spPr>
      </p:sp>
      <p:sp>
        <p:nvSpPr>
          <p:cNvPr id="11" name="Shape 8"/>
          <p:cNvSpPr/>
          <p:nvPr/>
        </p:nvSpPr>
        <p:spPr>
          <a:xfrm>
            <a:off x="2217420" y="3783330"/>
            <a:ext cx="406908" cy="214884"/>
          </a:xfrm>
          <a:prstGeom prst="rect">
            <a:avLst/>
          </a:prstGeom>
          <a:ln w="28575">
            <a:solidFill>
              <a:srgbClr val="E11D2E"/>
            </a:solidFill>
            <a:prstDash val="solid"/>
          </a:ln>
        </p:spPr>
      </p:sp>
      <p:sp>
        <p:nvSpPr>
          <p:cNvPr id="12" name="Shape 9"/>
          <p:cNvSpPr/>
          <p:nvPr/>
        </p:nvSpPr>
        <p:spPr>
          <a:xfrm>
            <a:off x="1924812" y="3753612"/>
            <a:ext cx="274320" cy="274320"/>
          </a:xfrm>
          <a:prstGeom prst="ellipse">
            <a:avLst/>
          </a:prstGeom>
          <a:solidFill>
            <a:srgbClr val="E11D2E"/>
          </a:solidFill>
          <a:ln w="15875">
            <a:solidFill>
              <a:srgbClr val="FFFFFF"/>
            </a:solidFill>
            <a:prstDash val="solid"/>
          </a:ln>
        </p:spPr>
      </p:sp>
      <p:sp>
        <p:nvSpPr>
          <p:cNvPr id="13" name="Text 10"/>
          <p:cNvSpPr/>
          <p:nvPr/>
        </p:nvSpPr>
        <p:spPr>
          <a:xfrm>
            <a:off x="1924812" y="375361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4" name="Shape 11"/>
          <p:cNvSpPr/>
          <p:nvPr/>
        </p:nvSpPr>
        <p:spPr>
          <a:xfrm>
            <a:off x="2752344" y="1677924"/>
            <a:ext cx="502920" cy="269748"/>
          </a:xfrm>
          <a:prstGeom prst="rect">
            <a:avLst/>
          </a:prstGeom>
          <a:ln w="28575">
            <a:solidFill>
              <a:srgbClr val="E11D2E"/>
            </a:solidFill>
            <a:prstDash val="solid"/>
          </a:ln>
        </p:spPr>
      </p:sp>
      <p:sp>
        <p:nvSpPr>
          <p:cNvPr id="15" name="Shape 12"/>
          <p:cNvSpPr/>
          <p:nvPr/>
        </p:nvSpPr>
        <p:spPr>
          <a:xfrm>
            <a:off x="3118104" y="1540764"/>
            <a:ext cx="274320" cy="274320"/>
          </a:xfrm>
          <a:prstGeom prst="ellipse">
            <a:avLst/>
          </a:prstGeom>
          <a:solidFill>
            <a:srgbClr val="E11D2E"/>
          </a:solidFill>
          <a:ln w="15875">
            <a:solidFill>
              <a:srgbClr val="FFFFFF"/>
            </a:solidFill>
            <a:prstDash val="solid"/>
          </a:ln>
        </p:spPr>
      </p:sp>
      <p:sp>
        <p:nvSpPr>
          <p:cNvPr id="16" name="Text 13"/>
          <p:cNvSpPr/>
          <p:nvPr/>
        </p:nvSpPr>
        <p:spPr>
          <a:xfrm>
            <a:off x="3118104" y="154076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7" name="Text 14"/>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「Save」をクリック（画面上部に Collection Settings saved successfully と出る）</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タブの名前が「Headers 3」になり、3 つ入ったことが分かる</a:t>
            </a:r>
            <a:endParaRPr lang="en-US" sz="1300" dirty="0"/>
          </a:p>
        </p:txBody>
      </p:sp>
      <p:sp>
        <p:nvSpPr>
          <p:cNvPr id="18" name="Text 15"/>
          <p:cNvSpPr/>
          <p:nvPr/>
        </p:nvSpPr>
        <p:spPr>
          <a:xfrm>
            <a:off x="5829300" y="1051560"/>
            <a:ext cx="2263140" cy="137160"/>
          </a:xfrm>
          <a:prstGeom prst="rect">
            <a:avLst/>
          </a:prstGeom>
          <a:solidFill>
            <a:srgbClr val="FFFFFF"/>
          </a:solidFill>
          <a:ln/>
        </p:spPr>
        <p:txBody>
          <a:bodyPr wrap="square" lIns="12700" tIns="12700" rIns="12700" bIns="12700" rtlCol="0" anchor="ctr"/>
          <a:lstStyle/>
          <a:p>
            <a:pPr indent="0" marL="0">
              <a:buNone/>
            </a:pPr>
            <a:endParaRPr lang="en-US" sz="900" dirty="0"/>
          </a:p>
        </p:txBody>
      </p:sp>
      <p:sp>
        <p:nvSpPr>
          <p:cNvPr id="19" name="Shape 16"/>
          <p:cNvSpPr/>
          <p:nvPr/>
        </p:nvSpPr>
        <p:spPr>
          <a:xfrm>
            <a:off x="8275320" y="3657600"/>
            <a:ext cx="3520440" cy="1965960"/>
          </a:xfrm>
          <a:prstGeom prst="rect">
            <a:avLst/>
          </a:prstGeom>
          <a:solidFill>
            <a:srgbClr val="EFF6FF"/>
          </a:solidFill>
          <a:ln w="15875">
            <a:solidFill>
              <a:srgbClr val="1D4ED8"/>
            </a:solidFill>
            <a:prstDash val="solid"/>
          </a:ln>
        </p:spPr>
      </p:sp>
      <p:sp>
        <p:nvSpPr>
          <p:cNvPr id="20" name="Shape 17"/>
          <p:cNvSpPr/>
          <p:nvPr/>
        </p:nvSpPr>
        <p:spPr>
          <a:xfrm>
            <a:off x="8275320" y="3657600"/>
            <a:ext cx="82296" cy="1965960"/>
          </a:xfrm>
          <a:prstGeom prst="rect">
            <a:avLst/>
          </a:prstGeom>
          <a:solidFill>
            <a:srgbClr val="1D4ED8"/>
          </a:solidFill>
          <a:ln w="12700">
            <a:solidFill>
              <a:srgbClr val="1D4ED8"/>
            </a:solidFill>
            <a:prstDash val="solid"/>
          </a:ln>
        </p:spPr>
      </p:sp>
      <p:sp>
        <p:nvSpPr>
          <p:cNvPr id="21" name="Text 18"/>
          <p:cNvSpPr/>
          <p:nvPr/>
        </p:nvSpPr>
        <p:spPr>
          <a:xfrm>
            <a:off x="8439912" y="3703320"/>
            <a:ext cx="3291840" cy="1874520"/>
          </a:xfrm>
          <a:prstGeom prst="rect">
            <a:avLst/>
          </a:prstGeom>
          <a:noFill/>
          <a:ln/>
        </p:spPr>
        <p:txBody>
          <a:bodyPr wrap="square" rtlCol="0" anchor="t"/>
          <a:lstStyle/>
          <a:p>
            <a:pPr indent="0" marL="0">
              <a:spcAft>
                <a:spcPts val="200"/>
              </a:spcAft>
              <a:buNone/>
            </a:pPr>
            <a:r>
              <a:rPr lang="en-US" sz="1150" b="1" dirty="0">
                <a:solidFill>
                  <a:srgbClr val="1D4ED8"/>
                </a:solidFill>
                <a:latin typeface="Meiryo UI" pitchFamily="34" charset="0"/>
                <a:ea typeface="Meiryo UI" pitchFamily="34" charset="-122"/>
                <a:cs typeface="Meiryo UI" pitchFamily="34" charset="-120"/>
              </a:rPr>
              <a:t>【ヒント】</a:t>
            </a:r>
            <a:endParaRPr lang="en-US" sz="1150" dirty="0"/>
          </a:p>
          <a:p>
            <a:pPr indent="0" marL="0">
              <a:spcAft>
                <a:spcPts val="200"/>
              </a:spcAft>
              <a:buNone/>
            </a:pPr>
            <a:r>
              <a:rPr lang="en-US" sz="1150" dirty="0">
                <a:solidFill>
                  <a:srgbClr val="1F2937"/>
                </a:solidFill>
                <a:latin typeface="Meiryo UI" pitchFamily="34" charset="0"/>
                <a:ea typeface="Meiryo UI" pitchFamily="34" charset="-122"/>
                <a:cs typeface="Meiryo UI" pitchFamily="34" charset="-120"/>
              </a:rPr>
              <a:t>User-Agent を指定しないと、Bruno の名前（bruno-runtime/4.2.1）が送られます（作成環境で確認）。作成環境では、画面で入力して保存した内容が、参考コレクションの opencollection.yml のヘッダーと一致しました。</a:t>
            </a:r>
            <a:endParaRPr lang="en-US" sz="115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準備5：Idempotency-Key（二重登録を防ぐ）</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6" name="Text 4"/>
          <p:cNvSpPr/>
          <p:nvPr/>
        </p:nvSpPr>
        <p:spPr>
          <a:xfrm>
            <a:off x="365760" y="6144768"/>
            <a:ext cx="11430000" cy="292608"/>
          </a:xfrm>
          <a:prstGeom prst="rect">
            <a:avLst/>
          </a:prstGeom>
          <a:noFill/>
          <a:ln/>
        </p:spPr>
        <p:txBody>
          <a:bodyPr wrap="square" rtlCol="0" anchor="t"/>
          <a:lstStyle/>
          <a:p>
            <a:pPr indent="0" marL="0">
              <a:buNone/>
            </a:pPr>
            <a:r>
              <a:rPr lang="en-US" sz="1000" dirty="0">
                <a:solidFill>
                  <a:srgbClr val="6B7280"/>
                </a:solidFill>
                <a:latin typeface="Meiryo UI" pitchFamily="34" charset="0"/>
                <a:ea typeface="Meiryo UI" pitchFamily="34" charset="-122"/>
                <a:cs typeface="Meiryo UI" pitchFamily="34" charset="-120"/>
              </a:rPr>
              <a:t>出典：https://docs.mambu.com/api/pages/api-v2/idempotency/（2026-10-09 確認）</a:t>
            </a:r>
            <a:endParaRPr lang="en-US" sz="1000" dirty="0"/>
          </a:p>
        </p:txBody>
      </p:sp>
      <p:sp>
        <p:nvSpPr>
          <p:cNvPr id="7" name="Text 5"/>
          <p:cNvSpPr/>
          <p:nvPr/>
        </p:nvSpPr>
        <p:spPr>
          <a:xfrm>
            <a:off x="548640" y="1143000"/>
            <a:ext cx="11064240" cy="457200"/>
          </a:xfrm>
          <a:prstGeom prst="rect">
            <a:avLst/>
          </a:prstGeom>
          <a:noFill/>
          <a:ln/>
        </p:spPr>
        <p:txBody>
          <a:bodyPr wrap="square" lIns="50800" tIns="50800" rIns="50800" bIns="50800" rtlCol="0" anchor="t"/>
          <a:lstStyle/>
          <a:p>
            <a:pPr algn="l" indent="0" marL="0">
              <a:buNone/>
            </a:pPr>
            <a:r>
              <a:rPr lang="en-US" sz="1600" dirty="0">
                <a:solidFill>
                  <a:srgbClr val="1F2937"/>
                </a:solidFill>
                <a:latin typeface="Meiryo UI" pitchFamily="34" charset="0"/>
                <a:ea typeface="Meiryo UI" pitchFamily="34" charset="-122"/>
                <a:cs typeface="Meiryo UI" pitchFamily="34" charset="-120"/>
              </a:rPr>
              <a:t>POST のリクエストには Idempotency-Key（アイデンポテンシー・キー）というヘッダーを付けられます。</a:t>
            </a:r>
            <a:endParaRPr lang="en-US" sz="1600" dirty="0"/>
          </a:p>
        </p:txBody>
      </p:sp>
      <p:sp>
        <p:nvSpPr>
          <p:cNvPr id="8" name="Text 6"/>
          <p:cNvSpPr/>
          <p:nvPr/>
        </p:nvSpPr>
        <p:spPr>
          <a:xfrm>
            <a:off x="548640" y="1691640"/>
            <a:ext cx="11064240" cy="2194560"/>
          </a:xfrm>
          <a:prstGeom prst="rect">
            <a:avLst/>
          </a:prstGeom>
          <a:noFill/>
          <a:ln/>
        </p:spPr>
        <p:txBody>
          <a:bodyPr wrap="square" rtlCol="0" anchor="t"/>
          <a:lstStyle/>
          <a:p>
            <a:pPr marL="228600" indent="-228600">
              <a:spcAft>
                <a:spcPts val="800"/>
              </a:spcAft>
              <a:buSzPct val="100000"/>
              <a:buChar char="•"/>
            </a:pPr>
            <a:r>
              <a:rPr lang="en-US" sz="1500" dirty="0">
                <a:solidFill>
                  <a:srgbClr val="1F2937"/>
                </a:solidFill>
                <a:latin typeface="Meiryo UI" pitchFamily="34" charset="0"/>
                <a:ea typeface="Meiryo UI" pitchFamily="34" charset="-122"/>
                <a:cs typeface="Meiryo UI" pitchFamily="34" charset="-120"/>
              </a:rPr>
              <a:t>通信が途切れて同じ POST を 2 回送ってしまっても、同じキーなら 2 回目は新しく作らず、1 回目の結果が返る（同じ操作の二重登録を防ぐ）</a:t>
            </a:r>
            <a:endParaRPr lang="en-US" sz="1500" dirty="0"/>
          </a:p>
          <a:p>
            <a:pPr marL="228600" indent="-228600">
              <a:spcAft>
                <a:spcPts val="800"/>
              </a:spcAft>
              <a:buSzPct val="100000"/>
              <a:buChar char="•"/>
            </a:pPr>
            <a:r>
              <a:rPr lang="en-US" sz="1500" dirty="0">
                <a:solidFill>
                  <a:srgbClr val="1F2937"/>
                </a:solidFill>
                <a:latin typeface="Meiryo UI" pitchFamily="34" charset="0"/>
                <a:ea typeface="Meiryo UI" pitchFamily="34" charset="-122"/>
                <a:cs typeface="Meiryo UI" pitchFamily="34" charset="-120"/>
              </a:rPr>
              <a:t>値は v4 UUID（重ならない長い文字列）。有効期間は 6 時間</a:t>
            </a:r>
            <a:endParaRPr lang="en-US" sz="1500" dirty="0"/>
          </a:p>
          <a:p>
            <a:pPr marL="228600" indent="-228600">
              <a:spcAft>
                <a:spcPts val="800"/>
              </a:spcAft>
              <a:buSzPct val="100000"/>
              <a:buChar char="•"/>
            </a:pPr>
            <a:r>
              <a:rPr lang="en-US" sz="1500" dirty="0">
                <a:solidFill>
                  <a:srgbClr val="1F2937"/>
                </a:solidFill>
                <a:latin typeface="Meiryo UI" pitchFamily="34" charset="0"/>
                <a:ea typeface="Meiryo UI" pitchFamily="34" charset="-122"/>
                <a:cs typeface="Meiryo UI" pitchFamily="34" charset="-120"/>
              </a:rPr>
              <a:t>入力エラー（400）の結果は保存されないので、同じキーで送り直すと新しい依頼として扱われる</a:t>
            </a:r>
            <a:endParaRPr lang="en-US" sz="1500" dirty="0"/>
          </a:p>
        </p:txBody>
      </p:sp>
      <p:sp>
        <p:nvSpPr>
          <p:cNvPr id="9" name="Text 7"/>
          <p:cNvSpPr/>
          <p:nvPr/>
        </p:nvSpPr>
        <p:spPr>
          <a:xfrm>
            <a:off x="548640" y="4069080"/>
            <a:ext cx="5486400" cy="502920"/>
          </a:xfrm>
          <a:prstGeom prst="rect">
            <a:avLst/>
          </a:prstGeom>
          <a:solidFill>
            <a:srgbClr val="F3F4F6"/>
          </a:solidFill>
          <a:ln w="12700">
            <a:solidFill>
              <a:srgbClr val="D1D5DB"/>
            </a:solidFill>
          </a:ln>
        </p:spPr>
        <p:txBody>
          <a:bodyPr wrap="square" lIns="101600" tIns="101600" rIns="101600" bIns="101600" rtlCol="0" anchor="ctr"/>
          <a:lstStyle/>
          <a:p>
            <a:pPr indent="0" marL="0">
              <a:buNone/>
            </a:pPr>
            <a:r>
              <a:rPr lang="en-US" sz="1500" dirty="0">
                <a:solidFill>
                  <a:srgbClr val="111827"/>
                </a:solidFill>
                <a:latin typeface="Consolas" pitchFamily="34" charset="0"/>
                <a:ea typeface="Consolas" pitchFamily="34" charset="-122"/>
                <a:cs typeface="Consolas" pitchFamily="34" charset="-120"/>
              </a:rPr>
              <a:t>Idempotency-Key: {{$randomUUID}}</a:t>
            </a:r>
            <a:endParaRPr lang="en-US" sz="1500" dirty="0"/>
          </a:p>
        </p:txBody>
      </p:sp>
      <p:sp>
        <p:nvSpPr>
          <p:cNvPr id="10" name="Text 8"/>
          <p:cNvSpPr/>
          <p:nvPr/>
        </p:nvSpPr>
        <p:spPr>
          <a:xfrm>
            <a:off x="548640" y="3794760"/>
            <a:ext cx="5486400" cy="274320"/>
          </a:xfrm>
          <a:prstGeom prst="rect">
            <a:avLst/>
          </a:prstGeom>
          <a:noFill/>
          <a:ln/>
        </p:spPr>
        <p:txBody>
          <a:bodyPr wrap="square" rtlCol="0" anchor="ctr"/>
          <a:lstStyle/>
          <a:p>
            <a:pPr indent="0" marL="0">
              <a:buNone/>
            </a:pPr>
            <a:r>
              <a:rPr lang="en-US" sz="1100" dirty="0">
                <a:solidFill>
                  <a:srgbClr val="6B7280"/>
                </a:solidFill>
                <a:latin typeface="Meiryo UI" pitchFamily="34" charset="0"/>
                <a:ea typeface="Meiryo UI" pitchFamily="34" charset="-122"/>
                <a:cs typeface="Meiryo UI" pitchFamily="34" charset="-120"/>
              </a:rPr>
              <a:t>Bruno での書き方（第9章 TIPS の動的変数）</a:t>
            </a:r>
            <a:endParaRPr lang="en-US" sz="1100" dirty="0"/>
          </a:p>
        </p:txBody>
      </p:sp>
      <p:sp>
        <p:nvSpPr>
          <p:cNvPr id="11" name="Shape 9"/>
          <p:cNvSpPr/>
          <p:nvPr/>
        </p:nvSpPr>
        <p:spPr>
          <a:xfrm>
            <a:off x="6309360" y="4069080"/>
            <a:ext cx="5303520" cy="914400"/>
          </a:xfrm>
          <a:prstGeom prst="rect">
            <a:avLst/>
          </a:prstGeom>
          <a:solidFill>
            <a:srgbClr val="EFF6FF"/>
          </a:solidFill>
          <a:ln w="15875">
            <a:solidFill>
              <a:srgbClr val="1D4ED8"/>
            </a:solidFill>
            <a:prstDash val="solid"/>
          </a:ln>
        </p:spPr>
      </p:sp>
      <p:sp>
        <p:nvSpPr>
          <p:cNvPr id="12" name="Shape 10"/>
          <p:cNvSpPr/>
          <p:nvPr/>
        </p:nvSpPr>
        <p:spPr>
          <a:xfrm>
            <a:off x="6309360" y="4069080"/>
            <a:ext cx="82296" cy="914400"/>
          </a:xfrm>
          <a:prstGeom prst="rect">
            <a:avLst/>
          </a:prstGeom>
          <a:solidFill>
            <a:srgbClr val="1D4ED8"/>
          </a:solidFill>
          <a:ln w="12700">
            <a:solidFill>
              <a:srgbClr val="1D4ED8"/>
            </a:solidFill>
            <a:prstDash val="solid"/>
          </a:ln>
        </p:spPr>
      </p:sp>
      <p:sp>
        <p:nvSpPr>
          <p:cNvPr id="13" name="Text 11"/>
          <p:cNvSpPr/>
          <p:nvPr/>
        </p:nvSpPr>
        <p:spPr>
          <a:xfrm>
            <a:off x="6473952" y="4114800"/>
            <a:ext cx="5074920" cy="822960"/>
          </a:xfrm>
          <a:prstGeom prst="rect">
            <a:avLst/>
          </a:prstGeom>
          <a:noFill/>
          <a:ln/>
        </p:spPr>
        <p:txBody>
          <a:bodyPr wrap="square" rtlCol="0" anchor="ctr"/>
          <a:lstStyle/>
          <a:p>
            <a:pPr indent="0" marL="0">
              <a:spcAft>
                <a:spcPts val="200"/>
              </a:spcAft>
              <a:buNone/>
            </a:pPr>
            <a:r>
              <a:rPr lang="en-US" sz="1300" b="1" dirty="0">
                <a:solidFill>
                  <a:srgbClr val="1D4ED8"/>
                </a:solidFill>
                <a:latin typeface="Meiryo UI" pitchFamily="34" charset="0"/>
                <a:ea typeface="Meiryo UI" pitchFamily="34" charset="-122"/>
                <a:cs typeface="Meiryo UI" pitchFamily="34" charset="-120"/>
              </a:rPr>
              <a:t>【ヒント】</a:t>
            </a:r>
            <a:endParaRPr lang="en-US" sz="1300" dirty="0"/>
          </a:p>
          <a:p>
            <a:pPr indent="0" marL="0">
              <a:spcAft>
                <a:spcPts val="200"/>
              </a:spcAft>
              <a:buNone/>
            </a:pPr>
            <a:r>
              <a:rPr lang="en-US" sz="1300" dirty="0">
                <a:solidFill>
                  <a:srgbClr val="1F2937"/>
                </a:solidFill>
                <a:latin typeface="Meiryo UI" pitchFamily="34" charset="0"/>
                <a:ea typeface="Meiryo UI" pitchFamily="34" charset="-122"/>
                <a:cs typeface="Meiryo UI" pitchFamily="34" charset="-120"/>
              </a:rPr>
              <a:t>{{$randomUUID}} は送信のたびに新しい値になります。同じ依頼を再送したいときは、値を固定して送ります。</a:t>
            </a:r>
            <a:endParaRPr lang="en-US" sz="13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ステップ①：設定値を確認する（GET を 3 つ作る）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6" name="Text 4"/>
          <p:cNvSpPr/>
          <p:nvPr/>
        </p:nvSpPr>
        <p:spPr>
          <a:xfrm>
            <a:off x="365760" y="6144768"/>
            <a:ext cx="11430000" cy="292608"/>
          </a:xfrm>
          <a:prstGeom prst="rect">
            <a:avLst/>
          </a:prstGeom>
          <a:noFill/>
          <a:ln/>
        </p:spPr>
        <p:txBody>
          <a:bodyPr wrap="square" rtlCol="0" anchor="t"/>
          <a:lstStyle/>
          <a:p>
            <a:pPr indent="0" marL="0">
              <a:buNone/>
            </a:pPr>
            <a:r>
              <a:rPr lang="en-US" sz="1000" dirty="0">
                <a:solidFill>
                  <a:srgbClr val="6B7280"/>
                </a:solidFill>
                <a:latin typeface="Meiryo UI" pitchFamily="34" charset="0"/>
                <a:ea typeface="Meiryo UI" pitchFamily="34" charset="-122"/>
                <a:cs typeface="Meiryo UI" pitchFamily="34" charset="-120"/>
              </a:rPr>
              <a:t>出典：https://docs.mambu.com/swagger_files/v2/branches.json・depositproducts.json・organization_transactionChannels.json（公式 OpenAPI、2026-10-09 確認）</a:t>
            </a:r>
            <a:endParaRPr lang="en-US" sz="1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11064240" cy="914400"/>
        </p:xfrm>
        <a:graphic>
          <a:graphicData uri="http://schemas.openxmlformats.org/drawingml/2006/table">
            <a:tbl>
              <a:tblPr/>
              <a:tblGrid>
                <a:gridCol w="2377440"/>
                <a:gridCol w="8686800"/>
              </a:tblGrid>
              <a:tr h="457200">
                <a:tc>
                  <a:txBody>
                    <a:bodyPr/>
                    <a:lstStyle/>
                    <a:p>
                      <a:pPr indent="0" marL="0">
                        <a:buNone/>
                      </a:pPr>
                      <a:r>
                        <a:rPr lang="en-US" sz="1400" b="1" dirty="0">
                          <a:solidFill>
                            <a:srgbClr val="FFFFFF"/>
                          </a:solidFill>
                          <a:latin typeface="Meiryo UI" pitchFamily="34" charset="0"/>
                          <a:ea typeface="Meiryo UI" pitchFamily="34" charset="-122"/>
                          <a:cs typeface="Meiryo UI" pitchFamily="34" charset="-120"/>
                        </a:rPr>
                        <a:t>項目</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Meiryo UI" pitchFamily="34" charset="0"/>
                          <a:ea typeface="Meiryo UI" pitchFamily="34" charset="-122"/>
                          <a:cs typeface="Meiryo UI" pitchFamily="34" charset="-120"/>
                        </a:rPr>
                        <a:t>内容</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45720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目的</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組織のテナントにある「支店」「預金商品」「取引チャネル」の一覧を取り出し、あとのステップで使う key や ID を確認する</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作るリクエスト</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01 Get Branches：GET {{baseUrl}}/branches</a:t>
                      </a:r>
                      <a:endParaRPr lang="en-US" sz="1400" dirty="0">
                        <a:latin typeface="Meiryo UI" charset="0"/>
                        <a:ea typeface="Meiryo UI" charset="0"/>
                        <a:cs typeface="Meiryo UI" charset="0"/>
                      </a:endParaRPr>
                    </a:p>
                    <a:p>
                      <a:pPr indent="0" marL="0">
                        <a:buNone/>
                      </a:pPr>
                      <a:r>
                        <a:rPr lang="en-US" sz="1400" dirty="0">
                          <a:solidFill>
                            <a:srgbClr val="1F2937"/>
                          </a:solidFill>
                          <a:latin typeface="Meiryo UI" pitchFamily="34" charset="0"/>
                          <a:ea typeface="Meiryo UI" pitchFamily="34" charset="-122"/>
                          <a:cs typeface="Meiryo UI" pitchFamily="34" charset="-120"/>
                        </a:rPr>
                        <a:t>02 Get Deposit Products：GET {{baseUrl}}/depositproducts</a:t>
                      </a:r>
                      <a:endParaRPr lang="en-US" sz="1400" dirty="0">
                        <a:latin typeface="Meiryo UI" charset="0"/>
                        <a:ea typeface="Meiryo UI" charset="0"/>
                        <a:cs typeface="Meiryo UI" charset="0"/>
                      </a:endParaRPr>
                    </a:p>
                    <a:p>
                      <a:pPr indent="0" marL="0">
                        <a:buNone/>
                      </a:pPr>
                      <a:r>
                        <a:rPr lang="en-US" sz="1400" dirty="0">
                          <a:solidFill>
                            <a:srgbClr val="1F2937"/>
                          </a:solidFill>
                          <a:latin typeface="Meiryo UI" pitchFamily="34" charset="0"/>
                          <a:ea typeface="Meiryo UI" pitchFamily="34" charset="-122"/>
                          <a:cs typeface="Meiryo UI" pitchFamily="34" charset="-120"/>
                        </a:rPr>
                        <a:t>03 Get Transaction Channels：GET {{baseUrl}}/organization/transactionChannels?transactionChannelState=ACTIVE</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5720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使う値（入力）</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{{baseUrl}}（環境変数）。ヘッダー Accept・apiKey・User-Agent はコレクションの設定から自動で付く（準備4）</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出力</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01：支店の一覧に準備3 の branchKey があるか確認</a:t>
                      </a:r>
                      <a:endParaRPr lang="en-US" sz="1400" dirty="0">
                        <a:latin typeface="Meiryo UI" charset="0"/>
                        <a:ea typeface="Meiryo UI" charset="0"/>
                        <a:cs typeface="Meiryo UI" charset="0"/>
                      </a:endParaRPr>
                    </a:p>
                    <a:p>
                      <a:pPr indent="0" marL="0">
                        <a:buNone/>
                      </a:pPr>
                      <a:r>
                        <a:rPr lang="en-US" sz="1400" dirty="0">
                          <a:solidFill>
                            <a:srgbClr val="1F2937"/>
                          </a:solidFill>
                          <a:latin typeface="Meiryo UI" pitchFamily="34" charset="0"/>
                          <a:ea typeface="Meiryo UI" pitchFamily="34" charset="-122"/>
                          <a:cs typeface="Meiryo UI" pitchFamily="34" charset="-120"/>
                        </a:rPr>
                        <a:t>02・03：Script で depositProductKey・channelId を環境に自動で保存（手で書き写さない）</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5720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アサーション</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res.status equals 200</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8" name="Text 5"/>
          <p:cNvSpPr/>
          <p:nvPr/>
        </p:nvSpPr>
        <p:spPr>
          <a:xfrm>
            <a:off x="548640" y="4572000"/>
            <a:ext cx="11064240" cy="411480"/>
          </a:xfrm>
          <a:prstGeom prst="rect">
            <a:avLst/>
          </a:prstGeom>
          <a:noFill/>
          <a:ln/>
        </p:spPr>
        <p:txBody>
          <a:bodyPr wrap="square" lIns="50800" tIns="50800" rIns="50800" bIns="50800" rtlCol="0" anchor="t"/>
          <a:lstStyle/>
          <a:p>
            <a:pPr algn="l" indent="0" marL="0">
              <a:buNone/>
            </a:pPr>
            <a:r>
              <a:rPr lang="en-US" sz="1400" b="1" dirty="0">
                <a:solidFill>
                  <a:srgbClr val="1F3A5F"/>
                </a:solidFill>
                <a:latin typeface="Meiryo UI" pitchFamily="34" charset="0"/>
                <a:ea typeface="Meiryo UI" pitchFamily="34" charset="-122"/>
                <a:cs typeface="Meiryo UI" pitchFamily="34" charset="-120"/>
              </a:rPr>
              <a:t>手順：New Request → 名前と URL → Create → Assert（02・03 は Script も）→ 保存（× 3 回）→ 環境を確認</a:t>
            </a:r>
            <a:endParaRPr lang="en-US" sz="1400" dirty="0"/>
          </a:p>
        </p:txBody>
      </p:sp>
      <p:sp>
        <p:nvSpPr>
          <p:cNvPr id="9" name="Shape 6"/>
          <p:cNvSpPr/>
          <p:nvPr/>
        </p:nvSpPr>
        <p:spPr>
          <a:xfrm>
            <a:off x="548640" y="5029200"/>
            <a:ext cx="11064240" cy="685800"/>
          </a:xfrm>
          <a:prstGeom prst="rect">
            <a:avLst/>
          </a:prstGeom>
          <a:solidFill>
            <a:srgbClr val="EFF6FF"/>
          </a:solidFill>
          <a:ln w="15875">
            <a:solidFill>
              <a:srgbClr val="1D4ED8"/>
            </a:solidFill>
            <a:prstDash val="solid"/>
          </a:ln>
        </p:spPr>
      </p:sp>
      <p:sp>
        <p:nvSpPr>
          <p:cNvPr id="10" name="Shape 7"/>
          <p:cNvSpPr/>
          <p:nvPr/>
        </p:nvSpPr>
        <p:spPr>
          <a:xfrm>
            <a:off x="548640" y="5029200"/>
            <a:ext cx="82296" cy="685800"/>
          </a:xfrm>
          <a:prstGeom prst="rect">
            <a:avLst/>
          </a:prstGeom>
          <a:solidFill>
            <a:srgbClr val="1D4ED8"/>
          </a:solidFill>
          <a:ln w="12700">
            <a:solidFill>
              <a:srgbClr val="1D4ED8"/>
            </a:solidFill>
            <a:prstDash val="solid"/>
          </a:ln>
        </p:spPr>
      </p:sp>
      <p:sp>
        <p:nvSpPr>
          <p:cNvPr id="11" name="Text 8"/>
          <p:cNvSpPr/>
          <p:nvPr/>
        </p:nvSpPr>
        <p:spPr>
          <a:xfrm>
            <a:off x="713232" y="5074920"/>
            <a:ext cx="10835640" cy="594360"/>
          </a:xfrm>
          <a:prstGeom prst="rect">
            <a:avLst/>
          </a:prstGeom>
          <a:noFill/>
          <a:ln/>
        </p:spPr>
        <p:txBody>
          <a:bodyPr wrap="square" rtlCol="0" anchor="ctr"/>
          <a:lstStyle/>
          <a:p>
            <a:pPr indent="0" marL="0">
              <a:spcAft>
                <a:spcPts val="200"/>
              </a:spcAft>
              <a:buNone/>
            </a:pPr>
            <a:r>
              <a:rPr lang="en-US" sz="1250" b="1" dirty="0">
                <a:solidFill>
                  <a:srgbClr val="1D4ED8"/>
                </a:solidFill>
                <a:latin typeface="Meiryo UI" pitchFamily="34" charset="0"/>
                <a:ea typeface="Meiryo UI" pitchFamily="34" charset="-122"/>
                <a:cs typeface="Meiryo UI" pitchFamily="34" charset="-120"/>
              </a:rPr>
              <a:t>【ヒント】</a:t>
            </a:r>
            <a:endParaRPr lang="en-US" sz="1250" dirty="0"/>
          </a:p>
          <a:p>
            <a:pPr indent="0" marL="0">
              <a:spcAft>
                <a:spcPts val="200"/>
              </a:spcAft>
              <a:buNone/>
            </a:pPr>
            <a:r>
              <a:rPr lang="en-US" sz="1250" dirty="0">
                <a:solidFill>
                  <a:srgbClr val="1F2937"/>
                </a:solidFill>
                <a:latin typeface="Meiryo UI" pitchFamily="34" charset="0"/>
                <a:ea typeface="Meiryo UI" pitchFamily="34" charset="-122"/>
                <a:cs typeface="Meiryo UI" pitchFamily="34" charset="-120"/>
              </a:rPr>
              <a:t>画面の操作は 3 つとも同じです。1 つ目（01 Get Branches）で手順を細かく説明し、2 つ目・3 つ目は違うところ（Script）を説明します。</a:t>
            </a:r>
            <a:endParaRPr lang="en-US" sz="125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ステップ①【1/9】コレクションを右クリック → New Request</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7620000" cy="4343400"/>
          </a:xfrm>
          <a:prstGeom prst="rect">
            <a:avLst/>
          </a:prstGeom>
        </p:spPr>
      </p:pic>
      <p:sp>
        <p:nvSpPr>
          <p:cNvPr id="7" name="Shape 4"/>
          <p:cNvSpPr/>
          <p:nvPr/>
        </p:nvSpPr>
        <p:spPr>
          <a:xfrm>
            <a:off x="411480" y="1051560"/>
            <a:ext cx="7620000" cy="4343400"/>
          </a:xfrm>
          <a:prstGeom prst="rect">
            <a:avLst/>
          </a:prstGeom>
          <a:ln w="9525">
            <a:solidFill>
              <a:srgbClr val="D1D5DB"/>
            </a:solidFill>
            <a:prstDash val="solid"/>
          </a:ln>
        </p:spPr>
      </p:sp>
      <p:sp>
        <p:nvSpPr>
          <p:cNvPr id="8" name="Text 5"/>
          <p:cNvSpPr/>
          <p:nvPr/>
        </p:nvSpPr>
        <p:spPr>
          <a:xfrm>
            <a:off x="411480" y="5413248"/>
            <a:ext cx="762000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393192" y="1376172"/>
            <a:ext cx="1926336" cy="196596"/>
          </a:xfrm>
          <a:prstGeom prst="rect">
            <a:avLst/>
          </a:prstGeom>
          <a:ln w="28575">
            <a:solidFill>
              <a:srgbClr val="E11D2E"/>
            </a:solidFill>
            <a:prstDash val="solid"/>
          </a:ln>
        </p:spPr>
      </p:sp>
      <p:sp>
        <p:nvSpPr>
          <p:cNvPr id="10" name="Shape 7"/>
          <p:cNvSpPr/>
          <p:nvPr/>
        </p:nvSpPr>
        <p:spPr>
          <a:xfrm>
            <a:off x="100584" y="1337310"/>
            <a:ext cx="274320" cy="274320"/>
          </a:xfrm>
          <a:prstGeom prst="ellipse">
            <a:avLst/>
          </a:prstGeom>
          <a:solidFill>
            <a:srgbClr val="E11D2E"/>
          </a:solidFill>
          <a:ln w="15875">
            <a:solidFill>
              <a:srgbClr val="FFFFFF"/>
            </a:solidFill>
            <a:prstDash val="solid"/>
          </a:ln>
        </p:spPr>
      </p:sp>
      <p:sp>
        <p:nvSpPr>
          <p:cNvPr id="11" name="Text 8"/>
          <p:cNvSpPr/>
          <p:nvPr/>
        </p:nvSpPr>
        <p:spPr>
          <a:xfrm>
            <a:off x="100584" y="133731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2077212" y="1665732"/>
            <a:ext cx="1545336" cy="211836"/>
          </a:xfrm>
          <a:prstGeom prst="rect">
            <a:avLst/>
          </a:prstGeom>
          <a:ln w="28575">
            <a:solidFill>
              <a:srgbClr val="E11D2E"/>
            </a:solidFill>
            <a:prstDash val="solid"/>
          </a:ln>
        </p:spPr>
      </p:sp>
      <p:sp>
        <p:nvSpPr>
          <p:cNvPr id="13" name="Shape 10"/>
          <p:cNvSpPr/>
          <p:nvPr/>
        </p:nvSpPr>
        <p:spPr>
          <a:xfrm>
            <a:off x="1784604" y="1634490"/>
            <a:ext cx="274320" cy="274320"/>
          </a:xfrm>
          <a:prstGeom prst="ellipse">
            <a:avLst/>
          </a:prstGeom>
          <a:solidFill>
            <a:srgbClr val="E11D2E"/>
          </a:solidFill>
          <a:ln w="15875">
            <a:solidFill>
              <a:srgbClr val="FFFFFF"/>
            </a:solidFill>
            <a:prstDash val="solid"/>
          </a:ln>
        </p:spPr>
      </p:sp>
      <p:sp>
        <p:nvSpPr>
          <p:cNvPr id="14" name="Text 11"/>
          <p:cNvSpPr/>
          <p:nvPr/>
        </p:nvSpPr>
        <p:spPr>
          <a:xfrm>
            <a:off x="1784604" y="163449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Text 12"/>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サイドバーで mambu-practice（コレクション名）を右クリック</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メニューの「New Request」をクリック</a:t>
            </a:r>
            <a:endParaRPr lang="en-US" sz="1300" dirty="0"/>
          </a:p>
        </p:txBody>
      </p:sp>
      <p:sp>
        <p:nvSpPr>
          <p:cNvPr id="16" name="Shape 13"/>
          <p:cNvSpPr/>
          <p:nvPr/>
        </p:nvSpPr>
        <p:spPr>
          <a:xfrm>
            <a:off x="8275320" y="4114800"/>
            <a:ext cx="3520440" cy="1508760"/>
          </a:xfrm>
          <a:prstGeom prst="rect">
            <a:avLst/>
          </a:prstGeom>
          <a:solidFill>
            <a:srgbClr val="EFF6FF"/>
          </a:solidFill>
          <a:ln w="15875">
            <a:solidFill>
              <a:srgbClr val="1D4ED8"/>
            </a:solidFill>
            <a:prstDash val="solid"/>
          </a:ln>
        </p:spPr>
      </p:sp>
      <p:sp>
        <p:nvSpPr>
          <p:cNvPr id="17" name="Shape 14"/>
          <p:cNvSpPr/>
          <p:nvPr/>
        </p:nvSpPr>
        <p:spPr>
          <a:xfrm>
            <a:off x="8275320" y="4114800"/>
            <a:ext cx="82296" cy="1508760"/>
          </a:xfrm>
          <a:prstGeom prst="rect">
            <a:avLst/>
          </a:prstGeom>
          <a:solidFill>
            <a:srgbClr val="1D4ED8"/>
          </a:solidFill>
          <a:ln w="12700">
            <a:solidFill>
              <a:srgbClr val="1D4ED8"/>
            </a:solidFill>
            <a:prstDash val="solid"/>
          </a:ln>
        </p:spPr>
      </p:sp>
      <p:sp>
        <p:nvSpPr>
          <p:cNvPr id="18" name="Text 15"/>
          <p:cNvSpPr/>
          <p:nvPr/>
        </p:nvSpPr>
        <p:spPr>
          <a:xfrm>
            <a:off x="8439912" y="4160520"/>
            <a:ext cx="3291840" cy="1417320"/>
          </a:xfrm>
          <a:prstGeom prst="rect">
            <a:avLst/>
          </a:prstGeom>
          <a:noFill/>
          <a:ln/>
        </p:spPr>
        <p:txBody>
          <a:bodyPr wrap="square" rtlCol="0" anchor="t"/>
          <a:lstStyle/>
          <a:p>
            <a:pPr indent="0" marL="0">
              <a:spcAft>
                <a:spcPts val="200"/>
              </a:spcAft>
              <a:buNone/>
            </a:pPr>
            <a:r>
              <a:rPr lang="en-US" sz="1150" b="1" dirty="0">
                <a:solidFill>
                  <a:srgbClr val="1D4ED8"/>
                </a:solidFill>
                <a:latin typeface="Meiryo UI" pitchFamily="34" charset="0"/>
                <a:ea typeface="Meiryo UI" pitchFamily="34" charset="-122"/>
                <a:cs typeface="Meiryo UI" pitchFamily="34" charset="-120"/>
              </a:rPr>
              <a:t>【ヒント】</a:t>
            </a:r>
            <a:endParaRPr lang="en-US" sz="1150" dirty="0"/>
          </a:p>
          <a:p>
            <a:pPr indent="0" marL="0">
              <a:spcAft>
                <a:spcPts val="200"/>
              </a:spcAft>
              <a:buNone/>
            </a:pPr>
            <a:r>
              <a:rPr lang="en-US" sz="1150" dirty="0">
                <a:solidFill>
                  <a:srgbClr val="1F2937"/>
                </a:solidFill>
                <a:latin typeface="Meiryo UI" pitchFamily="34" charset="0"/>
                <a:ea typeface="Meiryo UI" pitchFamily="34" charset="-122"/>
                <a:cs typeface="Meiryo UI" pitchFamily="34" charset="-120"/>
              </a:rPr>
              <a:t>コレクション名の下の「+ Add request」からも作れます。画面右上の環境が「Mambu-Sandbox」になっていることも確認しましょう（準備3）。</a:t>
            </a:r>
            <a:endParaRPr lang="en-US" sz="115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ステップ①【2/9】名前と URL を入力して Create</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6363081" cy="4343400"/>
          </a:xfrm>
          <a:prstGeom prst="rect">
            <a:avLst/>
          </a:prstGeom>
        </p:spPr>
      </p:pic>
      <p:sp>
        <p:nvSpPr>
          <p:cNvPr id="7" name="Shape 4"/>
          <p:cNvSpPr/>
          <p:nvPr/>
        </p:nvSpPr>
        <p:spPr>
          <a:xfrm>
            <a:off x="411480" y="1051560"/>
            <a:ext cx="6363081" cy="4343400"/>
          </a:xfrm>
          <a:prstGeom prst="rect">
            <a:avLst/>
          </a:prstGeom>
          <a:ln w="9525">
            <a:solidFill>
              <a:srgbClr val="D1D5DB"/>
            </a:solidFill>
            <a:prstDash val="solid"/>
          </a:ln>
        </p:spPr>
      </p:sp>
      <p:sp>
        <p:nvSpPr>
          <p:cNvPr id="8" name="Text 5"/>
          <p:cNvSpPr/>
          <p:nvPr/>
        </p:nvSpPr>
        <p:spPr>
          <a:xfrm>
            <a:off x="411480" y="5413248"/>
            <a:ext cx="6363081"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1044702" y="3042095"/>
            <a:ext cx="5096637" cy="405765"/>
          </a:xfrm>
          <a:prstGeom prst="rect">
            <a:avLst/>
          </a:prstGeom>
          <a:ln w="28575">
            <a:solidFill>
              <a:srgbClr val="E11D2E"/>
            </a:solidFill>
            <a:prstDash val="solid"/>
          </a:ln>
        </p:spPr>
      </p:sp>
      <p:sp>
        <p:nvSpPr>
          <p:cNvPr id="10" name="Shape 7"/>
          <p:cNvSpPr/>
          <p:nvPr/>
        </p:nvSpPr>
        <p:spPr>
          <a:xfrm>
            <a:off x="752094" y="3107817"/>
            <a:ext cx="274320" cy="274320"/>
          </a:xfrm>
          <a:prstGeom prst="ellipse">
            <a:avLst/>
          </a:prstGeom>
          <a:solidFill>
            <a:srgbClr val="E11D2E"/>
          </a:solidFill>
          <a:ln w="15875">
            <a:solidFill>
              <a:srgbClr val="FFFFFF"/>
            </a:solidFill>
            <a:prstDash val="solid"/>
          </a:ln>
        </p:spPr>
      </p:sp>
      <p:sp>
        <p:nvSpPr>
          <p:cNvPr id="11" name="Text 8"/>
          <p:cNvSpPr/>
          <p:nvPr/>
        </p:nvSpPr>
        <p:spPr>
          <a:xfrm>
            <a:off x="752094" y="3107817"/>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1044702" y="3899916"/>
            <a:ext cx="5096637" cy="405765"/>
          </a:xfrm>
          <a:prstGeom prst="rect">
            <a:avLst/>
          </a:prstGeom>
          <a:ln w="28575">
            <a:solidFill>
              <a:srgbClr val="E11D2E"/>
            </a:solidFill>
            <a:prstDash val="solid"/>
          </a:ln>
        </p:spPr>
      </p:sp>
      <p:sp>
        <p:nvSpPr>
          <p:cNvPr id="13" name="Shape 10"/>
          <p:cNvSpPr/>
          <p:nvPr/>
        </p:nvSpPr>
        <p:spPr>
          <a:xfrm>
            <a:off x="752094" y="3965638"/>
            <a:ext cx="274320" cy="274320"/>
          </a:xfrm>
          <a:prstGeom prst="ellipse">
            <a:avLst/>
          </a:prstGeom>
          <a:solidFill>
            <a:srgbClr val="E11D2E"/>
          </a:solidFill>
          <a:ln w="15875">
            <a:solidFill>
              <a:srgbClr val="FFFFFF"/>
            </a:solidFill>
            <a:prstDash val="solid"/>
          </a:ln>
        </p:spPr>
      </p:sp>
      <p:sp>
        <p:nvSpPr>
          <p:cNvPr id="14" name="Text 11"/>
          <p:cNvSpPr/>
          <p:nvPr/>
        </p:nvSpPr>
        <p:spPr>
          <a:xfrm>
            <a:off x="752094" y="396563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Shape 12"/>
          <p:cNvSpPr/>
          <p:nvPr/>
        </p:nvSpPr>
        <p:spPr>
          <a:xfrm>
            <a:off x="5322951" y="4594860"/>
            <a:ext cx="818388" cy="362331"/>
          </a:xfrm>
          <a:prstGeom prst="rect">
            <a:avLst/>
          </a:prstGeom>
          <a:ln w="28575">
            <a:solidFill>
              <a:srgbClr val="E11D2E"/>
            </a:solidFill>
            <a:prstDash val="solid"/>
          </a:ln>
        </p:spPr>
      </p:sp>
      <p:sp>
        <p:nvSpPr>
          <p:cNvPr id="16" name="Shape 13"/>
          <p:cNvSpPr/>
          <p:nvPr/>
        </p:nvSpPr>
        <p:spPr>
          <a:xfrm>
            <a:off x="6159627" y="4638865"/>
            <a:ext cx="274320" cy="274320"/>
          </a:xfrm>
          <a:prstGeom prst="ellipse">
            <a:avLst/>
          </a:prstGeom>
          <a:solidFill>
            <a:srgbClr val="E11D2E"/>
          </a:solidFill>
          <a:ln w="15875">
            <a:solidFill>
              <a:srgbClr val="FFFFFF"/>
            </a:solidFill>
            <a:prstDash val="solid"/>
          </a:ln>
        </p:spPr>
      </p:sp>
      <p:sp>
        <p:nvSpPr>
          <p:cNvPr id="17" name="Text 14"/>
          <p:cNvSpPr/>
          <p:nvPr/>
        </p:nvSpPr>
        <p:spPr>
          <a:xfrm>
            <a:off x="6159627" y="4638865"/>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8" name="Text 15"/>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Request Name：01 Get Branches</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URL：{{baseUrl}}/branches（左のメソッドは GET のまま）</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③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「Create」をクリック</a:t>
            </a:r>
            <a:endParaRPr lang="en-US" sz="1300" dirty="0"/>
          </a:p>
        </p:txBody>
      </p:sp>
      <p:sp>
        <p:nvSpPr>
          <p:cNvPr id="19" name="Shape 16"/>
          <p:cNvSpPr/>
          <p:nvPr/>
        </p:nvSpPr>
        <p:spPr>
          <a:xfrm>
            <a:off x="8275320" y="4114800"/>
            <a:ext cx="3520440" cy="1508760"/>
          </a:xfrm>
          <a:prstGeom prst="rect">
            <a:avLst/>
          </a:prstGeom>
          <a:solidFill>
            <a:srgbClr val="EFF6FF"/>
          </a:solidFill>
          <a:ln w="15875">
            <a:solidFill>
              <a:srgbClr val="1D4ED8"/>
            </a:solidFill>
            <a:prstDash val="solid"/>
          </a:ln>
        </p:spPr>
      </p:sp>
      <p:sp>
        <p:nvSpPr>
          <p:cNvPr id="20" name="Shape 17"/>
          <p:cNvSpPr/>
          <p:nvPr/>
        </p:nvSpPr>
        <p:spPr>
          <a:xfrm>
            <a:off x="8275320" y="4114800"/>
            <a:ext cx="82296" cy="1508760"/>
          </a:xfrm>
          <a:prstGeom prst="rect">
            <a:avLst/>
          </a:prstGeom>
          <a:solidFill>
            <a:srgbClr val="1D4ED8"/>
          </a:solidFill>
          <a:ln w="12700">
            <a:solidFill>
              <a:srgbClr val="1D4ED8"/>
            </a:solidFill>
            <a:prstDash val="solid"/>
          </a:ln>
        </p:spPr>
      </p:sp>
      <p:sp>
        <p:nvSpPr>
          <p:cNvPr id="21" name="Text 18"/>
          <p:cNvSpPr/>
          <p:nvPr/>
        </p:nvSpPr>
        <p:spPr>
          <a:xfrm>
            <a:off x="8439912" y="4160520"/>
            <a:ext cx="3291840" cy="1417320"/>
          </a:xfrm>
          <a:prstGeom prst="rect">
            <a:avLst/>
          </a:prstGeom>
          <a:noFill/>
          <a:ln/>
        </p:spPr>
        <p:txBody>
          <a:bodyPr wrap="square" rtlCol="0" anchor="t"/>
          <a:lstStyle/>
          <a:p>
            <a:pPr indent="0" marL="0">
              <a:spcAft>
                <a:spcPts val="200"/>
              </a:spcAft>
              <a:buNone/>
            </a:pPr>
            <a:r>
              <a:rPr lang="en-US" sz="1150" b="1" dirty="0">
                <a:solidFill>
                  <a:srgbClr val="1D4ED8"/>
                </a:solidFill>
                <a:latin typeface="Meiryo UI" pitchFamily="34" charset="0"/>
                <a:ea typeface="Meiryo UI" pitchFamily="34" charset="-122"/>
                <a:cs typeface="Meiryo UI" pitchFamily="34" charset="-120"/>
              </a:rPr>
              <a:t>【ヒント】</a:t>
            </a:r>
            <a:endParaRPr lang="en-US" sz="1150" dirty="0"/>
          </a:p>
          <a:p>
            <a:pPr indent="0" marL="0">
              <a:spcAft>
                <a:spcPts val="200"/>
              </a:spcAft>
              <a:buNone/>
            </a:pPr>
            <a:r>
              <a:rPr lang="en-US" sz="1150" dirty="0">
                <a:solidFill>
                  <a:srgbClr val="1F2937"/>
                </a:solidFill>
                <a:latin typeface="Meiryo UI" pitchFamily="34" charset="0"/>
                <a:ea typeface="Meiryo UI" pitchFamily="34" charset="-122"/>
                <a:cs typeface="Meiryo UI" pitchFamily="34" charset="-120"/>
              </a:rPr>
              <a:t>{{baseUrl}} が緑色なら、環境の変数が見つかっています。赤色のときは、画面右上で環境 Mambu-Sandbox を選びます。</a:t>
            </a:r>
            <a:endParaRPr lang="en-US" sz="115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ステップ①【3/9】Assert を入れて保存する（Send は押さない）</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7680960" cy="4320540"/>
          </a:xfrm>
          <a:prstGeom prst="rect">
            <a:avLst/>
          </a:prstGeom>
        </p:spPr>
      </p:pic>
      <p:sp>
        <p:nvSpPr>
          <p:cNvPr id="7" name="Shape 4"/>
          <p:cNvSpPr/>
          <p:nvPr/>
        </p:nvSpPr>
        <p:spPr>
          <a:xfrm>
            <a:off x="411480" y="1051560"/>
            <a:ext cx="7680960" cy="4320540"/>
          </a:xfrm>
          <a:prstGeom prst="rect">
            <a:avLst/>
          </a:prstGeom>
          <a:ln w="9525">
            <a:solidFill>
              <a:srgbClr val="D1D5DB"/>
            </a:solidFill>
            <a:prstDash val="solid"/>
          </a:ln>
        </p:spPr>
      </p:sp>
      <p:sp>
        <p:nvSpPr>
          <p:cNvPr id="8" name="Text 5"/>
          <p:cNvSpPr/>
          <p:nvPr/>
        </p:nvSpPr>
        <p:spPr>
          <a:xfrm>
            <a:off x="411480" y="5390388"/>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3619195" y="1897380"/>
            <a:ext cx="459029" cy="343814"/>
          </a:xfrm>
          <a:prstGeom prst="rect">
            <a:avLst/>
          </a:prstGeom>
          <a:ln w="28575">
            <a:solidFill>
              <a:srgbClr val="E11D2E"/>
            </a:solidFill>
            <a:prstDash val="solid"/>
          </a:ln>
        </p:spPr>
      </p:sp>
      <p:sp>
        <p:nvSpPr>
          <p:cNvPr id="10" name="Shape 7"/>
          <p:cNvSpPr/>
          <p:nvPr/>
        </p:nvSpPr>
        <p:spPr>
          <a:xfrm>
            <a:off x="3482035" y="1760220"/>
            <a:ext cx="274320" cy="274320"/>
          </a:xfrm>
          <a:prstGeom prst="ellipse">
            <a:avLst/>
          </a:prstGeom>
          <a:solidFill>
            <a:srgbClr val="E11D2E"/>
          </a:solidFill>
          <a:ln w="15875">
            <a:solidFill>
              <a:srgbClr val="FFFFFF"/>
            </a:solidFill>
            <a:prstDash val="solid"/>
          </a:ln>
        </p:spPr>
      </p:sp>
      <p:sp>
        <p:nvSpPr>
          <p:cNvPr id="11" name="Text 8"/>
          <p:cNvSpPr/>
          <p:nvPr/>
        </p:nvSpPr>
        <p:spPr>
          <a:xfrm>
            <a:off x="3482035" y="17602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892454" y="2684678"/>
            <a:ext cx="1207922" cy="353416"/>
          </a:xfrm>
          <a:prstGeom prst="rect">
            <a:avLst/>
          </a:prstGeom>
          <a:ln w="28575">
            <a:solidFill>
              <a:srgbClr val="E11D2E"/>
            </a:solidFill>
            <a:prstDash val="solid"/>
          </a:ln>
        </p:spPr>
      </p:sp>
      <p:sp>
        <p:nvSpPr>
          <p:cNvPr id="13" name="Shape 10"/>
          <p:cNvSpPr/>
          <p:nvPr/>
        </p:nvSpPr>
        <p:spPr>
          <a:xfrm>
            <a:off x="599846" y="2724226"/>
            <a:ext cx="274320" cy="274320"/>
          </a:xfrm>
          <a:prstGeom prst="ellipse">
            <a:avLst/>
          </a:prstGeom>
          <a:solidFill>
            <a:srgbClr val="E11D2E"/>
          </a:solidFill>
          <a:ln w="15875">
            <a:solidFill>
              <a:srgbClr val="FFFFFF"/>
            </a:solidFill>
            <a:prstDash val="solid"/>
          </a:ln>
        </p:spPr>
      </p:sp>
      <p:sp>
        <p:nvSpPr>
          <p:cNvPr id="14" name="Text 11"/>
          <p:cNvSpPr/>
          <p:nvPr/>
        </p:nvSpPr>
        <p:spPr>
          <a:xfrm>
            <a:off x="599846" y="272422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Shape 12"/>
          <p:cNvSpPr/>
          <p:nvPr/>
        </p:nvSpPr>
        <p:spPr>
          <a:xfrm>
            <a:off x="2217420" y="2684678"/>
            <a:ext cx="1044702" cy="353416"/>
          </a:xfrm>
          <a:prstGeom prst="rect">
            <a:avLst/>
          </a:prstGeom>
          <a:ln w="28575">
            <a:solidFill>
              <a:srgbClr val="E11D2E"/>
            </a:solidFill>
            <a:prstDash val="solid"/>
          </a:ln>
        </p:spPr>
      </p:sp>
      <p:sp>
        <p:nvSpPr>
          <p:cNvPr id="16" name="Shape 13"/>
          <p:cNvSpPr/>
          <p:nvPr/>
        </p:nvSpPr>
        <p:spPr>
          <a:xfrm>
            <a:off x="2080260" y="2547518"/>
            <a:ext cx="274320" cy="274320"/>
          </a:xfrm>
          <a:prstGeom prst="ellipse">
            <a:avLst/>
          </a:prstGeom>
          <a:solidFill>
            <a:srgbClr val="E11D2E"/>
          </a:solidFill>
          <a:ln w="15875">
            <a:solidFill>
              <a:srgbClr val="FFFFFF"/>
            </a:solidFill>
            <a:prstDash val="solid"/>
          </a:ln>
        </p:spPr>
      </p:sp>
      <p:sp>
        <p:nvSpPr>
          <p:cNvPr id="17" name="Text 14"/>
          <p:cNvSpPr/>
          <p:nvPr/>
        </p:nvSpPr>
        <p:spPr>
          <a:xfrm>
            <a:off x="2080260" y="254751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8" name="Shape 15"/>
          <p:cNvSpPr/>
          <p:nvPr/>
        </p:nvSpPr>
        <p:spPr>
          <a:xfrm>
            <a:off x="3388766" y="2684678"/>
            <a:ext cx="1860804" cy="353416"/>
          </a:xfrm>
          <a:prstGeom prst="rect">
            <a:avLst/>
          </a:prstGeom>
          <a:ln w="28575">
            <a:solidFill>
              <a:srgbClr val="E11D2E"/>
            </a:solidFill>
            <a:prstDash val="solid"/>
          </a:ln>
        </p:spPr>
      </p:sp>
      <p:sp>
        <p:nvSpPr>
          <p:cNvPr id="19" name="Shape 16"/>
          <p:cNvSpPr/>
          <p:nvPr/>
        </p:nvSpPr>
        <p:spPr>
          <a:xfrm>
            <a:off x="5112410" y="2547518"/>
            <a:ext cx="274320" cy="274320"/>
          </a:xfrm>
          <a:prstGeom prst="ellipse">
            <a:avLst/>
          </a:prstGeom>
          <a:solidFill>
            <a:srgbClr val="E11D2E"/>
          </a:solidFill>
          <a:ln w="15875">
            <a:solidFill>
              <a:srgbClr val="FFFFFF"/>
            </a:solidFill>
            <a:prstDash val="solid"/>
          </a:ln>
        </p:spPr>
      </p:sp>
      <p:sp>
        <p:nvSpPr>
          <p:cNvPr id="20" name="Text 17"/>
          <p:cNvSpPr/>
          <p:nvPr/>
        </p:nvSpPr>
        <p:spPr>
          <a:xfrm>
            <a:off x="5112410" y="254751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4</a:t>
            </a:r>
            <a:endParaRPr lang="en-US" sz="1200" dirty="0"/>
          </a:p>
        </p:txBody>
      </p:sp>
      <p:sp>
        <p:nvSpPr>
          <p:cNvPr id="21" name="Text 18"/>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「Assert」タブをクリック</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Expr：res.status</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③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Operator：equals（初期値のまま）</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④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Value：200 → Ctrl + S で保存（Send は押さない）</a:t>
            </a:r>
            <a:endParaRPr lang="en-US" sz="1300" dirty="0"/>
          </a:p>
        </p:txBody>
      </p:sp>
      <p:sp>
        <p:nvSpPr>
          <p:cNvPr id="22" name="Shape 19"/>
          <p:cNvSpPr/>
          <p:nvPr/>
        </p:nvSpPr>
        <p:spPr>
          <a:xfrm>
            <a:off x="8275320" y="3657600"/>
            <a:ext cx="3520440" cy="1965960"/>
          </a:xfrm>
          <a:prstGeom prst="rect">
            <a:avLst/>
          </a:prstGeom>
          <a:solidFill>
            <a:srgbClr val="ECFDF5"/>
          </a:solidFill>
          <a:ln w="15875">
            <a:solidFill>
              <a:srgbClr val="047857"/>
            </a:solidFill>
            <a:prstDash val="solid"/>
          </a:ln>
        </p:spPr>
      </p:sp>
      <p:sp>
        <p:nvSpPr>
          <p:cNvPr id="23" name="Shape 20"/>
          <p:cNvSpPr/>
          <p:nvPr/>
        </p:nvSpPr>
        <p:spPr>
          <a:xfrm>
            <a:off x="8275320" y="3657600"/>
            <a:ext cx="82296" cy="1965960"/>
          </a:xfrm>
          <a:prstGeom prst="rect">
            <a:avLst/>
          </a:prstGeom>
          <a:solidFill>
            <a:srgbClr val="047857"/>
          </a:solidFill>
          <a:ln w="12700">
            <a:solidFill>
              <a:srgbClr val="047857"/>
            </a:solidFill>
            <a:prstDash val="solid"/>
          </a:ln>
        </p:spPr>
      </p:sp>
      <p:sp>
        <p:nvSpPr>
          <p:cNvPr id="24" name="Text 21"/>
          <p:cNvSpPr/>
          <p:nvPr/>
        </p:nvSpPr>
        <p:spPr>
          <a:xfrm>
            <a:off x="8439912" y="3703320"/>
            <a:ext cx="3291840" cy="1874520"/>
          </a:xfrm>
          <a:prstGeom prst="rect">
            <a:avLst/>
          </a:prstGeom>
          <a:noFill/>
          <a:ln/>
        </p:spPr>
        <p:txBody>
          <a:bodyPr wrap="square" rtlCol="0" anchor="t"/>
          <a:lstStyle/>
          <a:p>
            <a:pPr indent="0" marL="0">
              <a:spcAft>
                <a:spcPts val="200"/>
              </a:spcAft>
              <a:buNone/>
            </a:pPr>
            <a:r>
              <a:rPr lang="en-US" sz="1150" b="1" dirty="0">
                <a:solidFill>
                  <a:srgbClr val="047857"/>
                </a:solidFill>
                <a:latin typeface="Meiryo UI" pitchFamily="34" charset="0"/>
                <a:ea typeface="Meiryo UI" pitchFamily="34" charset="-122"/>
                <a:cs typeface="Meiryo UI" pitchFamily="34" charset="-120"/>
              </a:rPr>
              <a:t>【実際に Send したとき】</a:t>
            </a:r>
            <a:endParaRPr lang="en-US" sz="1150" dirty="0"/>
          </a:p>
          <a:p>
            <a:pPr indent="0" marL="0">
              <a:spcAft>
                <a:spcPts val="200"/>
              </a:spcAft>
              <a:buNone/>
            </a:pPr>
            <a:r>
              <a:rPr lang="en-US" sz="1150" dirty="0">
                <a:solidFill>
                  <a:srgbClr val="1F2937"/>
                </a:solidFill>
                <a:latin typeface="Meiryo UI" pitchFamily="34" charset="0"/>
                <a:ea typeface="Meiryo UI" pitchFamily="34" charset="-122"/>
                <a:cs typeface="Meiryo UI" pitchFamily="34" charset="-120"/>
              </a:rPr>
              <a:t>200 OK と支店の一覧（[ ] の配列）。準備3 で入れた branchKey と同じ encodedKey の支店があるかを確かめる。Headers タブには何も入れません（準備4 の共通ヘッダーが自動で付く）。</a:t>
            </a:r>
            <a:endParaRPr lang="en-US" sz="1150" dirty="0"/>
          </a:p>
        </p:txBody>
      </p:sp>
      <p:sp>
        <p:nvSpPr>
          <p:cNvPr id="25" name="Shape 22"/>
          <p:cNvSpPr/>
          <p:nvPr/>
        </p:nvSpPr>
        <p:spPr>
          <a:xfrm>
            <a:off x="548640" y="5788152"/>
            <a:ext cx="11064240" cy="329184"/>
          </a:xfrm>
          <a:prstGeom prst="rect">
            <a:avLst/>
          </a:prstGeom>
          <a:solidFill>
            <a:srgbClr val="ECFDF5"/>
          </a:solidFill>
          <a:ln w="12700">
            <a:solidFill>
              <a:srgbClr val="047857"/>
            </a:solidFill>
            <a:prstDash val="solid"/>
          </a:ln>
        </p:spPr>
      </p:sp>
      <p:sp>
        <p:nvSpPr>
          <p:cNvPr id="26" name="Text 23"/>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参考コレクション exercises\mambu-corporate-onboarding\01 Get Branches.yml を開いて、自分の入力と比べる</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ステップ①【4/9】02 Get Deposit Products を作る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6363081" cy="4343400"/>
          </a:xfrm>
          <a:prstGeom prst="rect">
            <a:avLst/>
          </a:prstGeom>
        </p:spPr>
      </p:pic>
      <p:sp>
        <p:nvSpPr>
          <p:cNvPr id="7" name="Shape 4"/>
          <p:cNvSpPr/>
          <p:nvPr/>
        </p:nvSpPr>
        <p:spPr>
          <a:xfrm>
            <a:off x="411480" y="1051560"/>
            <a:ext cx="6363081" cy="4343400"/>
          </a:xfrm>
          <a:prstGeom prst="rect">
            <a:avLst/>
          </a:prstGeom>
          <a:ln w="9525">
            <a:solidFill>
              <a:srgbClr val="D1D5DB"/>
            </a:solidFill>
            <a:prstDash val="solid"/>
          </a:ln>
        </p:spPr>
      </p:sp>
      <p:sp>
        <p:nvSpPr>
          <p:cNvPr id="8" name="Text 5"/>
          <p:cNvSpPr/>
          <p:nvPr/>
        </p:nvSpPr>
        <p:spPr>
          <a:xfrm>
            <a:off x="411480" y="5413248"/>
            <a:ext cx="6363081"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1044702" y="3042095"/>
            <a:ext cx="5096637" cy="405765"/>
          </a:xfrm>
          <a:prstGeom prst="rect">
            <a:avLst/>
          </a:prstGeom>
          <a:ln w="28575">
            <a:solidFill>
              <a:srgbClr val="E11D2E"/>
            </a:solidFill>
            <a:prstDash val="solid"/>
          </a:ln>
        </p:spPr>
      </p:sp>
      <p:sp>
        <p:nvSpPr>
          <p:cNvPr id="10" name="Shape 7"/>
          <p:cNvSpPr/>
          <p:nvPr/>
        </p:nvSpPr>
        <p:spPr>
          <a:xfrm>
            <a:off x="752094" y="3107817"/>
            <a:ext cx="274320" cy="274320"/>
          </a:xfrm>
          <a:prstGeom prst="ellipse">
            <a:avLst/>
          </a:prstGeom>
          <a:solidFill>
            <a:srgbClr val="E11D2E"/>
          </a:solidFill>
          <a:ln w="15875">
            <a:solidFill>
              <a:srgbClr val="FFFFFF"/>
            </a:solidFill>
            <a:prstDash val="solid"/>
          </a:ln>
        </p:spPr>
      </p:sp>
      <p:sp>
        <p:nvSpPr>
          <p:cNvPr id="11" name="Text 8"/>
          <p:cNvSpPr/>
          <p:nvPr/>
        </p:nvSpPr>
        <p:spPr>
          <a:xfrm>
            <a:off x="752094" y="3107817"/>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1044702" y="3899916"/>
            <a:ext cx="5096637" cy="405765"/>
          </a:xfrm>
          <a:prstGeom prst="rect">
            <a:avLst/>
          </a:prstGeom>
          <a:ln w="28575">
            <a:solidFill>
              <a:srgbClr val="E11D2E"/>
            </a:solidFill>
            <a:prstDash val="solid"/>
          </a:ln>
        </p:spPr>
      </p:sp>
      <p:sp>
        <p:nvSpPr>
          <p:cNvPr id="13" name="Shape 10"/>
          <p:cNvSpPr/>
          <p:nvPr/>
        </p:nvSpPr>
        <p:spPr>
          <a:xfrm>
            <a:off x="752094" y="3965638"/>
            <a:ext cx="274320" cy="274320"/>
          </a:xfrm>
          <a:prstGeom prst="ellipse">
            <a:avLst/>
          </a:prstGeom>
          <a:solidFill>
            <a:srgbClr val="E11D2E"/>
          </a:solidFill>
          <a:ln w="15875">
            <a:solidFill>
              <a:srgbClr val="FFFFFF"/>
            </a:solidFill>
            <a:prstDash val="solid"/>
          </a:ln>
        </p:spPr>
      </p:sp>
      <p:sp>
        <p:nvSpPr>
          <p:cNvPr id="14" name="Text 11"/>
          <p:cNvSpPr/>
          <p:nvPr/>
        </p:nvSpPr>
        <p:spPr>
          <a:xfrm>
            <a:off x="752094" y="396563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Shape 12"/>
          <p:cNvSpPr/>
          <p:nvPr/>
        </p:nvSpPr>
        <p:spPr>
          <a:xfrm>
            <a:off x="5322951" y="4594860"/>
            <a:ext cx="818388" cy="362331"/>
          </a:xfrm>
          <a:prstGeom prst="rect">
            <a:avLst/>
          </a:prstGeom>
          <a:ln w="28575">
            <a:solidFill>
              <a:srgbClr val="E11D2E"/>
            </a:solidFill>
            <a:prstDash val="solid"/>
          </a:ln>
        </p:spPr>
      </p:sp>
      <p:sp>
        <p:nvSpPr>
          <p:cNvPr id="16" name="Shape 13"/>
          <p:cNvSpPr/>
          <p:nvPr/>
        </p:nvSpPr>
        <p:spPr>
          <a:xfrm>
            <a:off x="6159627" y="4638865"/>
            <a:ext cx="274320" cy="274320"/>
          </a:xfrm>
          <a:prstGeom prst="ellipse">
            <a:avLst/>
          </a:prstGeom>
          <a:solidFill>
            <a:srgbClr val="E11D2E"/>
          </a:solidFill>
          <a:ln w="15875">
            <a:solidFill>
              <a:srgbClr val="FFFFFF"/>
            </a:solidFill>
            <a:prstDash val="solid"/>
          </a:ln>
        </p:spPr>
      </p:sp>
      <p:sp>
        <p:nvSpPr>
          <p:cNvPr id="17" name="Text 14"/>
          <p:cNvSpPr/>
          <p:nvPr/>
        </p:nvSpPr>
        <p:spPr>
          <a:xfrm>
            <a:off x="6159627" y="4638865"/>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8" name="Text 15"/>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【1/9】と同じく右クリック → New Request</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Request Name：02 Get Deposit Products</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③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URL：{{baseUrl}}/depositproducts →「Create」</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④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Assert タブ：res.status equals 200</a:t>
            </a:r>
            <a:endParaRPr lang="en-US" sz="1300" dirty="0"/>
          </a:p>
        </p:txBody>
      </p:sp>
      <p:sp>
        <p:nvSpPr>
          <p:cNvPr id="19" name="Shape 16"/>
          <p:cNvSpPr/>
          <p:nvPr/>
        </p:nvSpPr>
        <p:spPr>
          <a:xfrm>
            <a:off x="8275320" y="4114800"/>
            <a:ext cx="3520440" cy="1508760"/>
          </a:xfrm>
          <a:prstGeom prst="rect">
            <a:avLst/>
          </a:prstGeom>
          <a:solidFill>
            <a:srgbClr val="EFF6FF"/>
          </a:solidFill>
          <a:ln w="15875">
            <a:solidFill>
              <a:srgbClr val="1D4ED8"/>
            </a:solidFill>
            <a:prstDash val="solid"/>
          </a:ln>
        </p:spPr>
      </p:sp>
      <p:sp>
        <p:nvSpPr>
          <p:cNvPr id="20" name="Shape 17"/>
          <p:cNvSpPr/>
          <p:nvPr/>
        </p:nvSpPr>
        <p:spPr>
          <a:xfrm>
            <a:off x="8275320" y="4114800"/>
            <a:ext cx="82296" cy="1508760"/>
          </a:xfrm>
          <a:prstGeom prst="rect">
            <a:avLst/>
          </a:prstGeom>
          <a:solidFill>
            <a:srgbClr val="1D4ED8"/>
          </a:solidFill>
          <a:ln w="12700">
            <a:solidFill>
              <a:srgbClr val="1D4ED8"/>
            </a:solidFill>
            <a:prstDash val="solid"/>
          </a:ln>
        </p:spPr>
      </p:sp>
      <p:sp>
        <p:nvSpPr>
          <p:cNvPr id="21" name="Text 18"/>
          <p:cNvSpPr/>
          <p:nvPr/>
        </p:nvSpPr>
        <p:spPr>
          <a:xfrm>
            <a:off x="8439912" y="4160520"/>
            <a:ext cx="3291840" cy="1417320"/>
          </a:xfrm>
          <a:prstGeom prst="rect">
            <a:avLst/>
          </a:prstGeom>
          <a:noFill/>
          <a:ln/>
        </p:spPr>
        <p:txBody>
          <a:bodyPr wrap="square" rtlCol="0" anchor="t"/>
          <a:lstStyle/>
          <a:p>
            <a:pPr indent="0" marL="0">
              <a:spcAft>
                <a:spcPts val="200"/>
              </a:spcAft>
              <a:buNone/>
            </a:pPr>
            <a:r>
              <a:rPr lang="en-US" sz="1150" b="1" dirty="0">
                <a:solidFill>
                  <a:srgbClr val="1D4ED8"/>
                </a:solidFill>
                <a:latin typeface="Meiryo UI" pitchFamily="34" charset="0"/>
                <a:ea typeface="Meiryo UI" pitchFamily="34" charset="-122"/>
                <a:cs typeface="Meiryo UI" pitchFamily="34" charset="-120"/>
              </a:rPr>
              <a:t>【ヒント】</a:t>
            </a:r>
            <a:endParaRPr lang="en-US" sz="1150" dirty="0"/>
          </a:p>
          <a:p>
            <a:pPr indent="0" marL="0">
              <a:spcAft>
                <a:spcPts val="200"/>
              </a:spcAft>
              <a:buNone/>
            </a:pPr>
            <a:r>
              <a:rPr lang="en-US" sz="1150" dirty="0">
                <a:solidFill>
                  <a:srgbClr val="1F2937"/>
                </a:solidFill>
                <a:latin typeface="Meiryo UI" pitchFamily="34" charset="0"/>
                <a:ea typeface="Meiryo UI" pitchFamily="34" charset="-122"/>
                <a:cs typeface="Meiryo UI" pitchFamily="34" charset="-120"/>
              </a:rPr>
              <a:t>次のスライドで、レスポンスから預金商品の key を探して環境に保存するスクリプトを入れます。</a:t>
            </a:r>
            <a:endParaRPr lang="en-US" sz="115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ステップ①【5/9】Script：預金商品の key を環境に自動で保存</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5669280" cy="3188970"/>
          </a:xfrm>
          <a:prstGeom prst="rect">
            <a:avLst/>
          </a:prstGeom>
        </p:spPr>
      </p:pic>
      <p:sp>
        <p:nvSpPr>
          <p:cNvPr id="7" name="Shape 4"/>
          <p:cNvSpPr/>
          <p:nvPr/>
        </p:nvSpPr>
        <p:spPr>
          <a:xfrm>
            <a:off x="411480" y="1051560"/>
            <a:ext cx="5669280" cy="3188970"/>
          </a:xfrm>
          <a:prstGeom prst="rect">
            <a:avLst/>
          </a:prstGeom>
          <a:ln w="9525">
            <a:solidFill>
              <a:srgbClr val="D1D5DB"/>
            </a:solidFill>
            <a:prstDash val="solid"/>
          </a:ln>
        </p:spPr>
      </p:sp>
      <p:sp>
        <p:nvSpPr>
          <p:cNvPr id="8" name="Text 5"/>
          <p:cNvSpPr/>
          <p:nvPr/>
        </p:nvSpPr>
        <p:spPr>
          <a:xfrm>
            <a:off x="411480" y="4258818"/>
            <a:ext cx="566928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2405786" y="1671066"/>
            <a:ext cx="369646" cy="263347"/>
          </a:xfrm>
          <a:prstGeom prst="rect">
            <a:avLst/>
          </a:prstGeom>
          <a:ln w="28575">
            <a:solidFill>
              <a:srgbClr val="E11D2E"/>
            </a:solidFill>
            <a:prstDash val="solid"/>
          </a:ln>
        </p:spPr>
      </p:sp>
      <p:sp>
        <p:nvSpPr>
          <p:cNvPr id="10" name="Shape 7"/>
          <p:cNvSpPr/>
          <p:nvPr/>
        </p:nvSpPr>
        <p:spPr>
          <a:xfrm>
            <a:off x="2268626" y="1533906"/>
            <a:ext cx="274320" cy="274320"/>
          </a:xfrm>
          <a:prstGeom prst="ellipse">
            <a:avLst/>
          </a:prstGeom>
          <a:solidFill>
            <a:srgbClr val="E11D2E"/>
          </a:solidFill>
          <a:ln w="15875">
            <a:solidFill>
              <a:srgbClr val="FFFFFF"/>
            </a:solidFill>
            <a:prstDash val="solid"/>
          </a:ln>
        </p:spPr>
      </p:sp>
      <p:sp>
        <p:nvSpPr>
          <p:cNvPr id="11" name="Text 8"/>
          <p:cNvSpPr/>
          <p:nvPr/>
        </p:nvSpPr>
        <p:spPr>
          <a:xfrm>
            <a:off x="2268626" y="153390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1151458" y="2011223"/>
            <a:ext cx="844448" cy="263347"/>
          </a:xfrm>
          <a:prstGeom prst="rect">
            <a:avLst/>
          </a:prstGeom>
          <a:ln w="28575">
            <a:solidFill>
              <a:srgbClr val="E11D2E"/>
            </a:solidFill>
            <a:prstDash val="solid"/>
          </a:ln>
        </p:spPr>
      </p:sp>
      <p:sp>
        <p:nvSpPr>
          <p:cNvPr id="13" name="Shape 10"/>
          <p:cNvSpPr/>
          <p:nvPr/>
        </p:nvSpPr>
        <p:spPr>
          <a:xfrm>
            <a:off x="1858747" y="1874063"/>
            <a:ext cx="274320" cy="274320"/>
          </a:xfrm>
          <a:prstGeom prst="ellipse">
            <a:avLst/>
          </a:prstGeom>
          <a:solidFill>
            <a:srgbClr val="E11D2E"/>
          </a:solidFill>
          <a:ln w="15875">
            <a:solidFill>
              <a:srgbClr val="FFFFFF"/>
            </a:solidFill>
            <a:prstDash val="solid"/>
          </a:ln>
        </p:spPr>
      </p:sp>
      <p:sp>
        <p:nvSpPr>
          <p:cNvPr id="14" name="Text 11"/>
          <p:cNvSpPr/>
          <p:nvPr/>
        </p:nvSpPr>
        <p:spPr>
          <a:xfrm>
            <a:off x="1858747" y="1874063"/>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Shape 12"/>
          <p:cNvSpPr/>
          <p:nvPr/>
        </p:nvSpPr>
        <p:spPr>
          <a:xfrm>
            <a:off x="513664" y="2301773"/>
            <a:ext cx="5231054" cy="1744447"/>
          </a:xfrm>
          <a:prstGeom prst="rect">
            <a:avLst/>
          </a:prstGeom>
          <a:ln w="28575">
            <a:solidFill>
              <a:srgbClr val="E11D2E"/>
            </a:solidFill>
            <a:prstDash val="solid"/>
          </a:ln>
        </p:spPr>
      </p:sp>
      <p:sp>
        <p:nvSpPr>
          <p:cNvPr id="16" name="Shape 13"/>
          <p:cNvSpPr/>
          <p:nvPr/>
        </p:nvSpPr>
        <p:spPr>
          <a:xfrm>
            <a:off x="221056" y="3036837"/>
            <a:ext cx="274320" cy="274320"/>
          </a:xfrm>
          <a:prstGeom prst="ellipse">
            <a:avLst/>
          </a:prstGeom>
          <a:solidFill>
            <a:srgbClr val="E11D2E"/>
          </a:solidFill>
          <a:ln w="15875">
            <a:solidFill>
              <a:srgbClr val="FFFFFF"/>
            </a:solidFill>
            <a:prstDash val="solid"/>
          </a:ln>
        </p:spPr>
      </p:sp>
      <p:sp>
        <p:nvSpPr>
          <p:cNvPr id="17" name="Text 14"/>
          <p:cNvSpPr/>
          <p:nvPr/>
        </p:nvSpPr>
        <p:spPr>
          <a:xfrm>
            <a:off x="221056" y="3036837"/>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8" name="Text 15"/>
          <p:cNvSpPr/>
          <p:nvPr/>
        </p:nvSpPr>
        <p:spPr>
          <a:xfrm>
            <a:off x="6263640" y="1051560"/>
            <a:ext cx="5532120" cy="1097280"/>
          </a:xfrm>
          <a:prstGeom prst="rect">
            <a:avLst/>
          </a:prstGeom>
          <a:noFill/>
          <a:ln/>
        </p:spPr>
        <p:txBody>
          <a:bodyPr wrap="square" rtlCol="0" anchor="t"/>
          <a:lstStyle/>
          <a:p>
            <a:pPr indent="0" marL="0">
              <a:spcAft>
                <a:spcPts val="400"/>
              </a:spcAft>
              <a:buNone/>
            </a:pPr>
            <a:r>
              <a:rPr lang="en-US" sz="1250" b="1" dirty="0">
                <a:solidFill>
                  <a:srgbClr val="E11D2E"/>
                </a:solidFill>
                <a:latin typeface="Meiryo UI" pitchFamily="34" charset="0"/>
                <a:ea typeface="Meiryo UI" pitchFamily="34" charset="-122"/>
                <a:cs typeface="Meiryo UI" pitchFamily="34" charset="-120"/>
              </a:rPr>
              <a:t>① </a:t>
            </a:r>
            <a:pPr indent="0" marL="0">
              <a:spcAft>
                <a:spcPts val="400"/>
              </a:spcAft>
              <a:buNone/>
            </a:pPr>
            <a:r>
              <a:rPr lang="en-US" sz="1250" dirty="0">
                <a:solidFill>
                  <a:srgbClr val="1F2937"/>
                </a:solidFill>
                <a:latin typeface="Meiryo UI" pitchFamily="34" charset="0"/>
                <a:ea typeface="Meiryo UI" pitchFamily="34" charset="-122"/>
                <a:cs typeface="Meiryo UI" pitchFamily="34" charset="-120"/>
              </a:rPr>
              <a:t>「Script」タブ →「Post Response」を選ぶ</a:t>
            </a:r>
            <a:endParaRPr lang="en-US" sz="1250" dirty="0"/>
          </a:p>
          <a:p>
            <a:pPr indent="0" marL="0">
              <a:spcAft>
                <a:spcPts val="400"/>
              </a:spcAft>
              <a:buNone/>
            </a:pPr>
            <a:r>
              <a:rPr lang="en-US" sz="1250" b="1" dirty="0">
                <a:solidFill>
                  <a:srgbClr val="E11D2E"/>
                </a:solidFill>
                <a:latin typeface="Meiryo UI" pitchFamily="34" charset="0"/>
                <a:ea typeface="Meiryo UI" pitchFamily="34" charset="-122"/>
                <a:cs typeface="Meiryo UI" pitchFamily="34" charset="-120"/>
              </a:rPr>
              <a:t>② </a:t>
            </a:r>
            <a:pPr indent="0" marL="0">
              <a:spcAft>
                <a:spcPts val="400"/>
              </a:spcAft>
              <a:buNone/>
            </a:pPr>
            <a:r>
              <a:rPr lang="en-US" sz="1250" dirty="0">
                <a:solidFill>
                  <a:srgbClr val="1F2937"/>
                </a:solidFill>
                <a:latin typeface="Meiryo UI" pitchFamily="34" charset="0"/>
                <a:ea typeface="Meiryo UI" pitchFamily="34" charset="-122"/>
                <a:cs typeface="Meiryo UI" pitchFamily="34" charset="-120"/>
              </a:rPr>
              <a:t>下の枠のスクリプトをコピーして貼り付ける</a:t>
            </a:r>
            <a:endParaRPr lang="en-US" sz="1250" dirty="0"/>
          </a:p>
          <a:p>
            <a:pPr indent="0" marL="0">
              <a:spcAft>
                <a:spcPts val="400"/>
              </a:spcAft>
              <a:buNone/>
            </a:pPr>
            <a:r>
              <a:rPr lang="en-US" sz="1250" b="1" dirty="0">
                <a:solidFill>
                  <a:srgbClr val="E11D2E"/>
                </a:solidFill>
                <a:latin typeface="Meiryo UI" pitchFamily="34" charset="0"/>
                <a:ea typeface="Meiryo UI" pitchFamily="34" charset="-122"/>
                <a:cs typeface="Meiryo UI" pitchFamily="34" charset="-120"/>
              </a:rPr>
              <a:t>③ </a:t>
            </a:r>
            <a:pPr indent="0" marL="0">
              <a:spcAft>
                <a:spcPts val="400"/>
              </a:spcAft>
              <a:buNone/>
            </a:pPr>
            <a:r>
              <a:rPr lang="en-US" sz="1250" dirty="0">
                <a:solidFill>
                  <a:srgbClr val="1F2937"/>
                </a:solidFill>
                <a:latin typeface="Meiryo UI" pitchFamily="34" charset="0"/>
                <a:ea typeface="Meiryo UI" pitchFamily="34" charset="-122"/>
                <a:cs typeface="Meiryo UI" pitchFamily="34" charset="-120"/>
              </a:rPr>
              <a:t>Ctrl + S で保存（Send は押さない）</a:t>
            </a:r>
            <a:endParaRPr lang="en-US" sz="1250" dirty="0"/>
          </a:p>
        </p:txBody>
      </p:sp>
      <p:sp>
        <p:nvSpPr>
          <p:cNvPr id="19" name="Text 16"/>
          <p:cNvSpPr/>
          <p:nvPr/>
        </p:nvSpPr>
        <p:spPr>
          <a:xfrm>
            <a:off x="6263640" y="2377440"/>
            <a:ext cx="5532120" cy="2514600"/>
          </a:xfrm>
          <a:prstGeom prst="rect">
            <a:avLst/>
          </a:prstGeom>
          <a:solidFill>
            <a:srgbClr val="F3F4F6"/>
          </a:solidFill>
          <a:ln w="12700">
            <a:solidFill>
              <a:srgbClr val="D1D5DB"/>
            </a:solidFill>
          </a:ln>
        </p:spPr>
        <p:txBody>
          <a:bodyPr wrap="square" lIns="101600" tIns="101600" rIns="101600" bIns="101600" rtlCol="0" anchor="t"/>
          <a:lstStyle/>
          <a:p>
            <a:pPr indent="0" marL="0">
              <a:buNone/>
            </a:pPr>
            <a:r>
              <a:rPr lang="en-US" sz="900" dirty="0">
                <a:solidFill>
                  <a:srgbClr val="111827"/>
                </a:solidFill>
                <a:latin typeface="Consolas" pitchFamily="34" charset="0"/>
                <a:ea typeface="Consolas" pitchFamily="34" charset="-122"/>
                <a:cs typeface="Consolas" pitchFamily="34" charset="-120"/>
              </a:rPr>
              <a:t>// 当座預金（CURRENT_ACCOUNT）・利用中（ACTIVE）・通貨 JPY の預金商品を探す</a:t>
            </a:r>
            <a:endParaRPr lang="en-US" sz="900" dirty="0"/>
          </a:p>
          <a:p>
            <a:pPr indent="0" marL="0">
              <a:buNone/>
            </a:pPr>
            <a:r>
              <a:rPr lang="en-US" sz="900" dirty="0">
                <a:solidFill>
                  <a:srgbClr val="111827"/>
                </a:solidFill>
                <a:latin typeface="Consolas" pitchFamily="34" charset="0"/>
                <a:ea typeface="Consolas" pitchFamily="34" charset="-122"/>
                <a:cs typeface="Consolas" pitchFamily="34" charset="-120"/>
              </a:rPr>
              <a:t>const product = res.body.find(p =&gt;</a:t>
            </a:r>
            <a:endParaRPr lang="en-US" sz="900" dirty="0"/>
          </a:p>
          <a:p>
            <a:pPr indent="0" marL="0">
              <a:buNone/>
            </a:pPr>
            <a:r>
              <a:rPr lang="en-US" sz="900" dirty="0">
                <a:solidFill>
                  <a:srgbClr val="111827"/>
                </a:solidFill>
                <a:latin typeface="Consolas" pitchFamily="34" charset="0"/>
                <a:ea typeface="Consolas" pitchFamily="34" charset="-122"/>
                <a:cs typeface="Consolas" pitchFamily="34" charset="-120"/>
              </a:rPr>
              <a:t>  p.type === "CURRENT_ACCOUNT" &amp;&amp; p.state === "ACTIVE" &amp;&amp;</a:t>
            </a:r>
            <a:endParaRPr lang="en-US" sz="900" dirty="0"/>
          </a:p>
          <a:p>
            <a:pPr indent="0" marL="0">
              <a:buNone/>
            </a:pPr>
            <a:r>
              <a:rPr lang="en-US" sz="900" dirty="0">
                <a:solidFill>
                  <a:srgbClr val="111827"/>
                </a:solidFill>
                <a:latin typeface="Consolas" pitchFamily="34" charset="0"/>
                <a:ea typeface="Consolas" pitchFamily="34" charset="-122"/>
                <a:cs typeface="Consolas" pitchFamily="34" charset="-120"/>
              </a:rPr>
              <a:t>  ((p.currencySettings &amp;&amp; p.currencySettings.currencies) || []).some(c =&gt; c.code === "JPY"));</a:t>
            </a:r>
            <a:endParaRPr lang="en-US" sz="900" dirty="0"/>
          </a:p>
          <a:p>
            <a:pPr indent="0" marL="0">
              <a:buNone/>
            </a:pPr>
            <a:r>
              <a:rPr lang="en-US" sz="900" dirty="0">
                <a:solidFill>
                  <a:srgbClr val="111827"/>
                </a:solidFill>
                <a:latin typeface="Consolas" pitchFamily="34" charset="0"/>
                <a:ea typeface="Consolas" pitchFamily="34" charset="-122"/>
                <a:cs typeface="Consolas" pitchFamily="34" charset="-120"/>
              </a:rPr>
              <a:t>if (product) {</a:t>
            </a:r>
            <a:endParaRPr lang="en-US" sz="900" dirty="0"/>
          </a:p>
          <a:p>
            <a:pPr indent="0" marL="0">
              <a:buNone/>
            </a:pPr>
            <a:r>
              <a:rPr lang="en-US" sz="900" dirty="0">
                <a:solidFill>
                  <a:srgbClr val="111827"/>
                </a:solidFill>
                <a:latin typeface="Consolas" pitchFamily="34" charset="0"/>
                <a:ea typeface="Consolas" pitchFamily="34" charset="-122"/>
                <a:cs typeface="Consolas" pitchFamily="34" charset="-120"/>
              </a:rPr>
              <a:t>  // 見つかった商品の encodedKey を、環境の depositProductKey に保存する</a:t>
            </a:r>
            <a:endParaRPr lang="en-US" sz="900" dirty="0"/>
          </a:p>
          <a:p>
            <a:pPr indent="0" marL="0">
              <a:buNone/>
            </a:pPr>
            <a:r>
              <a:rPr lang="en-US" sz="900" dirty="0">
                <a:solidFill>
                  <a:srgbClr val="111827"/>
                </a:solidFill>
                <a:latin typeface="Consolas" pitchFamily="34" charset="0"/>
                <a:ea typeface="Consolas" pitchFamily="34" charset="-122"/>
                <a:cs typeface="Consolas" pitchFamily="34" charset="-120"/>
              </a:rPr>
              <a:t>  bru.setEnvVar("depositProductKey", product.encodedKey);</a:t>
            </a:r>
            <a:endParaRPr lang="en-US" sz="900" dirty="0"/>
          </a:p>
          <a:p>
            <a:pPr indent="0" marL="0">
              <a:buNone/>
            </a:pPr>
            <a:r>
              <a:rPr lang="en-US" sz="900" dirty="0">
                <a:solidFill>
                  <a:srgbClr val="111827"/>
                </a:solidFill>
                <a:latin typeface="Consolas" pitchFamily="34" charset="0"/>
                <a:ea typeface="Consolas" pitchFamily="34" charset="-122"/>
                <a:cs typeface="Consolas" pitchFamily="34" charset="-120"/>
              </a:rPr>
              <a:t>  console.log("depositProductKey に保存しました：" + product.name);</a:t>
            </a:r>
            <a:endParaRPr lang="en-US" sz="900" dirty="0"/>
          </a:p>
          <a:p>
            <a:pPr indent="0" marL="0">
              <a:buNone/>
            </a:pPr>
            <a:r>
              <a:rPr lang="en-US" sz="900" dirty="0">
                <a:solidFill>
                  <a:srgbClr val="111827"/>
                </a:solidFill>
                <a:latin typeface="Consolas" pitchFamily="34" charset="0"/>
                <a:ea typeface="Consolas" pitchFamily="34" charset="-122"/>
                <a:cs typeface="Consolas" pitchFamily="34" charset="-120"/>
              </a:rPr>
              <a:t>} else {</a:t>
            </a:r>
            <a:endParaRPr lang="en-US" sz="900" dirty="0"/>
          </a:p>
          <a:p>
            <a:pPr indent="0" marL="0">
              <a:buNone/>
            </a:pPr>
            <a:r>
              <a:rPr lang="en-US" sz="900" dirty="0">
                <a:solidFill>
                  <a:srgbClr val="111827"/>
                </a:solidFill>
                <a:latin typeface="Consolas" pitchFamily="34" charset="0"/>
                <a:ea typeface="Consolas" pitchFamily="34" charset="-122"/>
                <a:cs typeface="Consolas" pitchFamily="34" charset="-120"/>
              </a:rPr>
              <a:t>  console.log("条件に合う預金商品が見つかりません");</a:t>
            </a:r>
            <a:endParaRPr lang="en-US" sz="900" dirty="0"/>
          </a:p>
          <a:p>
            <a:pPr indent="0" marL="0">
              <a:buNone/>
            </a:pPr>
            <a:r>
              <a:rPr lang="en-US" sz="900" dirty="0">
                <a:solidFill>
                  <a:srgbClr val="111827"/>
                </a:solidFill>
                <a:latin typeface="Consolas" pitchFamily="34" charset="0"/>
                <a:ea typeface="Consolas" pitchFamily="34" charset="-122"/>
                <a:cs typeface="Consolas" pitchFamily="34" charset="-120"/>
              </a:rPr>
              <a:t>}</a:t>
            </a:r>
            <a:endParaRPr lang="en-US" sz="900" dirty="0"/>
          </a:p>
        </p:txBody>
      </p:sp>
      <p:sp>
        <p:nvSpPr>
          <p:cNvPr id="20" name="Text 17"/>
          <p:cNvSpPr/>
          <p:nvPr/>
        </p:nvSpPr>
        <p:spPr>
          <a:xfrm>
            <a:off x="6263640" y="2103120"/>
            <a:ext cx="5532120" cy="274320"/>
          </a:xfrm>
          <a:prstGeom prst="rect">
            <a:avLst/>
          </a:prstGeom>
          <a:noFill/>
          <a:ln/>
        </p:spPr>
        <p:txBody>
          <a:bodyPr wrap="square" rtlCol="0" anchor="ctr"/>
          <a:lstStyle/>
          <a:p>
            <a:pPr indent="0" marL="0">
              <a:buNone/>
            </a:pPr>
            <a:r>
              <a:rPr lang="en-US" sz="1100" dirty="0">
                <a:solidFill>
                  <a:srgbClr val="6B7280"/>
                </a:solidFill>
                <a:latin typeface="Meiryo UI" pitchFamily="34" charset="0"/>
                <a:ea typeface="Meiryo UI" pitchFamily="34" charset="-122"/>
                <a:cs typeface="Meiryo UI" pitchFamily="34" charset="-120"/>
              </a:rPr>
              <a:t>コピー用（この枠の中を全部コピーして、Post Response に貼り付ける）</a:t>
            </a:r>
            <a:endParaRPr lang="en-US" sz="1100" dirty="0"/>
          </a:p>
        </p:txBody>
      </p:sp>
      <p:sp>
        <p:nvSpPr>
          <p:cNvPr id="21" name="Shape 18"/>
          <p:cNvSpPr/>
          <p:nvPr/>
        </p:nvSpPr>
        <p:spPr>
          <a:xfrm>
            <a:off x="6263640" y="5001768"/>
            <a:ext cx="5532120" cy="685800"/>
          </a:xfrm>
          <a:prstGeom prst="rect">
            <a:avLst/>
          </a:prstGeom>
          <a:solidFill>
            <a:srgbClr val="EFF6FF"/>
          </a:solidFill>
          <a:ln w="15875">
            <a:solidFill>
              <a:srgbClr val="1D4ED8"/>
            </a:solidFill>
            <a:prstDash val="solid"/>
          </a:ln>
        </p:spPr>
      </p:sp>
      <p:sp>
        <p:nvSpPr>
          <p:cNvPr id="22" name="Shape 19"/>
          <p:cNvSpPr/>
          <p:nvPr/>
        </p:nvSpPr>
        <p:spPr>
          <a:xfrm>
            <a:off x="6263640" y="5001768"/>
            <a:ext cx="82296" cy="685800"/>
          </a:xfrm>
          <a:prstGeom prst="rect">
            <a:avLst/>
          </a:prstGeom>
          <a:solidFill>
            <a:srgbClr val="1D4ED8"/>
          </a:solidFill>
          <a:ln w="12700">
            <a:solidFill>
              <a:srgbClr val="1D4ED8"/>
            </a:solidFill>
            <a:prstDash val="solid"/>
          </a:ln>
        </p:spPr>
      </p:sp>
      <p:sp>
        <p:nvSpPr>
          <p:cNvPr id="23" name="Text 20"/>
          <p:cNvSpPr/>
          <p:nvPr/>
        </p:nvSpPr>
        <p:spPr>
          <a:xfrm>
            <a:off x="6428232" y="5047488"/>
            <a:ext cx="5303520" cy="594360"/>
          </a:xfrm>
          <a:prstGeom prst="rect">
            <a:avLst/>
          </a:prstGeom>
          <a:noFill/>
          <a:ln/>
        </p:spPr>
        <p:txBody>
          <a:bodyPr wrap="square" rtlCol="0" anchor="t"/>
          <a:lstStyle/>
          <a:p>
            <a:pPr indent="0" marL="0">
              <a:spcAft>
                <a:spcPts val="200"/>
              </a:spcAft>
              <a:buNone/>
            </a:pPr>
            <a:r>
              <a:rPr lang="en-US" sz="1100" b="1" dirty="0">
                <a:solidFill>
                  <a:srgbClr val="1D4ED8"/>
                </a:solidFill>
                <a:latin typeface="Meiryo UI" pitchFamily="34" charset="0"/>
                <a:ea typeface="Meiryo UI" pitchFamily="34" charset="-122"/>
                <a:cs typeface="Meiryo UI" pitchFamily="34" charset="-120"/>
              </a:rPr>
              <a:t>【ヒント】</a:t>
            </a:r>
            <a:endParaRPr lang="en-US" sz="1100" dirty="0"/>
          </a:p>
          <a:p>
            <a:pPr indent="0" marL="0">
              <a:spcAft>
                <a:spcPts val="200"/>
              </a:spcAft>
              <a:buNone/>
            </a:pPr>
            <a:r>
              <a:rPr lang="en-US" sz="1100" dirty="0">
                <a:solidFill>
                  <a:srgbClr val="1F2937"/>
                </a:solidFill>
                <a:latin typeface="Meiryo UI" pitchFamily="34" charset="0"/>
                <a:ea typeface="Meiryo UI" pitchFamily="34" charset="-122"/>
                <a:cs typeface="Meiryo UI" pitchFamily="34" charset="-120"/>
              </a:rPr>
              <a:t>「当座・ACTIVE・JPY」の商品の encodedKey を環境の depositProductKey に保存します。複数あるときは最初の 1 つ。組織の指定と違うときは条件を直します。</a:t>
            </a:r>
            <a:endParaRPr lang="en-US" sz="1100" dirty="0"/>
          </a:p>
        </p:txBody>
      </p:sp>
      <p:sp>
        <p:nvSpPr>
          <p:cNvPr id="24" name="Shape 21"/>
          <p:cNvSpPr/>
          <p:nvPr/>
        </p:nvSpPr>
        <p:spPr>
          <a:xfrm>
            <a:off x="548640" y="5788152"/>
            <a:ext cx="11064240" cy="329184"/>
          </a:xfrm>
          <a:prstGeom prst="rect">
            <a:avLst/>
          </a:prstGeom>
          <a:solidFill>
            <a:srgbClr val="ECFDF5"/>
          </a:solidFill>
          <a:ln w="12700">
            <a:solidFill>
              <a:srgbClr val="047857"/>
            </a:solidFill>
            <a:prstDash val="solid"/>
          </a:ln>
        </p:spPr>
      </p:sp>
      <p:sp>
        <p:nvSpPr>
          <p:cNvPr id="25" name="Text 22"/>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参考コレクション exercises\mambu-corporate-onboarding\02 Get Deposit Products.yml を開いて、自分の入力と比べる</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ステップ①【6/9】03 Get Transaction Channels を作る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7622667" cy="4343400"/>
          </a:xfrm>
          <a:prstGeom prst="rect">
            <a:avLst/>
          </a:prstGeom>
        </p:spPr>
      </p:pic>
      <p:sp>
        <p:nvSpPr>
          <p:cNvPr id="7" name="Shape 4"/>
          <p:cNvSpPr/>
          <p:nvPr/>
        </p:nvSpPr>
        <p:spPr>
          <a:xfrm>
            <a:off x="411480" y="1051560"/>
            <a:ext cx="7622667" cy="4343400"/>
          </a:xfrm>
          <a:prstGeom prst="rect">
            <a:avLst/>
          </a:prstGeom>
          <a:ln w="9525">
            <a:solidFill>
              <a:srgbClr val="D1D5DB"/>
            </a:solidFill>
            <a:prstDash val="solid"/>
          </a:ln>
        </p:spPr>
      </p:sp>
      <p:sp>
        <p:nvSpPr>
          <p:cNvPr id="8" name="Text 5"/>
          <p:cNvSpPr/>
          <p:nvPr/>
        </p:nvSpPr>
        <p:spPr>
          <a:xfrm>
            <a:off x="411480" y="5413248"/>
            <a:ext cx="7622667"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1044702" y="3042095"/>
            <a:ext cx="6356223" cy="405765"/>
          </a:xfrm>
          <a:prstGeom prst="rect">
            <a:avLst/>
          </a:prstGeom>
          <a:ln w="28575">
            <a:solidFill>
              <a:srgbClr val="E11D2E"/>
            </a:solidFill>
            <a:prstDash val="solid"/>
          </a:ln>
        </p:spPr>
      </p:sp>
      <p:sp>
        <p:nvSpPr>
          <p:cNvPr id="10" name="Shape 7"/>
          <p:cNvSpPr/>
          <p:nvPr/>
        </p:nvSpPr>
        <p:spPr>
          <a:xfrm>
            <a:off x="752094" y="3107817"/>
            <a:ext cx="274320" cy="274320"/>
          </a:xfrm>
          <a:prstGeom prst="ellipse">
            <a:avLst/>
          </a:prstGeom>
          <a:solidFill>
            <a:srgbClr val="E11D2E"/>
          </a:solidFill>
          <a:ln w="15875">
            <a:solidFill>
              <a:srgbClr val="FFFFFF"/>
            </a:solidFill>
            <a:prstDash val="solid"/>
          </a:ln>
        </p:spPr>
      </p:sp>
      <p:sp>
        <p:nvSpPr>
          <p:cNvPr id="11" name="Text 8"/>
          <p:cNvSpPr/>
          <p:nvPr/>
        </p:nvSpPr>
        <p:spPr>
          <a:xfrm>
            <a:off x="752094" y="3107817"/>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1044702" y="3899916"/>
            <a:ext cx="6356223" cy="405765"/>
          </a:xfrm>
          <a:prstGeom prst="rect">
            <a:avLst/>
          </a:prstGeom>
          <a:ln w="28575">
            <a:solidFill>
              <a:srgbClr val="E11D2E"/>
            </a:solidFill>
            <a:prstDash val="solid"/>
          </a:ln>
        </p:spPr>
      </p:sp>
      <p:sp>
        <p:nvSpPr>
          <p:cNvPr id="13" name="Shape 10"/>
          <p:cNvSpPr/>
          <p:nvPr/>
        </p:nvSpPr>
        <p:spPr>
          <a:xfrm>
            <a:off x="752094" y="3965638"/>
            <a:ext cx="274320" cy="274320"/>
          </a:xfrm>
          <a:prstGeom prst="ellipse">
            <a:avLst/>
          </a:prstGeom>
          <a:solidFill>
            <a:srgbClr val="E11D2E"/>
          </a:solidFill>
          <a:ln w="15875">
            <a:solidFill>
              <a:srgbClr val="FFFFFF"/>
            </a:solidFill>
            <a:prstDash val="solid"/>
          </a:ln>
        </p:spPr>
      </p:sp>
      <p:sp>
        <p:nvSpPr>
          <p:cNvPr id="14" name="Text 11"/>
          <p:cNvSpPr/>
          <p:nvPr/>
        </p:nvSpPr>
        <p:spPr>
          <a:xfrm>
            <a:off x="752094" y="396563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Shape 12"/>
          <p:cNvSpPr/>
          <p:nvPr/>
        </p:nvSpPr>
        <p:spPr>
          <a:xfrm>
            <a:off x="6582537" y="4594860"/>
            <a:ext cx="818388" cy="362331"/>
          </a:xfrm>
          <a:prstGeom prst="rect">
            <a:avLst/>
          </a:prstGeom>
          <a:ln w="28575">
            <a:solidFill>
              <a:srgbClr val="E11D2E"/>
            </a:solidFill>
            <a:prstDash val="solid"/>
          </a:ln>
        </p:spPr>
      </p:sp>
      <p:sp>
        <p:nvSpPr>
          <p:cNvPr id="16" name="Shape 13"/>
          <p:cNvSpPr/>
          <p:nvPr/>
        </p:nvSpPr>
        <p:spPr>
          <a:xfrm>
            <a:off x="7419213" y="4638865"/>
            <a:ext cx="274320" cy="274320"/>
          </a:xfrm>
          <a:prstGeom prst="ellipse">
            <a:avLst/>
          </a:prstGeom>
          <a:solidFill>
            <a:srgbClr val="E11D2E"/>
          </a:solidFill>
          <a:ln w="15875">
            <a:solidFill>
              <a:srgbClr val="FFFFFF"/>
            </a:solidFill>
            <a:prstDash val="solid"/>
          </a:ln>
        </p:spPr>
      </p:sp>
      <p:sp>
        <p:nvSpPr>
          <p:cNvPr id="17" name="Text 14"/>
          <p:cNvSpPr/>
          <p:nvPr/>
        </p:nvSpPr>
        <p:spPr>
          <a:xfrm>
            <a:off x="7419213" y="4638865"/>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8" name="Text 15"/>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右クリック → New Request</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Request Name：03 Get Transaction Channels</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③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URL：{{baseUrl}}/organization/transactionChannels?transactionChannelState=ACTIVE</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④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「Create」をクリック</a:t>
            </a:r>
            <a:endParaRPr lang="en-US" sz="1300" dirty="0"/>
          </a:p>
        </p:txBody>
      </p:sp>
      <p:sp>
        <p:nvSpPr>
          <p:cNvPr id="19" name="Shape 16"/>
          <p:cNvSpPr/>
          <p:nvPr/>
        </p:nvSpPr>
        <p:spPr>
          <a:xfrm>
            <a:off x="8275320" y="4114800"/>
            <a:ext cx="3520440" cy="1508760"/>
          </a:xfrm>
          <a:prstGeom prst="rect">
            <a:avLst/>
          </a:prstGeom>
          <a:solidFill>
            <a:srgbClr val="EFF6FF"/>
          </a:solidFill>
          <a:ln w="15875">
            <a:solidFill>
              <a:srgbClr val="1D4ED8"/>
            </a:solidFill>
            <a:prstDash val="solid"/>
          </a:ln>
        </p:spPr>
      </p:sp>
      <p:sp>
        <p:nvSpPr>
          <p:cNvPr id="20" name="Shape 17"/>
          <p:cNvSpPr/>
          <p:nvPr/>
        </p:nvSpPr>
        <p:spPr>
          <a:xfrm>
            <a:off x="8275320" y="4114800"/>
            <a:ext cx="82296" cy="1508760"/>
          </a:xfrm>
          <a:prstGeom prst="rect">
            <a:avLst/>
          </a:prstGeom>
          <a:solidFill>
            <a:srgbClr val="1D4ED8"/>
          </a:solidFill>
          <a:ln w="12700">
            <a:solidFill>
              <a:srgbClr val="1D4ED8"/>
            </a:solidFill>
            <a:prstDash val="solid"/>
          </a:ln>
        </p:spPr>
      </p:sp>
      <p:sp>
        <p:nvSpPr>
          <p:cNvPr id="21" name="Text 18"/>
          <p:cNvSpPr/>
          <p:nvPr/>
        </p:nvSpPr>
        <p:spPr>
          <a:xfrm>
            <a:off x="8439912" y="4160520"/>
            <a:ext cx="3291840" cy="1417320"/>
          </a:xfrm>
          <a:prstGeom prst="rect">
            <a:avLst/>
          </a:prstGeom>
          <a:noFill/>
          <a:ln/>
        </p:spPr>
        <p:txBody>
          <a:bodyPr wrap="square" rtlCol="0" anchor="t"/>
          <a:lstStyle/>
          <a:p>
            <a:pPr indent="0" marL="0">
              <a:spcAft>
                <a:spcPts val="200"/>
              </a:spcAft>
              <a:buNone/>
            </a:pPr>
            <a:r>
              <a:rPr lang="en-US" sz="1150" b="1" dirty="0">
                <a:solidFill>
                  <a:srgbClr val="1D4ED8"/>
                </a:solidFill>
                <a:latin typeface="Meiryo UI" pitchFamily="34" charset="0"/>
                <a:ea typeface="Meiryo UI" pitchFamily="34" charset="-122"/>
                <a:cs typeface="Meiryo UI" pitchFamily="34" charset="-120"/>
              </a:rPr>
              <a:t>【ヒント】</a:t>
            </a:r>
            <a:endParaRPr lang="en-US" sz="1150" dirty="0"/>
          </a:p>
          <a:p>
            <a:pPr indent="0" marL="0">
              <a:spcAft>
                <a:spcPts val="200"/>
              </a:spcAft>
              <a:buNone/>
            </a:pPr>
            <a:r>
              <a:rPr lang="en-US" sz="1150" dirty="0">
                <a:solidFill>
                  <a:srgbClr val="1F2937"/>
                </a:solidFill>
                <a:latin typeface="Meiryo UI" pitchFamily="34" charset="0"/>
                <a:ea typeface="Meiryo UI" pitchFamily="34" charset="-122"/>
                <a:cs typeface="Meiryo UI" pitchFamily="34" charset="-120"/>
              </a:rPr>
              <a:t>URL の「?」より後ろはクエリ（第3・9章）。transactionChannelState=ACTIVE で「有効な取引チャネルだけ」に絞り込みます。</a:t>
            </a:r>
            <a:endParaRPr lang="en-US" sz="115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ステップ①【7/9】Params タブでクエリを確かめる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7680960" cy="4320540"/>
          </a:xfrm>
          <a:prstGeom prst="rect">
            <a:avLst/>
          </a:prstGeom>
        </p:spPr>
      </p:pic>
      <p:sp>
        <p:nvSpPr>
          <p:cNvPr id="7" name="Shape 4"/>
          <p:cNvSpPr/>
          <p:nvPr/>
        </p:nvSpPr>
        <p:spPr>
          <a:xfrm>
            <a:off x="411480" y="1051560"/>
            <a:ext cx="7680960" cy="4320540"/>
          </a:xfrm>
          <a:prstGeom prst="rect">
            <a:avLst/>
          </a:prstGeom>
          <a:ln w="9525">
            <a:solidFill>
              <a:srgbClr val="D1D5DB"/>
            </a:solidFill>
            <a:prstDash val="solid"/>
          </a:ln>
        </p:spPr>
      </p:sp>
      <p:sp>
        <p:nvSpPr>
          <p:cNvPr id="8" name="Text 5"/>
          <p:cNvSpPr/>
          <p:nvPr/>
        </p:nvSpPr>
        <p:spPr>
          <a:xfrm>
            <a:off x="411480" y="5390388"/>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546811" y="1897380"/>
            <a:ext cx="449428" cy="343814"/>
          </a:xfrm>
          <a:prstGeom prst="rect">
            <a:avLst/>
          </a:prstGeom>
          <a:ln w="28575">
            <a:solidFill>
              <a:srgbClr val="E11D2E"/>
            </a:solidFill>
            <a:prstDash val="solid"/>
          </a:ln>
        </p:spPr>
      </p:sp>
      <p:sp>
        <p:nvSpPr>
          <p:cNvPr id="10" name="Shape 7"/>
          <p:cNvSpPr/>
          <p:nvPr/>
        </p:nvSpPr>
        <p:spPr>
          <a:xfrm>
            <a:off x="409651" y="1760220"/>
            <a:ext cx="274320" cy="274320"/>
          </a:xfrm>
          <a:prstGeom prst="ellipse">
            <a:avLst/>
          </a:prstGeom>
          <a:solidFill>
            <a:srgbClr val="E11D2E"/>
          </a:solidFill>
          <a:ln w="15875">
            <a:solidFill>
              <a:srgbClr val="FFFFFF"/>
            </a:solidFill>
            <a:prstDash val="solid"/>
          </a:ln>
        </p:spPr>
      </p:sp>
      <p:sp>
        <p:nvSpPr>
          <p:cNvPr id="11" name="Text 8"/>
          <p:cNvSpPr/>
          <p:nvPr/>
        </p:nvSpPr>
        <p:spPr>
          <a:xfrm>
            <a:off x="409651" y="17602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652424" y="2953512"/>
            <a:ext cx="6248552" cy="343814"/>
          </a:xfrm>
          <a:prstGeom prst="rect">
            <a:avLst/>
          </a:prstGeom>
          <a:ln w="28575">
            <a:solidFill>
              <a:srgbClr val="E11D2E"/>
            </a:solidFill>
            <a:prstDash val="solid"/>
          </a:ln>
        </p:spPr>
      </p:sp>
      <p:sp>
        <p:nvSpPr>
          <p:cNvPr id="13" name="Shape 10"/>
          <p:cNvSpPr/>
          <p:nvPr/>
        </p:nvSpPr>
        <p:spPr>
          <a:xfrm>
            <a:off x="359816" y="2988259"/>
            <a:ext cx="274320" cy="274320"/>
          </a:xfrm>
          <a:prstGeom prst="ellipse">
            <a:avLst/>
          </a:prstGeom>
          <a:solidFill>
            <a:srgbClr val="E11D2E"/>
          </a:solidFill>
          <a:ln w="15875">
            <a:solidFill>
              <a:srgbClr val="FFFFFF"/>
            </a:solidFill>
            <a:prstDash val="solid"/>
          </a:ln>
        </p:spPr>
      </p:sp>
      <p:sp>
        <p:nvSpPr>
          <p:cNvPr id="14" name="Text 11"/>
          <p:cNvSpPr/>
          <p:nvPr/>
        </p:nvSpPr>
        <p:spPr>
          <a:xfrm>
            <a:off x="359816" y="2988259"/>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Text 12"/>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「Params」タブをクリック</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Query に transactionChannelState ＝ ACTIVE の行が自動で入っていることを確認</a:t>
            </a:r>
            <a:endParaRPr lang="en-US" sz="1300" dirty="0"/>
          </a:p>
        </p:txBody>
      </p:sp>
      <p:sp>
        <p:nvSpPr>
          <p:cNvPr id="16" name="Shape 13"/>
          <p:cNvSpPr/>
          <p:nvPr/>
        </p:nvSpPr>
        <p:spPr>
          <a:xfrm>
            <a:off x="8275320" y="4114800"/>
            <a:ext cx="3520440" cy="1508760"/>
          </a:xfrm>
          <a:prstGeom prst="rect">
            <a:avLst/>
          </a:prstGeom>
          <a:solidFill>
            <a:srgbClr val="EFF6FF"/>
          </a:solidFill>
          <a:ln w="15875">
            <a:solidFill>
              <a:srgbClr val="1D4ED8"/>
            </a:solidFill>
            <a:prstDash val="solid"/>
          </a:ln>
        </p:spPr>
      </p:sp>
      <p:sp>
        <p:nvSpPr>
          <p:cNvPr id="17" name="Shape 14"/>
          <p:cNvSpPr/>
          <p:nvPr/>
        </p:nvSpPr>
        <p:spPr>
          <a:xfrm>
            <a:off x="8275320" y="4114800"/>
            <a:ext cx="82296" cy="1508760"/>
          </a:xfrm>
          <a:prstGeom prst="rect">
            <a:avLst/>
          </a:prstGeom>
          <a:solidFill>
            <a:srgbClr val="1D4ED8"/>
          </a:solidFill>
          <a:ln w="12700">
            <a:solidFill>
              <a:srgbClr val="1D4ED8"/>
            </a:solidFill>
            <a:prstDash val="solid"/>
          </a:ln>
        </p:spPr>
      </p:sp>
      <p:sp>
        <p:nvSpPr>
          <p:cNvPr id="18" name="Text 15"/>
          <p:cNvSpPr/>
          <p:nvPr/>
        </p:nvSpPr>
        <p:spPr>
          <a:xfrm>
            <a:off x="8439912" y="4160520"/>
            <a:ext cx="3291840" cy="1417320"/>
          </a:xfrm>
          <a:prstGeom prst="rect">
            <a:avLst/>
          </a:prstGeom>
          <a:noFill/>
          <a:ln/>
        </p:spPr>
        <p:txBody>
          <a:bodyPr wrap="square" rtlCol="0" anchor="t"/>
          <a:lstStyle/>
          <a:p>
            <a:pPr indent="0" marL="0">
              <a:spcAft>
                <a:spcPts val="200"/>
              </a:spcAft>
              <a:buNone/>
            </a:pPr>
            <a:r>
              <a:rPr lang="en-US" sz="1150" b="1" dirty="0">
                <a:solidFill>
                  <a:srgbClr val="1D4ED8"/>
                </a:solidFill>
                <a:latin typeface="Meiryo UI" pitchFamily="34" charset="0"/>
                <a:ea typeface="Meiryo UI" pitchFamily="34" charset="-122"/>
                <a:cs typeface="Meiryo UI" pitchFamily="34" charset="-120"/>
              </a:rPr>
              <a:t>【ヒント】</a:t>
            </a:r>
            <a:endParaRPr lang="en-US" sz="1150" dirty="0"/>
          </a:p>
          <a:p>
            <a:pPr indent="0" marL="0">
              <a:spcAft>
                <a:spcPts val="200"/>
              </a:spcAft>
              <a:buNone/>
            </a:pPr>
            <a:r>
              <a:rPr lang="en-US" sz="1150" dirty="0">
                <a:solidFill>
                  <a:srgbClr val="1F2937"/>
                </a:solidFill>
                <a:latin typeface="Meiryo UI" pitchFamily="34" charset="0"/>
                <a:ea typeface="Meiryo UI" pitchFamily="34" charset="-122"/>
                <a:cs typeface="Meiryo UI" pitchFamily="34" charset="-120"/>
              </a:rPr>
              <a:t>URL にクエリを書くと Params タブに自動で反映されます。逆に Params タブで入力しても URL に反映されます（第9章 9-G）。</a:t>
            </a:r>
            <a:endParaRPr lang="en-US" sz="115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ステップ①【8/9】Assert と Script を入れて保存する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5669280" cy="3188970"/>
          </a:xfrm>
          <a:prstGeom prst="rect">
            <a:avLst/>
          </a:prstGeom>
        </p:spPr>
      </p:pic>
      <p:sp>
        <p:nvSpPr>
          <p:cNvPr id="7" name="Shape 4"/>
          <p:cNvSpPr/>
          <p:nvPr/>
        </p:nvSpPr>
        <p:spPr>
          <a:xfrm>
            <a:off x="411480" y="1051560"/>
            <a:ext cx="5669280" cy="3188970"/>
          </a:xfrm>
          <a:prstGeom prst="rect">
            <a:avLst/>
          </a:prstGeom>
          <a:ln w="9525">
            <a:solidFill>
              <a:srgbClr val="D1D5DB"/>
            </a:solidFill>
            <a:prstDash val="solid"/>
          </a:ln>
        </p:spPr>
      </p:sp>
      <p:sp>
        <p:nvSpPr>
          <p:cNvPr id="8" name="Text 5"/>
          <p:cNvSpPr/>
          <p:nvPr/>
        </p:nvSpPr>
        <p:spPr>
          <a:xfrm>
            <a:off x="411480" y="4258818"/>
            <a:ext cx="566928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2455393" y="1671066"/>
            <a:ext cx="376733" cy="263347"/>
          </a:xfrm>
          <a:prstGeom prst="rect">
            <a:avLst/>
          </a:prstGeom>
          <a:ln w="28575">
            <a:solidFill>
              <a:srgbClr val="E11D2E"/>
            </a:solidFill>
            <a:prstDash val="solid"/>
          </a:ln>
        </p:spPr>
      </p:sp>
      <p:sp>
        <p:nvSpPr>
          <p:cNvPr id="10" name="Shape 7"/>
          <p:cNvSpPr/>
          <p:nvPr/>
        </p:nvSpPr>
        <p:spPr>
          <a:xfrm>
            <a:off x="2318233" y="1533906"/>
            <a:ext cx="274320" cy="274320"/>
          </a:xfrm>
          <a:prstGeom prst="ellipse">
            <a:avLst/>
          </a:prstGeom>
          <a:solidFill>
            <a:srgbClr val="E11D2E"/>
          </a:solidFill>
          <a:ln w="15875">
            <a:solidFill>
              <a:srgbClr val="FFFFFF"/>
            </a:solidFill>
            <a:prstDash val="solid"/>
          </a:ln>
        </p:spPr>
      </p:sp>
      <p:sp>
        <p:nvSpPr>
          <p:cNvPr id="11" name="Text 8"/>
          <p:cNvSpPr/>
          <p:nvPr/>
        </p:nvSpPr>
        <p:spPr>
          <a:xfrm>
            <a:off x="2318233" y="153390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1151458" y="2011223"/>
            <a:ext cx="844448" cy="263347"/>
          </a:xfrm>
          <a:prstGeom prst="rect">
            <a:avLst/>
          </a:prstGeom>
          <a:ln w="28575">
            <a:solidFill>
              <a:srgbClr val="E11D2E"/>
            </a:solidFill>
            <a:prstDash val="solid"/>
          </a:ln>
        </p:spPr>
      </p:sp>
      <p:sp>
        <p:nvSpPr>
          <p:cNvPr id="13" name="Shape 10"/>
          <p:cNvSpPr/>
          <p:nvPr/>
        </p:nvSpPr>
        <p:spPr>
          <a:xfrm>
            <a:off x="1858747" y="1874063"/>
            <a:ext cx="274320" cy="274320"/>
          </a:xfrm>
          <a:prstGeom prst="ellipse">
            <a:avLst/>
          </a:prstGeom>
          <a:solidFill>
            <a:srgbClr val="E11D2E"/>
          </a:solidFill>
          <a:ln w="15875">
            <a:solidFill>
              <a:srgbClr val="FFFFFF"/>
            </a:solidFill>
            <a:prstDash val="solid"/>
          </a:ln>
        </p:spPr>
      </p:sp>
      <p:sp>
        <p:nvSpPr>
          <p:cNvPr id="14" name="Text 11"/>
          <p:cNvSpPr/>
          <p:nvPr/>
        </p:nvSpPr>
        <p:spPr>
          <a:xfrm>
            <a:off x="1858747" y="1874063"/>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Shape 12"/>
          <p:cNvSpPr/>
          <p:nvPr/>
        </p:nvSpPr>
        <p:spPr>
          <a:xfrm>
            <a:off x="513664" y="2301773"/>
            <a:ext cx="5174361" cy="1429093"/>
          </a:xfrm>
          <a:prstGeom prst="rect">
            <a:avLst/>
          </a:prstGeom>
          <a:ln w="28575">
            <a:solidFill>
              <a:srgbClr val="E11D2E"/>
            </a:solidFill>
            <a:prstDash val="solid"/>
          </a:ln>
        </p:spPr>
      </p:sp>
      <p:sp>
        <p:nvSpPr>
          <p:cNvPr id="16" name="Shape 13"/>
          <p:cNvSpPr/>
          <p:nvPr/>
        </p:nvSpPr>
        <p:spPr>
          <a:xfrm>
            <a:off x="221056" y="2879160"/>
            <a:ext cx="274320" cy="274320"/>
          </a:xfrm>
          <a:prstGeom prst="ellipse">
            <a:avLst/>
          </a:prstGeom>
          <a:solidFill>
            <a:srgbClr val="E11D2E"/>
          </a:solidFill>
          <a:ln w="15875">
            <a:solidFill>
              <a:srgbClr val="FFFFFF"/>
            </a:solidFill>
            <a:prstDash val="solid"/>
          </a:ln>
        </p:spPr>
      </p:sp>
      <p:sp>
        <p:nvSpPr>
          <p:cNvPr id="17" name="Text 14"/>
          <p:cNvSpPr/>
          <p:nvPr/>
        </p:nvSpPr>
        <p:spPr>
          <a:xfrm>
            <a:off x="221056" y="287916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8" name="Text 15"/>
          <p:cNvSpPr/>
          <p:nvPr/>
        </p:nvSpPr>
        <p:spPr>
          <a:xfrm>
            <a:off x="6263640" y="1051560"/>
            <a:ext cx="5532120" cy="1097280"/>
          </a:xfrm>
          <a:prstGeom prst="rect">
            <a:avLst/>
          </a:prstGeom>
          <a:noFill/>
          <a:ln/>
        </p:spPr>
        <p:txBody>
          <a:bodyPr wrap="square" rtlCol="0" anchor="t"/>
          <a:lstStyle/>
          <a:p>
            <a:pPr indent="0" marL="0">
              <a:spcAft>
                <a:spcPts val="400"/>
              </a:spcAft>
              <a:buNone/>
            </a:pPr>
            <a:r>
              <a:rPr lang="en-US" sz="1250" b="1" dirty="0">
                <a:solidFill>
                  <a:srgbClr val="E11D2E"/>
                </a:solidFill>
                <a:latin typeface="Meiryo UI" pitchFamily="34" charset="0"/>
                <a:ea typeface="Meiryo UI" pitchFamily="34" charset="-122"/>
                <a:cs typeface="Meiryo UI" pitchFamily="34" charset="-120"/>
              </a:rPr>
              <a:t>① </a:t>
            </a:r>
            <a:pPr indent="0" marL="0">
              <a:spcAft>
                <a:spcPts val="400"/>
              </a:spcAft>
              <a:buNone/>
            </a:pPr>
            <a:r>
              <a:rPr lang="en-US" sz="1250" dirty="0">
                <a:solidFill>
                  <a:srgbClr val="1F2937"/>
                </a:solidFill>
                <a:latin typeface="Meiryo UI" pitchFamily="34" charset="0"/>
                <a:ea typeface="Meiryo UI" pitchFamily="34" charset="-122"/>
                <a:cs typeface="Meiryo UI" pitchFamily="34" charset="-120"/>
              </a:rPr>
              <a:t>Assert タブ：res.status equals 200</a:t>
            </a:r>
            <a:endParaRPr lang="en-US" sz="1250" dirty="0"/>
          </a:p>
          <a:p>
            <a:pPr indent="0" marL="0">
              <a:spcAft>
                <a:spcPts val="400"/>
              </a:spcAft>
              <a:buNone/>
            </a:pPr>
            <a:r>
              <a:rPr lang="en-US" sz="1250" b="1" dirty="0">
                <a:solidFill>
                  <a:srgbClr val="E11D2E"/>
                </a:solidFill>
                <a:latin typeface="Meiryo UI" pitchFamily="34" charset="0"/>
                <a:ea typeface="Meiryo UI" pitchFamily="34" charset="-122"/>
                <a:cs typeface="Meiryo UI" pitchFamily="34" charset="-120"/>
              </a:rPr>
              <a:t>② </a:t>
            </a:r>
            <a:pPr indent="0" marL="0">
              <a:spcAft>
                <a:spcPts val="400"/>
              </a:spcAft>
              <a:buNone/>
            </a:pPr>
            <a:r>
              <a:rPr lang="en-US" sz="1250" dirty="0">
                <a:solidFill>
                  <a:srgbClr val="1F2937"/>
                </a:solidFill>
                <a:latin typeface="Meiryo UI" pitchFamily="34" charset="0"/>
                <a:ea typeface="Meiryo UI" pitchFamily="34" charset="-122"/>
                <a:cs typeface="Meiryo UI" pitchFamily="34" charset="-120"/>
              </a:rPr>
              <a:t>「Script」タブ →「Post Response」に、下の枠のスクリプトを貼り付ける</a:t>
            </a:r>
            <a:endParaRPr lang="en-US" sz="1250" dirty="0"/>
          </a:p>
          <a:p>
            <a:pPr indent="0" marL="0">
              <a:spcAft>
                <a:spcPts val="400"/>
              </a:spcAft>
              <a:buNone/>
            </a:pPr>
            <a:r>
              <a:rPr lang="en-US" sz="1250" b="1" dirty="0">
                <a:solidFill>
                  <a:srgbClr val="E11D2E"/>
                </a:solidFill>
                <a:latin typeface="Meiryo UI" pitchFamily="34" charset="0"/>
                <a:ea typeface="Meiryo UI" pitchFamily="34" charset="-122"/>
                <a:cs typeface="Meiryo UI" pitchFamily="34" charset="-120"/>
              </a:rPr>
              <a:t>③ </a:t>
            </a:r>
            <a:pPr indent="0" marL="0">
              <a:spcAft>
                <a:spcPts val="400"/>
              </a:spcAft>
              <a:buNone/>
            </a:pPr>
            <a:r>
              <a:rPr lang="en-US" sz="1250" dirty="0">
                <a:solidFill>
                  <a:srgbClr val="1F2937"/>
                </a:solidFill>
                <a:latin typeface="Meiryo UI" pitchFamily="34" charset="0"/>
                <a:ea typeface="Meiryo UI" pitchFamily="34" charset="-122"/>
                <a:cs typeface="Meiryo UI" pitchFamily="34" charset="-120"/>
              </a:rPr>
              <a:t>Ctrl + S で保存（Send は押さない）</a:t>
            </a:r>
            <a:endParaRPr lang="en-US" sz="1250" dirty="0"/>
          </a:p>
        </p:txBody>
      </p:sp>
      <p:sp>
        <p:nvSpPr>
          <p:cNvPr id="19" name="Text 16"/>
          <p:cNvSpPr/>
          <p:nvPr/>
        </p:nvSpPr>
        <p:spPr>
          <a:xfrm>
            <a:off x="6263640" y="2377440"/>
            <a:ext cx="5532120" cy="2103120"/>
          </a:xfrm>
          <a:prstGeom prst="rect">
            <a:avLst/>
          </a:prstGeom>
          <a:solidFill>
            <a:srgbClr val="F3F4F6"/>
          </a:solidFill>
          <a:ln w="12700">
            <a:solidFill>
              <a:srgbClr val="D1D5DB"/>
            </a:solidFill>
          </a:ln>
        </p:spPr>
        <p:txBody>
          <a:bodyPr wrap="square" lIns="101600" tIns="101600" rIns="101600" bIns="101600" rtlCol="0" anchor="t"/>
          <a:lstStyle/>
          <a:p>
            <a:pPr indent="0" marL="0">
              <a:buNone/>
            </a:pPr>
            <a:r>
              <a:rPr lang="en-US" sz="950" dirty="0">
                <a:solidFill>
                  <a:srgbClr val="111827"/>
                </a:solidFill>
                <a:latin typeface="Consolas" pitchFamily="34" charset="0"/>
                <a:ea typeface="Consolas" pitchFamily="34" charset="-122"/>
                <a:cs typeface="Consolas" pitchFamily="34" charset="-120"/>
              </a:rPr>
              <a:t>// 既定（isDefault）の取引チャネルを探す。なければ一覧の最初のチャネルを使う</a:t>
            </a:r>
            <a:endParaRPr lang="en-US" sz="950" dirty="0"/>
          </a:p>
          <a:p>
            <a:pPr indent="0" marL="0">
              <a:buNone/>
            </a:pPr>
            <a:r>
              <a:rPr lang="en-US" sz="950" dirty="0">
                <a:solidFill>
                  <a:srgbClr val="111827"/>
                </a:solidFill>
                <a:latin typeface="Consolas" pitchFamily="34" charset="0"/>
                <a:ea typeface="Consolas" pitchFamily="34" charset="-122"/>
                <a:cs typeface="Consolas" pitchFamily="34" charset="-120"/>
              </a:rPr>
              <a:t>const channel = res.body.find(c =&gt; c.isDefault) || res.body[0];</a:t>
            </a:r>
            <a:endParaRPr lang="en-US" sz="950" dirty="0"/>
          </a:p>
          <a:p>
            <a:pPr indent="0" marL="0">
              <a:buNone/>
            </a:pPr>
            <a:r>
              <a:rPr lang="en-US" sz="950" dirty="0">
                <a:solidFill>
                  <a:srgbClr val="111827"/>
                </a:solidFill>
                <a:latin typeface="Consolas" pitchFamily="34" charset="0"/>
                <a:ea typeface="Consolas" pitchFamily="34" charset="-122"/>
                <a:cs typeface="Consolas" pitchFamily="34" charset="-120"/>
              </a:rPr>
              <a:t>if (channel) {</a:t>
            </a:r>
            <a:endParaRPr lang="en-US" sz="950" dirty="0"/>
          </a:p>
          <a:p>
            <a:pPr indent="0" marL="0">
              <a:buNone/>
            </a:pPr>
            <a:r>
              <a:rPr lang="en-US" sz="950" dirty="0">
                <a:solidFill>
                  <a:srgbClr val="111827"/>
                </a:solidFill>
                <a:latin typeface="Consolas" pitchFamily="34" charset="0"/>
                <a:ea typeface="Consolas" pitchFamily="34" charset="-122"/>
                <a:cs typeface="Consolas" pitchFamily="34" charset="-120"/>
              </a:rPr>
              <a:t>  // 見つかったチャネルの id を、環境の channelId に保存する</a:t>
            </a:r>
            <a:endParaRPr lang="en-US" sz="950" dirty="0"/>
          </a:p>
          <a:p>
            <a:pPr indent="0" marL="0">
              <a:buNone/>
            </a:pPr>
            <a:r>
              <a:rPr lang="en-US" sz="950" dirty="0">
                <a:solidFill>
                  <a:srgbClr val="111827"/>
                </a:solidFill>
                <a:latin typeface="Consolas" pitchFamily="34" charset="0"/>
                <a:ea typeface="Consolas" pitchFamily="34" charset="-122"/>
                <a:cs typeface="Consolas" pitchFamily="34" charset="-120"/>
              </a:rPr>
              <a:t>  bru.setEnvVar("channelId", channel.id);</a:t>
            </a:r>
            <a:endParaRPr lang="en-US" sz="950" dirty="0"/>
          </a:p>
          <a:p>
            <a:pPr indent="0" marL="0">
              <a:buNone/>
            </a:pPr>
            <a:r>
              <a:rPr lang="en-US" sz="950" dirty="0">
                <a:solidFill>
                  <a:srgbClr val="111827"/>
                </a:solidFill>
                <a:latin typeface="Consolas" pitchFamily="34" charset="0"/>
                <a:ea typeface="Consolas" pitchFamily="34" charset="-122"/>
                <a:cs typeface="Consolas" pitchFamily="34" charset="-120"/>
              </a:rPr>
              <a:t>  console.log("channelId に保存しました：" + channel.name);</a:t>
            </a:r>
            <a:endParaRPr lang="en-US" sz="950" dirty="0"/>
          </a:p>
          <a:p>
            <a:pPr indent="0" marL="0">
              <a:buNone/>
            </a:pPr>
            <a:r>
              <a:rPr lang="en-US" sz="950" dirty="0">
                <a:solidFill>
                  <a:srgbClr val="111827"/>
                </a:solidFill>
                <a:latin typeface="Consolas" pitchFamily="34" charset="0"/>
                <a:ea typeface="Consolas" pitchFamily="34" charset="-122"/>
                <a:cs typeface="Consolas" pitchFamily="34" charset="-120"/>
              </a:rPr>
              <a:t>} else {</a:t>
            </a:r>
            <a:endParaRPr lang="en-US" sz="950" dirty="0"/>
          </a:p>
          <a:p>
            <a:pPr indent="0" marL="0">
              <a:buNone/>
            </a:pPr>
            <a:r>
              <a:rPr lang="en-US" sz="950" dirty="0">
                <a:solidFill>
                  <a:srgbClr val="111827"/>
                </a:solidFill>
                <a:latin typeface="Consolas" pitchFamily="34" charset="0"/>
                <a:ea typeface="Consolas" pitchFamily="34" charset="-122"/>
                <a:cs typeface="Consolas" pitchFamily="34" charset="-120"/>
              </a:rPr>
              <a:t>  console.log("有効な取引チャネルが見つかりません");</a:t>
            </a:r>
            <a:endParaRPr lang="en-US" sz="950" dirty="0"/>
          </a:p>
          <a:p>
            <a:pPr indent="0" marL="0">
              <a:buNone/>
            </a:pPr>
            <a:r>
              <a:rPr lang="en-US" sz="950" dirty="0">
                <a:solidFill>
                  <a:srgbClr val="111827"/>
                </a:solidFill>
                <a:latin typeface="Consolas" pitchFamily="34" charset="0"/>
                <a:ea typeface="Consolas" pitchFamily="34" charset="-122"/>
                <a:cs typeface="Consolas" pitchFamily="34" charset="-120"/>
              </a:rPr>
              <a:t>}</a:t>
            </a:r>
            <a:endParaRPr lang="en-US" sz="950" dirty="0"/>
          </a:p>
        </p:txBody>
      </p:sp>
      <p:sp>
        <p:nvSpPr>
          <p:cNvPr id="20" name="Text 17"/>
          <p:cNvSpPr/>
          <p:nvPr/>
        </p:nvSpPr>
        <p:spPr>
          <a:xfrm>
            <a:off x="6263640" y="2103120"/>
            <a:ext cx="5532120" cy="274320"/>
          </a:xfrm>
          <a:prstGeom prst="rect">
            <a:avLst/>
          </a:prstGeom>
          <a:noFill/>
          <a:ln/>
        </p:spPr>
        <p:txBody>
          <a:bodyPr wrap="square" rtlCol="0" anchor="ctr"/>
          <a:lstStyle/>
          <a:p>
            <a:pPr indent="0" marL="0">
              <a:buNone/>
            </a:pPr>
            <a:r>
              <a:rPr lang="en-US" sz="1100" dirty="0">
                <a:solidFill>
                  <a:srgbClr val="6B7280"/>
                </a:solidFill>
                <a:latin typeface="Meiryo UI" pitchFamily="34" charset="0"/>
                <a:ea typeface="Meiryo UI" pitchFamily="34" charset="-122"/>
                <a:cs typeface="Meiryo UI" pitchFamily="34" charset="-120"/>
              </a:rPr>
              <a:t>コピー用（この枠の中を全部コピーして、Post Response に貼り付ける）</a:t>
            </a:r>
            <a:endParaRPr lang="en-US" sz="1100" dirty="0"/>
          </a:p>
        </p:txBody>
      </p:sp>
      <p:sp>
        <p:nvSpPr>
          <p:cNvPr id="21" name="Shape 18"/>
          <p:cNvSpPr/>
          <p:nvPr/>
        </p:nvSpPr>
        <p:spPr>
          <a:xfrm>
            <a:off x="6263640" y="4590288"/>
            <a:ext cx="5532120" cy="685800"/>
          </a:xfrm>
          <a:prstGeom prst="rect">
            <a:avLst/>
          </a:prstGeom>
          <a:solidFill>
            <a:srgbClr val="EFF6FF"/>
          </a:solidFill>
          <a:ln w="15875">
            <a:solidFill>
              <a:srgbClr val="1D4ED8"/>
            </a:solidFill>
            <a:prstDash val="solid"/>
          </a:ln>
        </p:spPr>
      </p:sp>
      <p:sp>
        <p:nvSpPr>
          <p:cNvPr id="22" name="Shape 19"/>
          <p:cNvSpPr/>
          <p:nvPr/>
        </p:nvSpPr>
        <p:spPr>
          <a:xfrm>
            <a:off x="6263640" y="4590288"/>
            <a:ext cx="82296" cy="685800"/>
          </a:xfrm>
          <a:prstGeom prst="rect">
            <a:avLst/>
          </a:prstGeom>
          <a:solidFill>
            <a:srgbClr val="1D4ED8"/>
          </a:solidFill>
          <a:ln w="12700">
            <a:solidFill>
              <a:srgbClr val="1D4ED8"/>
            </a:solidFill>
            <a:prstDash val="solid"/>
          </a:ln>
        </p:spPr>
      </p:sp>
      <p:sp>
        <p:nvSpPr>
          <p:cNvPr id="23" name="Text 20"/>
          <p:cNvSpPr/>
          <p:nvPr/>
        </p:nvSpPr>
        <p:spPr>
          <a:xfrm>
            <a:off x="6428232" y="4636008"/>
            <a:ext cx="5303520" cy="594360"/>
          </a:xfrm>
          <a:prstGeom prst="rect">
            <a:avLst/>
          </a:prstGeom>
          <a:noFill/>
          <a:ln/>
        </p:spPr>
        <p:txBody>
          <a:bodyPr wrap="square" rtlCol="0" anchor="t"/>
          <a:lstStyle/>
          <a:p>
            <a:pPr indent="0" marL="0">
              <a:spcAft>
                <a:spcPts val="200"/>
              </a:spcAft>
              <a:buNone/>
            </a:pPr>
            <a:r>
              <a:rPr lang="en-US" sz="1100" b="1" dirty="0">
                <a:solidFill>
                  <a:srgbClr val="1D4ED8"/>
                </a:solidFill>
                <a:latin typeface="Meiryo UI" pitchFamily="34" charset="0"/>
                <a:ea typeface="Meiryo UI" pitchFamily="34" charset="-122"/>
                <a:cs typeface="Meiryo UI" pitchFamily="34" charset="-120"/>
              </a:rPr>
              <a:t>【ヒント】</a:t>
            </a:r>
            <a:endParaRPr lang="en-US" sz="1100" dirty="0"/>
          </a:p>
          <a:p>
            <a:pPr indent="0" marL="0">
              <a:spcAft>
                <a:spcPts val="200"/>
              </a:spcAft>
              <a:buNone/>
            </a:pPr>
            <a:r>
              <a:rPr lang="en-US" sz="1100" dirty="0">
                <a:solidFill>
                  <a:srgbClr val="1F2937"/>
                </a:solidFill>
                <a:latin typeface="Meiryo UI" pitchFamily="34" charset="0"/>
                <a:ea typeface="Meiryo UI" pitchFamily="34" charset="-122"/>
                <a:cs typeface="Meiryo UI" pitchFamily="34" charset="-120"/>
              </a:rPr>
              <a:t>既定（isDefault）の取引チャネル（なければ最初のチャネル）の id を、環境の channelId に保存します。</a:t>
            </a:r>
            <a:endParaRPr lang="en-US" sz="1100" dirty="0"/>
          </a:p>
        </p:txBody>
      </p:sp>
      <p:sp>
        <p:nvSpPr>
          <p:cNvPr id="24" name="Shape 21"/>
          <p:cNvSpPr/>
          <p:nvPr/>
        </p:nvSpPr>
        <p:spPr>
          <a:xfrm>
            <a:off x="548640" y="5788152"/>
            <a:ext cx="11064240" cy="329184"/>
          </a:xfrm>
          <a:prstGeom prst="rect">
            <a:avLst/>
          </a:prstGeom>
          <a:solidFill>
            <a:srgbClr val="ECFDF5"/>
          </a:solidFill>
          <a:ln w="12700">
            <a:solidFill>
              <a:srgbClr val="047857"/>
            </a:solidFill>
            <a:prstDash val="solid"/>
          </a:ln>
        </p:spPr>
      </p:sp>
      <p:sp>
        <p:nvSpPr>
          <p:cNvPr id="25" name="Text 22"/>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参考コレクション exercises\mambu-corporate-onboarding\03 Get Transaction Channels.yml を開いて、自分の入力と比べる</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ステップ①【9/9】環境を確認し、残りの 2 つを入れる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①は動作確認用の模擬サーバー（作成者の PC）に送って Script で保存された値で、Mambu には送っていません">    </p:cNvPr>
          <p:cNvPicPr>
            <a:picLocks noChangeAspect="1"/>
          </p:cNvPicPr>
          <p:nvPr/>
        </p:nvPicPr>
        <p:blipFill>
          <a:blip r:embed="rId1"/>
          <a:stretch>
            <a:fillRect/>
          </a:stretch>
        </p:blipFill>
        <p:spPr>
          <a:xfrm>
            <a:off x="411480" y="1051560"/>
            <a:ext cx="7680960" cy="4320540"/>
          </a:xfrm>
          <a:prstGeom prst="rect">
            <a:avLst/>
          </a:prstGeom>
        </p:spPr>
      </p:pic>
      <p:sp>
        <p:nvSpPr>
          <p:cNvPr id="7" name="Shape 4"/>
          <p:cNvSpPr/>
          <p:nvPr/>
        </p:nvSpPr>
        <p:spPr>
          <a:xfrm>
            <a:off x="411480" y="1051560"/>
            <a:ext cx="7680960" cy="4320540"/>
          </a:xfrm>
          <a:prstGeom prst="rect">
            <a:avLst/>
          </a:prstGeom>
          <a:ln w="9525">
            <a:solidFill>
              <a:srgbClr val="D1D5DB"/>
            </a:solidFill>
            <a:prstDash val="solid"/>
          </a:ln>
        </p:spPr>
      </p:sp>
      <p:sp>
        <p:nvSpPr>
          <p:cNvPr id="8" name="Text 5"/>
          <p:cNvSpPr/>
          <p:nvPr/>
        </p:nvSpPr>
        <p:spPr>
          <a:xfrm>
            <a:off x="411480" y="5390388"/>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撮影）。値はダミー。①は動作確認用の模擬サーバー（作成者の PC）に送って Script で保存された値で、Mambu には送っていません</a:t>
            </a:r>
            <a:endParaRPr lang="en-US" sz="1000" dirty="0"/>
          </a:p>
        </p:txBody>
      </p:sp>
      <p:sp>
        <p:nvSpPr>
          <p:cNvPr id="9" name="Shape 6"/>
          <p:cNvSpPr/>
          <p:nvPr/>
        </p:nvSpPr>
        <p:spPr>
          <a:xfrm>
            <a:off x="3379165" y="3635197"/>
            <a:ext cx="4395521" cy="708660"/>
          </a:xfrm>
          <a:prstGeom prst="rect">
            <a:avLst/>
          </a:prstGeom>
          <a:ln w="28575">
            <a:solidFill>
              <a:srgbClr val="E11D2E"/>
            </a:solidFill>
            <a:prstDash val="solid"/>
          </a:ln>
        </p:spPr>
      </p:sp>
      <p:sp>
        <p:nvSpPr>
          <p:cNvPr id="10" name="Shape 7"/>
          <p:cNvSpPr/>
          <p:nvPr/>
        </p:nvSpPr>
        <p:spPr>
          <a:xfrm>
            <a:off x="3086557" y="3852367"/>
            <a:ext cx="274320" cy="274320"/>
          </a:xfrm>
          <a:prstGeom prst="ellipse">
            <a:avLst/>
          </a:prstGeom>
          <a:solidFill>
            <a:srgbClr val="E11D2E"/>
          </a:solidFill>
          <a:ln w="15875">
            <a:solidFill>
              <a:srgbClr val="FFFFFF"/>
            </a:solidFill>
            <a:prstDash val="solid"/>
          </a:ln>
        </p:spPr>
      </p:sp>
      <p:sp>
        <p:nvSpPr>
          <p:cNvPr id="11" name="Text 8"/>
          <p:cNvSpPr/>
          <p:nvPr/>
        </p:nvSpPr>
        <p:spPr>
          <a:xfrm>
            <a:off x="3086557" y="3852367"/>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3379165" y="2963113"/>
            <a:ext cx="4395521" cy="708660"/>
          </a:xfrm>
          <a:prstGeom prst="rect">
            <a:avLst/>
          </a:prstGeom>
          <a:ln w="28575">
            <a:solidFill>
              <a:srgbClr val="E11D2E"/>
            </a:solidFill>
            <a:prstDash val="solid"/>
          </a:ln>
        </p:spPr>
      </p:sp>
      <p:sp>
        <p:nvSpPr>
          <p:cNvPr id="13" name="Shape 10"/>
          <p:cNvSpPr/>
          <p:nvPr/>
        </p:nvSpPr>
        <p:spPr>
          <a:xfrm>
            <a:off x="3086557" y="3180283"/>
            <a:ext cx="274320" cy="274320"/>
          </a:xfrm>
          <a:prstGeom prst="ellipse">
            <a:avLst/>
          </a:prstGeom>
          <a:solidFill>
            <a:srgbClr val="E11D2E"/>
          </a:solidFill>
          <a:ln w="15875">
            <a:solidFill>
              <a:srgbClr val="FFFFFF"/>
            </a:solidFill>
            <a:prstDash val="solid"/>
          </a:ln>
        </p:spPr>
      </p:sp>
      <p:sp>
        <p:nvSpPr>
          <p:cNvPr id="14" name="Text 11"/>
          <p:cNvSpPr/>
          <p:nvPr/>
        </p:nvSpPr>
        <p:spPr>
          <a:xfrm>
            <a:off x="3086557" y="3180283"/>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Shape 12"/>
          <p:cNvSpPr/>
          <p:nvPr/>
        </p:nvSpPr>
        <p:spPr>
          <a:xfrm>
            <a:off x="508406" y="4720133"/>
            <a:ext cx="612648" cy="324612"/>
          </a:xfrm>
          <a:prstGeom prst="rect">
            <a:avLst/>
          </a:prstGeom>
          <a:ln w="28575">
            <a:solidFill>
              <a:srgbClr val="E11D2E"/>
            </a:solidFill>
            <a:prstDash val="solid"/>
          </a:ln>
        </p:spPr>
      </p:sp>
      <p:sp>
        <p:nvSpPr>
          <p:cNvPr id="16" name="Shape 13"/>
          <p:cNvSpPr/>
          <p:nvPr/>
        </p:nvSpPr>
        <p:spPr>
          <a:xfrm>
            <a:off x="215798" y="4745279"/>
            <a:ext cx="274320" cy="274320"/>
          </a:xfrm>
          <a:prstGeom prst="ellipse">
            <a:avLst/>
          </a:prstGeom>
          <a:solidFill>
            <a:srgbClr val="E11D2E"/>
          </a:solidFill>
          <a:ln w="15875">
            <a:solidFill>
              <a:srgbClr val="FFFFFF"/>
            </a:solidFill>
            <a:prstDash val="solid"/>
          </a:ln>
        </p:spPr>
      </p:sp>
      <p:sp>
        <p:nvSpPr>
          <p:cNvPr id="17" name="Text 14"/>
          <p:cNvSpPr/>
          <p:nvPr/>
        </p:nvSpPr>
        <p:spPr>
          <a:xfrm>
            <a:off x="215798" y="4745279"/>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8" name="Text 15"/>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実際の環境で 02・03 を Send すると、depositProductKey と channelId に値が自動で入る（Script が保存。この教材では Send しないので SET_BY_ORGANIZATION のまま）</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groupTypeKey・roleNameKey だけは組織から受け取った値を手で入力する（API で取る方法が公式資料で確認できていないため）</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③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「Save」をクリック</a:t>
            </a:r>
            <a:endParaRPr lang="en-US" sz="1300" dirty="0"/>
          </a:p>
        </p:txBody>
      </p:sp>
      <p:sp>
        <p:nvSpPr>
          <p:cNvPr id="19" name="Shape 16"/>
          <p:cNvSpPr/>
          <p:nvPr/>
        </p:nvSpPr>
        <p:spPr>
          <a:xfrm>
            <a:off x="8275320" y="4023360"/>
            <a:ext cx="3520440" cy="1600200"/>
          </a:xfrm>
          <a:prstGeom prst="rect">
            <a:avLst/>
          </a:prstGeom>
          <a:solidFill>
            <a:srgbClr val="EFF6FF"/>
          </a:solidFill>
          <a:ln w="15875">
            <a:solidFill>
              <a:srgbClr val="1D4ED8"/>
            </a:solidFill>
            <a:prstDash val="solid"/>
          </a:ln>
        </p:spPr>
      </p:sp>
      <p:sp>
        <p:nvSpPr>
          <p:cNvPr id="20" name="Shape 17"/>
          <p:cNvSpPr/>
          <p:nvPr/>
        </p:nvSpPr>
        <p:spPr>
          <a:xfrm>
            <a:off x="8275320" y="4023360"/>
            <a:ext cx="82296" cy="1600200"/>
          </a:xfrm>
          <a:prstGeom prst="rect">
            <a:avLst/>
          </a:prstGeom>
          <a:solidFill>
            <a:srgbClr val="1D4ED8"/>
          </a:solidFill>
          <a:ln w="12700">
            <a:solidFill>
              <a:srgbClr val="1D4ED8"/>
            </a:solidFill>
            <a:prstDash val="solid"/>
          </a:ln>
        </p:spPr>
      </p:sp>
      <p:sp>
        <p:nvSpPr>
          <p:cNvPr id="21" name="Text 18"/>
          <p:cNvSpPr/>
          <p:nvPr/>
        </p:nvSpPr>
        <p:spPr>
          <a:xfrm>
            <a:off x="8439912" y="4069080"/>
            <a:ext cx="3291840" cy="1508760"/>
          </a:xfrm>
          <a:prstGeom prst="rect">
            <a:avLst/>
          </a:prstGeom>
          <a:noFill/>
          <a:ln/>
        </p:spPr>
        <p:txBody>
          <a:bodyPr wrap="square" rtlCol="0" anchor="t"/>
          <a:lstStyle/>
          <a:p>
            <a:pPr indent="0" marL="0">
              <a:spcAft>
                <a:spcPts val="200"/>
              </a:spcAft>
              <a:buNone/>
            </a:pPr>
            <a:r>
              <a:rPr lang="en-US" sz="1150" b="1" dirty="0">
                <a:solidFill>
                  <a:srgbClr val="1D4ED8"/>
                </a:solidFill>
                <a:latin typeface="Meiryo UI" pitchFamily="34" charset="0"/>
                <a:ea typeface="Meiryo UI" pitchFamily="34" charset="-122"/>
                <a:cs typeface="Meiryo UI" pitchFamily="34" charset="-120"/>
              </a:rPr>
              <a:t>【ヒント】</a:t>
            </a:r>
            <a:endParaRPr lang="en-US" sz="1150" dirty="0"/>
          </a:p>
          <a:p>
            <a:pPr indent="0" marL="0">
              <a:spcAft>
                <a:spcPts val="200"/>
              </a:spcAft>
              <a:buNone/>
            </a:pPr>
            <a:r>
              <a:rPr lang="en-US" sz="1150" dirty="0">
                <a:solidFill>
                  <a:srgbClr val="1F2937"/>
                </a:solidFill>
                <a:latin typeface="Meiryo UI" pitchFamily="34" charset="0"/>
                <a:ea typeface="Meiryo UI" pitchFamily="34" charset="-122"/>
                <a:cs typeface="Meiryo UI" pitchFamily="34" charset="-120"/>
              </a:rPr>
              <a:t>bru.setVar（ステップ②〜④で使う）はその場かぎりの値ですが、bru.setEnvVar は環境に保存され、Bruno を閉じても残ります（v4 の公式ドキュメント）。</a:t>
            </a:r>
            <a:endParaRPr lang="en-US" sz="115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ステップ②：役員を個人顧客（Client）として登録する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6" name="Text 4"/>
          <p:cNvSpPr/>
          <p:nvPr/>
        </p:nvSpPr>
        <p:spPr>
          <a:xfrm>
            <a:off x="365760" y="6144768"/>
            <a:ext cx="11430000" cy="292608"/>
          </a:xfrm>
          <a:prstGeom prst="rect">
            <a:avLst/>
          </a:prstGeom>
          <a:noFill/>
          <a:ln/>
        </p:spPr>
        <p:txBody>
          <a:bodyPr wrap="square" rtlCol="0" anchor="t"/>
          <a:lstStyle/>
          <a:p>
            <a:pPr indent="0" marL="0">
              <a:buNone/>
            </a:pPr>
            <a:r>
              <a:rPr lang="en-US" sz="1000" dirty="0">
                <a:solidFill>
                  <a:srgbClr val="6B7280"/>
                </a:solidFill>
                <a:latin typeface="Meiryo UI" pitchFamily="34" charset="0"/>
                <a:ea typeface="Meiryo UI" pitchFamily="34" charset="-122"/>
                <a:cs typeface="Meiryo UI" pitchFamily="34" charset="-120"/>
              </a:rPr>
              <a:t>出典：https://docs.mambu.com/swagger_files/v2/clients.json（公式 OpenAPI、2026-10-09 確認）</a:t>
            </a:r>
            <a:endParaRPr lang="en-US" sz="10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11064240" cy="914400"/>
        </p:xfrm>
        <a:graphic>
          <a:graphicData uri="http://schemas.openxmlformats.org/drawingml/2006/table">
            <a:tbl>
              <a:tblPr/>
              <a:tblGrid>
                <a:gridCol w="2377440"/>
                <a:gridCol w="8686800"/>
              </a:tblGrid>
              <a:tr h="457200">
                <a:tc>
                  <a:txBody>
                    <a:bodyPr/>
                    <a:lstStyle/>
                    <a:p>
                      <a:pPr indent="0" marL="0">
                        <a:buNone/>
                      </a:pPr>
                      <a:r>
                        <a:rPr lang="en-US" sz="1400" b="1" dirty="0">
                          <a:solidFill>
                            <a:srgbClr val="FFFFFF"/>
                          </a:solidFill>
                          <a:latin typeface="Meiryo UI" pitchFamily="34" charset="0"/>
                          <a:ea typeface="Meiryo UI" pitchFamily="34" charset="-122"/>
                          <a:cs typeface="Meiryo UI" pitchFamily="34" charset="-120"/>
                        </a:rPr>
                        <a:t>項目</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Meiryo UI" pitchFamily="34" charset="0"/>
                          <a:ea typeface="Meiryo UI" pitchFamily="34" charset="-122"/>
                          <a:cs typeface="Meiryo UI" pitchFamily="34" charset="-120"/>
                        </a:rPr>
                        <a:t>内容</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45720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目的</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法人のメンバー（代表取締役など）になる人を、先に個人の顧客として登録する</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作るリクエスト</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04 Create Director Client：POST {{baseUrl}}/clients</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5720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使う値（入力）</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{{branchKey}}（準備3 で入れた環境変数）、{{$randomUUID}}（Bruno が送信のたびに作る値）</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保存する値（出力）</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レスポンスの encodedKey → 変数 directorClientKey（ステップ③で使う）</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5720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アサーション</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res.status equals 201</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8" name="Text 5"/>
          <p:cNvSpPr/>
          <p:nvPr/>
        </p:nvSpPr>
        <p:spPr>
          <a:xfrm>
            <a:off x="548640" y="4572000"/>
            <a:ext cx="11064240" cy="411480"/>
          </a:xfrm>
          <a:prstGeom prst="rect">
            <a:avLst/>
          </a:prstGeom>
          <a:noFill/>
          <a:ln/>
        </p:spPr>
        <p:txBody>
          <a:bodyPr wrap="square" lIns="50800" tIns="50800" rIns="50800" bIns="50800" rtlCol="0" anchor="t"/>
          <a:lstStyle/>
          <a:p>
            <a:pPr algn="l" indent="0" marL="0">
              <a:buNone/>
            </a:pPr>
            <a:r>
              <a:rPr lang="en-US" sz="1400" b="1" dirty="0">
                <a:solidFill>
                  <a:srgbClr val="1F3A5F"/>
                </a:solidFill>
                <a:latin typeface="Meiryo UI" pitchFamily="34" charset="0"/>
                <a:ea typeface="Meiryo UI" pitchFamily="34" charset="-122"/>
                <a:cs typeface="Meiryo UI" pitchFamily="34" charset="-120"/>
              </a:rPr>
              <a:t>手順：New Request（POST を選ぶ）→ Headers → Body（JSON）→ Script → Assert → 保存</a:t>
            </a:r>
            <a:endParaRPr lang="en-US" sz="1400" dirty="0"/>
          </a:p>
        </p:txBody>
      </p:sp>
      <p:sp>
        <p:nvSpPr>
          <p:cNvPr id="9" name="Shape 6"/>
          <p:cNvSpPr/>
          <p:nvPr/>
        </p:nvSpPr>
        <p:spPr>
          <a:xfrm>
            <a:off x="548640" y="5029200"/>
            <a:ext cx="11064240" cy="685800"/>
          </a:xfrm>
          <a:prstGeom prst="rect">
            <a:avLst/>
          </a:prstGeom>
          <a:solidFill>
            <a:srgbClr val="EFF6FF"/>
          </a:solidFill>
          <a:ln w="15875">
            <a:solidFill>
              <a:srgbClr val="1D4ED8"/>
            </a:solidFill>
            <a:prstDash val="solid"/>
          </a:ln>
        </p:spPr>
      </p:sp>
      <p:sp>
        <p:nvSpPr>
          <p:cNvPr id="10" name="Shape 7"/>
          <p:cNvSpPr/>
          <p:nvPr/>
        </p:nvSpPr>
        <p:spPr>
          <a:xfrm>
            <a:off x="548640" y="5029200"/>
            <a:ext cx="82296" cy="685800"/>
          </a:xfrm>
          <a:prstGeom prst="rect">
            <a:avLst/>
          </a:prstGeom>
          <a:solidFill>
            <a:srgbClr val="1D4ED8"/>
          </a:solidFill>
          <a:ln w="12700">
            <a:solidFill>
              <a:srgbClr val="1D4ED8"/>
            </a:solidFill>
            <a:prstDash val="solid"/>
          </a:ln>
        </p:spPr>
      </p:sp>
      <p:sp>
        <p:nvSpPr>
          <p:cNvPr id="11" name="Text 8"/>
          <p:cNvSpPr/>
          <p:nvPr/>
        </p:nvSpPr>
        <p:spPr>
          <a:xfrm>
            <a:off x="713232" y="5074920"/>
            <a:ext cx="10835640" cy="594360"/>
          </a:xfrm>
          <a:prstGeom prst="rect">
            <a:avLst/>
          </a:prstGeom>
          <a:noFill/>
          <a:ln/>
        </p:spPr>
        <p:txBody>
          <a:bodyPr wrap="square" rtlCol="0" anchor="ctr"/>
          <a:lstStyle/>
          <a:p>
            <a:pPr indent="0" marL="0">
              <a:spcAft>
                <a:spcPts val="200"/>
              </a:spcAft>
              <a:buNone/>
            </a:pPr>
            <a:r>
              <a:rPr lang="en-US" sz="1250" b="1" dirty="0">
                <a:solidFill>
                  <a:srgbClr val="1D4ED8"/>
                </a:solidFill>
                <a:latin typeface="Meiryo UI" pitchFamily="34" charset="0"/>
                <a:ea typeface="Meiryo UI" pitchFamily="34" charset="-122"/>
                <a:cs typeface="Meiryo UI" pitchFamily="34" charset="-120"/>
              </a:rPr>
              <a:t>【ヒント】</a:t>
            </a:r>
            <a:endParaRPr lang="en-US" sz="1250" dirty="0"/>
          </a:p>
          <a:p>
            <a:pPr indent="0" marL="0">
              <a:spcAft>
                <a:spcPts val="200"/>
              </a:spcAft>
              <a:buNone/>
            </a:pPr>
            <a:r>
              <a:rPr lang="en-US" sz="1250" dirty="0">
                <a:solidFill>
                  <a:srgbClr val="1F2937"/>
                </a:solidFill>
                <a:latin typeface="Meiryo UI" pitchFamily="34" charset="0"/>
                <a:ea typeface="Meiryo UI" pitchFamily="34" charset="-122"/>
                <a:cs typeface="Meiryo UI" pitchFamily="34" charset="-120"/>
              </a:rPr>
              <a:t>POST のリクエストは GET より設定する場所が多くなります。ステップ②で Headers・Body・Script の入れ方を 1 つずつ説明します。</a:t>
            </a:r>
            <a:endParaRPr lang="en-US" sz="125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ステップ②【1/9】New Request でメソッドを POST にする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4242054" cy="4343400"/>
          </a:xfrm>
          <a:prstGeom prst="rect">
            <a:avLst/>
          </a:prstGeom>
        </p:spPr>
      </p:pic>
      <p:sp>
        <p:nvSpPr>
          <p:cNvPr id="7" name="Shape 4"/>
          <p:cNvSpPr/>
          <p:nvPr/>
        </p:nvSpPr>
        <p:spPr>
          <a:xfrm>
            <a:off x="411480" y="1051560"/>
            <a:ext cx="4242054" cy="4343400"/>
          </a:xfrm>
          <a:prstGeom prst="rect">
            <a:avLst/>
          </a:prstGeom>
          <a:ln w="9525">
            <a:solidFill>
              <a:srgbClr val="D1D5DB"/>
            </a:solidFill>
            <a:prstDash val="solid"/>
          </a:ln>
        </p:spPr>
      </p:sp>
      <p:sp>
        <p:nvSpPr>
          <p:cNvPr id="8" name="Text 5"/>
          <p:cNvSpPr/>
          <p:nvPr/>
        </p:nvSpPr>
        <p:spPr>
          <a:xfrm>
            <a:off x="411480" y="5413248"/>
            <a:ext cx="4242054"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827532" y="2372487"/>
            <a:ext cx="3409950" cy="282702"/>
          </a:xfrm>
          <a:prstGeom prst="rect">
            <a:avLst/>
          </a:prstGeom>
          <a:ln w="28575">
            <a:solidFill>
              <a:srgbClr val="E11D2E"/>
            </a:solidFill>
            <a:prstDash val="solid"/>
          </a:ln>
        </p:spPr>
      </p:sp>
      <p:sp>
        <p:nvSpPr>
          <p:cNvPr id="10" name="Shape 7"/>
          <p:cNvSpPr/>
          <p:nvPr/>
        </p:nvSpPr>
        <p:spPr>
          <a:xfrm>
            <a:off x="534924" y="2376678"/>
            <a:ext cx="274320" cy="274320"/>
          </a:xfrm>
          <a:prstGeom prst="ellipse">
            <a:avLst/>
          </a:prstGeom>
          <a:solidFill>
            <a:srgbClr val="E11D2E"/>
          </a:solidFill>
          <a:ln w="15875">
            <a:solidFill>
              <a:srgbClr val="FFFFFF"/>
            </a:solidFill>
            <a:prstDash val="solid"/>
          </a:ln>
        </p:spPr>
      </p:sp>
      <p:sp>
        <p:nvSpPr>
          <p:cNvPr id="11" name="Text 8"/>
          <p:cNvSpPr/>
          <p:nvPr/>
        </p:nvSpPr>
        <p:spPr>
          <a:xfrm>
            <a:off x="534924" y="237667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827532" y="2944368"/>
            <a:ext cx="528828" cy="282702"/>
          </a:xfrm>
          <a:prstGeom prst="rect">
            <a:avLst/>
          </a:prstGeom>
          <a:ln w="28575">
            <a:solidFill>
              <a:srgbClr val="E11D2E"/>
            </a:solidFill>
            <a:prstDash val="solid"/>
          </a:ln>
        </p:spPr>
      </p:sp>
      <p:sp>
        <p:nvSpPr>
          <p:cNvPr id="13" name="Shape 10"/>
          <p:cNvSpPr/>
          <p:nvPr/>
        </p:nvSpPr>
        <p:spPr>
          <a:xfrm>
            <a:off x="534924" y="2948559"/>
            <a:ext cx="274320" cy="274320"/>
          </a:xfrm>
          <a:prstGeom prst="ellipse">
            <a:avLst/>
          </a:prstGeom>
          <a:solidFill>
            <a:srgbClr val="E11D2E"/>
          </a:solidFill>
          <a:ln w="15875">
            <a:solidFill>
              <a:srgbClr val="FFFFFF"/>
            </a:solidFill>
            <a:prstDash val="solid"/>
          </a:ln>
        </p:spPr>
      </p:sp>
      <p:sp>
        <p:nvSpPr>
          <p:cNvPr id="14" name="Text 11"/>
          <p:cNvSpPr/>
          <p:nvPr/>
        </p:nvSpPr>
        <p:spPr>
          <a:xfrm>
            <a:off x="534924" y="2948559"/>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Shape 12"/>
          <p:cNvSpPr/>
          <p:nvPr/>
        </p:nvSpPr>
        <p:spPr>
          <a:xfrm>
            <a:off x="870966" y="3422142"/>
            <a:ext cx="774954" cy="195834"/>
          </a:xfrm>
          <a:prstGeom prst="rect">
            <a:avLst/>
          </a:prstGeom>
          <a:ln w="28575">
            <a:solidFill>
              <a:srgbClr val="E11D2E"/>
            </a:solidFill>
            <a:prstDash val="solid"/>
          </a:ln>
        </p:spPr>
      </p:sp>
      <p:sp>
        <p:nvSpPr>
          <p:cNvPr id="16" name="Shape 13"/>
          <p:cNvSpPr/>
          <p:nvPr/>
        </p:nvSpPr>
        <p:spPr>
          <a:xfrm>
            <a:off x="578358" y="3382899"/>
            <a:ext cx="274320" cy="274320"/>
          </a:xfrm>
          <a:prstGeom prst="ellipse">
            <a:avLst/>
          </a:prstGeom>
          <a:solidFill>
            <a:srgbClr val="E11D2E"/>
          </a:solidFill>
          <a:ln w="15875">
            <a:solidFill>
              <a:srgbClr val="FFFFFF"/>
            </a:solidFill>
            <a:prstDash val="solid"/>
          </a:ln>
        </p:spPr>
      </p:sp>
      <p:sp>
        <p:nvSpPr>
          <p:cNvPr id="17" name="Text 14"/>
          <p:cNvSpPr/>
          <p:nvPr/>
        </p:nvSpPr>
        <p:spPr>
          <a:xfrm>
            <a:off x="578358" y="3382899"/>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8" name="Text 15"/>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右クリック → New Request。Request Name：04 Create Director Client</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URL 欄の左の「GET ▼」をクリック</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③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一覧から「POST」を選ぶ</a:t>
            </a:r>
            <a:endParaRPr lang="en-US" sz="1300" dirty="0"/>
          </a:p>
        </p:txBody>
      </p:sp>
      <p:sp>
        <p:nvSpPr>
          <p:cNvPr id="19" name="Shape 16"/>
          <p:cNvSpPr/>
          <p:nvPr/>
        </p:nvSpPr>
        <p:spPr>
          <a:xfrm>
            <a:off x="8275320" y="4114800"/>
            <a:ext cx="3520440" cy="1508760"/>
          </a:xfrm>
          <a:prstGeom prst="rect">
            <a:avLst/>
          </a:prstGeom>
          <a:solidFill>
            <a:srgbClr val="EFF6FF"/>
          </a:solidFill>
          <a:ln w="15875">
            <a:solidFill>
              <a:srgbClr val="1D4ED8"/>
            </a:solidFill>
            <a:prstDash val="solid"/>
          </a:ln>
        </p:spPr>
      </p:sp>
      <p:sp>
        <p:nvSpPr>
          <p:cNvPr id="20" name="Shape 17"/>
          <p:cNvSpPr/>
          <p:nvPr/>
        </p:nvSpPr>
        <p:spPr>
          <a:xfrm>
            <a:off x="8275320" y="4114800"/>
            <a:ext cx="82296" cy="1508760"/>
          </a:xfrm>
          <a:prstGeom prst="rect">
            <a:avLst/>
          </a:prstGeom>
          <a:solidFill>
            <a:srgbClr val="1D4ED8"/>
          </a:solidFill>
          <a:ln w="12700">
            <a:solidFill>
              <a:srgbClr val="1D4ED8"/>
            </a:solidFill>
            <a:prstDash val="solid"/>
          </a:ln>
        </p:spPr>
      </p:sp>
      <p:sp>
        <p:nvSpPr>
          <p:cNvPr id="21" name="Text 18"/>
          <p:cNvSpPr/>
          <p:nvPr/>
        </p:nvSpPr>
        <p:spPr>
          <a:xfrm>
            <a:off x="8439912" y="4160520"/>
            <a:ext cx="3291840" cy="1417320"/>
          </a:xfrm>
          <a:prstGeom prst="rect">
            <a:avLst/>
          </a:prstGeom>
          <a:noFill/>
          <a:ln/>
        </p:spPr>
        <p:txBody>
          <a:bodyPr wrap="square" rtlCol="0" anchor="t"/>
          <a:lstStyle/>
          <a:p>
            <a:pPr indent="0" marL="0">
              <a:spcAft>
                <a:spcPts val="200"/>
              </a:spcAft>
              <a:buNone/>
            </a:pPr>
            <a:r>
              <a:rPr lang="en-US" sz="1150" b="1" dirty="0">
                <a:solidFill>
                  <a:srgbClr val="1D4ED8"/>
                </a:solidFill>
                <a:latin typeface="Meiryo UI" pitchFamily="34" charset="0"/>
                <a:ea typeface="Meiryo UI" pitchFamily="34" charset="-122"/>
                <a:cs typeface="Meiryo UI" pitchFamily="34" charset="-120"/>
              </a:rPr>
              <a:t>【ヒント】</a:t>
            </a:r>
            <a:endParaRPr lang="en-US" sz="1150" dirty="0"/>
          </a:p>
          <a:p>
            <a:pPr indent="0" marL="0">
              <a:spcAft>
                <a:spcPts val="200"/>
              </a:spcAft>
              <a:buNone/>
            </a:pPr>
            <a:r>
              <a:rPr lang="en-US" sz="1150" dirty="0">
                <a:solidFill>
                  <a:srgbClr val="1F2937"/>
                </a:solidFill>
                <a:latin typeface="Meiryo UI" pitchFamily="34" charset="0"/>
                <a:ea typeface="Meiryo UI" pitchFamily="34" charset="-122"/>
                <a:cs typeface="Meiryo UI" pitchFamily="34" charset="-120"/>
              </a:rPr>
              <a:t>メソッドは、作ったあとに URL 欄の左（リクエストの画面）でも変えられます。</a:t>
            </a:r>
            <a:endParaRPr lang="en-US" sz="115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ステップ②【2/9】URL を入力して Create</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6363081" cy="4343400"/>
          </a:xfrm>
          <a:prstGeom prst="rect">
            <a:avLst/>
          </a:prstGeom>
        </p:spPr>
      </p:pic>
      <p:sp>
        <p:nvSpPr>
          <p:cNvPr id="7" name="Shape 4"/>
          <p:cNvSpPr/>
          <p:nvPr/>
        </p:nvSpPr>
        <p:spPr>
          <a:xfrm>
            <a:off x="411480" y="1051560"/>
            <a:ext cx="6363081" cy="4343400"/>
          </a:xfrm>
          <a:prstGeom prst="rect">
            <a:avLst/>
          </a:prstGeom>
          <a:ln w="9525">
            <a:solidFill>
              <a:srgbClr val="D1D5DB"/>
            </a:solidFill>
            <a:prstDash val="solid"/>
          </a:ln>
        </p:spPr>
      </p:sp>
      <p:sp>
        <p:nvSpPr>
          <p:cNvPr id="8" name="Text 5"/>
          <p:cNvSpPr/>
          <p:nvPr/>
        </p:nvSpPr>
        <p:spPr>
          <a:xfrm>
            <a:off x="411480" y="5413248"/>
            <a:ext cx="6363081"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1044702" y="3899916"/>
            <a:ext cx="774954" cy="405765"/>
          </a:xfrm>
          <a:prstGeom prst="rect">
            <a:avLst/>
          </a:prstGeom>
          <a:ln w="28575">
            <a:solidFill>
              <a:srgbClr val="E11D2E"/>
            </a:solidFill>
            <a:prstDash val="solid"/>
          </a:ln>
        </p:spPr>
      </p:sp>
      <p:sp>
        <p:nvSpPr>
          <p:cNvPr id="10" name="Shape 7"/>
          <p:cNvSpPr/>
          <p:nvPr/>
        </p:nvSpPr>
        <p:spPr>
          <a:xfrm>
            <a:off x="752094" y="3965638"/>
            <a:ext cx="274320" cy="274320"/>
          </a:xfrm>
          <a:prstGeom prst="ellipse">
            <a:avLst/>
          </a:prstGeom>
          <a:solidFill>
            <a:srgbClr val="E11D2E"/>
          </a:solidFill>
          <a:ln w="15875">
            <a:solidFill>
              <a:srgbClr val="FFFFFF"/>
            </a:solidFill>
            <a:prstDash val="solid"/>
          </a:ln>
        </p:spPr>
      </p:sp>
      <p:sp>
        <p:nvSpPr>
          <p:cNvPr id="11" name="Text 8"/>
          <p:cNvSpPr/>
          <p:nvPr/>
        </p:nvSpPr>
        <p:spPr>
          <a:xfrm>
            <a:off x="752094" y="396563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1044702" y="3899916"/>
            <a:ext cx="5096637" cy="405765"/>
          </a:xfrm>
          <a:prstGeom prst="rect">
            <a:avLst/>
          </a:prstGeom>
          <a:ln w="28575">
            <a:solidFill>
              <a:srgbClr val="E11D2E"/>
            </a:solidFill>
            <a:prstDash val="solid"/>
          </a:ln>
        </p:spPr>
      </p:sp>
      <p:sp>
        <p:nvSpPr>
          <p:cNvPr id="13" name="Shape 10"/>
          <p:cNvSpPr/>
          <p:nvPr/>
        </p:nvSpPr>
        <p:spPr>
          <a:xfrm>
            <a:off x="6004179" y="3762756"/>
            <a:ext cx="274320" cy="274320"/>
          </a:xfrm>
          <a:prstGeom prst="ellipse">
            <a:avLst/>
          </a:prstGeom>
          <a:solidFill>
            <a:srgbClr val="E11D2E"/>
          </a:solidFill>
          <a:ln w="15875">
            <a:solidFill>
              <a:srgbClr val="FFFFFF"/>
            </a:solidFill>
            <a:prstDash val="solid"/>
          </a:ln>
        </p:spPr>
      </p:sp>
      <p:sp>
        <p:nvSpPr>
          <p:cNvPr id="14" name="Text 11"/>
          <p:cNvSpPr/>
          <p:nvPr/>
        </p:nvSpPr>
        <p:spPr>
          <a:xfrm>
            <a:off x="6004179" y="376275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Shape 12"/>
          <p:cNvSpPr/>
          <p:nvPr/>
        </p:nvSpPr>
        <p:spPr>
          <a:xfrm>
            <a:off x="5322951" y="4594860"/>
            <a:ext cx="818388" cy="362331"/>
          </a:xfrm>
          <a:prstGeom prst="rect">
            <a:avLst/>
          </a:prstGeom>
          <a:ln w="28575">
            <a:solidFill>
              <a:srgbClr val="E11D2E"/>
            </a:solidFill>
            <a:prstDash val="solid"/>
          </a:ln>
        </p:spPr>
      </p:sp>
      <p:sp>
        <p:nvSpPr>
          <p:cNvPr id="16" name="Shape 13"/>
          <p:cNvSpPr/>
          <p:nvPr/>
        </p:nvSpPr>
        <p:spPr>
          <a:xfrm>
            <a:off x="6159627" y="4638865"/>
            <a:ext cx="274320" cy="274320"/>
          </a:xfrm>
          <a:prstGeom prst="ellipse">
            <a:avLst/>
          </a:prstGeom>
          <a:solidFill>
            <a:srgbClr val="E11D2E"/>
          </a:solidFill>
          <a:ln w="15875">
            <a:solidFill>
              <a:srgbClr val="FFFFFF"/>
            </a:solidFill>
            <a:prstDash val="solid"/>
          </a:ln>
        </p:spPr>
      </p:sp>
      <p:sp>
        <p:nvSpPr>
          <p:cNvPr id="17" name="Text 14"/>
          <p:cNvSpPr/>
          <p:nvPr/>
        </p:nvSpPr>
        <p:spPr>
          <a:xfrm>
            <a:off x="6159627" y="4638865"/>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8" name="Text 15"/>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メソッドが POST になっていることを確認</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URL：{{baseUrl}}/clients</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③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「Create」をクリック</a:t>
            </a:r>
            <a:endParaRPr lang="en-US" sz="1300" dirty="0"/>
          </a:p>
        </p:txBody>
      </p:sp>
      <p:sp>
        <p:nvSpPr>
          <p:cNvPr id="19" name="Shape 16"/>
          <p:cNvSpPr/>
          <p:nvPr/>
        </p:nvSpPr>
        <p:spPr>
          <a:xfrm>
            <a:off x="8275320" y="4114800"/>
            <a:ext cx="3520440" cy="1508760"/>
          </a:xfrm>
          <a:prstGeom prst="rect">
            <a:avLst/>
          </a:prstGeom>
          <a:solidFill>
            <a:srgbClr val="EFF6FF"/>
          </a:solidFill>
          <a:ln w="15875">
            <a:solidFill>
              <a:srgbClr val="1D4ED8"/>
            </a:solidFill>
            <a:prstDash val="solid"/>
          </a:ln>
        </p:spPr>
      </p:sp>
      <p:sp>
        <p:nvSpPr>
          <p:cNvPr id="20" name="Shape 17"/>
          <p:cNvSpPr/>
          <p:nvPr/>
        </p:nvSpPr>
        <p:spPr>
          <a:xfrm>
            <a:off x="8275320" y="4114800"/>
            <a:ext cx="82296" cy="1508760"/>
          </a:xfrm>
          <a:prstGeom prst="rect">
            <a:avLst/>
          </a:prstGeom>
          <a:solidFill>
            <a:srgbClr val="1D4ED8"/>
          </a:solidFill>
          <a:ln w="12700">
            <a:solidFill>
              <a:srgbClr val="1D4ED8"/>
            </a:solidFill>
            <a:prstDash val="solid"/>
          </a:ln>
        </p:spPr>
      </p:sp>
      <p:sp>
        <p:nvSpPr>
          <p:cNvPr id="21" name="Text 18"/>
          <p:cNvSpPr/>
          <p:nvPr/>
        </p:nvSpPr>
        <p:spPr>
          <a:xfrm>
            <a:off x="8439912" y="4160520"/>
            <a:ext cx="3291840" cy="1417320"/>
          </a:xfrm>
          <a:prstGeom prst="rect">
            <a:avLst/>
          </a:prstGeom>
          <a:noFill/>
          <a:ln/>
        </p:spPr>
        <p:txBody>
          <a:bodyPr wrap="square" rtlCol="0" anchor="t"/>
          <a:lstStyle/>
          <a:p>
            <a:pPr indent="0" marL="0">
              <a:spcAft>
                <a:spcPts val="200"/>
              </a:spcAft>
              <a:buNone/>
            </a:pPr>
            <a:r>
              <a:rPr lang="en-US" sz="1150" b="1" dirty="0">
                <a:solidFill>
                  <a:srgbClr val="1D4ED8"/>
                </a:solidFill>
                <a:latin typeface="Meiryo UI" pitchFamily="34" charset="0"/>
                <a:ea typeface="Meiryo UI" pitchFamily="34" charset="-122"/>
                <a:cs typeface="Meiryo UI" pitchFamily="34" charset="-120"/>
              </a:rPr>
              <a:t>【ヒント】</a:t>
            </a:r>
            <a:endParaRPr lang="en-US" sz="1150" dirty="0"/>
          </a:p>
          <a:p>
            <a:pPr indent="0" marL="0">
              <a:spcAft>
                <a:spcPts val="200"/>
              </a:spcAft>
              <a:buNone/>
            </a:pPr>
            <a:r>
              <a:rPr lang="en-US" sz="1150" dirty="0">
                <a:solidFill>
                  <a:srgbClr val="1F2937"/>
                </a:solidFill>
                <a:latin typeface="Meiryo UI" pitchFamily="34" charset="0"/>
                <a:ea typeface="Meiryo UI" pitchFamily="34" charset="-122"/>
                <a:cs typeface="Meiryo UI" pitchFamily="34" charset="-120"/>
              </a:rPr>
              <a:t>サイドバーに「POST 04 Create Director Client」が追加されます。</a:t>
            </a:r>
            <a:endParaRPr lang="en-US" sz="115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ステップ②【3/9】Headers タブに Idempotency-Key を入れる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7680960" cy="4320540"/>
          </a:xfrm>
          <a:prstGeom prst="rect">
            <a:avLst/>
          </a:prstGeom>
        </p:spPr>
      </p:pic>
      <p:sp>
        <p:nvSpPr>
          <p:cNvPr id="7" name="Shape 4"/>
          <p:cNvSpPr/>
          <p:nvPr/>
        </p:nvSpPr>
        <p:spPr>
          <a:xfrm>
            <a:off x="411480" y="1051560"/>
            <a:ext cx="7680960" cy="4320540"/>
          </a:xfrm>
          <a:prstGeom prst="rect">
            <a:avLst/>
          </a:prstGeom>
          <a:ln w="9525">
            <a:solidFill>
              <a:srgbClr val="D1D5DB"/>
            </a:solidFill>
            <a:prstDash val="solid"/>
          </a:ln>
        </p:spPr>
      </p:sp>
      <p:sp>
        <p:nvSpPr>
          <p:cNvPr id="8" name="Text 5"/>
          <p:cNvSpPr/>
          <p:nvPr/>
        </p:nvSpPr>
        <p:spPr>
          <a:xfrm>
            <a:off x="411480" y="5390388"/>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1737360" y="1897380"/>
            <a:ext cx="574243" cy="343814"/>
          </a:xfrm>
          <a:prstGeom prst="rect">
            <a:avLst/>
          </a:prstGeom>
          <a:ln w="28575">
            <a:solidFill>
              <a:srgbClr val="E11D2E"/>
            </a:solidFill>
            <a:prstDash val="solid"/>
          </a:ln>
        </p:spPr>
      </p:sp>
      <p:sp>
        <p:nvSpPr>
          <p:cNvPr id="10" name="Shape 7"/>
          <p:cNvSpPr/>
          <p:nvPr/>
        </p:nvSpPr>
        <p:spPr>
          <a:xfrm>
            <a:off x="1600200" y="1760220"/>
            <a:ext cx="274320" cy="274320"/>
          </a:xfrm>
          <a:prstGeom prst="ellipse">
            <a:avLst/>
          </a:prstGeom>
          <a:solidFill>
            <a:srgbClr val="E11D2E"/>
          </a:solidFill>
          <a:ln w="15875">
            <a:solidFill>
              <a:srgbClr val="FFFFFF"/>
            </a:solidFill>
            <a:prstDash val="solid"/>
          </a:ln>
        </p:spPr>
      </p:sp>
      <p:sp>
        <p:nvSpPr>
          <p:cNvPr id="11" name="Text 8"/>
          <p:cNvSpPr/>
          <p:nvPr/>
        </p:nvSpPr>
        <p:spPr>
          <a:xfrm>
            <a:off x="1600200" y="17602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796442" y="2655875"/>
            <a:ext cx="1428750" cy="382219"/>
          </a:xfrm>
          <a:prstGeom prst="rect">
            <a:avLst/>
          </a:prstGeom>
          <a:ln w="28575">
            <a:solidFill>
              <a:srgbClr val="E11D2E"/>
            </a:solidFill>
            <a:prstDash val="solid"/>
          </a:ln>
        </p:spPr>
      </p:sp>
      <p:sp>
        <p:nvSpPr>
          <p:cNvPr id="13" name="Shape 10"/>
          <p:cNvSpPr/>
          <p:nvPr/>
        </p:nvSpPr>
        <p:spPr>
          <a:xfrm>
            <a:off x="503834" y="2709824"/>
            <a:ext cx="274320" cy="274320"/>
          </a:xfrm>
          <a:prstGeom prst="ellipse">
            <a:avLst/>
          </a:prstGeom>
          <a:solidFill>
            <a:srgbClr val="E11D2E"/>
          </a:solidFill>
          <a:ln w="15875">
            <a:solidFill>
              <a:srgbClr val="FFFFFF"/>
            </a:solidFill>
            <a:prstDash val="solid"/>
          </a:ln>
        </p:spPr>
      </p:sp>
      <p:sp>
        <p:nvSpPr>
          <p:cNvPr id="14" name="Text 11"/>
          <p:cNvSpPr/>
          <p:nvPr/>
        </p:nvSpPr>
        <p:spPr>
          <a:xfrm>
            <a:off x="503834" y="270982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Shape 12"/>
          <p:cNvSpPr/>
          <p:nvPr/>
        </p:nvSpPr>
        <p:spPr>
          <a:xfrm>
            <a:off x="2188616" y="2655875"/>
            <a:ext cx="3070555" cy="382219"/>
          </a:xfrm>
          <a:prstGeom prst="rect">
            <a:avLst/>
          </a:prstGeom>
          <a:ln w="28575">
            <a:solidFill>
              <a:srgbClr val="E11D2E"/>
            </a:solidFill>
            <a:prstDash val="solid"/>
          </a:ln>
        </p:spPr>
      </p:sp>
      <p:sp>
        <p:nvSpPr>
          <p:cNvPr id="16" name="Shape 13"/>
          <p:cNvSpPr/>
          <p:nvPr/>
        </p:nvSpPr>
        <p:spPr>
          <a:xfrm>
            <a:off x="5122012" y="2518715"/>
            <a:ext cx="274320" cy="274320"/>
          </a:xfrm>
          <a:prstGeom prst="ellipse">
            <a:avLst/>
          </a:prstGeom>
          <a:solidFill>
            <a:srgbClr val="E11D2E"/>
          </a:solidFill>
          <a:ln w="15875">
            <a:solidFill>
              <a:srgbClr val="FFFFFF"/>
            </a:solidFill>
            <a:prstDash val="solid"/>
          </a:ln>
        </p:spPr>
      </p:sp>
      <p:sp>
        <p:nvSpPr>
          <p:cNvPr id="17" name="Text 14"/>
          <p:cNvSpPr/>
          <p:nvPr/>
        </p:nvSpPr>
        <p:spPr>
          <a:xfrm>
            <a:off x="5122012" y="2518715"/>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8" name="Text 15"/>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「Headers」タブをクリック</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Name：Idempotency-Key</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③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Value：{{$randomUUID}}</a:t>
            </a:r>
            <a:endParaRPr lang="en-US" sz="1300" dirty="0"/>
          </a:p>
        </p:txBody>
      </p:sp>
      <p:sp>
        <p:nvSpPr>
          <p:cNvPr id="19" name="Shape 16"/>
          <p:cNvSpPr/>
          <p:nvPr/>
        </p:nvSpPr>
        <p:spPr>
          <a:xfrm>
            <a:off x="8275320" y="4114800"/>
            <a:ext cx="3520440" cy="1508760"/>
          </a:xfrm>
          <a:prstGeom prst="rect">
            <a:avLst/>
          </a:prstGeom>
          <a:solidFill>
            <a:srgbClr val="EFF6FF"/>
          </a:solidFill>
          <a:ln w="15875">
            <a:solidFill>
              <a:srgbClr val="1D4ED8"/>
            </a:solidFill>
            <a:prstDash val="solid"/>
          </a:ln>
        </p:spPr>
      </p:sp>
      <p:sp>
        <p:nvSpPr>
          <p:cNvPr id="20" name="Shape 17"/>
          <p:cNvSpPr/>
          <p:nvPr/>
        </p:nvSpPr>
        <p:spPr>
          <a:xfrm>
            <a:off x="8275320" y="4114800"/>
            <a:ext cx="82296" cy="1508760"/>
          </a:xfrm>
          <a:prstGeom prst="rect">
            <a:avLst/>
          </a:prstGeom>
          <a:solidFill>
            <a:srgbClr val="1D4ED8"/>
          </a:solidFill>
          <a:ln w="12700">
            <a:solidFill>
              <a:srgbClr val="1D4ED8"/>
            </a:solidFill>
            <a:prstDash val="solid"/>
          </a:ln>
        </p:spPr>
      </p:sp>
      <p:sp>
        <p:nvSpPr>
          <p:cNvPr id="21" name="Text 18"/>
          <p:cNvSpPr/>
          <p:nvPr/>
        </p:nvSpPr>
        <p:spPr>
          <a:xfrm>
            <a:off x="8439912" y="4160520"/>
            <a:ext cx="3291840" cy="1417320"/>
          </a:xfrm>
          <a:prstGeom prst="rect">
            <a:avLst/>
          </a:prstGeom>
          <a:noFill/>
          <a:ln/>
        </p:spPr>
        <p:txBody>
          <a:bodyPr wrap="square" rtlCol="0" anchor="t"/>
          <a:lstStyle/>
          <a:p>
            <a:pPr indent="0" marL="0">
              <a:spcAft>
                <a:spcPts val="200"/>
              </a:spcAft>
              <a:buNone/>
            </a:pPr>
            <a:r>
              <a:rPr lang="en-US" sz="1150" b="1" dirty="0">
                <a:solidFill>
                  <a:srgbClr val="1D4ED8"/>
                </a:solidFill>
                <a:latin typeface="Meiryo UI" pitchFamily="34" charset="0"/>
                <a:ea typeface="Meiryo UI" pitchFamily="34" charset="-122"/>
                <a:cs typeface="Meiryo UI" pitchFamily="34" charset="-120"/>
              </a:rPr>
              <a:t>【ヒント】</a:t>
            </a:r>
            <a:endParaRPr lang="en-US" sz="1150" dirty="0"/>
          </a:p>
          <a:p>
            <a:pPr indent="0" marL="0">
              <a:spcAft>
                <a:spcPts val="200"/>
              </a:spcAft>
              <a:buNone/>
            </a:pPr>
            <a:r>
              <a:rPr lang="en-US" sz="1150" dirty="0">
                <a:solidFill>
                  <a:srgbClr val="1F2937"/>
                </a:solidFill>
                <a:latin typeface="Meiryo UI" pitchFamily="34" charset="0"/>
                <a:ea typeface="Meiryo UI" pitchFamily="34" charset="-122"/>
                <a:cs typeface="Meiryo UI" pitchFamily="34" charset="-120"/>
              </a:rPr>
              <a:t>二重登録を防ぐためのヘッダーです（準備5）。{{$randomUUID}} は送信のたびに新しい値になります（第9章 TIPS の動的変数）。</a:t>
            </a:r>
            <a:endParaRPr lang="en-US" sz="115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ステップ②【4/9】Body タブで種類を JSON にする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7680960" cy="4320540"/>
          </a:xfrm>
          <a:prstGeom prst="rect">
            <a:avLst/>
          </a:prstGeom>
        </p:spPr>
      </p:pic>
      <p:sp>
        <p:nvSpPr>
          <p:cNvPr id="7" name="Shape 4"/>
          <p:cNvSpPr/>
          <p:nvPr/>
        </p:nvSpPr>
        <p:spPr>
          <a:xfrm>
            <a:off x="411480" y="1051560"/>
            <a:ext cx="7680960" cy="4320540"/>
          </a:xfrm>
          <a:prstGeom prst="rect">
            <a:avLst/>
          </a:prstGeom>
          <a:ln w="9525">
            <a:solidFill>
              <a:srgbClr val="D1D5DB"/>
            </a:solidFill>
            <a:prstDash val="solid"/>
          </a:ln>
        </p:spPr>
      </p:sp>
      <p:sp>
        <p:nvSpPr>
          <p:cNvPr id="8" name="Text 5"/>
          <p:cNvSpPr/>
          <p:nvPr/>
        </p:nvSpPr>
        <p:spPr>
          <a:xfrm>
            <a:off x="411480" y="5390388"/>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1142086" y="1897380"/>
            <a:ext cx="478231" cy="343814"/>
          </a:xfrm>
          <a:prstGeom prst="rect">
            <a:avLst/>
          </a:prstGeom>
          <a:ln w="28575">
            <a:solidFill>
              <a:srgbClr val="E11D2E"/>
            </a:solidFill>
            <a:prstDash val="solid"/>
          </a:ln>
        </p:spPr>
      </p:sp>
      <p:sp>
        <p:nvSpPr>
          <p:cNvPr id="10" name="Shape 7"/>
          <p:cNvSpPr/>
          <p:nvPr/>
        </p:nvSpPr>
        <p:spPr>
          <a:xfrm>
            <a:off x="1004926" y="1760220"/>
            <a:ext cx="274320" cy="274320"/>
          </a:xfrm>
          <a:prstGeom prst="ellipse">
            <a:avLst/>
          </a:prstGeom>
          <a:solidFill>
            <a:srgbClr val="E11D2E"/>
          </a:solidFill>
          <a:ln w="15875">
            <a:solidFill>
              <a:srgbClr val="FFFFFF"/>
            </a:solidFill>
            <a:prstDash val="solid"/>
          </a:ln>
        </p:spPr>
      </p:sp>
      <p:sp>
        <p:nvSpPr>
          <p:cNvPr id="11" name="Text 8"/>
          <p:cNvSpPr/>
          <p:nvPr/>
        </p:nvSpPr>
        <p:spPr>
          <a:xfrm>
            <a:off x="1004926" y="17602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6922008" y="1935785"/>
            <a:ext cx="1044702" cy="267005"/>
          </a:xfrm>
          <a:prstGeom prst="rect">
            <a:avLst/>
          </a:prstGeom>
          <a:ln w="28575">
            <a:solidFill>
              <a:srgbClr val="E11D2E"/>
            </a:solidFill>
            <a:prstDash val="solid"/>
          </a:ln>
        </p:spPr>
      </p:sp>
      <p:sp>
        <p:nvSpPr>
          <p:cNvPr id="13" name="Shape 10"/>
          <p:cNvSpPr/>
          <p:nvPr/>
        </p:nvSpPr>
        <p:spPr>
          <a:xfrm>
            <a:off x="7829550" y="1798625"/>
            <a:ext cx="274320" cy="274320"/>
          </a:xfrm>
          <a:prstGeom prst="ellipse">
            <a:avLst/>
          </a:prstGeom>
          <a:solidFill>
            <a:srgbClr val="E11D2E"/>
          </a:solidFill>
          <a:ln w="15875">
            <a:solidFill>
              <a:srgbClr val="FFFFFF"/>
            </a:solidFill>
            <a:prstDash val="solid"/>
          </a:ln>
        </p:spPr>
      </p:sp>
      <p:sp>
        <p:nvSpPr>
          <p:cNvPr id="14" name="Text 11"/>
          <p:cNvSpPr/>
          <p:nvPr/>
        </p:nvSpPr>
        <p:spPr>
          <a:xfrm>
            <a:off x="7829550" y="1798625"/>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Shape 12"/>
          <p:cNvSpPr/>
          <p:nvPr/>
        </p:nvSpPr>
        <p:spPr>
          <a:xfrm>
            <a:off x="6249924" y="3414370"/>
            <a:ext cx="1236726" cy="286207"/>
          </a:xfrm>
          <a:prstGeom prst="rect">
            <a:avLst/>
          </a:prstGeom>
          <a:ln w="28575">
            <a:solidFill>
              <a:srgbClr val="E11D2E"/>
            </a:solidFill>
            <a:prstDash val="solid"/>
          </a:ln>
        </p:spPr>
      </p:sp>
      <p:sp>
        <p:nvSpPr>
          <p:cNvPr id="16" name="Shape 13"/>
          <p:cNvSpPr/>
          <p:nvPr/>
        </p:nvSpPr>
        <p:spPr>
          <a:xfrm>
            <a:off x="5957316" y="3420313"/>
            <a:ext cx="274320" cy="274320"/>
          </a:xfrm>
          <a:prstGeom prst="ellipse">
            <a:avLst/>
          </a:prstGeom>
          <a:solidFill>
            <a:srgbClr val="E11D2E"/>
          </a:solidFill>
          <a:ln w="15875">
            <a:solidFill>
              <a:srgbClr val="FFFFFF"/>
            </a:solidFill>
            <a:prstDash val="solid"/>
          </a:ln>
        </p:spPr>
      </p:sp>
      <p:sp>
        <p:nvSpPr>
          <p:cNvPr id="17" name="Text 14"/>
          <p:cNvSpPr/>
          <p:nvPr/>
        </p:nvSpPr>
        <p:spPr>
          <a:xfrm>
            <a:off x="5957316" y="3420313"/>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8" name="Text 15"/>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「Body」タブをクリック（最初は No Body）</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右の「No Body ▼」をクリック</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③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RAW の「JSON」を選ぶ</a:t>
            </a:r>
            <a:endParaRPr lang="en-US" sz="1300" dirty="0"/>
          </a:p>
        </p:txBody>
      </p:sp>
      <p:sp>
        <p:nvSpPr>
          <p:cNvPr id="19" name="Shape 16"/>
          <p:cNvSpPr/>
          <p:nvPr/>
        </p:nvSpPr>
        <p:spPr>
          <a:xfrm>
            <a:off x="8275320" y="4114800"/>
            <a:ext cx="3520440" cy="1508760"/>
          </a:xfrm>
          <a:prstGeom prst="rect">
            <a:avLst/>
          </a:prstGeom>
          <a:solidFill>
            <a:srgbClr val="EFF6FF"/>
          </a:solidFill>
          <a:ln w="15875">
            <a:solidFill>
              <a:srgbClr val="1D4ED8"/>
            </a:solidFill>
            <a:prstDash val="solid"/>
          </a:ln>
        </p:spPr>
      </p:sp>
      <p:sp>
        <p:nvSpPr>
          <p:cNvPr id="20" name="Shape 17"/>
          <p:cNvSpPr/>
          <p:nvPr/>
        </p:nvSpPr>
        <p:spPr>
          <a:xfrm>
            <a:off x="8275320" y="4114800"/>
            <a:ext cx="82296" cy="1508760"/>
          </a:xfrm>
          <a:prstGeom prst="rect">
            <a:avLst/>
          </a:prstGeom>
          <a:solidFill>
            <a:srgbClr val="1D4ED8"/>
          </a:solidFill>
          <a:ln w="12700">
            <a:solidFill>
              <a:srgbClr val="1D4ED8"/>
            </a:solidFill>
            <a:prstDash val="solid"/>
          </a:ln>
        </p:spPr>
      </p:sp>
      <p:sp>
        <p:nvSpPr>
          <p:cNvPr id="21" name="Text 18"/>
          <p:cNvSpPr/>
          <p:nvPr/>
        </p:nvSpPr>
        <p:spPr>
          <a:xfrm>
            <a:off x="8439912" y="4160520"/>
            <a:ext cx="3291840" cy="1417320"/>
          </a:xfrm>
          <a:prstGeom prst="rect">
            <a:avLst/>
          </a:prstGeom>
          <a:noFill/>
          <a:ln/>
        </p:spPr>
        <p:txBody>
          <a:bodyPr wrap="square" rtlCol="0" anchor="t"/>
          <a:lstStyle/>
          <a:p>
            <a:pPr indent="0" marL="0">
              <a:spcAft>
                <a:spcPts val="200"/>
              </a:spcAft>
              <a:buNone/>
            </a:pPr>
            <a:r>
              <a:rPr lang="en-US" sz="1150" b="1" dirty="0">
                <a:solidFill>
                  <a:srgbClr val="1D4ED8"/>
                </a:solidFill>
                <a:latin typeface="Meiryo UI" pitchFamily="34" charset="0"/>
                <a:ea typeface="Meiryo UI" pitchFamily="34" charset="-122"/>
                <a:cs typeface="Meiryo UI" pitchFamily="34" charset="-120"/>
              </a:rPr>
              <a:t>【ヒント】</a:t>
            </a:r>
            <a:endParaRPr lang="en-US" sz="1150" dirty="0"/>
          </a:p>
          <a:p>
            <a:pPr indent="0" marL="0">
              <a:spcAft>
                <a:spcPts val="200"/>
              </a:spcAft>
              <a:buNone/>
            </a:pPr>
            <a:r>
              <a:rPr lang="en-US" sz="1150" dirty="0">
                <a:solidFill>
                  <a:srgbClr val="1F2937"/>
                </a:solidFill>
                <a:latin typeface="Meiryo UI" pitchFamily="34" charset="0"/>
                <a:ea typeface="Meiryo UI" pitchFamily="34" charset="-122"/>
                <a:cs typeface="Meiryo UI" pitchFamily="34" charset="-120"/>
              </a:rPr>
              <a:t>JSON を選ぶと、送信時に Content-Type: application/json が自動で付きます（第5章）。Mambu の POST では必須です。</a:t>
            </a:r>
            <a:endParaRPr lang="en-US" sz="115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ステップ②【5/9】Body に JSON を入力する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5669280" cy="3188970"/>
          </a:xfrm>
          <a:prstGeom prst="rect">
            <a:avLst/>
          </a:prstGeom>
        </p:spPr>
      </p:pic>
      <p:sp>
        <p:nvSpPr>
          <p:cNvPr id="7" name="Shape 4"/>
          <p:cNvSpPr/>
          <p:nvPr/>
        </p:nvSpPr>
        <p:spPr>
          <a:xfrm>
            <a:off x="411480" y="1051560"/>
            <a:ext cx="5669280" cy="3188970"/>
          </a:xfrm>
          <a:prstGeom prst="rect">
            <a:avLst/>
          </a:prstGeom>
          <a:ln w="9525">
            <a:solidFill>
              <a:srgbClr val="D1D5DB"/>
            </a:solidFill>
            <a:prstDash val="solid"/>
          </a:ln>
        </p:spPr>
      </p:sp>
      <p:sp>
        <p:nvSpPr>
          <p:cNvPr id="8" name="Text 5"/>
          <p:cNvSpPr/>
          <p:nvPr/>
        </p:nvSpPr>
        <p:spPr>
          <a:xfrm>
            <a:off x="411480" y="4258818"/>
            <a:ext cx="566928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4886096" y="1699412"/>
            <a:ext cx="447599" cy="220828"/>
          </a:xfrm>
          <a:prstGeom prst="rect">
            <a:avLst/>
          </a:prstGeom>
          <a:ln w="28575">
            <a:solidFill>
              <a:srgbClr val="E11D2E"/>
            </a:solidFill>
            <a:prstDash val="solid"/>
          </a:ln>
        </p:spPr>
      </p:sp>
      <p:sp>
        <p:nvSpPr>
          <p:cNvPr id="10" name="Shape 7"/>
          <p:cNvSpPr/>
          <p:nvPr/>
        </p:nvSpPr>
        <p:spPr>
          <a:xfrm>
            <a:off x="5196535" y="1562252"/>
            <a:ext cx="274320" cy="274320"/>
          </a:xfrm>
          <a:prstGeom prst="ellipse">
            <a:avLst/>
          </a:prstGeom>
          <a:solidFill>
            <a:srgbClr val="E11D2E"/>
          </a:solidFill>
          <a:ln w="15875">
            <a:solidFill>
              <a:srgbClr val="FFFFFF"/>
            </a:solidFill>
            <a:prstDash val="solid"/>
          </a:ln>
        </p:spPr>
      </p:sp>
      <p:sp>
        <p:nvSpPr>
          <p:cNvPr id="11" name="Text 8"/>
          <p:cNvSpPr/>
          <p:nvPr/>
        </p:nvSpPr>
        <p:spPr>
          <a:xfrm>
            <a:off x="5196535" y="156225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513664" y="2067916"/>
            <a:ext cx="3105074" cy="702716"/>
          </a:xfrm>
          <a:prstGeom prst="rect">
            <a:avLst/>
          </a:prstGeom>
          <a:ln w="28575">
            <a:solidFill>
              <a:srgbClr val="E11D2E"/>
            </a:solidFill>
            <a:prstDash val="solid"/>
          </a:ln>
        </p:spPr>
      </p:sp>
      <p:sp>
        <p:nvSpPr>
          <p:cNvPr id="13" name="Shape 10"/>
          <p:cNvSpPr/>
          <p:nvPr/>
        </p:nvSpPr>
        <p:spPr>
          <a:xfrm>
            <a:off x="221056" y="2282114"/>
            <a:ext cx="274320" cy="274320"/>
          </a:xfrm>
          <a:prstGeom prst="ellipse">
            <a:avLst/>
          </a:prstGeom>
          <a:solidFill>
            <a:srgbClr val="E11D2E"/>
          </a:solidFill>
          <a:ln w="15875">
            <a:solidFill>
              <a:srgbClr val="FFFFFF"/>
            </a:solidFill>
            <a:prstDash val="solid"/>
          </a:ln>
        </p:spPr>
      </p:sp>
      <p:sp>
        <p:nvSpPr>
          <p:cNvPr id="14" name="Text 11"/>
          <p:cNvSpPr/>
          <p:nvPr/>
        </p:nvSpPr>
        <p:spPr>
          <a:xfrm>
            <a:off x="221056" y="228211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Text 12"/>
          <p:cNvSpPr/>
          <p:nvPr/>
        </p:nvSpPr>
        <p:spPr>
          <a:xfrm>
            <a:off x="6263640" y="1051560"/>
            <a:ext cx="5532120" cy="1097280"/>
          </a:xfrm>
          <a:prstGeom prst="rect">
            <a:avLst/>
          </a:prstGeom>
          <a:noFill/>
          <a:ln/>
        </p:spPr>
        <p:txBody>
          <a:bodyPr wrap="square" rtlCol="0" anchor="t"/>
          <a:lstStyle/>
          <a:p>
            <a:pPr indent="0" marL="0">
              <a:spcAft>
                <a:spcPts val="400"/>
              </a:spcAft>
              <a:buNone/>
            </a:pPr>
            <a:r>
              <a:rPr lang="en-US" sz="1250" b="1" dirty="0">
                <a:solidFill>
                  <a:srgbClr val="E11D2E"/>
                </a:solidFill>
                <a:latin typeface="Meiryo UI" pitchFamily="34" charset="0"/>
                <a:ea typeface="Meiryo UI" pitchFamily="34" charset="-122"/>
                <a:cs typeface="Meiryo UI" pitchFamily="34" charset="-120"/>
              </a:rPr>
              <a:t>① </a:t>
            </a:r>
            <a:pPr indent="0" marL="0">
              <a:spcAft>
                <a:spcPts val="400"/>
              </a:spcAft>
              <a:buNone/>
            </a:pPr>
            <a:r>
              <a:rPr lang="en-US" sz="1250" dirty="0">
                <a:solidFill>
                  <a:srgbClr val="1F2937"/>
                </a:solidFill>
                <a:latin typeface="Meiryo UI" pitchFamily="34" charset="0"/>
                <a:ea typeface="Meiryo UI" pitchFamily="34" charset="-122"/>
                <a:cs typeface="Meiryo UI" pitchFamily="34" charset="-120"/>
              </a:rPr>
              <a:t>種類が「JSON」になっていることを確認</a:t>
            </a:r>
            <a:endParaRPr lang="en-US" sz="1250" dirty="0"/>
          </a:p>
          <a:p>
            <a:pPr indent="0" marL="0">
              <a:spcAft>
                <a:spcPts val="400"/>
              </a:spcAft>
              <a:buNone/>
            </a:pPr>
            <a:r>
              <a:rPr lang="en-US" sz="1250" b="1" dirty="0">
                <a:solidFill>
                  <a:srgbClr val="E11D2E"/>
                </a:solidFill>
                <a:latin typeface="Meiryo UI" pitchFamily="34" charset="0"/>
                <a:ea typeface="Meiryo UI" pitchFamily="34" charset="-122"/>
                <a:cs typeface="Meiryo UI" pitchFamily="34" charset="-120"/>
              </a:rPr>
              <a:t>② </a:t>
            </a:r>
            <a:pPr indent="0" marL="0">
              <a:spcAft>
                <a:spcPts val="400"/>
              </a:spcAft>
              <a:buNone/>
            </a:pPr>
            <a:r>
              <a:rPr lang="en-US" sz="1250" dirty="0">
                <a:solidFill>
                  <a:srgbClr val="1F2937"/>
                </a:solidFill>
                <a:latin typeface="Meiryo UI" pitchFamily="34" charset="0"/>
                <a:ea typeface="Meiryo UI" pitchFamily="34" charset="-122"/>
                <a:cs typeface="Meiryo UI" pitchFamily="34" charset="-120"/>
              </a:rPr>
              <a:t>下の枠の JSON をコピーして、Body の入力欄に貼り付ける</a:t>
            </a:r>
            <a:endParaRPr lang="en-US" sz="1250" dirty="0"/>
          </a:p>
        </p:txBody>
      </p:sp>
      <p:sp>
        <p:nvSpPr>
          <p:cNvPr id="16" name="Text 13"/>
          <p:cNvSpPr/>
          <p:nvPr/>
        </p:nvSpPr>
        <p:spPr>
          <a:xfrm>
            <a:off x="6263640" y="2103120"/>
            <a:ext cx="5532120" cy="1234440"/>
          </a:xfrm>
          <a:prstGeom prst="rect">
            <a:avLst/>
          </a:prstGeom>
          <a:solidFill>
            <a:srgbClr val="F3F4F6"/>
          </a:solidFill>
          <a:ln w="12700">
            <a:solidFill>
              <a:srgbClr val="D1D5DB"/>
            </a:solidFill>
          </a:ln>
        </p:spPr>
        <p:txBody>
          <a:bodyPr wrap="square" lIns="101600" tIns="101600" rIns="101600" bIns="101600" rtlCol="0" anchor="t"/>
          <a:lstStyle/>
          <a:p>
            <a:pPr indent="0" marL="0">
              <a:buNone/>
            </a:pPr>
            <a:r>
              <a:rPr lang="en-US" sz="1100" dirty="0">
                <a:solidFill>
                  <a:srgbClr val="111827"/>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111827"/>
                </a:solidFill>
                <a:latin typeface="Consolas" pitchFamily="34" charset="0"/>
                <a:ea typeface="Consolas" pitchFamily="34" charset="-122"/>
                <a:cs typeface="Consolas" pitchFamily="34" charset="-120"/>
              </a:rPr>
              <a:t>  "firstName": "太郎",</a:t>
            </a:r>
            <a:endParaRPr lang="en-US" sz="1100" dirty="0"/>
          </a:p>
          <a:p>
            <a:pPr indent="0" marL="0">
              <a:buNone/>
            </a:pPr>
            <a:r>
              <a:rPr lang="en-US" sz="1100" dirty="0">
                <a:solidFill>
                  <a:srgbClr val="111827"/>
                </a:solidFill>
                <a:latin typeface="Consolas" pitchFamily="34" charset="0"/>
                <a:ea typeface="Consolas" pitchFamily="34" charset="-122"/>
                <a:cs typeface="Consolas" pitchFamily="34" charset="-120"/>
              </a:rPr>
              <a:t>  "lastName": "山田",</a:t>
            </a:r>
            <a:endParaRPr lang="en-US" sz="1100" dirty="0"/>
          </a:p>
          <a:p>
            <a:pPr indent="0" marL="0">
              <a:buNone/>
            </a:pPr>
            <a:r>
              <a:rPr lang="en-US" sz="1100" dirty="0">
                <a:solidFill>
                  <a:srgbClr val="111827"/>
                </a:solidFill>
                <a:latin typeface="Consolas" pitchFamily="34" charset="0"/>
                <a:ea typeface="Consolas" pitchFamily="34" charset="-122"/>
                <a:cs typeface="Consolas" pitchFamily="34" charset="-120"/>
              </a:rPr>
              <a:t>  "assignedBranchKey": "{{branchKey}}"</a:t>
            </a:r>
            <a:endParaRPr lang="en-US" sz="1100" dirty="0"/>
          </a:p>
          <a:p>
            <a:pPr indent="0" marL="0">
              <a:buNone/>
            </a:pPr>
            <a:r>
              <a:rPr lang="en-US" sz="1100" dirty="0">
                <a:solidFill>
                  <a:srgbClr val="111827"/>
                </a:solidFill>
                <a:latin typeface="Consolas" pitchFamily="34" charset="0"/>
                <a:ea typeface="Consolas" pitchFamily="34" charset="-122"/>
                <a:cs typeface="Consolas" pitchFamily="34" charset="-120"/>
              </a:rPr>
              <a:t>}</a:t>
            </a:r>
            <a:endParaRPr lang="en-US" sz="1100" dirty="0"/>
          </a:p>
        </p:txBody>
      </p:sp>
      <p:sp>
        <p:nvSpPr>
          <p:cNvPr id="17" name="Text 14"/>
          <p:cNvSpPr/>
          <p:nvPr/>
        </p:nvSpPr>
        <p:spPr>
          <a:xfrm>
            <a:off x="6263640" y="1828800"/>
            <a:ext cx="5532120" cy="274320"/>
          </a:xfrm>
          <a:prstGeom prst="rect">
            <a:avLst/>
          </a:prstGeom>
          <a:noFill/>
          <a:ln/>
        </p:spPr>
        <p:txBody>
          <a:bodyPr wrap="square" rtlCol="0" anchor="ctr"/>
          <a:lstStyle/>
          <a:p>
            <a:pPr indent="0" marL="0">
              <a:buNone/>
            </a:pPr>
            <a:r>
              <a:rPr lang="en-US" sz="1100" dirty="0">
                <a:solidFill>
                  <a:srgbClr val="6B7280"/>
                </a:solidFill>
                <a:latin typeface="Meiryo UI" pitchFamily="34" charset="0"/>
                <a:ea typeface="Meiryo UI" pitchFamily="34" charset="-122"/>
                <a:cs typeface="Meiryo UI" pitchFamily="34" charset="-120"/>
              </a:rPr>
              <a:t>コピー用（この枠の中を全部コピーして、Body の入力欄に貼り付ける）</a:t>
            </a:r>
            <a:endParaRPr lang="en-US" sz="1100" dirty="0"/>
          </a:p>
        </p:txBody>
      </p:sp>
      <p:sp>
        <p:nvSpPr>
          <p:cNvPr id="18" name="Shape 15"/>
          <p:cNvSpPr/>
          <p:nvPr/>
        </p:nvSpPr>
        <p:spPr>
          <a:xfrm>
            <a:off x="6263640" y="3447288"/>
            <a:ext cx="5532120" cy="1051560"/>
          </a:xfrm>
          <a:prstGeom prst="rect">
            <a:avLst/>
          </a:prstGeom>
          <a:solidFill>
            <a:srgbClr val="EFF6FF"/>
          </a:solidFill>
          <a:ln w="15875">
            <a:solidFill>
              <a:srgbClr val="1D4ED8"/>
            </a:solidFill>
            <a:prstDash val="solid"/>
          </a:ln>
        </p:spPr>
      </p:sp>
      <p:sp>
        <p:nvSpPr>
          <p:cNvPr id="19" name="Shape 16"/>
          <p:cNvSpPr/>
          <p:nvPr/>
        </p:nvSpPr>
        <p:spPr>
          <a:xfrm>
            <a:off x="6263640" y="3447288"/>
            <a:ext cx="82296" cy="1051560"/>
          </a:xfrm>
          <a:prstGeom prst="rect">
            <a:avLst/>
          </a:prstGeom>
          <a:solidFill>
            <a:srgbClr val="1D4ED8"/>
          </a:solidFill>
          <a:ln w="12700">
            <a:solidFill>
              <a:srgbClr val="1D4ED8"/>
            </a:solidFill>
            <a:prstDash val="solid"/>
          </a:ln>
        </p:spPr>
      </p:sp>
      <p:sp>
        <p:nvSpPr>
          <p:cNvPr id="20" name="Text 17"/>
          <p:cNvSpPr/>
          <p:nvPr/>
        </p:nvSpPr>
        <p:spPr>
          <a:xfrm>
            <a:off x="6428232" y="3493008"/>
            <a:ext cx="5303520" cy="960120"/>
          </a:xfrm>
          <a:prstGeom prst="rect">
            <a:avLst/>
          </a:prstGeom>
          <a:noFill/>
          <a:ln/>
        </p:spPr>
        <p:txBody>
          <a:bodyPr wrap="square" rtlCol="0" anchor="t"/>
          <a:lstStyle/>
          <a:p>
            <a:pPr indent="0" marL="0">
              <a:spcAft>
                <a:spcPts val="200"/>
              </a:spcAft>
              <a:buNone/>
            </a:pPr>
            <a:r>
              <a:rPr lang="en-US" sz="1100" b="1" dirty="0">
                <a:solidFill>
                  <a:srgbClr val="1D4ED8"/>
                </a:solidFill>
                <a:latin typeface="Meiryo UI" pitchFamily="34" charset="0"/>
                <a:ea typeface="Meiryo UI" pitchFamily="34" charset="-122"/>
                <a:cs typeface="Meiryo UI" pitchFamily="34" charset="-120"/>
              </a:rPr>
              <a:t>【ヒント】</a:t>
            </a:r>
            <a:endParaRPr lang="en-US" sz="1100" dirty="0"/>
          </a:p>
          <a:p>
            <a:pPr indent="0" marL="0">
              <a:spcAft>
                <a:spcPts val="200"/>
              </a:spcAft>
              <a:buNone/>
            </a:pPr>
            <a:r>
              <a:rPr lang="en-US" sz="1100" dirty="0">
                <a:solidFill>
                  <a:srgbClr val="1F2937"/>
                </a:solidFill>
                <a:latin typeface="Meiryo UI" pitchFamily="34" charset="0"/>
                <a:ea typeface="Meiryo UI" pitchFamily="34" charset="-122"/>
                <a:cs typeface="Meiryo UI" pitchFamily="34" charset="-120"/>
              </a:rPr>
              <a:t>firstName（名）・lastName（姓）は必須。{{branchKey}} は送るときに環境の値に置き換わります。手で打つときは、{{branchKey}} の前後の " を忘れないようにします。</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ステップ②【6/9】Script タブで値を保存する処理を書く</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5669280" cy="3188970"/>
          </a:xfrm>
          <a:prstGeom prst="rect">
            <a:avLst/>
          </a:prstGeom>
        </p:spPr>
      </p:pic>
      <p:sp>
        <p:nvSpPr>
          <p:cNvPr id="7" name="Shape 4"/>
          <p:cNvSpPr/>
          <p:nvPr/>
        </p:nvSpPr>
        <p:spPr>
          <a:xfrm>
            <a:off x="411480" y="1051560"/>
            <a:ext cx="5669280" cy="3188970"/>
          </a:xfrm>
          <a:prstGeom prst="rect">
            <a:avLst/>
          </a:prstGeom>
          <a:ln w="9525">
            <a:solidFill>
              <a:srgbClr val="D1D5DB"/>
            </a:solidFill>
            <a:prstDash val="solid"/>
          </a:ln>
        </p:spPr>
      </p:sp>
      <p:sp>
        <p:nvSpPr>
          <p:cNvPr id="8" name="Text 5"/>
          <p:cNvSpPr/>
          <p:nvPr/>
        </p:nvSpPr>
        <p:spPr>
          <a:xfrm>
            <a:off x="411480" y="4258818"/>
            <a:ext cx="566928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2554605" y="1671066"/>
            <a:ext cx="376733" cy="263347"/>
          </a:xfrm>
          <a:prstGeom prst="rect">
            <a:avLst/>
          </a:prstGeom>
          <a:ln w="28575">
            <a:solidFill>
              <a:srgbClr val="E11D2E"/>
            </a:solidFill>
            <a:prstDash val="solid"/>
          </a:ln>
        </p:spPr>
      </p:sp>
      <p:sp>
        <p:nvSpPr>
          <p:cNvPr id="10" name="Shape 7"/>
          <p:cNvSpPr/>
          <p:nvPr/>
        </p:nvSpPr>
        <p:spPr>
          <a:xfrm>
            <a:off x="2417445" y="1533906"/>
            <a:ext cx="274320" cy="274320"/>
          </a:xfrm>
          <a:prstGeom prst="ellipse">
            <a:avLst/>
          </a:prstGeom>
          <a:solidFill>
            <a:srgbClr val="E11D2E"/>
          </a:solidFill>
          <a:ln w="15875">
            <a:solidFill>
              <a:srgbClr val="FFFFFF"/>
            </a:solidFill>
            <a:prstDash val="solid"/>
          </a:ln>
        </p:spPr>
      </p:sp>
      <p:sp>
        <p:nvSpPr>
          <p:cNvPr id="11" name="Text 8"/>
          <p:cNvSpPr/>
          <p:nvPr/>
        </p:nvSpPr>
        <p:spPr>
          <a:xfrm>
            <a:off x="2417445" y="153390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1151458" y="2011223"/>
            <a:ext cx="844448" cy="263347"/>
          </a:xfrm>
          <a:prstGeom prst="rect">
            <a:avLst/>
          </a:prstGeom>
          <a:ln w="28575">
            <a:solidFill>
              <a:srgbClr val="E11D2E"/>
            </a:solidFill>
            <a:prstDash val="solid"/>
          </a:ln>
        </p:spPr>
      </p:sp>
      <p:sp>
        <p:nvSpPr>
          <p:cNvPr id="13" name="Shape 10"/>
          <p:cNvSpPr/>
          <p:nvPr/>
        </p:nvSpPr>
        <p:spPr>
          <a:xfrm>
            <a:off x="1858747" y="1874063"/>
            <a:ext cx="274320" cy="274320"/>
          </a:xfrm>
          <a:prstGeom prst="ellipse">
            <a:avLst/>
          </a:prstGeom>
          <a:solidFill>
            <a:srgbClr val="E11D2E"/>
          </a:solidFill>
          <a:ln w="15875">
            <a:solidFill>
              <a:srgbClr val="FFFFFF"/>
            </a:solidFill>
            <a:prstDash val="solid"/>
          </a:ln>
        </p:spPr>
      </p:sp>
      <p:sp>
        <p:nvSpPr>
          <p:cNvPr id="14" name="Text 11"/>
          <p:cNvSpPr/>
          <p:nvPr/>
        </p:nvSpPr>
        <p:spPr>
          <a:xfrm>
            <a:off x="1858747" y="1874063"/>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Shape 12"/>
          <p:cNvSpPr/>
          <p:nvPr/>
        </p:nvSpPr>
        <p:spPr>
          <a:xfrm>
            <a:off x="513664" y="2301773"/>
            <a:ext cx="5174361" cy="412166"/>
          </a:xfrm>
          <a:prstGeom prst="rect">
            <a:avLst/>
          </a:prstGeom>
          <a:ln w="28575">
            <a:solidFill>
              <a:srgbClr val="E11D2E"/>
            </a:solidFill>
            <a:prstDash val="solid"/>
          </a:ln>
        </p:spPr>
      </p:sp>
      <p:sp>
        <p:nvSpPr>
          <p:cNvPr id="16" name="Shape 13"/>
          <p:cNvSpPr/>
          <p:nvPr/>
        </p:nvSpPr>
        <p:spPr>
          <a:xfrm>
            <a:off x="221056" y="2370696"/>
            <a:ext cx="274320" cy="274320"/>
          </a:xfrm>
          <a:prstGeom prst="ellipse">
            <a:avLst/>
          </a:prstGeom>
          <a:solidFill>
            <a:srgbClr val="E11D2E"/>
          </a:solidFill>
          <a:ln w="15875">
            <a:solidFill>
              <a:srgbClr val="FFFFFF"/>
            </a:solidFill>
            <a:prstDash val="solid"/>
          </a:ln>
        </p:spPr>
      </p:sp>
      <p:sp>
        <p:nvSpPr>
          <p:cNvPr id="17" name="Text 14"/>
          <p:cNvSpPr/>
          <p:nvPr/>
        </p:nvSpPr>
        <p:spPr>
          <a:xfrm>
            <a:off x="221056" y="237069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8" name="Text 15"/>
          <p:cNvSpPr/>
          <p:nvPr/>
        </p:nvSpPr>
        <p:spPr>
          <a:xfrm>
            <a:off x="6263640" y="1051560"/>
            <a:ext cx="5532120" cy="1097280"/>
          </a:xfrm>
          <a:prstGeom prst="rect">
            <a:avLst/>
          </a:prstGeom>
          <a:noFill/>
          <a:ln/>
        </p:spPr>
        <p:txBody>
          <a:bodyPr wrap="square" rtlCol="0" anchor="t"/>
          <a:lstStyle/>
          <a:p>
            <a:pPr indent="0" marL="0">
              <a:spcAft>
                <a:spcPts val="400"/>
              </a:spcAft>
              <a:buNone/>
            </a:pPr>
            <a:r>
              <a:rPr lang="en-US" sz="1250" b="1" dirty="0">
                <a:solidFill>
                  <a:srgbClr val="E11D2E"/>
                </a:solidFill>
                <a:latin typeface="Meiryo UI" pitchFamily="34" charset="0"/>
                <a:ea typeface="Meiryo UI" pitchFamily="34" charset="-122"/>
                <a:cs typeface="Meiryo UI" pitchFamily="34" charset="-120"/>
              </a:rPr>
              <a:t>① </a:t>
            </a:r>
            <a:pPr indent="0" marL="0">
              <a:spcAft>
                <a:spcPts val="400"/>
              </a:spcAft>
              <a:buNone/>
            </a:pPr>
            <a:r>
              <a:rPr lang="en-US" sz="1250" dirty="0">
                <a:solidFill>
                  <a:srgbClr val="1F2937"/>
                </a:solidFill>
                <a:latin typeface="Meiryo UI" pitchFamily="34" charset="0"/>
                <a:ea typeface="Meiryo UI" pitchFamily="34" charset="-122"/>
                <a:cs typeface="Meiryo UI" pitchFamily="34" charset="-120"/>
              </a:rPr>
              <a:t>「Script」タブをクリック</a:t>
            </a:r>
            <a:endParaRPr lang="en-US" sz="1250" dirty="0"/>
          </a:p>
          <a:p>
            <a:pPr indent="0" marL="0">
              <a:spcAft>
                <a:spcPts val="400"/>
              </a:spcAft>
              <a:buNone/>
            </a:pPr>
            <a:r>
              <a:rPr lang="en-US" sz="1250" b="1" dirty="0">
                <a:solidFill>
                  <a:srgbClr val="E11D2E"/>
                </a:solidFill>
                <a:latin typeface="Meiryo UI" pitchFamily="34" charset="0"/>
                <a:ea typeface="Meiryo UI" pitchFamily="34" charset="-122"/>
                <a:cs typeface="Meiryo UI" pitchFamily="34" charset="-120"/>
              </a:rPr>
              <a:t>② </a:t>
            </a:r>
            <a:pPr indent="0" marL="0">
              <a:spcAft>
                <a:spcPts val="400"/>
              </a:spcAft>
              <a:buNone/>
            </a:pPr>
            <a:r>
              <a:rPr lang="en-US" sz="1250" dirty="0">
                <a:solidFill>
                  <a:srgbClr val="1F2937"/>
                </a:solidFill>
                <a:latin typeface="Meiryo UI" pitchFamily="34" charset="0"/>
                <a:ea typeface="Meiryo UI" pitchFamily="34" charset="-122"/>
                <a:cs typeface="Meiryo UI" pitchFamily="34" charset="-120"/>
              </a:rPr>
              <a:t>「Post Response」（レスポンスを受け取った後）を選ぶ</a:t>
            </a:r>
            <a:endParaRPr lang="en-US" sz="1250" dirty="0"/>
          </a:p>
          <a:p>
            <a:pPr indent="0" marL="0">
              <a:spcAft>
                <a:spcPts val="400"/>
              </a:spcAft>
              <a:buNone/>
            </a:pPr>
            <a:r>
              <a:rPr lang="en-US" sz="1250" b="1" dirty="0">
                <a:solidFill>
                  <a:srgbClr val="E11D2E"/>
                </a:solidFill>
                <a:latin typeface="Meiryo UI" pitchFamily="34" charset="0"/>
                <a:ea typeface="Meiryo UI" pitchFamily="34" charset="-122"/>
                <a:cs typeface="Meiryo UI" pitchFamily="34" charset="-120"/>
              </a:rPr>
              <a:t>③ </a:t>
            </a:r>
            <a:pPr indent="0" marL="0">
              <a:spcAft>
                <a:spcPts val="400"/>
              </a:spcAft>
              <a:buNone/>
            </a:pPr>
            <a:r>
              <a:rPr lang="en-US" sz="1250" dirty="0">
                <a:solidFill>
                  <a:srgbClr val="1F2937"/>
                </a:solidFill>
                <a:latin typeface="Meiryo UI" pitchFamily="34" charset="0"/>
                <a:ea typeface="Meiryo UI" pitchFamily="34" charset="-122"/>
                <a:cs typeface="Meiryo UI" pitchFamily="34" charset="-120"/>
              </a:rPr>
              <a:t>下の枠のスクリプトをコピーして貼り付ける</a:t>
            </a:r>
            <a:endParaRPr lang="en-US" sz="1250" dirty="0"/>
          </a:p>
        </p:txBody>
      </p:sp>
      <p:sp>
        <p:nvSpPr>
          <p:cNvPr id="19" name="Text 16"/>
          <p:cNvSpPr/>
          <p:nvPr/>
        </p:nvSpPr>
        <p:spPr>
          <a:xfrm>
            <a:off x="6263640" y="2377440"/>
            <a:ext cx="5532120" cy="914400"/>
          </a:xfrm>
          <a:prstGeom prst="rect">
            <a:avLst/>
          </a:prstGeom>
          <a:solidFill>
            <a:srgbClr val="F3F4F6"/>
          </a:solidFill>
          <a:ln w="12700">
            <a:solidFill>
              <a:srgbClr val="D1D5DB"/>
            </a:solidFill>
          </a:ln>
        </p:spPr>
        <p:txBody>
          <a:bodyPr wrap="square" lIns="101600" tIns="101600" rIns="101600" bIns="101600" rtlCol="0" anchor="t"/>
          <a:lstStyle/>
          <a:p>
            <a:pPr indent="0" marL="0">
              <a:buNone/>
            </a:pPr>
            <a:r>
              <a:rPr lang="en-US" sz="1000" dirty="0">
                <a:solidFill>
                  <a:srgbClr val="111827"/>
                </a:solidFill>
                <a:latin typeface="Consolas" pitchFamily="34" charset="0"/>
                <a:ea typeface="Consolas" pitchFamily="34" charset="-122"/>
                <a:cs typeface="Consolas" pitchFamily="34" charset="-120"/>
              </a:rPr>
              <a:t>// 作成した個人顧客の encodedKey を、次の「法人の作成」で使うために保存する</a:t>
            </a:r>
            <a:endParaRPr lang="en-US" sz="1000" dirty="0"/>
          </a:p>
          <a:p>
            <a:pPr indent="0" marL="0">
              <a:buNone/>
            </a:pPr>
            <a:r>
              <a:rPr lang="en-US" sz="1000" dirty="0">
                <a:solidFill>
                  <a:srgbClr val="111827"/>
                </a:solidFill>
                <a:latin typeface="Consolas" pitchFamily="34" charset="0"/>
                <a:ea typeface="Consolas" pitchFamily="34" charset="-122"/>
                <a:cs typeface="Consolas" pitchFamily="34" charset="-120"/>
              </a:rPr>
              <a:t>bru.setVar("directorClientKey", res.body.encodedKey);</a:t>
            </a:r>
            <a:endParaRPr lang="en-US" sz="1000" dirty="0"/>
          </a:p>
        </p:txBody>
      </p:sp>
      <p:sp>
        <p:nvSpPr>
          <p:cNvPr id="20" name="Text 17"/>
          <p:cNvSpPr/>
          <p:nvPr/>
        </p:nvSpPr>
        <p:spPr>
          <a:xfrm>
            <a:off x="6263640" y="2103120"/>
            <a:ext cx="5532120" cy="274320"/>
          </a:xfrm>
          <a:prstGeom prst="rect">
            <a:avLst/>
          </a:prstGeom>
          <a:noFill/>
          <a:ln/>
        </p:spPr>
        <p:txBody>
          <a:bodyPr wrap="square" rtlCol="0" anchor="ctr"/>
          <a:lstStyle/>
          <a:p>
            <a:pPr indent="0" marL="0">
              <a:buNone/>
            </a:pPr>
            <a:r>
              <a:rPr lang="en-US" sz="1100" dirty="0">
                <a:solidFill>
                  <a:srgbClr val="6B7280"/>
                </a:solidFill>
                <a:latin typeface="Meiryo UI" pitchFamily="34" charset="0"/>
                <a:ea typeface="Meiryo UI" pitchFamily="34" charset="-122"/>
                <a:cs typeface="Meiryo UI" pitchFamily="34" charset="-120"/>
              </a:rPr>
              <a:t>コピー用（この枠の中を全部コピーして、Post Response に貼り付ける）</a:t>
            </a:r>
            <a:endParaRPr lang="en-US" sz="1100" dirty="0"/>
          </a:p>
        </p:txBody>
      </p:sp>
      <p:sp>
        <p:nvSpPr>
          <p:cNvPr id="21" name="Shape 18"/>
          <p:cNvSpPr/>
          <p:nvPr/>
        </p:nvSpPr>
        <p:spPr>
          <a:xfrm>
            <a:off x="6263640" y="3401568"/>
            <a:ext cx="5532120" cy="1097280"/>
          </a:xfrm>
          <a:prstGeom prst="rect">
            <a:avLst/>
          </a:prstGeom>
          <a:solidFill>
            <a:srgbClr val="EFF6FF"/>
          </a:solidFill>
          <a:ln w="15875">
            <a:solidFill>
              <a:srgbClr val="1D4ED8"/>
            </a:solidFill>
            <a:prstDash val="solid"/>
          </a:ln>
        </p:spPr>
      </p:sp>
      <p:sp>
        <p:nvSpPr>
          <p:cNvPr id="22" name="Shape 19"/>
          <p:cNvSpPr/>
          <p:nvPr/>
        </p:nvSpPr>
        <p:spPr>
          <a:xfrm>
            <a:off x="6263640" y="3401568"/>
            <a:ext cx="82296" cy="1097280"/>
          </a:xfrm>
          <a:prstGeom prst="rect">
            <a:avLst/>
          </a:prstGeom>
          <a:solidFill>
            <a:srgbClr val="1D4ED8"/>
          </a:solidFill>
          <a:ln w="12700">
            <a:solidFill>
              <a:srgbClr val="1D4ED8"/>
            </a:solidFill>
            <a:prstDash val="solid"/>
          </a:ln>
        </p:spPr>
      </p:sp>
      <p:sp>
        <p:nvSpPr>
          <p:cNvPr id="23" name="Text 20"/>
          <p:cNvSpPr/>
          <p:nvPr/>
        </p:nvSpPr>
        <p:spPr>
          <a:xfrm>
            <a:off x="6428232" y="3447288"/>
            <a:ext cx="5303520" cy="1005840"/>
          </a:xfrm>
          <a:prstGeom prst="rect">
            <a:avLst/>
          </a:prstGeom>
          <a:noFill/>
          <a:ln/>
        </p:spPr>
        <p:txBody>
          <a:bodyPr wrap="square" rtlCol="0" anchor="t"/>
          <a:lstStyle/>
          <a:p>
            <a:pPr indent="0" marL="0">
              <a:spcAft>
                <a:spcPts val="200"/>
              </a:spcAft>
              <a:buNone/>
            </a:pPr>
            <a:r>
              <a:rPr lang="en-US" sz="1100" b="1" dirty="0">
                <a:solidFill>
                  <a:srgbClr val="1D4ED8"/>
                </a:solidFill>
                <a:latin typeface="Meiryo UI" pitchFamily="34" charset="0"/>
                <a:ea typeface="Meiryo UI" pitchFamily="34" charset="-122"/>
                <a:cs typeface="Meiryo UI" pitchFamily="34" charset="-120"/>
              </a:rPr>
              <a:t>【ヒント】</a:t>
            </a:r>
            <a:endParaRPr lang="en-US" sz="1100" dirty="0"/>
          </a:p>
          <a:p>
            <a:pPr indent="0" marL="0">
              <a:spcAft>
                <a:spcPts val="200"/>
              </a:spcAft>
              <a:buNone/>
            </a:pPr>
            <a:r>
              <a:rPr lang="en-US" sz="1100" dirty="0">
                <a:solidFill>
                  <a:srgbClr val="1F2937"/>
                </a:solidFill>
                <a:latin typeface="Meiryo UI" pitchFamily="34" charset="0"/>
                <a:ea typeface="Meiryo UI" pitchFamily="34" charset="-122"/>
                <a:cs typeface="Meiryo UI" pitchFamily="34" charset="-120"/>
              </a:rPr>
              <a:t>res.body.encodedKey（レスポンスの encodedKey）を、directorClientKey という名前で保存します。次のステップで {{directorClientKey}} として使えます（第9章 TIPS「値の受け渡し」）。</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ステップ②【7/9】Assert タブで 201 を確認する設定</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7680960" cy="4320540"/>
          </a:xfrm>
          <a:prstGeom prst="rect">
            <a:avLst/>
          </a:prstGeom>
        </p:spPr>
      </p:pic>
      <p:sp>
        <p:nvSpPr>
          <p:cNvPr id="7" name="Shape 4"/>
          <p:cNvSpPr/>
          <p:nvPr/>
        </p:nvSpPr>
        <p:spPr>
          <a:xfrm>
            <a:off x="411480" y="1051560"/>
            <a:ext cx="7680960" cy="4320540"/>
          </a:xfrm>
          <a:prstGeom prst="rect">
            <a:avLst/>
          </a:prstGeom>
          <a:ln w="9525">
            <a:solidFill>
              <a:srgbClr val="D1D5DB"/>
            </a:solidFill>
            <a:prstDash val="solid"/>
          </a:ln>
        </p:spPr>
      </p:sp>
      <p:sp>
        <p:nvSpPr>
          <p:cNvPr id="8" name="Text 5"/>
          <p:cNvSpPr/>
          <p:nvPr/>
        </p:nvSpPr>
        <p:spPr>
          <a:xfrm>
            <a:off x="411480" y="5390388"/>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3964838" y="1897380"/>
            <a:ext cx="459029" cy="343814"/>
          </a:xfrm>
          <a:prstGeom prst="rect">
            <a:avLst/>
          </a:prstGeom>
          <a:ln w="28575">
            <a:solidFill>
              <a:srgbClr val="E11D2E"/>
            </a:solidFill>
            <a:prstDash val="solid"/>
          </a:ln>
        </p:spPr>
      </p:sp>
      <p:sp>
        <p:nvSpPr>
          <p:cNvPr id="10" name="Shape 7"/>
          <p:cNvSpPr/>
          <p:nvPr/>
        </p:nvSpPr>
        <p:spPr>
          <a:xfrm>
            <a:off x="3827678" y="1760220"/>
            <a:ext cx="274320" cy="274320"/>
          </a:xfrm>
          <a:prstGeom prst="ellipse">
            <a:avLst/>
          </a:prstGeom>
          <a:solidFill>
            <a:srgbClr val="E11D2E"/>
          </a:solidFill>
          <a:ln w="15875">
            <a:solidFill>
              <a:srgbClr val="FFFFFF"/>
            </a:solidFill>
            <a:prstDash val="solid"/>
          </a:ln>
        </p:spPr>
      </p:sp>
      <p:sp>
        <p:nvSpPr>
          <p:cNvPr id="11" name="Text 8"/>
          <p:cNvSpPr/>
          <p:nvPr/>
        </p:nvSpPr>
        <p:spPr>
          <a:xfrm>
            <a:off x="3827678" y="17602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796442" y="2655875"/>
            <a:ext cx="4529938" cy="382219"/>
          </a:xfrm>
          <a:prstGeom prst="rect">
            <a:avLst/>
          </a:prstGeom>
          <a:ln w="28575">
            <a:solidFill>
              <a:srgbClr val="E11D2E"/>
            </a:solidFill>
            <a:prstDash val="solid"/>
          </a:ln>
        </p:spPr>
      </p:sp>
      <p:sp>
        <p:nvSpPr>
          <p:cNvPr id="13" name="Shape 10"/>
          <p:cNvSpPr/>
          <p:nvPr/>
        </p:nvSpPr>
        <p:spPr>
          <a:xfrm>
            <a:off x="503834" y="2709824"/>
            <a:ext cx="274320" cy="274320"/>
          </a:xfrm>
          <a:prstGeom prst="ellipse">
            <a:avLst/>
          </a:prstGeom>
          <a:solidFill>
            <a:srgbClr val="E11D2E"/>
          </a:solidFill>
          <a:ln w="15875">
            <a:solidFill>
              <a:srgbClr val="FFFFFF"/>
            </a:solidFill>
            <a:prstDash val="solid"/>
          </a:ln>
        </p:spPr>
      </p:sp>
      <p:sp>
        <p:nvSpPr>
          <p:cNvPr id="14" name="Text 11"/>
          <p:cNvSpPr/>
          <p:nvPr/>
        </p:nvSpPr>
        <p:spPr>
          <a:xfrm>
            <a:off x="503834" y="270982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Text 12"/>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「Assert」タブをクリック</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Expr：res.status、Operator：equals、Value：201</a:t>
            </a:r>
            <a:endParaRPr lang="en-US" sz="1300" dirty="0"/>
          </a:p>
        </p:txBody>
      </p:sp>
      <p:sp>
        <p:nvSpPr>
          <p:cNvPr id="16" name="Shape 13"/>
          <p:cNvSpPr/>
          <p:nvPr/>
        </p:nvSpPr>
        <p:spPr>
          <a:xfrm>
            <a:off x="8275320" y="4114800"/>
            <a:ext cx="3520440" cy="1508760"/>
          </a:xfrm>
          <a:prstGeom prst="rect">
            <a:avLst/>
          </a:prstGeom>
          <a:solidFill>
            <a:srgbClr val="EFF6FF"/>
          </a:solidFill>
          <a:ln w="15875">
            <a:solidFill>
              <a:srgbClr val="1D4ED8"/>
            </a:solidFill>
            <a:prstDash val="solid"/>
          </a:ln>
        </p:spPr>
      </p:sp>
      <p:sp>
        <p:nvSpPr>
          <p:cNvPr id="17" name="Shape 14"/>
          <p:cNvSpPr/>
          <p:nvPr/>
        </p:nvSpPr>
        <p:spPr>
          <a:xfrm>
            <a:off x="8275320" y="4114800"/>
            <a:ext cx="82296" cy="1508760"/>
          </a:xfrm>
          <a:prstGeom prst="rect">
            <a:avLst/>
          </a:prstGeom>
          <a:solidFill>
            <a:srgbClr val="1D4ED8"/>
          </a:solidFill>
          <a:ln w="12700">
            <a:solidFill>
              <a:srgbClr val="1D4ED8"/>
            </a:solidFill>
            <a:prstDash val="solid"/>
          </a:ln>
        </p:spPr>
      </p:sp>
      <p:sp>
        <p:nvSpPr>
          <p:cNvPr id="18" name="Text 15"/>
          <p:cNvSpPr/>
          <p:nvPr/>
        </p:nvSpPr>
        <p:spPr>
          <a:xfrm>
            <a:off x="8439912" y="4160520"/>
            <a:ext cx="3291840" cy="1417320"/>
          </a:xfrm>
          <a:prstGeom prst="rect">
            <a:avLst/>
          </a:prstGeom>
          <a:noFill/>
          <a:ln/>
        </p:spPr>
        <p:txBody>
          <a:bodyPr wrap="square" rtlCol="0" anchor="t"/>
          <a:lstStyle/>
          <a:p>
            <a:pPr indent="0" marL="0">
              <a:spcAft>
                <a:spcPts val="200"/>
              </a:spcAft>
              <a:buNone/>
            </a:pPr>
            <a:r>
              <a:rPr lang="en-US" sz="1150" b="1" dirty="0">
                <a:solidFill>
                  <a:srgbClr val="1D4ED8"/>
                </a:solidFill>
                <a:latin typeface="Meiryo UI" pitchFamily="34" charset="0"/>
                <a:ea typeface="Meiryo UI" pitchFamily="34" charset="-122"/>
                <a:cs typeface="Meiryo UI" pitchFamily="34" charset="-120"/>
              </a:rPr>
              <a:t>【ヒント】</a:t>
            </a:r>
            <a:endParaRPr lang="en-US" sz="1150" dirty="0"/>
          </a:p>
          <a:p>
            <a:pPr indent="0" marL="0">
              <a:spcAft>
                <a:spcPts val="200"/>
              </a:spcAft>
              <a:buNone/>
            </a:pPr>
            <a:r>
              <a:rPr lang="en-US" sz="1150" dirty="0">
                <a:solidFill>
                  <a:srgbClr val="1F2937"/>
                </a:solidFill>
                <a:latin typeface="Meiryo UI" pitchFamily="34" charset="0"/>
                <a:ea typeface="Meiryo UI" pitchFamily="34" charset="-122"/>
                <a:cs typeface="Meiryo UI" pitchFamily="34" charset="-120"/>
              </a:rPr>
              <a:t>201 Created は「作成できた」という意味です（第5章）。GET の 200 と間違えないようにしましょう。</a:t>
            </a:r>
            <a:endParaRPr lang="en-US" sz="115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ステップ②【8/9】保存する（Send は押さない）</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5356860" cy="4343400"/>
          </a:xfrm>
          <a:prstGeom prst="rect">
            <a:avLst/>
          </a:prstGeom>
        </p:spPr>
      </p:pic>
      <p:sp>
        <p:nvSpPr>
          <p:cNvPr id="7" name="Shape 4"/>
          <p:cNvSpPr/>
          <p:nvPr/>
        </p:nvSpPr>
        <p:spPr>
          <a:xfrm>
            <a:off x="411480" y="1051560"/>
            <a:ext cx="5356860" cy="4343400"/>
          </a:xfrm>
          <a:prstGeom prst="rect">
            <a:avLst/>
          </a:prstGeom>
          <a:ln w="9525">
            <a:solidFill>
              <a:srgbClr val="D1D5DB"/>
            </a:solidFill>
            <a:prstDash val="solid"/>
          </a:ln>
        </p:spPr>
      </p:sp>
      <p:sp>
        <p:nvSpPr>
          <p:cNvPr id="8" name="Text 5"/>
          <p:cNvSpPr/>
          <p:nvPr/>
        </p:nvSpPr>
        <p:spPr>
          <a:xfrm>
            <a:off x="411480" y="5413248"/>
            <a:ext cx="53568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4874133" y="1713738"/>
            <a:ext cx="217551" cy="224790"/>
          </a:xfrm>
          <a:prstGeom prst="rect">
            <a:avLst/>
          </a:prstGeom>
          <a:ln w="28575">
            <a:solidFill>
              <a:srgbClr val="E11D2E"/>
            </a:solidFill>
            <a:prstDash val="solid"/>
          </a:ln>
        </p:spPr>
      </p:sp>
      <p:sp>
        <p:nvSpPr>
          <p:cNvPr id="10" name="Shape 7"/>
          <p:cNvSpPr/>
          <p:nvPr/>
        </p:nvSpPr>
        <p:spPr>
          <a:xfrm>
            <a:off x="4581525" y="1688973"/>
            <a:ext cx="274320" cy="274320"/>
          </a:xfrm>
          <a:prstGeom prst="ellipse">
            <a:avLst/>
          </a:prstGeom>
          <a:solidFill>
            <a:srgbClr val="E11D2E"/>
          </a:solidFill>
          <a:ln w="15875">
            <a:solidFill>
              <a:srgbClr val="FFFFFF"/>
            </a:solidFill>
            <a:prstDash val="solid"/>
          </a:ln>
        </p:spPr>
      </p:sp>
      <p:sp>
        <p:nvSpPr>
          <p:cNvPr id="11" name="Text 8"/>
          <p:cNvSpPr/>
          <p:nvPr/>
        </p:nvSpPr>
        <p:spPr>
          <a:xfrm>
            <a:off x="4581525" y="1688973"/>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5156454" y="1684782"/>
            <a:ext cx="514350" cy="282702"/>
          </a:xfrm>
          <a:prstGeom prst="rect">
            <a:avLst/>
          </a:prstGeom>
          <a:ln w="28575">
            <a:solidFill>
              <a:srgbClr val="E11D2E"/>
            </a:solidFill>
            <a:prstDash val="solid"/>
          </a:ln>
        </p:spPr>
      </p:sp>
      <p:sp>
        <p:nvSpPr>
          <p:cNvPr id="13" name="Shape 10"/>
          <p:cNvSpPr/>
          <p:nvPr/>
        </p:nvSpPr>
        <p:spPr>
          <a:xfrm>
            <a:off x="5019294" y="1830324"/>
            <a:ext cx="274320" cy="274320"/>
          </a:xfrm>
          <a:prstGeom prst="ellipse">
            <a:avLst/>
          </a:prstGeom>
          <a:solidFill>
            <a:srgbClr val="E11D2E"/>
          </a:solidFill>
          <a:ln w="15875">
            <a:solidFill>
              <a:srgbClr val="FFFFFF"/>
            </a:solidFill>
            <a:prstDash val="solid"/>
          </a:ln>
        </p:spPr>
      </p:sp>
      <p:sp>
        <p:nvSpPr>
          <p:cNvPr id="14" name="Text 11"/>
          <p:cNvSpPr/>
          <p:nvPr/>
        </p:nvSpPr>
        <p:spPr>
          <a:xfrm>
            <a:off x="5019294" y="183032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Text 12"/>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Ctrl + S を押して保存する（または ① の保存アイコンをクリック）</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保存すると、① のアイコンがオレンジから灰色に変わる（タブの名前の右のオレンジの点も消える）</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③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② の Send は押さない（Ctrl + Enter も押さない。この教材では送信しない）</a:t>
            </a:r>
            <a:endParaRPr lang="en-US" sz="1300" dirty="0"/>
          </a:p>
        </p:txBody>
      </p:sp>
      <p:sp>
        <p:nvSpPr>
          <p:cNvPr id="16" name="Shape 13"/>
          <p:cNvSpPr/>
          <p:nvPr/>
        </p:nvSpPr>
        <p:spPr>
          <a:xfrm>
            <a:off x="8275320" y="3520440"/>
            <a:ext cx="3520440" cy="2103120"/>
          </a:xfrm>
          <a:prstGeom prst="rect">
            <a:avLst/>
          </a:prstGeom>
          <a:solidFill>
            <a:srgbClr val="ECFDF5"/>
          </a:solidFill>
          <a:ln w="15875">
            <a:solidFill>
              <a:srgbClr val="047857"/>
            </a:solidFill>
            <a:prstDash val="solid"/>
          </a:ln>
        </p:spPr>
      </p:sp>
      <p:sp>
        <p:nvSpPr>
          <p:cNvPr id="17" name="Shape 14"/>
          <p:cNvSpPr/>
          <p:nvPr/>
        </p:nvSpPr>
        <p:spPr>
          <a:xfrm>
            <a:off x="8275320" y="3520440"/>
            <a:ext cx="82296" cy="2103120"/>
          </a:xfrm>
          <a:prstGeom prst="rect">
            <a:avLst/>
          </a:prstGeom>
          <a:solidFill>
            <a:srgbClr val="047857"/>
          </a:solidFill>
          <a:ln w="12700">
            <a:solidFill>
              <a:srgbClr val="047857"/>
            </a:solidFill>
            <a:prstDash val="solid"/>
          </a:ln>
        </p:spPr>
      </p:sp>
      <p:sp>
        <p:nvSpPr>
          <p:cNvPr id="18" name="Text 15"/>
          <p:cNvSpPr/>
          <p:nvPr/>
        </p:nvSpPr>
        <p:spPr>
          <a:xfrm>
            <a:off x="8439912" y="3566160"/>
            <a:ext cx="3291840" cy="2011680"/>
          </a:xfrm>
          <a:prstGeom prst="rect">
            <a:avLst/>
          </a:prstGeom>
          <a:noFill/>
          <a:ln/>
        </p:spPr>
        <p:txBody>
          <a:bodyPr wrap="square" rtlCol="0" anchor="t"/>
          <a:lstStyle/>
          <a:p>
            <a:pPr indent="0" marL="0">
              <a:spcAft>
                <a:spcPts val="200"/>
              </a:spcAft>
              <a:buNone/>
            </a:pPr>
            <a:r>
              <a:rPr lang="en-US" sz="1150" b="1" dirty="0">
                <a:solidFill>
                  <a:srgbClr val="047857"/>
                </a:solidFill>
                <a:latin typeface="Meiryo UI" pitchFamily="34" charset="0"/>
                <a:ea typeface="Meiryo UI" pitchFamily="34" charset="-122"/>
                <a:cs typeface="Meiryo UI" pitchFamily="34" charset="-120"/>
              </a:rPr>
              <a:t>【実際に Send したときの期待する結果】</a:t>
            </a:r>
            <a:endParaRPr lang="en-US" sz="1150" dirty="0"/>
          </a:p>
          <a:p>
            <a:pPr indent="0" marL="0">
              <a:spcAft>
                <a:spcPts val="200"/>
              </a:spcAft>
              <a:buNone/>
            </a:pPr>
            <a:r>
              <a:rPr lang="en-US" sz="1150" dirty="0">
                <a:solidFill>
                  <a:srgbClr val="1F2937"/>
                </a:solidFill>
                <a:latin typeface="Meiryo UI" pitchFamily="34" charset="0"/>
                <a:ea typeface="Meiryo UI" pitchFamily="34" charset="-122"/>
                <a:cs typeface="Meiryo UI" pitchFamily="34" charset="-120"/>
              </a:rPr>
              <a:t>201 Created。Tests タブで Assertions が Passed。Post Response のスクリプトで directorClientKey が保存される。</a:t>
            </a:r>
            <a:endParaRPr lang="en-US" sz="1150" dirty="0"/>
          </a:p>
        </p:txBody>
      </p:sp>
      <p:sp>
        <p:nvSpPr>
          <p:cNvPr id="19" name="Shape 16"/>
          <p:cNvSpPr/>
          <p:nvPr/>
        </p:nvSpPr>
        <p:spPr>
          <a:xfrm>
            <a:off x="548640" y="5788152"/>
            <a:ext cx="11064240" cy="329184"/>
          </a:xfrm>
          <a:prstGeom prst="rect">
            <a:avLst/>
          </a:prstGeom>
          <a:solidFill>
            <a:srgbClr val="ECFDF5"/>
          </a:solidFill>
          <a:ln w="12700">
            <a:solidFill>
              <a:srgbClr val="047857"/>
            </a:solidFill>
            <a:prstDash val="solid"/>
          </a:ln>
        </p:spPr>
      </p:sp>
      <p:sp>
        <p:nvSpPr>
          <p:cNvPr id="20" name="Text 17"/>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参考コレクション exercises\mambu-corporate-onboarding\04 Create Director Client.yml を開いて、自分の入力と比べる</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ステップ②【9/9】レスポンスで見るところと、顧客の状態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6" name="Text 4"/>
          <p:cNvSpPr/>
          <p:nvPr/>
        </p:nvSpPr>
        <p:spPr>
          <a:xfrm>
            <a:off x="365760" y="6144768"/>
            <a:ext cx="11430000" cy="292608"/>
          </a:xfrm>
          <a:prstGeom prst="rect">
            <a:avLst/>
          </a:prstGeom>
          <a:noFill/>
          <a:ln/>
        </p:spPr>
        <p:txBody>
          <a:bodyPr wrap="square" rtlCol="0" anchor="t"/>
          <a:lstStyle/>
          <a:p>
            <a:pPr indent="0" marL="0">
              <a:buNone/>
            </a:pPr>
            <a:r>
              <a:rPr lang="en-US" sz="1000" dirty="0">
                <a:solidFill>
                  <a:srgbClr val="6B7280"/>
                </a:solidFill>
                <a:latin typeface="Meiryo UI" pitchFamily="34" charset="0"/>
                <a:ea typeface="Meiryo UI" pitchFamily="34" charset="-122"/>
                <a:cs typeface="Meiryo UI" pitchFamily="34" charset="-120"/>
              </a:rPr>
              <a:t>出典：https://docs.mambu.com/swagger_files/v2/clients.json（公式 OpenAPI、2026-10-09 確認） ／ https://docs.mambu.com/docs/client-life-cycle/ ／ https://docs.mambu.com/docs/internal-controls/（2026-10-09 確認）</a:t>
            </a:r>
            <a:endParaRPr lang="en-US" sz="1000" dirty="0"/>
          </a:p>
        </p:txBody>
      </p:sp>
      <p:sp>
        <p:nvSpPr>
          <p:cNvPr id="7" name="Text 5"/>
          <p:cNvSpPr/>
          <p:nvPr/>
        </p:nvSpPr>
        <p:spPr>
          <a:xfrm>
            <a:off x="548640" y="1463040"/>
            <a:ext cx="6858000" cy="2194560"/>
          </a:xfrm>
          <a:prstGeom prst="rect">
            <a:avLst/>
          </a:prstGeom>
          <a:solidFill>
            <a:srgbClr val="F3F4F6"/>
          </a:solidFill>
          <a:ln w="12700">
            <a:solidFill>
              <a:srgbClr val="D1D5DB"/>
            </a:solidFill>
          </a:ln>
        </p:spPr>
        <p:txBody>
          <a:bodyPr wrap="square" lIns="101600" tIns="101600" rIns="101600" bIns="101600" rtlCol="0" anchor="t"/>
          <a:lstStyle/>
          <a:p>
            <a:pPr indent="0" marL="0">
              <a:buNone/>
            </a:pPr>
            <a:r>
              <a:rPr lang="en-US" sz="1300" dirty="0">
                <a:solidFill>
                  <a:srgbClr val="111827"/>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rgbClr val="111827"/>
                </a:solidFill>
                <a:latin typeface="Consolas" pitchFamily="34" charset="0"/>
                <a:ea typeface="Consolas" pitchFamily="34" charset="-122"/>
                <a:cs typeface="Consolas" pitchFamily="34" charset="-120"/>
              </a:rPr>
              <a:t>  "encodedKey": "（Mambu が付けた値）",   ← directorClientKey に保存</a:t>
            </a:r>
            <a:endParaRPr lang="en-US" sz="1300" dirty="0"/>
          </a:p>
          <a:p>
            <a:pPr indent="0" marL="0">
              <a:buNone/>
            </a:pPr>
            <a:r>
              <a:rPr lang="en-US" sz="1300" dirty="0">
                <a:solidFill>
                  <a:srgbClr val="111827"/>
                </a:solidFill>
                <a:latin typeface="Consolas" pitchFamily="34" charset="0"/>
                <a:ea typeface="Consolas" pitchFamily="34" charset="-122"/>
                <a:cs typeface="Consolas" pitchFamily="34" charset="-120"/>
              </a:rPr>
              <a:t>  "id": "（顧客の ID）",</a:t>
            </a:r>
            <a:endParaRPr lang="en-US" sz="1300" dirty="0"/>
          </a:p>
          <a:p>
            <a:pPr indent="0" marL="0">
              <a:buNone/>
            </a:pPr>
            <a:r>
              <a:rPr lang="en-US" sz="1300" dirty="0">
                <a:solidFill>
                  <a:srgbClr val="111827"/>
                </a:solidFill>
                <a:latin typeface="Consolas" pitchFamily="34" charset="0"/>
                <a:ea typeface="Consolas" pitchFamily="34" charset="-122"/>
                <a:cs typeface="Consolas" pitchFamily="34" charset="-120"/>
              </a:rPr>
              <a:t>  "state": "INACTIVE または PENDING_APPROVAL",</a:t>
            </a:r>
            <a:endParaRPr lang="en-US" sz="1300" dirty="0"/>
          </a:p>
          <a:p>
            <a:pPr indent="0" marL="0">
              <a:buNone/>
            </a:pPr>
            <a:r>
              <a:rPr lang="en-US" sz="1300" dirty="0">
                <a:solidFill>
                  <a:srgbClr val="111827"/>
                </a:solidFill>
                <a:latin typeface="Consolas" pitchFamily="34" charset="0"/>
                <a:ea typeface="Consolas" pitchFamily="34" charset="-122"/>
                <a:cs typeface="Consolas" pitchFamily="34" charset="-120"/>
              </a:rPr>
              <a:t>  "firstName": "太郎",</a:t>
            </a:r>
            <a:endParaRPr lang="en-US" sz="1300" dirty="0"/>
          </a:p>
          <a:p>
            <a:pPr indent="0" marL="0">
              <a:buNone/>
            </a:pPr>
            <a:r>
              <a:rPr lang="en-US" sz="1300" dirty="0">
                <a:solidFill>
                  <a:srgbClr val="111827"/>
                </a:solidFill>
                <a:latin typeface="Consolas" pitchFamily="34" charset="0"/>
                <a:ea typeface="Consolas" pitchFamily="34" charset="-122"/>
                <a:cs typeface="Consolas" pitchFamily="34" charset="-120"/>
              </a:rPr>
              <a:t>  "lastName": "山田", ...</a:t>
            </a:r>
            <a:endParaRPr lang="en-US" sz="1300" dirty="0"/>
          </a:p>
          <a:p>
            <a:pPr indent="0" marL="0">
              <a:buNone/>
            </a:pPr>
            <a:r>
              <a:rPr lang="en-US" sz="1300" dirty="0">
                <a:solidFill>
                  <a:srgbClr val="111827"/>
                </a:solidFill>
                <a:latin typeface="Consolas" pitchFamily="34" charset="0"/>
                <a:ea typeface="Consolas" pitchFamily="34" charset="-122"/>
                <a:cs typeface="Consolas" pitchFamily="34" charset="-120"/>
              </a:rPr>
              <a:t>}</a:t>
            </a:r>
            <a:endParaRPr lang="en-US" sz="1300" dirty="0"/>
          </a:p>
        </p:txBody>
      </p:sp>
      <p:sp>
        <p:nvSpPr>
          <p:cNvPr id="8" name="Text 6"/>
          <p:cNvSpPr/>
          <p:nvPr/>
        </p:nvSpPr>
        <p:spPr>
          <a:xfrm>
            <a:off x="548640" y="1188720"/>
            <a:ext cx="6858000" cy="274320"/>
          </a:xfrm>
          <a:prstGeom prst="rect">
            <a:avLst/>
          </a:prstGeom>
          <a:noFill/>
          <a:ln/>
        </p:spPr>
        <p:txBody>
          <a:bodyPr wrap="square" rtlCol="0" anchor="ctr"/>
          <a:lstStyle/>
          <a:p>
            <a:pPr indent="0" marL="0">
              <a:buNone/>
            </a:pPr>
            <a:r>
              <a:rPr lang="en-US" sz="1100" dirty="0">
                <a:solidFill>
                  <a:srgbClr val="6B7280"/>
                </a:solidFill>
                <a:latin typeface="Meiryo UI" pitchFamily="34" charset="0"/>
                <a:ea typeface="Meiryo UI" pitchFamily="34" charset="-122"/>
                <a:cs typeface="Meiryo UI" pitchFamily="34" charset="-120"/>
              </a:rPr>
              <a:t>レスポンスで見るところ（値の例は省略）</a:t>
            </a:r>
            <a:endParaRPr lang="en-US" sz="1100" dirty="0"/>
          </a:p>
        </p:txBody>
      </p:sp>
      <p:sp>
        <p:nvSpPr>
          <p:cNvPr id="9" name="Shape 7"/>
          <p:cNvSpPr/>
          <p:nvPr/>
        </p:nvSpPr>
        <p:spPr>
          <a:xfrm>
            <a:off x="7680960" y="1463040"/>
            <a:ext cx="3931920" cy="2651760"/>
          </a:xfrm>
          <a:prstGeom prst="rect">
            <a:avLst/>
          </a:prstGeom>
          <a:solidFill>
            <a:srgbClr val="FEF2F2"/>
          </a:solidFill>
          <a:ln w="15875">
            <a:solidFill>
              <a:srgbClr val="B91C1C"/>
            </a:solidFill>
            <a:prstDash val="solid"/>
          </a:ln>
        </p:spPr>
      </p:sp>
      <p:sp>
        <p:nvSpPr>
          <p:cNvPr id="10" name="Shape 8"/>
          <p:cNvSpPr/>
          <p:nvPr/>
        </p:nvSpPr>
        <p:spPr>
          <a:xfrm>
            <a:off x="7680960" y="1463040"/>
            <a:ext cx="82296" cy="2651760"/>
          </a:xfrm>
          <a:prstGeom prst="rect">
            <a:avLst/>
          </a:prstGeom>
          <a:solidFill>
            <a:srgbClr val="B91C1C"/>
          </a:solidFill>
          <a:ln w="12700">
            <a:solidFill>
              <a:srgbClr val="B91C1C"/>
            </a:solidFill>
            <a:prstDash val="solid"/>
          </a:ln>
        </p:spPr>
      </p:sp>
      <p:sp>
        <p:nvSpPr>
          <p:cNvPr id="11" name="Text 9"/>
          <p:cNvSpPr/>
          <p:nvPr/>
        </p:nvSpPr>
        <p:spPr>
          <a:xfrm>
            <a:off x="7845552" y="1508760"/>
            <a:ext cx="3703320" cy="2560320"/>
          </a:xfrm>
          <a:prstGeom prst="rect">
            <a:avLst/>
          </a:prstGeom>
          <a:noFill/>
          <a:ln/>
        </p:spPr>
        <p:txBody>
          <a:bodyPr wrap="square" rtlCol="0" anchor="t"/>
          <a:lstStyle/>
          <a:p>
            <a:pPr indent="0" marL="0">
              <a:spcAft>
                <a:spcPts val="200"/>
              </a:spcAft>
              <a:buNone/>
            </a:pPr>
            <a:r>
              <a:rPr lang="en-US" sz="1200" b="1" dirty="0">
                <a:solidFill>
                  <a:srgbClr val="B91C1C"/>
                </a:solidFill>
                <a:latin typeface="Meiryo UI" pitchFamily="34" charset="0"/>
                <a:ea typeface="Meiryo UI" pitchFamily="34" charset="-122"/>
                <a:cs typeface="Meiryo UI" pitchFamily="34" charset="-120"/>
              </a:rPr>
              <a:t>【顧客の状態に注意】</a:t>
            </a:r>
            <a:endParaRPr lang="en-US" sz="1200" dirty="0"/>
          </a:p>
          <a:p>
            <a:pPr indent="0" marL="0">
              <a:spcAft>
                <a:spcPts val="200"/>
              </a:spcAft>
              <a:buNone/>
            </a:pPr>
            <a:r>
              <a:rPr lang="en-US" sz="1200" dirty="0">
                <a:solidFill>
                  <a:srgbClr val="1F2937"/>
                </a:solidFill>
                <a:latin typeface="Meiryo UI" pitchFamily="34" charset="0"/>
                <a:ea typeface="Meiryo UI" pitchFamily="34" charset="-122"/>
                <a:cs typeface="Meiryo UI" pitchFamily="34" charset="-120"/>
              </a:rPr>
              <a:t>作った直後の状態は、テナントの設定（Internal Controls の New Client Initial State）で「INACTIVE」か「PENDING_APPROVAL（承認待ち）」になります。承認待ちの顧客は口座を開設できません（公式）。API で承認する方法は公式資料で確認できていません。</a:t>
            </a:r>
            <a:endParaRPr lang="en-US" sz="1200" dirty="0"/>
          </a:p>
        </p:txBody>
      </p:sp>
      <p:sp>
        <p:nvSpPr>
          <p:cNvPr id="12" name="Text 10"/>
          <p:cNvSpPr/>
          <p:nvPr/>
        </p:nvSpPr>
        <p:spPr>
          <a:xfrm>
            <a:off x="548640" y="3931920"/>
            <a:ext cx="6858000" cy="640080"/>
          </a:xfrm>
          <a:prstGeom prst="rect">
            <a:avLst/>
          </a:prstGeom>
          <a:noFill/>
          <a:ln/>
        </p:spPr>
        <p:txBody>
          <a:bodyPr wrap="square" lIns="50800" tIns="50800" rIns="50800" bIns="50800" rtlCol="0" anchor="t"/>
          <a:lstStyle/>
          <a:p>
            <a:pPr algn="l" indent="0" marL="0">
              <a:buNone/>
            </a:pPr>
            <a:r>
              <a:rPr lang="en-US" sz="1300" dirty="0">
                <a:solidFill>
                  <a:srgbClr val="1F2937"/>
                </a:solidFill>
                <a:latin typeface="Meiryo UI" pitchFamily="34" charset="0"/>
                <a:ea typeface="Meiryo UI" pitchFamily="34" charset="-122"/>
                <a:cs typeface="Meiryo UI" pitchFamily="34" charset="-120"/>
              </a:rPr>
              <a:t>確認したいとき：Timeline タブ（レスポンス側）で、実際に送ったヘッダーと Body を確認できます（第9章）。</a:t>
            </a:r>
            <a:endParaRPr lang="en-US" sz="13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ステップ③：法人をグループ（Group）として登録する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6" name="Text 4"/>
          <p:cNvSpPr/>
          <p:nvPr/>
        </p:nvSpPr>
        <p:spPr>
          <a:xfrm>
            <a:off x="365760" y="6144768"/>
            <a:ext cx="11430000" cy="292608"/>
          </a:xfrm>
          <a:prstGeom prst="rect">
            <a:avLst/>
          </a:prstGeom>
          <a:noFill/>
          <a:ln/>
        </p:spPr>
        <p:txBody>
          <a:bodyPr wrap="square" rtlCol="0" anchor="t"/>
          <a:lstStyle/>
          <a:p>
            <a:pPr indent="0" marL="0">
              <a:buNone/>
            </a:pPr>
            <a:r>
              <a:rPr lang="en-US" sz="1000" dirty="0">
                <a:solidFill>
                  <a:srgbClr val="6B7280"/>
                </a:solidFill>
                <a:latin typeface="Meiryo UI" pitchFamily="34" charset="0"/>
                <a:ea typeface="Meiryo UI" pitchFamily="34" charset="-122"/>
                <a:cs typeface="Meiryo UI" pitchFamily="34" charset="-120"/>
              </a:rPr>
              <a:t>出典：https://docs.mambu.com/swagger_files/v2/groups.json（公式 OpenAPI、2026-10-09 確認）</a:t>
            </a:r>
            <a:endParaRPr lang="en-US" sz="10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11064240" cy="914400"/>
        </p:xfrm>
        <a:graphic>
          <a:graphicData uri="http://schemas.openxmlformats.org/drawingml/2006/table">
            <a:tbl>
              <a:tblPr/>
              <a:tblGrid>
                <a:gridCol w="2377440"/>
                <a:gridCol w="8686800"/>
              </a:tblGrid>
              <a:tr h="457200">
                <a:tc>
                  <a:txBody>
                    <a:bodyPr/>
                    <a:lstStyle/>
                    <a:p>
                      <a:pPr indent="0" marL="0">
                        <a:buNone/>
                      </a:pPr>
                      <a:r>
                        <a:rPr lang="en-US" sz="1400" b="1" dirty="0">
                          <a:solidFill>
                            <a:srgbClr val="FFFFFF"/>
                          </a:solidFill>
                          <a:latin typeface="Meiryo UI" pitchFamily="34" charset="0"/>
                          <a:ea typeface="Meiryo UI" pitchFamily="34" charset="-122"/>
                          <a:cs typeface="Meiryo UI" pitchFamily="34" charset="-120"/>
                        </a:rPr>
                        <a:t>項目</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Meiryo UI" pitchFamily="34" charset="0"/>
                          <a:ea typeface="Meiryo UI" pitchFamily="34" charset="-122"/>
                          <a:cs typeface="Meiryo UI" pitchFamily="34" charset="-120"/>
                        </a:rPr>
                        <a:t>内容</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45720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目的</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法人（株式会社サンプル）を Group として登録し、ステップ②の役員をメンバーに加える</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作るリクエスト</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05 Create Corporate Group：POST {{baseUrl}}/groups</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5720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使う値（入力）</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{{groupTypeKey}}・{{branchKey}}・{{roleNameKey}}（環境変数）、{{directorClientKey}}（ステップ②で保存）</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保存する値（出力）</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レスポンスの encodedKey → 変数 groupEncodedKey（ステップ④で使う）</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5720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アサーション</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res.status equals 201</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8" name="Text 5"/>
          <p:cNvSpPr/>
          <p:nvPr/>
        </p:nvSpPr>
        <p:spPr>
          <a:xfrm>
            <a:off x="548640" y="4572000"/>
            <a:ext cx="11064240" cy="411480"/>
          </a:xfrm>
          <a:prstGeom prst="rect">
            <a:avLst/>
          </a:prstGeom>
          <a:noFill/>
          <a:ln/>
        </p:spPr>
        <p:txBody>
          <a:bodyPr wrap="square" lIns="50800" tIns="50800" rIns="50800" bIns="50800" rtlCol="0" anchor="t"/>
          <a:lstStyle/>
          <a:p>
            <a:pPr algn="l" indent="0" marL="0">
              <a:buNone/>
            </a:pPr>
            <a:r>
              <a:rPr lang="en-US" sz="1400" b="1" dirty="0">
                <a:solidFill>
                  <a:srgbClr val="1F3A5F"/>
                </a:solidFill>
                <a:latin typeface="Meiryo UI" pitchFamily="34" charset="0"/>
                <a:ea typeface="Meiryo UI" pitchFamily="34" charset="-122"/>
                <a:cs typeface="Meiryo UI" pitchFamily="34" charset="-120"/>
              </a:rPr>
              <a:t>手順：New Request（POST）→ Headers → Body（JSON）→ Script → Assert → 保存（ステップ②と同じ流れ）</a:t>
            </a:r>
            <a:endParaRPr lang="en-US" sz="14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ステップ③【1/7】POST のリクエストを作る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6363081" cy="4343400"/>
          </a:xfrm>
          <a:prstGeom prst="rect">
            <a:avLst/>
          </a:prstGeom>
        </p:spPr>
      </p:pic>
      <p:sp>
        <p:nvSpPr>
          <p:cNvPr id="7" name="Shape 4"/>
          <p:cNvSpPr/>
          <p:nvPr/>
        </p:nvSpPr>
        <p:spPr>
          <a:xfrm>
            <a:off x="411480" y="1051560"/>
            <a:ext cx="6363081" cy="4343400"/>
          </a:xfrm>
          <a:prstGeom prst="rect">
            <a:avLst/>
          </a:prstGeom>
          <a:ln w="9525">
            <a:solidFill>
              <a:srgbClr val="D1D5DB"/>
            </a:solidFill>
            <a:prstDash val="solid"/>
          </a:ln>
        </p:spPr>
      </p:sp>
      <p:sp>
        <p:nvSpPr>
          <p:cNvPr id="8" name="Text 5"/>
          <p:cNvSpPr/>
          <p:nvPr/>
        </p:nvSpPr>
        <p:spPr>
          <a:xfrm>
            <a:off x="411480" y="5413248"/>
            <a:ext cx="6363081"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1044702" y="3042095"/>
            <a:ext cx="5096637" cy="405765"/>
          </a:xfrm>
          <a:prstGeom prst="rect">
            <a:avLst/>
          </a:prstGeom>
          <a:ln w="28575">
            <a:solidFill>
              <a:srgbClr val="E11D2E"/>
            </a:solidFill>
            <a:prstDash val="solid"/>
          </a:ln>
        </p:spPr>
      </p:sp>
      <p:sp>
        <p:nvSpPr>
          <p:cNvPr id="10" name="Shape 7"/>
          <p:cNvSpPr/>
          <p:nvPr/>
        </p:nvSpPr>
        <p:spPr>
          <a:xfrm>
            <a:off x="752094" y="3107817"/>
            <a:ext cx="274320" cy="274320"/>
          </a:xfrm>
          <a:prstGeom prst="ellipse">
            <a:avLst/>
          </a:prstGeom>
          <a:solidFill>
            <a:srgbClr val="E11D2E"/>
          </a:solidFill>
          <a:ln w="15875">
            <a:solidFill>
              <a:srgbClr val="FFFFFF"/>
            </a:solidFill>
            <a:prstDash val="solid"/>
          </a:ln>
        </p:spPr>
      </p:sp>
      <p:sp>
        <p:nvSpPr>
          <p:cNvPr id="11" name="Text 8"/>
          <p:cNvSpPr/>
          <p:nvPr/>
        </p:nvSpPr>
        <p:spPr>
          <a:xfrm>
            <a:off x="752094" y="3107817"/>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1044702" y="3899916"/>
            <a:ext cx="774954" cy="405765"/>
          </a:xfrm>
          <a:prstGeom prst="rect">
            <a:avLst/>
          </a:prstGeom>
          <a:ln w="28575">
            <a:solidFill>
              <a:srgbClr val="E11D2E"/>
            </a:solidFill>
            <a:prstDash val="solid"/>
          </a:ln>
        </p:spPr>
      </p:sp>
      <p:sp>
        <p:nvSpPr>
          <p:cNvPr id="13" name="Shape 10"/>
          <p:cNvSpPr/>
          <p:nvPr/>
        </p:nvSpPr>
        <p:spPr>
          <a:xfrm>
            <a:off x="752094" y="3965638"/>
            <a:ext cx="274320" cy="274320"/>
          </a:xfrm>
          <a:prstGeom prst="ellipse">
            <a:avLst/>
          </a:prstGeom>
          <a:solidFill>
            <a:srgbClr val="E11D2E"/>
          </a:solidFill>
          <a:ln w="15875">
            <a:solidFill>
              <a:srgbClr val="FFFFFF"/>
            </a:solidFill>
            <a:prstDash val="solid"/>
          </a:ln>
        </p:spPr>
      </p:sp>
      <p:sp>
        <p:nvSpPr>
          <p:cNvPr id="14" name="Text 11"/>
          <p:cNvSpPr/>
          <p:nvPr/>
        </p:nvSpPr>
        <p:spPr>
          <a:xfrm>
            <a:off x="752094" y="396563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Shape 12"/>
          <p:cNvSpPr/>
          <p:nvPr/>
        </p:nvSpPr>
        <p:spPr>
          <a:xfrm>
            <a:off x="1044702" y="3899916"/>
            <a:ext cx="5096637" cy="405765"/>
          </a:xfrm>
          <a:prstGeom prst="rect">
            <a:avLst/>
          </a:prstGeom>
          <a:ln w="28575">
            <a:solidFill>
              <a:srgbClr val="E11D2E"/>
            </a:solidFill>
            <a:prstDash val="solid"/>
          </a:ln>
        </p:spPr>
      </p:sp>
      <p:sp>
        <p:nvSpPr>
          <p:cNvPr id="16" name="Shape 13"/>
          <p:cNvSpPr/>
          <p:nvPr/>
        </p:nvSpPr>
        <p:spPr>
          <a:xfrm>
            <a:off x="6004179" y="3762756"/>
            <a:ext cx="274320" cy="274320"/>
          </a:xfrm>
          <a:prstGeom prst="ellipse">
            <a:avLst/>
          </a:prstGeom>
          <a:solidFill>
            <a:srgbClr val="E11D2E"/>
          </a:solidFill>
          <a:ln w="15875">
            <a:solidFill>
              <a:srgbClr val="FFFFFF"/>
            </a:solidFill>
            <a:prstDash val="solid"/>
          </a:ln>
        </p:spPr>
      </p:sp>
      <p:sp>
        <p:nvSpPr>
          <p:cNvPr id="17" name="Text 14"/>
          <p:cNvSpPr/>
          <p:nvPr/>
        </p:nvSpPr>
        <p:spPr>
          <a:xfrm>
            <a:off x="6004179" y="376275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8" name="Shape 15"/>
          <p:cNvSpPr/>
          <p:nvPr/>
        </p:nvSpPr>
        <p:spPr>
          <a:xfrm>
            <a:off x="5322951" y="4594860"/>
            <a:ext cx="818388" cy="362331"/>
          </a:xfrm>
          <a:prstGeom prst="rect">
            <a:avLst/>
          </a:prstGeom>
          <a:ln w="28575">
            <a:solidFill>
              <a:srgbClr val="E11D2E"/>
            </a:solidFill>
            <a:prstDash val="solid"/>
          </a:ln>
        </p:spPr>
      </p:sp>
      <p:sp>
        <p:nvSpPr>
          <p:cNvPr id="19" name="Shape 16"/>
          <p:cNvSpPr/>
          <p:nvPr/>
        </p:nvSpPr>
        <p:spPr>
          <a:xfrm>
            <a:off x="6159627" y="4638865"/>
            <a:ext cx="274320" cy="274320"/>
          </a:xfrm>
          <a:prstGeom prst="ellipse">
            <a:avLst/>
          </a:prstGeom>
          <a:solidFill>
            <a:srgbClr val="E11D2E"/>
          </a:solidFill>
          <a:ln w="15875">
            <a:solidFill>
              <a:srgbClr val="FFFFFF"/>
            </a:solidFill>
            <a:prstDash val="solid"/>
          </a:ln>
        </p:spPr>
      </p:sp>
      <p:sp>
        <p:nvSpPr>
          <p:cNvPr id="20" name="Text 17"/>
          <p:cNvSpPr/>
          <p:nvPr/>
        </p:nvSpPr>
        <p:spPr>
          <a:xfrm>
            <a:off x="6159627" y="4638865"/>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4</a:t>
            </a:r>
            <a:endParaRPr lang="en-US" sz="1200" dirty="0"/>
          </a:p>
        </p:txBody>
      </p:sp>
      <p:sp>
        <p:nvSpPr>
          <p:cNvPr id="21" name="Text 18"/>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右クリック → New Request。Request Name：05 Create Corporate Group</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メソッド：POST</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③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URL：{{baseUrl}}/groups</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④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「Create」をクリック</a:t>
            </a:r>
            <a:endParaRPr lang="en-US" sz="13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ステップ③【2/7】Headers タブに Idempotency-Key</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7680960" cy="4320540"/>
          </a:xfrm>
          <a:prstGeom prst="rect">
            <a:avLst/>
          </a:prstGeom>
        </p:spPr>
      </p:pic>
      <p:sp>
        <p:nvSpPr>
          <p:cNvPr id="7" name="Shape 4"/>
          <p:cNvSpPr/>
          <p:nvPr/>
        </p:nvSpPr>
        <p:spPr>
          <a:xfrm>
            <a:off x="411480" y="1051560"/>
            <a:ext cx="7680960" cy="4320540"/>
          </a:xfrm>
          <a:prstGeom prst="rect">
            <a:avLst/>
          </a:prstGeom>
          <a:ln w="9525">
            <a:solidFill>
              <a:srgbClr val="D1D5DB"/>
            </a:solidFill>
            <a:prstDash val="solid"/>
          </a:ln>
        </p:spPr>
      </p:sp>
      <p:sp>
        <p:nvSpPr>
          <p:cNvPr id="8" name="Text 5"/>
          <p:cNvSpPr/>
          <p:nvPr/>
        </p:nvSpPr>
        <p:spPr>
          <a:xfrm>
            <a:off x="411480" y="5390388"/>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1602943" y="1897380"/>
            <a:ext cx="574243" cy="343814"/>
          </a:xfrm>
          <a:prstGeom prst="rect">
            <a:avLst/>
          </a:prstGeom>
          <a:ln w="28575">
            <a:solidFill>
              <a:srgbClr val="E11D2E"/>
            </a:solidFill>
            <a:prstDash val="solid"/>
          </a:ln>
        </p:spPr>
      </p:sp>
      <p:sp>
        <p:nvSpPr>
          <p:cNvPr id="10" name="Shape 7"/>
          <p:cNvSpPr/>
          <p:nvPr/>
        </p:nvSpPr>
        <p:spPr>
          <a:xfrm>
            <a:off x="1465783" y="1760220"/>
            <a:ext cx="274320" cy="274320"/>
          </a:xfrm>
          <a:prstGeom prst="ellipse">
            <a:avLst/>
          </a:prstGeom>
          <a:solidFill>
            <a:srgbClr val="E11D2E"/>
          </a:solidFill>
          <a:ln w="15875">
            <a:solidFill>
              <a:srgbClr val="FFFFFF"/>
            </a:solidFill>
            <a:prstDash val="solid"/>
          </a:ln>
        </p:spPr>
      </p:sp>
      <p:sp>
        <p:nvSpPr>
          <p:cNvPr id="11" name="Text 8"/>
          <p:cNvSpPr/>
          <p:nvPr/>
        </p:nvSpPr>
        <p:spPr>
          <a:xfrm>
            <a:off x="1465783" y="17602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796442" y="2655875"/>
            <a:ext cx="1428750" cy="382219"/>
          </a:xfrm>
          <a:prstGeom prst="rect">
            <a:avLst/>
          </a:prstGeom>
          <a:ln w="28575">
            <a:solidFill>
              <a:srgbClr val="E11D2E"/>
            </a:solidFill>
            <a:prstDash val="solid"/>
          </a:ln>
        </p:spPr>
      </p:sp>
      <p:sp>
        <p:nvSpPr>
          <p:cNvPr id="13" name="Shape 10"/>
          <p:cNvSpPr/>
          <p:nvPr/>
        </p:nvSpPr>
        <p:spPr>
          <a:xfrm>
            <a:off x="503834" y="2709824"/>
            <a:ext cx="274320" cy="274320"/>
          </a:xfrm>
          <a:prstGeom prst="ellipse">
            <a:avLst/>
          </a:prstGeom>
          <a:solidFill>
            <a:srgbClr val="E11D2E"/>
          </a:solidFill>
          <a:ln w="15875">
            <a:solidFill>
              <a:srgbClr val="FFFFFF"/>
            </a:solidFill>
            <a:prstDash val="solid"/>
          </a:ln>
        </p:spPr>
      </p:sp>
      <p:sp>
        <p:nvSpPr>
          <p:cNvPr id="14" name="Text 11"/>
          <p:cNvSpPr/>
          <p:nvPr/>
        </p:nvSpPr>
        <p:spPr>
          <a:xfrm>
            <a:off x="503834" y="270982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Shape 12"/>
          <p:cNvSpPr/>
          <p:nvPr/>
        </p:nvSpPr>
        <p:spPr>
          <a:xfrm>
            <a:off x="2188616" y="2655875"/>
            <a:ext cx="3070555" cy="382219"/>
          </a:xfrm>
          <a:prstGeom prst="rect">
            <a:avLst/>
          </a:prstGeom>
          <a:ln w="28575">
            <a:solidFill>
              <a:srgbClr val="E11D2E"/>
            </a:solidFill>
            <a:prstDash val="solid"/>
          </a:ln>
        </p:spPr>
      </p:sp>
      <p:sp>
        <p:nvSpPr>
          <p:cNvPr id="16" name="Shape 13"/>
          <p:cNvSpPr/>
          <p:nvPr/>
        </p:nvSpPr>
        <p:spPr>
          <a:xfrm>
            <a:off x="5122012" y="2518715"/>
            <a:ext cx="274320" cy="274320"/>
          </a:xfrm>
          <a:prstGeom prst="ellipse">
            <a:avLst/>
          </a:prstGeom>
          <a:solidFill>
            <a:srgbClr val="E11D2E"/>
          </a:solidFill>
          <a:ln w="15875">
            <a:solidFill>
              <a:srgbClr val="FFFFFF"/>
            </a:solidFill>
            <a:prstDash val="solid"/>
          </a:ln>
        </p:spPr>
      </p:sp>
      <p:sp>
        <p:nvSpPr>
          <p:cNvPr id="17" name="Text 14"/>
          <p:cNvSpPr/>
          <p:nvPr/>
        </p:nvSpPr>
        <p:spPr>
          <a:xfrm>
            <a:off x="5122012" y="2518715"/>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8" name="Text 15"/>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「Headers」タブをクリック</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Name：Idempotency-Key</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③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Value：{{$randomUUID}}</a:t>
            </a:r>
            <a:endParaRPr lang="en-US" sz="1300" dirty="0"/>
          </a:p>
        </p:txBody>
      </p:sp>
      <p:sp>
        <p:nvSpPr>
          <p:cNvPr id="19" name="Shape 16"/>
          <p:cNvSpPr/>
          <p:nvPr/>
        </p:nvSpPr>
        <p:spPr>
          <a:xfrm>
            <a:off x="8275320" y="4114800"/>
            <a:ext cx="3520440" cy="1508760"/>
          </a:xfrm>
          <a:prstGeom prst="rect">
            <a:avLst/>
          </a:prstGeom>
          <a:solidFill>
            <a:srgbClr val="EFF6FF"/>
          </a:solidFill>
          <a:ln w="15875">
            <a:solidFill>
              <a:srgbClr val="1D4ED8"/>
            </a:solidFill>
            <a:prstDash val="solid"/>
          </a:ln>
        </p:spPr>
      </p:sp>
      <p:sp>
        <p:nvSpPr>
          <p:cNvPr id="20" name="Shape 17"/>
          <p:cNvSpPr/>
          <p:nvPr/>
        </p:nvSpPr>
        <p:spPr>
          <a:xfrm>
            <a:off x="8275320" y="4114800"/>
            <a:ext cx="82296" cy="1508760"/>
          </a:xfrm>
          <a:prstGeom prst="rect">
            <a:avLst/>
          </a:prstGeom>
          <a:solidFill>
            <a:srgbClr val="1D4ED8"/>
          </a:solidFill>
          <a:ln w="12700">
            <a:solidFill>
              <a:srgbClr val="1D4ED8"/>
            </a:solidFill>
            <a:prstDash val="solid"/>
          </a:ln>
        </p:spPr>
      </p:sp>
      <p:sp>
        <p:nvSpPr>
          <p:cNvPr id="21" name="Text 18"/>
          <p:cNvSpPr/>
          <p:nvPr/>
        </p:nvSpPr>
        <p:spPr>
          <a:xfrm>
            <a:off x="8439912" y="4160520"/>
            <a:ext cx="3291840" cy="1417320"/>
          </a:xfrm>
          <a:prstGeom prst="rect">
            <a:avLst/>
          </a:prstGeom>
          <a:noFill/>
          <a:ln/>
        </p:spPr>
        <p:txBody>
          <a:bodyPr wrap="square" rtlCol="0" anchor="t"/>
          <a:lstStyle/>
          <a:p>
            <a:pPr indent="0" marL="0">
              <a:spcAft>
                <a:spcPts val="200"/>
              </a:spcAft>
              <a:buNone/>
            </a:pPr>
            <a:r>
              <a:rPr lang="en-US" sz="1150" b="1" dirty="0">
                <a:solidFill>
                  <a:srgbClr val="1D4ED8"/>
                </a:solidFill>
                <a:latin typeface="Meiryo UI" pitchFamily="34" charset="0"/>
                <a:ea typeface="Meiryo UI" pitchFamily="34" charset="-122"/>
                <a:cs typeface="Meiryo UI" pitchFamily="34" charset="-120"/>
              </a:rPr>
              <a:t>【ヒント】</a:t>
            </a:r>
            <a:endParaRPr lang="en-US" sz="1150" dirty="0"/>
          </a:p>
          <a:p>
            <a:pPr indent="0" marL="0">
              <a:spcAft>
                <a:spcPts val="200"/>
              </a:spcAft>
              <a:buNone/>
            </a:pPr>
            <a:r>
              <a:rPr lang="en-US" sz="1150" dirty="0">
                <a:solidFill>
                  <a:srgbClr val="1F2937"/>
                </a:solidFill>
                <a:latin typeface="Meiryo UI" pitchFamily="34" charset="0"/>
                <a:ea typeface="Meiryo UI" pitchFamily="34" charset="-122"/>
                <a:cs typeface="Meiryo UI" pitchFamily="34" charset="-120"/>
              </a:rPr>
              <a:t>POST のリクエストには毎回付けます（ステップ②と同じ）。</a:t>
            </a:r>
            <a:endParaRPr lang="en-US" sz="115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ステップ③【3/7】Body を JSON にして入力する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5669280" cy="3188970"/>
          </a:xfrm>
          <a:prstGeom prst="rect">
            <a:avLst/>
          </a:prstGeom>
        </p:spPr>
      </p:pic>
      <p:sp>
        <p:nvSpPr>
          <p:cNvPr id="7" name="Shape 4"/>
          <p:cNvSpPr/>
          <p:nvPr/>
        </p:nvSpPr>
        <p:spPr>
          <a:xfrm>
            <a:off x="411480" y="1051560"/>
            <a:ext cx="5669280" cy="3188970"/>
          </a:xfrm>
          <a:prstGeom prst="rect">
            <a:avLst/>
          </a:prstGeom>
          <a:ln w="9525">
            <a:solidFill>
              <a:srgbClr val="D1D5DB"/>
            </a:solidFill>
            <a:prstDash val="solid"/>
          </a:ln>
        </p:spPr>
      </p:sp>
      <p:sp>
        <p:nvSpPr>
          <p:cNvPr id="8" name="Text 5"/>
          <p:cNvSpPr/>
          <p:nvPr/>
        </p:nvSpPr>
        <p:spPr>
          <a:xfrm>
            <a:off x="411480" y="4258818"/>
            <a:ext cx="566928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945947" y="1671066"/>
            <a:ext cx="341300" cy="263347"/>
          </a:xfrm>
          <a:prstGeom prst="rect">
            <a:avLst/>
          </a:prstGeom>
          <a:ln w="28575">
            <a:solidFill>
              <a:srgbClr val="E11D2E"/>
            </a:solidFill>
            <a:prstDash val="solid"/>
          </a:ln>
        </p:spPr>
      </p:sp>
      <p:sp>
        <p:nvSpPr>
          <p:cNvPr id="10" name="Shape 7"/>
          <p:cNvSpPr/>
          <p:nvPr/>
        </p:nvSpPr>
        <p:spPr>
          <a:xfrm>
            <a:off x="808787" y="1533906"/>
            <a:ext cx="274320" cy="274320"/>
          </a:xfrm>
          <a:prstGeom prst="ellipse">
            <a:avLst/>
          </a:prstGeom>
          <a:solidFill>
            <a:srgbClr val="E11D2E"/>
          </a:solidFill>
          <a:ln w="15875">
            <a:solidFill>
              <a:srgbClr val="FFFFFF"/>
            </a:solidFill>
            <a:prstDash val="solid"/>
          </a:ln>
        </p:spPr>
      </p:sp>
      <p:sp>
        <p:nvSpPr>
          <p:cNvPr id="11" name="Text 8"/>
          <p:cNvSpPr/>
          <p:nvPr/>
        </p:nvSpPr>
        <p:spPr>
          <a:xfrm>
            <a:off x="808787" y="153390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4886096" y="1699412"/>
            <a:ext cx="447599" cy="220828"/>
          </a:xfrm>
          <a:prstGeom prst="rect">
            <a:avLst/>
          </a:prstGeom>
          <a:ln w="28575">
            <a:solidFill>
              <a:srgbClr val="E11D2E"/>
            </a:solidFill>
            <a:prstDash val="solid"/>
          </a:ln>
        </p:spPr>
      </p:sp>
      <p:sp>
        <p:nvSpPr>
          <p:cNvPr id="13" name="Shape 10"/>
          <p:cNvSpPr/>
          <p:nvPr/>
        </p:nvSpPr>
        <p:spPr>
          <a:xfrm>
            <a:off x="5196535" y="1562252"/>
            <a:ext cx="274320" cy="274320"/>
          </a:xfrm>
          <a:prstGeom prst="ellipse">
            <a:avLst/>
          </a:prstGeom>
          <a:solidFill>
            <a:srgbClr val="E11D2E"/>
          </a:solidFill>
          <a:ln w="15875">
            <a:solidFill>
              <a:srgbClr val="FFFFFF"/>
            </a:solidFill>
            <a:prstDash val="solid"/>
          </a:ln>
        </p:spPr>
      </p:sp>
      <p:sp>
        <p:nvSpPr>
          <p:cNvPr id="14" name="Text 11"/>
          <p:cNvSpPr/>
          <p:nvPr/>
        </p:nvSpPr>
        <p:spPr>
          <a:xfrm>
            <a:off x="5196535" y="156225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Shape 12"/>
          <p:cNvSpPr/>
          <p:nvPr/>
        </p:nvSpPr>
        <p:spPr>
          <a:xfrm>
            <a:off x="513664" y="2067916"/>
            <a:ext cx="5174361" cy="1705470"/>
          </a:xfrm>
          <a:prstGeom prst="rect">
            <a:avLst/>
          </a:prstGeom>
          <a:ln w="28575">
            <a:solidFill>
              <a:srgbClr val="E11D2E"/>
            </a:solidFill>
            <a:prstDash val="solid"/>
          </a:ln>
        </p:spPr>
      </p:sp>
      <p:sp>
        <p:nvSpPr>
          <p:cNvPr id="16" name="Shape 13"/>
          <p:cNvSpPr/>
          <p:nvPr/>
        </p:nvSpPr>
        <p:spPr>
          <a:xfrm>
            <a:off x="221056" y="2783491"/>
            <a:ext cx="274320" cy="274320"/>
          </a:xfrm>
          <a:prstGeom prst="ellipse">
            <a:avLst/>
          </a:prstGeom>
          <a:solidFill>
            <a:srgbClr val="E11D2E"/>
          </a:solidFill>
          <a:ln w="15875">
            <a:solidFill>
              <a:srgbClr val="FFFFFF"/>
            </a:solidFill>
            <a:prstDash val="solid"/>
          </a:ln>
        </p:spPr>
      </p:sp>
      <p:sp>
        <p:nvSpPr>
          <p:cNvPr id="17" name="Text 14"/>
          <p:cNvSpPr/>
          <p:nvPr/>
        </p:nvSpPr>
        <p:spPr>
          <a:xfrm>
            <a:off x="221056" y="2783491"/>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8" name="Text 15"/>
          <p:cNvSpPr/>
          <p:nvPr/>
        </p:nvSpPr>
        <p:spPr>
          <a:xfrm>
            <a:off x="6263640" y="1051560"/>
            <a:ext cx="5532120" cy="1097280"/>
          </a:xfrm>
          <a:prstGeom prst="rect">
            <a:avLst/>
          </a:prstGeom>
          <a:noFill/>
          <a:ln/>
        </p:spPr>
        <p:txBody>
          <a:bodyPr wrap="square" rtlCol="0" anchor="t"/>
          <a:lstStyle/>
          <a:p>
            <a:pPr indent="0" marL="0">
              <a:spcAft>
                <a:spcPts val="400"/>
              </a:spcAft>
              <a:buNone/>
            </a:pPr>
            <a:r>
              <a:rPr lang="en-US" sz="1250" b="1" dirty="0">
                <a:solidFill>
                  <a:srgbClr val="E11D2E"/>
                </a:solidFill>
                <a:latin typeface="Meiryo UI" pitchFamily="34" charset="0"/>
                <a:ea typeface="Meiryo UI" pitchFamily="34" charset="-122"/>
                <a:cs typeface="Meiryo UI" pitchFamily="34" charset="-120"/>
              </a:rPr>
              <a:t>① </a:t>
            </a:r>
            <a:pPr indent="0" marL="0">
              <a:spcAft>
                <a:spcPts val="400"/>
              </a:spcAft>
              <a:buNone/>
            </a:pPr>
            <a:r>
              <a:rPr lang="en-US" sz="1250" dirty="0">
                <a:solidFill>
                  <a:srgbClr val="1F2937"/>
                </a:solidFill>
                <a:latin typeface="Meiryo UI" pitchFamily="34" charset="0"/>
                <a:ea typeface="Meiryo UI" pitchFamily="34" charset="-122"/>
                <a:cs typeface="Meiryo UI" pitchFamily="34" charset="-120"/>
              </a:rPr>
              <a:t>「Body」タブ →「No Body ▼」→「JSON」を選ぶ</a:t>
            </a:r>
            <a:endParaRPr lang="en-US" sz="1250" dirty="0"/>
          </a:p>
          <a:p>
            <a:pPr indent="0" marL="0">
              <a:spcAft>
                <a:spcPts val="400"/>
              </a:spcAft>
              <a:buNone/>
            </a:pPr>
            <a:r>
              <a:rPr lang="en-US" sz="1250" b="1" dirty="0">
                <a:solidFill>
                  <a:srgbClr val="E11D2E"/>
                </a:solidFill>
                <a:latin typeface="Meiryo UI" pitchFamily="34" charset="0"/>
                <a:ea typeface="Meiryo UI" pitchFamily="34" charset="-122"/>
                <a:cs typeface="Meiryo UI" pitchFamily="34" charset="-120"/>
              </a:rPr>
              <a:t>② </a:t>
            </a:r>
            <a:pPr indent="0" marL="0">
              <a:spcAft>
                <a:spcPts val="400"/>
              </a:spcAft>
              <a:buNone/>
            </a:pPr>
            <a:r>
              <a:rPr lang="en-US" sz="1250" dirty="0">
                <a:solidFill>
                  <a:srgbClr val="1F2937"/>
                </a:solidFill>
                <a:latin typeface="Meiryo UI" pitchFamily="34" charset="0"/>
                <a:ea typeface="Meiryo UI" pitchFamily="34" charset="-122"/>
                <a:cs typeface="Meiryo UI" pitchFamily="34" charset="-120"/>
              </a:rPr>
              <a:t>下の枠の JSON をコピーして貼り付ける（項目の意味は次のスライド）</a:t>
            </a:r>
            <a:endParaRPr lang="en-US" sz="1250" dirty="0"/>
          </a:p>
        </p:txBody>
      </p:sp>
      <p:sp>
        <p:nvSpPr>
          <p:cNvPr id="19" name="Text 16"/>
          <p:cNvSpPr/>
          <p:nvPr/>
        </p:nvSpPr>
        <p:spPr>
          <a:xfrm>
            <a:off x="6263640" y="2103120"/>
            <a:ext cx="5532120" cy="2240280"/>
          </a:xfrm>
          <a:prstGeom prst="rect">
            <a:avLst/>
          </a:prstGeom>
          <a:solidFill>
            <a:srgbClr val="F3F4F6"/>
          </a:solidFill>
          <a:ln w="12700">
            <a:solidFill>
              <a:srgbClr val="D1D5DB"/>
            </a:solidFill>
          </a:ln>
        </p:spPr>
        <p:txBody>
          <a:bodyPr wrap="square" lIns="101600" tIns="101600" rIns="101600" bIns="101600" rtlCol="0" anchor="t"/>
          <a:lstStyle/>
          <a:p>
            <a:pPr indent="0" marL="0">
              <a:buNone/>
            </a:pPr>
            <a:r>
              <a:rPr lang="en-US" sz="1000" dirty="0">
                <a:solidFill>
                  <a:srgbClr val="111827"/>
                </a:solidFill>
                <a:latin typeface="Consolas" pitchFamily="34" charset="0"/>
                <a:ea typeface="Consolas" pitchFamily="34" charset="-122"/>
                <a:cs typeface="Consolas" pitchFamily="34" charset="-120"/>
              </a:rPr>
              <a:t>{</a:t>
            </a:r>
            <a:endParaRPr lang="en-US" sz="1000" dirty="0"/>
          </a:p>
          <a:p>
            <a:pPr indent="0" marL="0">
              <a:buNone/>
            </a:pPr>
            <a:r>
              <a:rPr lang="en-US" sz="1000" dirty="0">
                <a:solidFill>
                  <a:srgbClr val="111827"/>
                </a:solidFill>
                <a:latin typeface="Consolas" pitchFamily="34" charset="0"/>
                <a:ea typeface="Consolas" pitchFamily="34" charset="-122"/>
                <a:cs typeface="Consolas" pitchFamily="34" charset="-120"/>
              </a:rPr>
              <a:t>  "groupName": "株式会社サンプル",</a:t>
            </a:r>
            <a:endParaRPr lang="en-US" sz="1000" dirty="0"/>
          </a:p>
          <a:p>
            <a:pPr indent="0" marL="0">
              <a:buNone/>
            </a:pPr>
            <a:r>
              <a:rPr lang="en-US" sz="1000" dirty="0">
                <a:solidFill>
                  <a:srgbClr val="111827"/>
                </a:solidFill>
                <a:latin typeface="Consolas" pitchFamily="34" charset="0"/>
                <a:ea typeface="Consolas" pitchFamily="34" charset="-122"/>
                <a:cs typeface="Consolas" pitchFamily="34" charset="-120"/>
              </a:rPr>
              <a:t>  "groupRoleKey": "{{groupTypeKey}}",</a:t>
            </a:r>
            <a:endParaRPr lang="en-US" sz="1000" dirty="0"/>
          </a:p>
          <a:p>
            <a:pPr indent="0" marL="0">
              <a:buNone/>
            </a:pPr>
            <a:r>
              <a:rPr lang="en-US" sz="1000" dirty="0">
                <a:solidFill>
                  <a:srgbClr val="111827"/>
                </a:solidFill>
                <a:latin typeface="Consolas" pitchFamily="34" charset="0"/>
                <a:ea typeface="Consolas" pitchFamily="34" charset="-122"/>
                <a:cs typeface="Consolas" pitchFamily="34" charset="-120"/>
              </a:rPr>
              <a:t>  "assignedBranchKey": "{{branchKey}}",</a:t>
            </a:r>
            <a:endParaRPr lang="en-US" sz="1000" dirty="0"/>
          </a:p>
          <a:p>
            <a:pPr indent="0" marL="0">
              <a:buNone/>
            </a:pPr>
            <a:r>
              <a:rPr lang="en-US" sz="1000" dirty="0">
                <a:solidFill>
                  <a:srgbClr val="111827"/>
                </a:solidFill>
                <a:latin typeface="Consolas" pitchFamily="34" charset="0"/>
                <a:ea typeface="Consolas" pitchFamily="34" charset="-122"/>
                <a:cs typeface="Consolas" pitchFamily="34" charset="-120"/>
              </a:rPr>
              <a:t>  "groupMembers": [</a:t>
            </a:r>
            <a:endParaRPr lang="en-US" sz="1000" dirty="0"/>
          </a:p>
          <a:p>
            <a:pPr indent="0" marL="0">
              <a:buNone/>
            </a:pPr>
            <a:r>
              <a:rPr lang="en-US" sz="1000" dirty="0">
                <a:solidFill>
                  <a:srgbClr val="111827"/>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111827"/>
                </a:solidFill>
                <a:latin typeface="Consolas" pitchFamily="34" charset="0"/>
                <a:ea typeface="Consolas" pitchFamily="34" charset="-122"/>
                <a:cs typeface="Consolas" pitchFamily="34" charset="-120"/>
              </a:rPr>
              <a:t>      "clientKey": "{{directorClientKey}}",</a:t>
            </a:r>
            <a:endParaRPr lang="en-US" sz="1000" dirty="0"/>
          </a:p>
          <a:p>
            <a:pPr indent="0" marL="0">
              <a:buNone/>
            </a:pPr>
            <a:r>
              <a:rPr lang="en-US" sz="1000" dirty="0">
                <a:solidFill>
                  <a:srgbClr val="111827"/>
                </a:solidFill>
                <a:latin typeface="Consolas" pitchFamily="34" charset="0"/>
                <a:ea typeface="Consolas" pitchFamily="34" charset="-122"/>
                <a:cs typeface="Consolas" pitchFamily="34" charset="-120"/>
              </a:rPr>
              <a:t>      "roles": [ { "groupRoleNameKey": "{{roleNameKey}}" } ]</a:t>
            </a:r>
            <a:endParaRPr lang="en-US" sz="1000" dirty="0"/>
          </a:p>
          <a:p>
            <a:pPr indent="0" marL="0">
              <a:buNone/>
            </a:pPr>
            <a:r>
              <a:rPr lang="en-US" sz="1000" dirty="0">
                <a:solidFill>
                  <a:srgbClr val="111827"/>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111827"/>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111827"/>
                </a:solidFill>
                <a:latin typeface="Consolas" pitchFamily="34" charset="0"/>
                <a:ea typeface="Consolas" pitchFamily="34" charset="-122"/>
                <a:cs typeface="Consolas" pitchFamily="34" charset="-120"/>
              </a:rPr>
              <a:t>}</a:t>
            </a:r>
            <a:endParaRPr lang="en-US" sz="1000" dirty="0"/>
          </a:p>
        </p:txBody>
      </p:sp>
      <p:sp>
        <p:nvSpPr>
          <p:cNvPr id="20" name="Text 17"/>
          <p:cNvSpPr/>
          <p:nvPr/>
        </p:nvSpPr>
        <p:spPr>
          <a:xfrm>
            <a:off x="6263640" y="1828800"/>
            <a:ext cx="5532120" cy="274320"/>
          </a:xfrm>
          <a:prstGeom prst="rect">
            <a:avLst/>
          </a:prstGeom>
          <a:noFill/>
          <a:ln/>
        </p:spPr>
        <p:txBody>
          <a:bodyPr wrap="square" rtlCol="0" anchor="ctr"/>
          <a:lstStyle/>
          <a:p>
            <a:pPr indent="0" marL="0">
              <a:buNone/>
            </a:pPr>
            <a:r>
              <a:rPr lang="en-US" sz="1100" dirty="0">
                <a:solidFill>
                  <a:srgbClr val="6B7280"/>
                </a:solidFill>
                <a:latin typeface="Meiryo UI" pitchFamily="34" charset="0"/>
                <a:ea typeface="Meiryo UI" pitchFamily="34" charset="-122"/>
                <a:cs typeface="Meiryo UI" pitchFamily="34" charset="-120"/>
              </a:rPr>
              <a:t>コピー用（この枠の中を全部コピーして、Body の入力欄に貼り付ける）</a:t>
            </a:r>
            <a:endParaRPr lang="en-US" sz="1100" dirty="0"/>
          </a:p>
        </p:txBody>
      </p:sp>
      <p:sp>
        <p:nvSpPr>
          <p:cNvPr id="21" name="Shape 18"/>
          <p:cNvSpPr/>
          <p:nvPr/>
        </p:nvSpPr>
        <p:spPr>
          <a:xfrm>
            <a:off x="6263640" y="4453128"/>
            <a:ext cx="5532120" cy="1051560"/>
          </a:xfrm>
          <a:prstGeom prst="rect">
            <a:avLst/>
          </a:prstGeom>
          <a:solidFill>
            <a:srgbClr val="FEF2F2"/>
          </a:solidFill>
          <a:ln w="15875">
            <a:solidFill>
              <a:srgbClr val="B91C1C"/>
            </a:solidFill>
            <a:prstDash val="solid"/>
          </a:ln>
        </p:spPr>
      </p:sp>
      <p:sp>
        <p:nvSpPr>
          <p:cNvPr id="22" name="Shape 19"/>
          <p:cNvSpPr/>
          <p:nvPr/>
        </p:nvSpPr>
        <p:spPr>
          <a:xfrm>
            <a:off x="6263640" y="4453128"/>
            <a:ext cx="82296" cy="1051560"/>
          </a:xfrm>
          <a:prstGeom prst="rect">
            <a:avLst/>
          </a:prstGeom>
          <a:solidFill>
            <a:srgbClr val="B91C1C"/>
          </a:solidFill>
          <a:ln w="12700">
            <a:solidFill>
              <a:srgbClr val="B91C1C"/>
            </a:solidFill>
            <a:prstDash val="solid"/>
          </a:ln>
        </p:spPr>
      </p:sp>
      <p:sp>
        <p:nvSpPr>
          <p:cNvPr id="23" name="Text 20"/>
          <p:cNvSpPr/>
          <p:nvPr/>
        </p:nvSpPr>
        <p:spPr>
          <a:xfrm>
            <a:off x="6428232" y="4498848"/>
            <a:ext cx="5303520" cy="960120"/>
          </a:xfrm>
          <a:prstGeom prst="rect">
            <a:avLst/>
          </a:prstGeom>
          <a:noFill/>
          <a:ln/>
        </p:spPr>
        <p:txBody>
          <a:bodyPr wrap="square" rtlCol="0" anchor="t"/>
          <a:lstStyle/>
          <a:p>
            <a:pPr indent="0" marL="0">
              <a:spcAft>
                <a:spcPts val="200"/>
              </a:spcAft>
              <a:buNone/>
            </a:pPr>
            <a:r>
              <a:rPr lang="en-US" sz="1100" b="1" dirty="0">
                <a:solidFill>
                  <a:srgbClr val="B91C1C"/>
                </a:solidFill>
                <a:latin typeface="Meiryo UI" pitchFamily="34" charset="0"/>
                <a:ea typeface="Meiryo UI" pitchFamily="34" charset="-122"/>
                <a:cs typeface="Meiryo UI" pitchFamily="34" charset="-120"/>
              </a:rPr>
              <a:t>【赤い変数について】</a:t>
            </a:r>
            <a:endParaRPr lang="en-US" sz="1100" dirty="0"/>
          </a:p>
          <a:p>
            <a:pPr indent="0" marL="0">
              <a:spcAft>
                <a:spcPts val="200"/>
              </a:spcAft>
              <a:buNone/>
            </a:pPr>
            <a:r>
              <a:rPr lang="en-US" sz="1100" dirty="0">
                <a:solidFill>
                  <a:srgbClr val="1F2937"/>
                </a:solidFill>
                <a:latin typeface="Meiryo UI" pitchFamily="34" charset="0"/>
                <a:ea typeface="Meiryo UI" pitchFamily="34" charset="-122"/>
                <a:cs typeface="Meiryo UI" pitchFamily="34" charset="-120"/>
              </a:rPr>
              <a:t>{{directorClientKey}} が赤色なのは、まだ値がないためです（ステップ②を Send して保存されるまでは値がない）。この教材では送信しないので、赤のままで正常です。</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ステップ③【4/7】Body の項目と groupMembers の読み方</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6" name="Text 4"/>
          <p:cNvSpPr/>
          <p:nvPr/>
        </p:nvSpPr>
        <p:spPr>
          <a:xfrm>
            <a:off x="365760" y="6144768"/>
            <a:ext cx="11430000" cy="292608"/>
          </a:xfrm>
          <a:prstGeom prst="rect">
            <a:avLst/>
          </a:prstGeom>
          <a:noFill/>
          <a:ln/>
        </p:spPr>
        <p:txBody>
          <a:bodyPr wrap="square" rtlCol="0" anchor="t"/>
          <a:lstStyle/>
          <a:p>
            <a:pPr indent="0" marL="0">
              <a:buNone/>
            </a:pPr>
            <a:r>
              <a:rPr lang="en-US" sz="1000" dirty="0">
                <a:solidFill>
                  <a:srgbClr val="6B7280"/>
                </a:solidFill>
                <a:latin typeface="Meiryo UI" pitchFamily="34" charset="0"/>
                <a:ea typeface="Meiryo UI" pitchFamily="34" charset="-122"/>
                <a:cs typeface="Meiryo UI" pitchFamily="34" charset="-120"/>
              </a:rPr>
              <a:t>出典：https://docs.mambu.com/swagger_files/v2/groups.json（公式 OpenAPI、2026-10-09 確認）</a:t>
            </a:r>
            <a:endParaRPr lang="en-US" sz="1000" dirty="0"/>
          </a:p>
        </p:txBody>
      </p:sp>
      <p:sp>
        <p:nvSpPr>
          <p:cNvPr id="7" name="Text 5"/>
          <p:cNvSpPr/>
          <p:nvPr/>
        </p:nvSpPr>
        <p:spPr>
          <a:xfrm>
            <a:off x="548640" y="1188720"/>
            <a:ext cx="7680960" cy="3291840"/>
          </a:xfrm>
          <a:prstGeom prst="rect">
            <a:avLst/>
          </a:prstGeom>
          <a:solidFill>
            <a:srgbClr val="F3F4F6"/>
          </a:solidFill>
          <a:ln w="12700">
            <a:solidFill>
              <a:srgbClr val="D1D5DB"/>
            </a:solidFill>
          </a:ln>
        </p:spPr>
        <p:txBody>
          <a:bodyPr wrap="square" lIns="101600" tIns="101600" rIns="101600" bIns="101600" rtlCol="0" anchor="t"/>
          <a:lstStyle/>
          <a:p>
            <a:pPr indent="0" marL="0">
              <a:buNone/>
            </a:pPr>
            <a:r>
              <a:rPr lang="en-US" sz="1200" dirty="0">
                <a:solidFill>
                  <a:srgbClr val="111827"/>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  "groupName": "株式会社サンプル",        ← 法人名（必須）</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  "groupRoleKey": "{{groupTypeKey}}",     ← Group の種類（法人用）</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  "assignedBranchKey": "{{branchKey}}",   ← 担当支店</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  "groupMembers": [                       ← メンバーの一覧（配列）</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    {                                     ← 1 人目</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      "clientKey": "{{directorClientKey}}",  ← 誰か（ステップ②で保存）</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      "roles": [ { "groupRoleNameKey": "{{roleNameKey}}" } ]  ← 役職</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a:t>
            </a:r>
            <a:endParaRPr lang="en-US" sz="1200" dirty="0"/>
          </a:p>
        </p:txBody>
      </p:sp>
      <p:sp>
        <p:nvSpPr>
          <p:cNvPr id="8" name="Shape 6"/>
          <p:cNvSpPr/>
          <p:nvPr/>
        </p:nvSpPr>
        <p:spPr>
          <a:xfrm>
            <a:off x="8503920" y="1188720"/>
            <a:ext cx="3108960" cy="1828800"/>
          </a:xfrm>
          <a:prstGeom prst="rect">
            <a:avLst/>
          </a:prstGeom>
          <a:solidFill>
            <a:srgbClr val="EFF6FF"/>
          </a:solidFill>
          <a:ln w="15875">
            <a:solidFill>
              <a:srgbClr val="1D4ED8"/>
            </a:solidFill>
            <a:prstDash val="solid"/>
          </a:ln>
        </p:spPr>
      </p:sp>
      <p:sp>
        <p:nvSpPr>
          <p:cNvPr id="9" name="Shape 7"/>
          <p:cNvSpPr/>
          <p:nvPr/>
        </p:nvSpPr>
        <p:spPr>
          <a:xfrm>
            <a:off x="8503920" y="1188720"/>
            <a:ext cx="82296" cy="1828800"/>
          </a:xfrm>
          <a:prstGeom prst="rect">
            <a:avLst/>
          </a:prstGeom>
          <a:solidFill>
            <a:srgbClr val="1D4ED8"/>
          </a:solidFill>
          <a:ln w="12700">
            <a:solidFill>
              <a:srgbClr val="1D4ED8"/>
            </a:solidFill>
            <a:prstDash val="solid"/>
          </a:ln>
        </p:spPr>
      </p:sp>
      <p:sp>
        <p:nvSpPr>
          <p:cNvPr id="10" name="Text 8"/>
          <p:cNvSpPr/>
          <p:nvPr/>
        </p:nvSpPr>
        <p:spPr>
          <a:xfrm>
            <a:off x="8668512" y="1234440"/>
            <a:ext cx="2880360" cy="1737360"/>
          </a:xfrm>
          <a:prstGeom prst="rect">
            <a:avLst/>
          </a:prstGeom>
          <a:noFill/>
          <a:ln/>
        </p:spPr>
        <p:txBody>
          <a:bodyPr wrap="square" rtlCol="0" anchor="t"/>
          <a:lstStyle/>
          <a:p>
            <a:pPr indent="0" marL="0">
              <a:spcAft>
                <a:spcPts val="200"/>
              </a:spcAft>
              <a:buNone/>
            </a:pPr>
            <a:r>
              <a:rPr lang="en-US" sz="1300" b="1" dirty="0">
                <a:solidFill>
                  <a:srgbClr val="1D4ED8"/>
                </a:solidFill>
                <a:latin typeface="Meiryo UI" pitchFamily="34" charset="0"/>
                <a:ea typeface="Meiryo UI" pitchFamily="34" charset="-122"/>
                <a:cs typeface="Meiryo UI" pitchFamily="34" charset="-120"/>
              </a:rPr>
              <a:t>【第1章の復習】</a:t>
            </a:r>
            <a:endParaRPr lang="en-US" sz="1300" dirty="0"/>
          </a:p>
          <a:p>
            <a:pPr indent="0" marL="0">
              <a:spcAft>
                <a:spcPts val="200"/>
              </a:spcAft>
              <a:buNone/>
            </a:pPr>
            <a:r>
              <a:rPr lang="en-US" sz="1300" dirty="0">
                <a:solidFill>
                  <a:srgbClr val="1F2937"/>
                </a:solidFill>
                <a:latin typeface="Meiryo UI" pitchFamily="34" charset="0"/>
                <a:ea typeface="Meiryo UI" pitchFamily="34" charset="-122"/>
                <a:cs typeface="Meiryo UI" pitchFamily="34" charset="-120"/>
              </a:rPr>
              <a:t>[ ] は配列（複数を並べる）、{ } はオブジェクト（項目のまとまり）。入れ子になっていても読み方は同じです。</a:t>
            </a:r>
            <a:endParaRPr lang="en-US" sz="1300" dirty="0"/>
          </a:p>
        </p:txBody>
      </p:sp>
      <p:sp>
        <p:nvSpPr>
          <p:cNvPr id="11" name="Text 9"/>
          <p:cNvSpPr/>
          <p:nvPr/>
        </p:nvSpPr>
        <p:spPr>
          <a:xfrm>
            <a:off x="548640" y="4617720"/>
            <a:ext cx="11064240" cy="1097280"/>
          </a:xfrm>
          <a:prstGeom prst="rect">
            <a:avLst/>
          </a:prstGeom>
          <a:noFill/>
          <a:ln/>
        </p:spPr>
        <p:txBody>
          <a:bodyPr wrap="square" rtlCol="0" anchor="t"/>
          <a:lstStyle/>
          <a:p>
            <a:pPr marL="228600" indent="-228600">
              <a:spcAft>
                <a:spcPts val="400"/>
              </a:spcAft>
              <a:buSzPct val="100000"/>
              <a:buChar char="•"/>
            </a:pPr>
            <a:r>
              <a:rPr lang="en-US" sz="1300" dirty="0">
                <a:solidFill>
                  <a:srgbClr val="1F2937"/>
                </a:solidFill>
                <a:latin typeface="Meiryo UI" pitchFamily="34" charset="0"/>
                <a:ea typeface="Meiryo UI" pitchFamily="34" charset="-122"/>
                <a:cs typeface="Meiryo UI" pitchFamily="34" charset="-120"/>
              </a:rPr>
              <a:t>メンバーを 2 人にするときは、{ } を , で区切って並べる</a:t>
            </a:r>
            <a:endParaRPr lang="en-US" sz="1300" dirty="0"/>
          </a:p>
          <a:p>
            <a:pPr marL="228600" indent="-228600">
              <a:spcAft>
                <a:spcPts val="400"/>
              </a:spcAft>
              <a:buSzPct val="100000"/>
              <a:buChar char="•"/>
            </a:pPr>
            <a:r>
              <a:rPr lang="en-US" sz="1300" dirty="0">
                <a:solidFill>
                  <a:srgbClr val="1F2937"/>
                </a:solidFill>
                <a:latin typeface="Meiryo UI" pitchFamily="34" charset="0"/>
                <a:ea typeface="Meiryo UI" pitchFamily="34" charset="-122"/>
                <a:cs typeface="Meiryo UI" pitchFamily="34" charset="-120"/>
              </a:rPr>
              <a:t>[ ] と { } の対応を間違えると 400 エラーになる</a:t>
            </a:r>
            <a:endParaRPr lang="en-US" sz="1300" dirty="0"/>
          </a:p>
          <a:p>
            <a:pPr marL="228600" indent="-228600">
              <a:spcAft>
                <a:spcPts val="400"/>
              </a:spcAft>
              <a:buSzPct val="100000"/>
              <a:buChar char="•"/>
            </a:pPr>
            <a:r>
              <a:rPr lang="en-US" sz="1300" dirty="0">
                <a:solidFill>
                  <a:srgbClr val="1F2937"/>
                </a:solidFill>
                <a:latin typeface="Meiryo UI" pitchFamily="34" charset="0"/>
                <a:ea typeface="Meiryo UI" pitchFamily="34" charset="-122"/>
                <a:cs typeface="Meiryo UI" pitchFamily="34" charset="-120"/>
              </a:rPr>
              <a:t>groupRoleKey・assignedBranchKey は仕様上は任意だが、テナントの設定で必要になる場合がある（条件は未確認）</a:t>
            </a:r>
            <a:endParaRPr lang="en-US" sz="13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ステップ③【5/7】Script タブで法人の key を保存する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5669280" cy="3188970"/>
          </a:xfrm>
          <a:prstGeom prst="rect">
            <a:avLst/>
          </a:prstGeom>
        </p:spPr>
      </p:pic>
      <p:sp>
        <p:nvSpPr>
          <p:cNvPr id="7" name="Shape 4"/>
          <p:cNvSpPr/>
          <p:nvPr/>
        </p:nvSpPr>
        <p:spPr>
          <a:xfrm>
            <a:off x="411480" y="1051560"/>
            <a:ext cx="5669280" cy="3188970"/>
          </a:xfrm>
          <a:prstGeom prst="rect">
            <a:avLst/>
          </a:prstGeom>
          <a:ln w="9525">
            <a:solidFill>
              <a:srgbClr val="D1D5DB"/>
            </a:solidFill>
            <a:prstDash val="solid"/>
          </a:ln>
        </p:spPr>
      </p:sp>
      <p:sp>
        <p:nvSpPr>
          <p:cNvPr id="8" name="Text 5"/>
          <p:cNvSpPr/>
          <p:nvPr/>
        </p:nvSpPr>
        <p:spPr>
          <a:xfrm>
            <a:off x="411480" y="4258818"/>
            <a:ext cx="566928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2554605" y="1671066"/>
            <a:ext cx="376733" cy="263347"/>
          </a:xfrm>
          <a:prstGeom prst="rect">
            <a:avLst/>
          </a:prstGeom>
          <a:ln w="28575">
            <a:solidFill>
              <a:srgbClr val="E11D2E"/>
            </a:solidFill>
            <a:prstDash val="solid"/>
          </a:ln>
        </p:spPr>
      </p:sp>
      <p:sp>
        <p:nvSpPr>
          <p:cNvPr id="10" name="Shape 7"/>
          <p:cNvSpPr/>
          <p:nvPr/>
        </p:nvSpPr>
        <p:spPr>
          <a:xfrm>
            <a:off x="2417445" y="1533906"/>
            <a:ext cx="274320" cy="274320"/>
          </a:xfrm>
          <a:prstGeom prst="ellipse">
            <a:avLst/>
          </a:prstGeom>
          <a:solidFill>
            <a:srgbClr val="E11D2E"/>
          </a:solidFill>
          <a:ln w="15875">
            <a:solidFill>
              <a:srgbClr val="FFFFFF"/>
            </a:solidFill>
            <a:prstDash val="solid"/>
          </a:ln>
        </p:spPr>
      </p:sp>
      <p:sp>
        <p:nvSpPr>
          <p:cNvPr id="11" name="Text 8"/>
          <p:cNvSpPr/>
          <p:nvPr/>
        </p:nvSpPr>
        <p:spPr>
          <a:xfrm>
            <a:off x="2417445" y="153390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1151458" y="2011223"/>
            <a:ext cx="844448" cy="263347"/>
          </a:xfrm>
          <a:prstGeom prst="rect">
            <a:avLst/>
          </a:prstGeom>
          <a:ln w="28575">
            <a:solidFill>
              <a:srgbClr val="E11D2E"/>
            </a:solidFill>
            <a:prstDash val="solid"/>
          </a:ln>
        </p:spPr>
      </p:sp>
      <p:sp>
        <p:nvSpPr>
          <p:cNvPr id="13" name="Shape 10"/>
          <p:cNvSpPr/>
          <p:nvPr/>
        </p:nvSpPr>
        <p:spPr>
          <a:xfrm>
            <a:off x="1858747" y="1874063"/>
            <a:ext cx="274320" cy="274320"/>
          </a:xfrm>
          <a:prstGeom prst="ellipse">
            <a:avLst/>
          </a:prstGeom>
          <a:solidFill>
            <a:srgbClr val="E11D2E"/>
          </a:solidFill>
          <a:ln w="15875">
            <a:solidFill>
              <a:srgbClr val="FFFFFF"/>
            </a:solidFill>
            <a:prstDash val="solid"/>
          </a:ln>
        </p:spPr>
      </p:sp>
      <p:sp>
        <p:nvSpPr>
          <p:cNvPr id="14" name="Text 11"/>
          <p:cNvSpPr/>
          <p:nvPr/>
        </p:nvSpPr>
        <p:spPr>
          <a:xfrm>
            <a:off x="1858747" y="1874063"/>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Shape 12"/>
          <p:cNvSpPr/>
          <p:nvPr/>
        </p:nvSpPr>
        <p:spPr>
          <a:xfrm>
            <a:off x="513664" y="2301773"/>
            <a:ext cx="5174361" cy="412166"/>
          </a:xfrm>
          <a:prstGeom prst="rect">
            <a:avLst/>
          </a:prstGeom>
          <a:ln w="28575">
            <a:solidFill>
              <a:srgbClr val="E11D2E"/>
            </a:solidFill>
            <a:prstDash val="solid"/>
          </a:ln>
        </p:spPr>
      </p:sp>
      <p:sp>
        <p:nvSpPr>
          <p:cNvPr id="16" name="Shape 13"/>
          <p:cNvSpPr/>
          <p:nvPr/>
        </p:nvSpPr>
        <p:spPr>
          <a:xfrm>
            <a:off x="221056" y="2370696"/>
            <a:ext cx="274320" cy="274320"/>
          </a:xfrm>
          <a:prstGeom prst="ellipse">
            <a:avLst/>
          </a:prstGeom>
          <a:solidFill>
            <a:srgbClr val="E11D2E"/>
          </a:solidFill>
          <a:ln w="15875">
            <a:solidFill>
              <a:srgbClr val="FFFFFF"/>
            </a:solidFill>
            <a:prstDash val="solid"/>
          </a:ln>
        </p:spPr>
      </p:sp>
      <p:sp>
        <p:nvSpPr>
          <p:cNvPr id="17" name="Text 14"/>
          <p:cNvSpPr/>
          <p:nvPr/>
        </p:nvSpPr>
        <p:spPr>
          <a:xfrm>
            <a:off x="221056" y="237069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8" name="Text 15"/>
          <p:cNvSpPr/>
          <p:nvPr/>
        </p:nvSpPr>
        <p:spPr>
          <a:xfrm>
            <a:off x="6263640" y="1051560"/>
            <a:ext cx="5532120" cy="1097280"/>
          </a:xfrm>
          <a:prstGeom prst="rect">
            <a:avLst/>
          </a:prstGeom>
          <a:noFill/>
          <a:ln/>
        </p:spPr>
        <p:txBody>
          <a:bodyPr wrap="square" rtlCol="0" anchor="t"/>
          <a:lstStyle/>
          <a:p>
            <a:pPr indent="0" marL="0">
              <a:spcAft>
                <a:spcPts val="400"/>
              </a:spcAft>
              <a:buNone/>
            </a:pPr>
            <a:r>
              <a:rPr lang="en-US" sz="1250" b="1" dirty="0">
                <a:solidFill>
                  <a:srgbClr val="E11D2E"/>
                </a:solidFill>
                <a:latin typeface="Meiryo UI" pitchFamily="34" charset="0"/>
                <a:ea typeface="Meiryo UI" pitchFamily="34" charset="-122"/>
                <a:cs typeface="Meiryo UI" pitchFamily="34" charset="-120"/>
              </a:rPr>
              <a:t>① </a:t>
            </a:r>
            <a:pPr indent="0" marL="0">
              <a:spcAft>
                <a:spcPts val="400"/>
              </a:spcAft>
              <a:buNone/>
            </a:pPr>
            <a:r>
              <a:rPr lang="en-US" sz="1250" dirty="0">
                <a:solidFill>
                  <a:srgbClr val="1F2937"/>
                </a:solidFill>
                <a:latin typeface="Meiryo UI" pitchFamily="34" charset="0"/>
                <a:ea typeface="Meiryo UI" pitchFamily="34" charset="-122"/>
                <a:cs typeface="Meiryo UI" pitchFamily="34" charset="-120"/>
              </a:rPr>
              <a:t>「Script」タブをクリック</a:t>
            </a:r>
            <a:endParaRPr lang="en-US" sz="1250" dirty="0"/>
          </a:p>
          <a:p>
            <a:pPr indent="0" marL="0">
              <a:spcAft>
                <a:spcPts val="400"/>
              </a:spcAft>
              <a:buNone/>
            </a:pPr>
            <a:r>
              <a:rPr lang="en-US" sz="1250" b="1" dirty="0">
                <a:solidFill>
                  <a:srgbClr val="E11D2E"/>
                </a:solidFill>
                <a:latin typeface="Meiryo UI" pitchFamily="34" charset="0"/>
                <a:ea typeface="Meiryo UI" pitchFamily="34" charset="-122"/>
                <a:cs typeface="Meiryo UI" pitchFamily="34" charset="-120"/>
              </a:rPr>
              <a:t>② </a:t>
            </a:r>
            <a:pPr indent="0" marL="0">
              <a:spcAft>
                <a:spcPts val="400"/>
              </a:spcAft>
              <a:buNone/>
            </a:pPr>
            <a:r>
              <a:rPr lang="en-US" sz="1250" dirty="0">
                <a:solidFill>
                  <a:srgbClr val="1F2937"/>
                </a:solidFill>
                <a:latin typeface="Meiryo UI" pitchFamily="34" charset="0"/>
                <a:ea typeface="Meiryo UI" pitchFamily="34" charset="-122"/>
                <a:cs typeface="Meiryo UI" pitchFamily="34" charset="-120"/>
              </a:rPr>
              <a:t>「Post Response」を選ぶ</a:t>
            </a:r>
            <a:endParaRPr lang="en-US" sz="1250" dirty="0"/>
          </a:p>
          <a:p>
            <a:pPr indent="0" marL="0">
              <a:spcAft>
                <a:spcPts val="400"/>
              </a:spcAft>
              <a:buNone/>
            </a:pPr>
            <a:r>
              <a:rPr lang="en-US" sz="1250" b="1" dirty="0">
                <a:solidFill>
                  <a:srgbClr val="E11D2E"/>
                </a:solidFill>
                <a:latin typeface="Meiryo UI" pitchFamily="34" charset="0"/>
                <a:ea typeface="Meiryo UI" pitchFamily="34" charset="-122"/>
                <a:cs typeface="Meiryo UI" pitchFamily="34" charset="-120"/>
              </a:rPr>
              <a:t>③ </a:t>
            </a:r>
            <a:pPr indent="0" marL="0">
              <a:spcAft>
                <a:spcPts val="400"/>
              </a:spcAft>
              <a:buNone/>
            </a:pPr>
            <a:r>
              <a:rPr lang="en-US" sz="1250" dirty="0">
                <a:solidFill>
                  <a:srgbClr val="1F2937"/>
                </a:solidFill>
                <a:latin typeface="Meiryo UI" pitchFamily="34" charset="0"/>
                <a:ea typeface="Meiryo UI" pitchFamily="34" charset="-122"/>
                <a:cs typeface="Meiryo UI" pitchFamily="34" charset="-120"/>
              </a:rPr>
              <a:t>下の枠のスクリプトをコピーして貼り付ける</a:t>
            </a:r>
            <a:endParaRPr lang="en-US" sz="1250" dirty="0"/>
          </a:p>
        </p:txBody>
      </p:sp>
      <p:sp>
        <p:nvSpPr>
          <p:cNvPr id="19" name="Text 16"/>
          <p:cNvSpPr/>
          <p:nvPr/>
        </p:nvSpPr>
        <p:spPr>
          <a:xfrm>
            <a:off x="6263640" y="2377440"/>
            <a:ext cx="5532120" cy="914400"/>
          </a:xfrm>
          <a:prstGeom prst="rect">
            <a:avLst/>
          </a:prstGeom>
          <a:solidFill>
            <a:srgbClr val="F3F4F6"/>
          </a:solidFill>
          <a:ln w="12700">
            <a:solidFill>
              <a:srgbClr val="D1D5DB"/>
            </a:solidFill>
          </a:ln>
        </p:spPr>
        <p:txBody>
          <a:bodyPr wrap="square" lIns="101600" tIns="101600" rIns="101600" bIns="101600" rtlCol="0" anchor="t"/>
          <a:lstStyle/>
          <a:p>
            <a:pPr indent="0" marL="0">
              <a:buNone/>
            </a:pPr>
            <a:r>
              <a:rPr lang="en-US" sz="1000" dirty="0">
                <a:solidFill>
                  <a:srgbClr val="111827"/>
                </a:solidFill>
                <a:latin typeface="Consolas" pitchFamily="34" charset="0"/>
                <a:ea typeface="Consolas" pitchFamily="34" charset="-122"/>
                <a:cs typeface="Consolas" pitchFamily="34" charset="-120"/>
              </a:rPr>
              <a:t>// 作成した法人（Group）の encodedKey を、口座の名義人として使うために保存する</a:t>
            </a:r>
            <a:endParaRPr lang="en-US" sz="1000" dirty="0"/>
          </a:p>
          <a:p>
            <a:pPr indent="0" marL="0">
              <a:buNone/>
            </a:pPr>
            <a:r>
              <a:rPr lang="en-US" sz="1000" dirty="0">
                <a:solidFill>
                  <a:srgbClr val="111827"/>
                </a:solidFill>
                <a:latin typeface="Consolas" pitchFamily="34" charset="0"/>
                <a:ea typeface="Consolas" pitchFamily="34" charset="-122"/>
                <a:cs typeface="Consolas" pitchFamily="34" charset="-120"/>
              </a:rPr>
              <a:t>bru.setVar("groupEncodedKey", res.body.encodedKey);</a:t>
            </a:r>
            <a:endParaRPr lang="en-US" sz="1000" dirty="0"/>
          </a:p>
        </p:txBody>
      </p:sp>
      <p:sp>
        <p:nvSpPr>
          <p:cNvPr id="20" name="Text 17"/>
          <p:cNvSpPr/>
          <p:nvPr/>
        </p:nvSpPr>
        <p:spPr>
          <a:xfrm>
            <a:off x="6263640" y="2103120"/>
            <a:ext cx="5532120" cy="274320"/>
          </a:xfrm>
          <a:prstGeom prst="rect">
            <a:avLst/>
          </a:prstGeom>
          <a:noFill/>
          <a:ln/>
        </p:spPr>
        <p:txBody>
          <a:bodyPr wrap="square" rtlCol="0" anchor="ctr"/>
          <a:lstStyle/>
          <a:p>
            <a:pPr indent="0" marL="0">
              <a:buNone/>
            </a:pPr>
            <a:r>
              <a:rPr lang="en-US" sz="1100" dirty="0">
                <a:solidFill>
                  <a:srgbClr val="6B7280"/>
                </a:solidFill>
                <a:latin typeface="Meiryo UI" pitchFamily="34" charset="0"/>
                <a:ea typeface="Meiryo UI" pitchFamily="34" charset="-122"/>
                <a:cs typeface="Meiryo UI" pitchFamily="34" charset="-120"/>
              </a:rPr>
              <a:t>コピー用（この枠の中を全部コピーして、Post Response に貼り付ける）</a:t>
            </a:r>
            <a:endParaRPr lang="en-US" sz="1100" dirty="0"/>
          </a:p>
        </p:txBody>
      </p:sp>
      <p:sp>
        <p:nvSpPr>
          <p:cNvPr id="21" name="Shape 18"/>
          <p:cNvSpPr/>
          <p:nvPr/>
        </p:nvSpPr>
        <p:spPr>
          <a:xfrm>
            <a:off x="6263640" y="3401568"/>
            <a:ext cx="5532120" cy="822960"/>
          </a:xfrm>
          <a:prstGeom prst="rect">
            <a:avLst/>
          </a:prstGeom>
          <a:solidFill>
            <a:srgbClr val="EFF6FF"/>
          </a:solidFill>
          <a:ln w="15875">
            <a:solidFill>
              <a:srgbClr val="1D4ED8"/>
            </a:solidFill>
            <a:prstDash val="solid"/>
          </a:ln>
        </p:spPr>
      </p:sp>
      <p:sp>
        <p:nvSpPr>
          <p:cNvPr id="22" name="Shape 19"/>
          <p:cNvSpPr/>
          <p:nvPr/>
        </p:nvSpPr>
        <p:spPr>
          <a:xfrm>
            <a:off x="6263640" y="3401568"/>
            <a:ext cx="82296" cy="822960"/>
          </a:xfrm>
          <a:prstGeom prst="rect">
            <a:avLst/>
          </a:prstGeom>
          <a:solidFill>
            <a:srgbClr val="1D4ED8"/>
          </a:solidFill>
          <a:ln w="12700">
            <a:solidFill>
              <a:srgbClr val="1D4ED8"/>
            </a:solidFill>
            <a:prstDash val="solid"/>
          </a:ln>
        </p:spPr>
      </p:sp>
      <p:sp>
        <p:nvSpPr>
          <p:cNvPr id="23" name="Text 20"/>
          <p:cNvSpPr/>
          <p:nvPr/>
        </p:nvSpPr>
        <p:spPr>
          <a:xfrm>
            <a:off x="6428232" y="3447288"/>
            <a:ext cx="5303520" cy="731520"/>
          </a:xfrm>
          <a:prstGeom prst="rect">
            <a:avLst/>
          </a:prstGeom>
          <a:noFill/>
          <a:ln/>
        </p:spPr>
        <p:txBody>
          <a:bodyPr wrap="square" rtlCol="0" anchor="t"/>
          <a:lstStyle/>
          <a:p>
            <a:pPr indent="0" marL="0">
              <a:spcAft>
                <a:spcPts val="200"/>
              </a:spcAft>
              <a:buNone/>
            </a:pPr>
            <a:r>
              <a:rPr lang="en-US" sz="1100" b="1" dirty="0">
                <a:solidFill>
                  <a:srgbClr val="1D4ED8"/>
                </a:solidFill>
                <a:latin typeface="Meiryo UI" pitchFamily="34" charset="0"/>
                <a:ea typeface="Meiryo UI" pitchFamily="34" charset="-122"/>
                <a:cs typeface="Meiryo UI" pitchFamily="34" charset="-120"/>
              </a:rPr>
              <a:t>【ヒント】</a:t>
            </a:r>
            <a:endParaRPr lang="en-US" sz="1100" dirty="0"/>
          </a:p>
          <a:p>
            <a:pPr indent="0" marL="0">
              <a:spcAft>
                <a:spcPts val="200"/>
              </a:spcAft>
              <a:buNone/>
            </a:pPr>
            <a:r>
              <a:rPr lang="en-US" sz="1100" dirty="0">
                <a:solidFill>
                  <a:srgbClr val="1F2937"/>
                </a:solidFill>
                <a:latin typeface="Meiryo UI" pitchFamily="34" charset="0"/>
                <a:ea typeface="Meiryo UI" pitchFamily="34" charset="-122"/>
                <a:cs typeface="Meiryo UI" pitchFamily="34" charset="-120"/>
              </a:rPr>
              <a:t>保存した groupEncodedKey は、ステップ④で口座の名義人（accountHolderKey）として使います。</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ステップ③【6/7】Assert タブで 201 を確認する設定</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7680960" cy="4320540"/>
          </a:xfrm>
          <a:prstGeom prst="rect">
            <a:avLst/>
          </a:prstGeom>
        </p:spPr>
      </p:pic>
      <p:sp>
        <p:nvSpPr>
          <p:cNvPr id="7" name="Shape 4"/>
          <p:cNvSpPr/>
          <p:nvPr/>
        </p:nvSpPr>
        <p:spPr>
          <a:xfrm>
            <a:off x="411480" y="1051560"/>
            <a:ext cx="7680960" cy="4320540"/>
          </a:xfrm>
          <a:prstGeom prst="rect">
            <a:avLst/>
          </a:prstGeom>
          <a:ln w="9525">
            <a:solidFill>
              <a:srgbClr val="D1D5DB"/>
            </a:solidFill>
            <a:prstDash val="solid"/>
          </a:ln>
        </p:spPr>
      </p:sp>
      <p:sp>
        <p:nvSpPr>
          <p:cNvPr id="8" name="Text 5"/>
          <p:cNvSpPr/>
          <p:nvPr/>
        </p:nvSpPr>
        <p:spPr>
          <a:xfrm>
            <a:off x="411480" y="5390388"/>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3964838" y="1897380"/>
            <a:ext cx="459029" cy="343814"/>
          </a:xfrm>
          <a:prstGeom prst="rect">
            <a:avLst/>
          </a:prstGeom>
          <a:ln w="28575">
            <a:solidFill>
              <a:srgbClr val="E11D2E"/>
            </a:solidFill>
            <a:prstDash val="solid"/>
          </a:ln>
        </p:spPr>
      </p:sp>
      <p:sp>
        <p:nvSpPr>
          <p:cNvPr id="10" name="Shape 7"/>
          <p:cNvSpPr/>
          <p:nvPr/>
        </p:nvSpPr>
        <p:spPr>
          <a:xfrm>
            <a:off x="3827678" y="1760220"/>
            <a:ext cx="274320" cy="274320"/>
          </a:xfrm>
          <a:prstGeom prst="ellipse">
            <a:avLst/>
          </a:prstGeom>
          <a:solidFill>
            <a:srgbClr val="E11D2E"/>
          </a:solidFill>
          <a:ln w="15875">
            <a:solidFill>
              <a:srgbClr val="FFFFFF"/>
            </a:solidFill>
            <a:prstDash val="solid"/>
          </a:ln>
        </p:spPr>
      </p:sp>
      <p:sp>
        <p:nvSpPr>
          <p:cNvPr id="11" name="Text 8"/>
          <p:cNvSpPr/>
          <p:nvPr/>
        </p:nvSpPr>
        <p:spPr>
          <a:xfrm>
            <a:off x="3827678" y="17602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796442" y="2655875"/>
            <a:ext cx="4529938" cy="382219"/>
          </a:xfrm>
          <a:prstGeom prst="rect">
            <a:avLst/>
          </a:prstGeom>
          <a:ln w="28575">
            <a:solidFill>
              <a:srgbClr val="E11D2E"/>
            </a:solidFill>
            <a:prstDash val="solid"/>
          </a:ln>
        </p:spPr>
      </p:sp>
      <p:sp>
        <p:nvSpPr>
          <p:cNvPr id="13" name="Shape 10"/>
          <p:cNvSpPr/>
          <p:nvPr/>
        </p:nvSpPr>
        <p:spPr>
          <a:xfrm>
            <a:off x="503834" y="2709824"/>
            <a:ext cx="274320" cy="274320"/>
          </a:xfrm>
          <a:prstGeom prst="ellipse">
            <a:avLst/>
          </a:prstGeom>
          <a:solidFill>
            <a:srgbClr val="E11D2E"/>
          </a:solidFill>
          <a:ln w="15875">
            <a:solidFill>
              <a:srgbClr val="FFFFFF"/>
            </a:solidFill>
            <a:prstDash val="solid"/>
          </a:ln>
        </p:spPr>
      </p:sp>
      <p:sp>
        <p:nvSpPr>
          <p:cNvPr id="14" name="Text 11"/>
          <p:cNvSpPr/>
          <p:nvPr/>
        </p:nvSpPr>
        <p:spPr>
          <a:xfrm>
            <a:off x="503834" y="270982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Text 12"/>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「Assert」タブをクリック</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Expr：res.status、Operator：equals、Value：201</a:t>
            </a:r>
            <a:endParaRPr lang="en-US" sz="13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ステップ③【7/7】保存する（Send は押さない）</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5356860" cy="4343400"/>
          </a:xfrm>
          <a:prstGeom prst="rect">
            <a:avLst/>
          </a:prstGeom>
        </p:spPr>
      </p:pic>
      <p:sp>
        <p:nvSpPr>
          <p:cNvPr id="7" name="Shape 4"/>
          <p:cNvSpPr/>
          <p:nvPr/>
        </p:nvSpPr>
        <p:spPr>
          <a:xfrm>
            <a:off x="411480" y="1051560"/>
            <a:ext cx="5356860" cy="4343400"/>
          </a:xfrm>
          <a:prstGeom prst="rect">
            <a:avLst/>
          </a:prstGeom>
          <a:ln w="9525">
            <a:solidFill>
              <a:srgbClr val="D1D5DB"/>
            </a:solidFill>
            <a:prstDash val="solid"/>
          </a:ln>
        </p:spPr>
      </p:sp>
      <p:sp>
        <p:nvSpPr>
          <p:cNvPr id="8" name="Text 5"/>
          <p:cNvSpPr/>
          <p:nvPr/>
        </p:nvSpPr>
        <p:spPr>
          <a:xfrm>
            <a:off x="411480" y="5413248"/>
            <a:ext cx="53568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4874133" y="1713738"/>
            <a:ext cx="217551" cy="224790"/>
          </a:xfrm>
          <a:prstGeom prst="rect">
            <a:avLst/>
          </a:prstGeom>
          <a:ln w="28575">
            <a:solidFill>
              <a:srgbClr val="E11D2E"/>
            </a:solidFill>
            <a:prstDash val="solid"/>
          </a:ln>
        </p:spPr>
      </p:sp>
      <p:sp>
        <p:nvSpPr>
          <p:cNvPr id="10" name="Shape 7"/>
          <p:cNvSpPr/>
          <p:nvPr/>
        </p:nvSpPr>
        <p:spPr>
          <a:xfrm>
            <a:off x="4581525" y="1688973"/>
            <a:ext cx="274320" cy="274320"/>
          </a:xfrm>
          <a:prstGeom prst="ellipse">
            <a:avLst/>
          </a:prstGeom>
          <a:solidFill>
            <a:srgbClr val="E11D2E"/>
          </a:solidFill>
          <a:ln w="15875">
            <a:solidFill>
              <a:srgbClr val="FFFFFF"/>
            </a:solidFill>
            <a:prstDash val="solid"/>
          </a:ln>
        </p:spPr>
      </p:sp>
      <p:sp>
        <p:nvSpPr>
          <p:cNvPr id="11" name="Text 8"/>
          <p:cNvSpPr/>
          <p:nvPr/>
        </p:nvSpPr>
        <p:spPr>
          <a:xfrm>
            <a:off x="4581525" y="1688973"/>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5156454" y="1684782"/>
            <a:ext cx="514350" cy="282702"/>
          </a:xfrm>
          <a:prstGeom prst="rect">
            <a:avLst/>
          </a:prstGeom>
          <a:ln w="28575">
            <a:solidFill>
              <a:srgbClr val="E11D2E"/>
            </a:solidFill>
            <a:prstDash val="solid"/>
          </a:ln>
        </p:spPr>
      </p:sp>
      <p:sp>
        <p:nvSpPr>
          <p:cNvPr id="13" name="Shape 10"/>
          <p:cNvSpPr/>
          <p:nvPr/>
        </p:nvSpPr>
        <p:spPr>
          <a:xfrm>
            <a:off x="5019294" y="1830324"/>
            <a:ext cx="274320" cy="274320"/>
          </a:xfrm>
          <a:prstGeom prst="ellipse">
            <a:avLst/>
          </a:prstGeom>
          <a:solidFill>
            <a:srgbClr val="E11D2E"/>
          </a:solidFill>
          <a:ln w="15875">
            <a:solidFill>
              <a:srgbClr val="FFFFFF"/>
            </a:solidFill>
            <a:prstDash val="solid"/>
          </a:ln>
        </p:spPr>
      </p:sp>
      <p:sp>
        <p:nvSpPr>
          <p:cNvPr id="14" name="Text 11"/>
          <p:cNvSpPr/>
          <p:nvPr/>
        </p:nvSpPr>
        <p:spPr>
          <a:xfrm>
            <a:off x="5019294" y="183032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Text 12"/>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Ctrl + S を押して保存する（または ① の保存アイコンをクリック）</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保存すると、① のアイコンがオレンジから灰色に変わる（タブの名前の右のオレンジの点も消える）</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③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② の Send は押さない（Ctrl + Enter も押さない。この教材では送信しない）</a:t>
            </a:r>
            <a:endParaRPr lang="en-US" sz="1300" dirty="0"/>
          </a:p>
        </p:txBody>
      </p:sp>
      <p:sp>
        <p:nvSpPr>
          <p:cNvPr id="16" name="Shape 13"/>
          <p:cNvSpPr/>
          <p:nvPr/>
        </p:nvSpPr>
        <p:spPr>
          <a:xfrm>
            <a:off x="8275320" y="3520440"/>
            <a:ext cx="3520440" cy="2103120"/>
          </a:xfrm>
          <a:prstGeom prst="rect">
            <a:avLst/>
          </a:prstGeom>
          <a:solidFill>
            <a:srgbClr val="ECFDF5"/>
          </a:solidFill>
          <a:ln w="15875">
            <a:solidFill>
              <a:srgbClr val="047857"/>
            </a:solidFill>
            <a:prstDash val="solid"/>
          </a:ln>
        </p:spPr>
      </p:sp>
      <p:sp>
        <p:nvSpPr>
          <p:cNvPr id="17" name="Shape 14"/>
          <p:cNvSpPr/>
          <p:nvPr/>
        </p:nvSpPr>
        <p:spPr>
          <a:xfrm>
            <a:off x="8275320" y="3520440"/>
            <a:ext cx="82296" cy="2103120"/>
          </a:xfrm>
          <a:prstGeom prst="rect">
            <a:avLst/>
          </a:prstGeom>
          <a:solidFill>
            <a:srgbClr val="047857"/>
          </a:solidFill>
          <a:ln w="12700">
            <a:solidFill>
              <a:srgbClr val="047857"/>
            </a:solidFill>
            <a:prstDash val="solid"/>
          </a:ln>
        </p:spPr>
      </p:sp>
      <p:sp>
        <p:nvSpPr>
          <p:cNvPr id="18" name="Text 15"/>
          <p:cNvSpPr/>
          <p:nvPr/>
        </p:nvSpPr>
        <p:spPr>
          <a:xfrm>
            <a:off x="8439912" y="3566160"/>
            <a:ext cx="3291840" cy="2011680"/>
          </a:xfrm>
          <a:prstGeom prst="rect">
            <a:avLst/>
          </a:prstGeom>
          <a:noFill/>
          <a:ln/>
        </p:spPr>
        <p:txBody>
          <a:bodyPr wrap="square" rtlCol="0" anchor="t"/>
          <a:lstStyle/>
          <a:p>
            <a:pPr indent="0" marL="0">
              <a:spcAft>
                <a:spcPts val="200"/>
              </a:spcAft>
              <a:buNone/>
            </a:pPr>
            <a:r>
              <a:rPr lang="en-US" sz="1150" b="1" dirty="0">
                <a:solidFill>
                  <a:srgbClr val="047857"/>
                </a:solidFill>
                <a:latin typeface="Meiryo UI" pitchFamily="34" charset="0"/>
                <a:ea typeface="Meiryo UI" pitchFamily="34" charset="-122"/>
                <a:cs typeface="Meiryo UI" pitchFamily="34" charset="-120"/>
              </a:rPr>
              <a:t>【実際に Send したときの期待する結果】</a:t>
            </a:r>
            <a:endParaRPr lang="en-US" sz="1150" dirty="0"/>
          </a:p>
          <a:p>
            <a:pPr indent="0" marL="0">
              <a:spcAft>
                <a:spcPts val="200"/>
              </a:spcAft>
              <a:buNone/>
            </a:pPr>
            <a:r>
              <a:rPr lang="en-US" sz="1150" dirty="0">
                <a:solidFill>
                  <a:srgbClr val="1F2937"/>
                </a:solidFill>
                <a:latin typeface="Meiryo UI" pitchFamily="34" charset="0"/>
                <a:ea typeface="Meiryo UI" pitchFamily="34" charset="-122"/>
                <a:cs typeface="Meiryo UI" pitchFamily="34" charset="-120"/>
              </a:rPr>
              <a:t>201 Created。レスポンスの encodedKey（法人の内部キー）が groupEncodedKey に保存される。Group には「承認待ち」のような状態の項目はない（公式仕様）。</a:t>
            </a:r>
            <a:endParaRPr lang="en-US" sz="1150" dirty="0"/>
          </a:p>
        </p:txBody>
      </p:sp>
      <p:sp>
        <p:nvSpPr>
          <p:cNvPr id="19" name="Shape 16"/>
          <p:cNvSpPr/>
          <p:nvPr/>
        </p:nvSpPr>
        <p:spPr>
          <a:xfrm>
            <a:off x="548640" y="5788152"/>
            <a:ext cx="11064240" cy="329184"/>
          </a:xfrm>
          <a:prstGeom prst="rect">
            <a:avLst/>
          </a:prstGeom>
          <a:solidFill>
            <a:srgbClr val="ECFDF5"/>
          </a:solidFill>
          <a:ln w="12700">
            <a:solidFill>
              <a:srgbClr val="047857"/>
            </a:solidFill>
            <a:prstDash val="solid"/>
          </a:ln>
        </p:spPr>
      </p:sp>
      <p:sp>
        <p:nvSpPr>
          <p:cNvPr id="20" name="Text 17"/>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参考コレクション exercises\mambu-corporate-onboarding\05 Create Corporate Group.yml を開いて、自分の入力と比べる</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ステップ④：法人の預金口座を作る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6" name="Text 4"/>
          <p:cNvSpPr/>
          <p:nvPr/>
        </p:nvSpPr>
        <p:spPr>
          <a:xfrm>
            <a:off x="365760" y="6144768"/>
            <a:ext cx="11430000" cy="292608"/>
          </a:xfrm>
          <a:prstGeom prst="rect">
            <a:avLst/>
          </a:prstGeom>
          <a:noFill/>
          <a:ln/>
        </p:spPr>
        <p:txBody>
          <a:bodyPr wrap="square" rtlCol="0" anchor="t"/>
          <a:lstStyle/>
          <a:p>
            <a:pPr indent="0" marL="0">
              <a:buNone/>
            </a:pPr>
            <a:r>
              <a:rPr lang="en-US" sz="1000" dirty="0">
                <a:solidFill>
                  <a:srgbClr val="6B7280"/>
                </a:solidFill>
                <a:latin typeface="Meiryo UI" pitchFamily="34" charset="0"/>
                <a:ea typeface="Meiryo UI" pitchFamily="34" charset="-122"/>
                <a:cs typeface="Meiryo UI" pitchFamily="34" charset="-120"/>
              </a:rPr>
              <a:t>出典：https://docs.mambu.com/swagger_files/v2/deposits.json（公式 OpenAPI、2026-10-09 確認） ／ https://docs.mambu.com/docs/deposit-accounts-life-cycle-and-states/（2026-10-09 確認）</a:t>
            </a:r>
            <a:endParaRPr lang="en-US" sz="10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11064240" cy="914400"/>
        </p:xfrm>
        <a:graphic>
          <a:graphicData uri="http://schemas.openxmlformats.org/drawingml/2006/table">
            <a:tbl>
              <a:tblPr/>
              <a:tblGrid>
                <a:gridCol w="2377440"/>
                <a:gridCol w="8686800"/>
              </a:tblGrid>
              <a:tr h="457200">
                <a:tc>
                  <a:txBody>
                    <a:bodyPr/>
                    <a:lstStyle/>
                    <a:p>
                      <a:pPr indent="0" marL="0">
                        <a:buNone/>
                      </a:pPr>
                      <a:r>
                        <a:rPr lang="en-US" sz="1400" b="1" dirty="0">
                          <a:solidFill>
                            <a:srgbClr val="FFFFFF"/>
                          </a:solidFill>
                          <a:latin typeface="Meiryo UI" pitchFamily="34" charset="0"/>
                          <a:ea typeface="Meiryo UI" pitchFamily="34" charset="-122"/>
                          <a:cs typeface="Meiryo UI" pitchFamily="34" charset="-120"/>
                        </a:rPr>
                        <a:t>項目</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Meiryo UI" pitchFamily="34" charset="0"/>
                          <a:ea typeface="Meiryo UI" pitchFamily="34" charset="-122"/>
                          <a:cs typeface="Meiryo UI" pitchFamily="34" charset="-120"/>
                        </a:rPr>
                        <a:t>内容</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45720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目的</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ステップ③の法人を名義人として、預金口座（当座預金）を作る</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作るリクエスト</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06 Create Deposit Account：POST {{baseUrl}}/deposits</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5720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使う値（入力）</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{{groupEncodedKey}}（ステップ③で保存）、{{depositProductKey}}・{{branchKey}}（環境変数）</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保存する値（出力）</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レスポンスの id → 変数 depositId（ステップ⑤〜⑦の URL で使う）</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5720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アサーション</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res.status equals 201、res.body.accountState equals PENDING_APPROVAL</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8" name="Text 5"/>
          <p:cNvSpPr/>
          <p:nvPr/>
        </p:nvSpPr>
        <p:spPr>
          <a:xfrm>
            <a:off x="548640" y="4572000"/>
            <a:ext cx="11064240" cy="411480"/>
          </a:xfrm>
          <a:prstGeom prst="rect">
            <a:avLst/>
          </a:prstGeom>
          <a:noFill/>
          <a:ln/>
        </p:spPr>
        <p:txBody>
          <a:bodyPr wrap="square" lIns="50800" tIns="50800" rIns="50800" bIns="50800" rtlCol="0" anchor="t"/>
          <a:lstStyle/>
          <a:p>
            <a:pPr algn="l" indent="0" marL="0">
              <a:buNone/>
            </a:pPr>
            <a:r>
              <a:rPr lang="en-US" sz="1400" b="1" dirty="0">
                <a:solidFill>
                  <a:srgbClr val="1F3A5F"/>
                </a:solidFill>
                <a:latin typeface="Meiryo UI" pitchFamily="34" charset="0"/>
                <a:ea typeface="Meiryo UI" pitchFamily="34" charset="-122"/>
                <a:cs typeface="Meiryo UI" pitchFamily="34" charset="-120"/>
              </a:rPr>
              <a:t>手順：New Request（POST）→ Headers → Body（JSON）→ Script → Assert（2 行）→ 保存</a:t>
            </a:r>
            <a:endParaRPr lang="en-US" sz="1400" dirty="0"/>
          </a:p>
        </p:txBody>
      </p:sp>
      <p:sp>
        <p:nvSpPr>
          <p:cNvPr id="9" name="Shape 6"/>
          <p:cNvSpPr/>
          <p:nvPr/>
        </p:nvSpPr>
        <p:spPr>
          <a:xfrm>
            <a:off x="548640" y="5029200"/>
            <a:ext cx="11064240" cy="685800"/>
          </a:xfrm>
          <a:prstGeom prst="rect">
            <a:avLst/>
          </a:prstGeom>
          <a:solidFill>
            <a:srgbClr val="EFF6FF"/>
          </a:solidFill>
          <a:ln w="15875">
            <a:solidFill>
              <a:srgbClr val="1D4ED8"/>
            </a:solidFill>
            <a:prstDash val="solid"/>
          </a:ln>
        </p:spPr>
      </p:sp>
      <p:sp>
        <p:nvSpPr>
          <p:cNvPr id="10" name="Shape 7"/>
          <p:cNvSpPr/>
          <p:nvPr/>
        </p:nvSpPr>
        <p:spPr>
          <a:xfrm>
            <a:off x="548640" y="5029200"/>
            <a:ext cx="82296" cy="685800"/>
          </a:xfrm>
          <a:prstGeom prst="rect">
            <a:avLst/>
          </a:prstGeom>
          <a:solidFill>
            <a:srgbClr val="1D4ED8"/>
          </a:solidFill>
          <a:ln w="12700">
            <a:solidFill>
              <a:srgbClr val="1D4ED8"/>
            </a:solidFill>
            <a:prstDash val="solid"/>
          </a:ln>
        </p:spPr>
      </p:sp>
      <p:sp>
        <p:nvSpPr>
          <p:cNvPr id="11" name="Text 8"/>
          <p:cNvSpPr/>
          <p:nvPr/>
        </p:nvSpPr>
        <p:spPr>
          <a:xfrm>
            <a:off x="713232" y="5074920"/>
            <a:ext cx="10835640" cy="594360"/>
          </a:xfrm>
          <a:prstGeom prst="rect">
            <a:avLst/>
          </a:prstGeom>
          <a:noFill/>
          <a:ln/>
        </p:spPr>
        <p:txBody>
          <a:bodyPr wrap="square" rtlCol="0" anchor="ctr"/>
          <a:lstStyle/>
          <a:p>
            <a:pPr indent="0" marL="0">
              <a:spcAft>
                <a:spcPts val="200"/>
              </a:spcAft>
              <a:buNone/>
            </a:pPr>
            <a:r>
              <a:rPr lang="en-US" sz="1250" b="1" dirty="0">
                <a:solidFill>
                  <a:srgbClr val="1D4ED8"/>
                </a:solidFill>
                <a:latin typeface="Meiryo UI" pitchFamily="34" charset="0"/>
                <a:ea typeface="Meiryo UI" pitchFamily="34" charset="-122"/>
                <a:cs typeface="Meiryo UI" pitchFamily="34" charset="-120"/>
              </a:rPr>
              <a:t>【ヒント】</a:t>
            </a:r>
            <a:endParaRPr lang="en-US" sz="1250" dirty="0"/>
          </a:p>
          <a:p>
            <a:pPr indent="0" marL="0">
              <a:spcAft>
                <a:spcPts val="200"/>
              </a:spcAft>
              <a:buNone/>
            </a:pPr>
            <a:r>
              <a:rPr lang="en-US" sz="1250" dirty="0">
                <a:solidFill>
                  <a:srgbClr val="1F2937"/>
                </a:solidFill>
                <a:latin typeface="Meiryo UI" pitchFamily="34" charset="0"/>
                <a:ea typeface="Meiryo UI" pitchFamily="34" charset="-122"/>
                <a:cs typeface="Meiryo UI" pitchFamily="34" charset="-120"/>
              </a:rPr>
              <a:t>作った直後の口座は PENDING_APPROVAL（承認待ち）です。アサーションを 2 行にして、状態も自動で確認します。</a:t>
            </a:r>
            <a:endParaRPr lang="en-US" sz="125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ステップ④【1/7】POST のリクエストを作る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6363081" cy="4343400"/>
          </a:xfrm>
          <a:prstGeom prst="rect">
            <a:avLst/>
          </a:prstGeom>
        </p:spPr>
      </p:pic>
      <p:sp>
        <p:nvSpPr>
          <p:cNvPr id="7" name="Shape 4"/>
          <p:cNvSpPr/>
          <p:nvPr/>
        </p:nvSpPr>
        <p:spPr>
          <a:xfrm>
            <a:off x="411480" y="1051560"/>
            <a:ext cx="6363081" cy="4343400"/>
          </a:xfrm>
          <a:prstGeom prst="rect">
            <a:avLst/>
          </a:prstGeom>
          <a:ln w="9525">
            <a:solidFill>
              <a:srgbClr val="D1D5DB"/>
            </a:solidFill>
            <a:prstDash val="solid"/>
          </a:ln>
        </p:spPr>
      </p:sp>
      <p:sp>
        <p:nvSpPr>
          <p:cNvPr id="8" name="Text 5"/>
          <p:cNvSpPr/>
          <p:nvPr/>
        </p:nvSpPr>
        <p:spPr>
          <a:xfrm>
            <a:off x="411480" y="5413248"/>
            <a:ext cx="6363081"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1044702" y="3042095"/>
            <a:ext cx="5096637" cy="405765"/>
          </a:xfrm>
          <a:prstGeom prst="rect">
            <a:avLst/>
          </a:prstGeom>
          <a:ln w="28575">
            <a:solidFill>
              <a:srgbClr val="E11D2E"/>
            </a:solidFill>
            <a:prstDash val="solid"/>
          </a:ln>
        </p:spPr>
      </p:sp>
      <p:sp>
        <p:nvSpPr>
          <p:cNvPr id="10" name="Shape 7"/>
          <p:cNvSpPr/>
          <p:nvPr/>
        </p:nvSpPr>
        <p:spPr>
          <a:xfrm>
            <a:off x="752094" y="3107817"/>
            <a:ext cx="274320" cy="274320"/>
          </a:xfrm>
          <a:prstGeom prst="ellipse">
            <a:avLst/>
          </a:prstGeom>
          <a:solidFill>
            <a:srgbClr val="E11D2E"/>
          </a:solidFill>
          <a:ln w="15875">
            <a:solidFill>
              <a:srgbClr val="FFFFFF"/>
            </a:solidFill>
            <a:prstDash val="solid"/>
          </a:ln>
        </p:spPr>
      </p:sp>
      <p:sp>
        <p:nvSpPr>
          <p:cNvPr id="11" name="Text 8"/>
          <p:cNvSpPr/>
          <p:nvPr/>
        </p:nvSpPr>
        <p:spPr>
          <a:xfrm>
            <a:off x="752094" y="3107817"/>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1044702" y="3899916"/>
            <a:ext cx="774954" cy="405765"/>
          </a:xfrm>
          <a:prstGeom prst="rect">
            <a:avLst/>
          </a:prstGeom>
          <a:ln w="28575">
            <a:solidFill>
              <a:srgbClr val="E11D2E"/>
            </a:solidFill>
            <a:prstDash val="solid"/>
          </a:ln>
        </p:spPr>
      </p:sp>
      <p:sp>
        <p:nvSpPr>
          <p:cNvPr id="13" name="Shape 10"/>
          <p:cNvSpPr/>
          <p:nvPr/>
        </p:nvSpPr>
        <p:spPr>
          <a:xfrm>
            <a:off x="752094" y="3965638"/>
            <a:ext cx="274320" cy="274320"/>
          </a:xfrm>
          <a:prstGeom prst="ellipse">
            <a:avLst/>
          </a:prstGeom>
          <a:solidFill>
            <a:srgbClr val="E11D2E"/>
          </a:solidFill>
          <a:ln w="15875">
            <a:solidFill>
              <a:srgbClr val="FFFFFF"/>
            </a:solidFill>
            <a:prstDash val="solid"/>
          </a:ln>
        </p:spPr>
      </p:sp>
      <p:sp>
        <p:nvSpPr>
          <p:cNvPr id="14" name="Text 11"/>
          <p:cNvSpPr/>
          <p:nvPr/>
        </p:nvSpPr>
        <p:spPr>
          <a:xfrm>
            <a:off x="752094" y="396563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Shape 12"/>
          <p:cNvSpPr/>
          <p:nvPr/>
        </p:nvSpPr>
        <p:spPr>
          <a:xfrm>
            <a:off x="1044702" y="3899916"/>
            <a:ext cx="5096637" cy="405765"/>
          </a:xfrm>
          <a:prstGeom prst="rect">
            <a:avLst/>
          </a:prstGeom>
          <a:ln w="28575">
            <a:solidFill>
              <a:srgbClr val="E11D2E"/>
            </a:solidFill>
            <a:prstDash val="solid"/>
          </a:ln>
        </p:spPr>
      </p:sp>
      <p:sp>
        <p:nvSpPr>
          <p:cNvPr id="16" name="Shape 13"/>
          <p:cNvSpPr/>
          <p:nvPr/>
        </p:nvSpPr>
        <p:spPr>
          <a:xfrm>
            <a:off x="6004179" y="3762756"/>
            <a:ext cx="274320" cy="274320"/>
          </a:xfrm>
          <a:prstGeom prst="ellipse">
            <a:avLst/>
          </a:prstGeom>
          <a:solidFill>
            <a:srgbClr val="E11D2E"/>
          </a:solidFill>
          <a:ln w="15875">
            <a:solidFill>
              <a:srgbClr val="FFFFFF"/>
            </a:solidFill>
            <a:prstDash val="solid"/>
          </a:ln>
        </p:spPr>
      </p:sp>
      <p:sp>
        <p:nvSpPr>
          <p:cNvPr id="17" name="Text 14"/>
          <p:cNvSpPr/>
          <p:nvPr/>
        </p:nvSpPr>
        <p:spPr>
          <a:xfrm>
            <a:off x="6004179" y="376275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8" name="Shape 15"/>
          <p:cNvSpPr/>
          <p:nvPr/>
        </p:nvSpPr>
        <p:spPr>
          <a:xfrm>
            <a:off x="5322951" y="4594860"/>
            <a:ext cx="818388" cy="362331"/>
          </a:xfrm>
          <a:prstGeom prst="rect">
            <a:avLst/>
          </a:prstGeom>
          <a:ln w="28575">
            <a:solidFill>
              <a:srgbClr val="E11D2E"/>
            </a:solidFill>
            <a:prstDash val="solid"/>
          </a:ln>
        </p:spPr>
      </p:sp>
      <p:sp>
        <p:nvSpPr>
          <p:cNvPr id="19" name="Shape 16"/>
          <p:cNvSpPr/>
          <p:nvPr/>
        </p:nvSpPr>
        <p:spPr>
          <a:xfrm>
            <a:off x="6159627" y="4638865"/>
            <a:ext cx="274320" cy="274320"/>
          </a:xfrm>
          <a:prstGeom prst="ellipse">
            <a:avLst/>
          </a:prstGeom>
          <a:solidFill>
            <a:srgbClr val="E11D2E"/>
          </a:solidFill>
          <a:ln w="15875">
            <a:solidFill>
              <a:srgbClr val="FFFFFF"/>
            </a:solidFill>
            <a:prstDash val="solid"/>
          </a:ln>
        </p:spPr>
      </p:sp>
      <p:sp>
        <p:nvSpPr>
          <p:cNvPr id="20" name="Text 17"/>
          <p:cNvSpPr/>
          <p:nvPr/>
        </p:nvSpPr>
        <p:spPr>
          <a:xfrm>
            <a:off x="6159627" y="4638865"/>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4</a:t>
            </a:r>
            <a:endParaRPr lang="en-US" sz="1200" dirty="0"/>
          </a:p>
        </p:txBody>
      </p:sp>
      <p:sp>
        <p:nvSpPr>
          <p:cNvPr id="21" name="Text 18"/>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右クリック → New Request。Request Name：06 Create Deposit Account</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メソッド：POST</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③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URL：{{baseUrl}}/deposits</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④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「Create」をクリック</a:t>
            </a:r>
            <a:endParaRPr lang="en-US" sz="13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ステップ④【2/7】Headers タブに Idempotency-Key</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7680960" cy="4320540"/>
          </a:xfrm>
          <a:prstGeom prst="rect">
            <a:avLst/>
          </a:prstGeom>
        </p:spPr>
      </p:pic>
      <p:sp>
        <p:nvSpPr>
          <p:cNvPr id="7" name="Shape 4"/>
          <p:cNvSpPr/>
          <p:nvPr/>
        </p:nvSpPr>
        <p:spPr>
          <a:xfrm>
            <a:off x="411480" y="1051560"/>
            <a:ext cx="7680960" cy="4320540"/>
          </a:xfrm>
          <a:prstGeom prst="rect">
            <a:avLst/>
          </a:prstGeom>
          <a:ln w="9525">
            <a:solidFill>
              <a:srgbClr val="D1D5DB"/>
            </a:solidFill>
            <a:prstDash val="solid"/>
          </a:ln>
        </p:spPr>
      </p:sp>
      <p:sp>
        <p:nvSpPr>
          <p:cNvPr id="8" name="Text 5"/>
          <p:cNvSpPr/>
          <p:nvPr/>
        </p:nvSpPr>
        <p:spPr>
          <a:xfrm>
            <a:off x="411480" y="5390388"/>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1602943" y="1897380"/>
            <a:ext cx="574243" cy="343814"/>
          </a:xfrm>
          <a:prstGeom prst="rect">
            <a:avLst/>
          </a:prstGeom>
          <a:ln w="28575">
            <a:solidFill>
              <a:srgbClr val="E11D2E"/>
            </a:solidFill>
            <a:prstDash val="solid"/>
          </a:ln>
        </p:spPr>
      </p:sp>
      <p:sp>
        <p:nvSpPr>
          <p:cNvPr id="10" name="Shape 7"/>
          <p:cNvSpPr/>
          <p:nvPr/>
        </p:nvSpPr>
        <p:spPr>
          <a:xfrm>
            <a:off x="1465783" y="1760220"/>
            <a:ext cx="274320" cy="274320"/>
          </a:xfrm>
          <a:prstGeom prst="ellipse">
            <a:avLst/>
          </a:prstGeom>
          <a:solidFill>
            <a:srgbClr val="E11D2E"/>
          </a:solidFill>
          <a:ln w="15875">
            <a:solidFill>
              <a:srgbClr val="FFFFFF"/>
            </a:solidFill>
            <a:prstDash val="solid"/>
          </a:ln>
        </p:spPr>
      </p:sp>
      <p:sp>
        <p:nvSpPr>
          <p:cNvPr id="11" name="Text 8"/>
          <p:cNvSpPr/>
          <p:nvPr/>
        </p:nvSpPr>
        <p:spPr>
          <a:xfrm>
            <a:off x="1465783" y="17602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796442" y="2655875"/>
            <a:ext cx="1428750" cy="382219"/>
          </a:xfrm>
          <a:prstGeom prst="rect">
            <a:avLst/>
          </a:prstGeom>
          <a:ln w="28575">
            <a:solidFill>
              <a:srgbClr val="E11D2E"/>
            </a:solidFill>
            <a:prstDash val="solid"/>
          </a:ln>
        </p:spPr>
      </p:sp>
      <p:sp>
        <p:nvSpPr>
          <p:cNvPr id="13" name="Shape 10"/>
          <p:cNvSpPr/>
          <p:nvPr/>
        </p:nvSpPr>
        <p:spPr>
          <a:xfrm>
            <a:off x="503834" y="2709824"/>
            <a:ext cx="274320" cy="274320"/>
          </a:xfrm>
          <a:prstGeom prst="ellipse">
            <a:avLst/>
          </a:prstGeom>
          <a:solidFill>
            <a:srgbClr val="E11D2E"/>
          </a:solidFill>
          <a:ln w="15875">
            <a:solidFill>
              <a:srgbClr val="FFFFFF"/>
            </a:solidFill>
            <a:prstDash val="solid"/>
          </a:ln>
        </p:spPr>
      </p:sp>
      <p:sp>
        <p:nvSpPr>
          <p:cNvPr id="14" name="Text 11"/>
          <p:cNvSpPr/>
          <p:nvPr/>
        </p:nvSpPr>
        <p:spPr>
          <a:xfrm>
            <a:off x="503834" y="270982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Shape 12"/>
          <p:cNvSpPr/>
          <p:nvPr/>
        </p:nvSpPr>
        <p:spPr>
          <a:xfrm>
            <a:off x="2188616" y="2655875"/>
            <a:ext cx="3070555" cy="382219"/>
          </a:xfrm>
          <a:prstGeom prst="rect">
            <a:avLst/>
          </a:prstGeom>
          <a:ln w="28575">
            <a:solidFill>
              <a:srgbClr val="E11D2E"/>
            </a:solidFill>
            <a:prstDash val="solid"/>
          </a:ln>
        </p:spPr>
      </p:sp>
      <p:sp>
        <p:nvSpPr>
          <p:cNvPr id="16" name="Shape 13"/>
          <p:cNvSpPr/>
          <p:nvPr/>
        </p:nvSpPr>
        <p:spPr>
          <a:xfrm>
            <a:off x="5122012" y="2518715"/>
            <a:ext cx="274320" cy="274320"/>
          </a:xfrm>
          <a:prstGeom prst="ellipse">
            <a:avLst/>
          </a:prstGeom>
          <a:solidFill>
            <a:srgbClr val="E11D2E"/>
          </a:solidFill>
          <a:ln w="15875">
            <a:solidFill>
              <a:srgbClr val="FFFFFF"/>
            </a:solidFill>
            <a:prstDash val="solid"/>
          </a:ln>
        </p:spPr>
      </p:sp>
      <p:sp>
        <p:nvSpPr>
          <p:cNvPr id="17" name="Text 14"/>
          <p:cNvSpPr/>
          <p:nvPr/>
        </p:nvSpPr>
        <p:spPr>
          <a:xfrm>
            <a:off x="5122012" y="2518715"/>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8" name="Text 15"/>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「Headers」タブをクリック</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Name：Idempotency-Key</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③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Value：{{$randomUUID}}</a:t>
            </a:r>
            <a:endParaRPr lang="en-US" sz="13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ステップ④【3/7】Body を JSON にして入力する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5669280" cy="3188970"/>
          </a:xfrm>
          <a:prstGeom prst="rect">
            <a:avLst/>
          </a:prstGeom>
        </p:spPr>
      </p:pic>
      <p:sp>
        <p:nvSpPr>
          <p:cNvPr id="7" name="Shape 4"/>
          <p:cNvSpPr/>
          <p:nvPr/>
        </p:nvSpPr>
        <p:spPr>
          <a:xfrm>
            <a:off x="411480" y="1051560"/>
            <a:ext cx="5669280" cy="3188970"/>
          </a:xfrm>
          <a:prstGeom prst="rect">
            <a:avLst/>
          </a:prstGeom>
          <a:ln w="9525">
            <a:solidFill>
              <a:srgbClr val="D1D5DB"/>
            </a:solidFill>
            <a:prstDash val="solid"/>
          </a:ln>
        </p:spPr>
      </p:sp>
      <p:sp>
        <p:nvSpPr>
          <p:cNvPr id="8" name="Text 5"/>
          <p:cNvSpPr/>
          <p:nvPr/>
        </p:nvSpPr>
        <p:spPr>
          <a:xfrm>
            <a:off x="411480" y="4258818"/>
            <a:ext cx="566928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945947" y="1671066"/>
            <a:ext cx="341300" cy="263347"/>
          </a:xfrm>
          <a:prstGeom prst="rect">
            <a:avLst/>
          </a:prstGeom>
          <a:ln w="28575">
            <a:solidFill>
              <a:srgbClr val="E11D2E"/>
            </a:solidFill>
            <a:prstDash val="solid"/>
          </a:ln>
        </p:spPr>
      </p:sp>
      <p:sp>
        <p:nvSpPr>
          <p:cNvPr id="10" name="Shape 7"/>
          <p:cNvSpPr/>
          <p:nvPr/>
        </p:nvSpPr>
        <p:spPr>
          <a:xfrm>
            <a:off x="808787" y="1533906"/>
            <a:ext cx="274320" cy="274320"/>
          </a:xfrm>
          <a:prstGeom prst="ellipse">
            <a:avLst/>
          </a:prstGeom>
          <a:solidFill>
            <a:srgbClr val="E11D2E"/>
          </a:solidFill>
          <a:ln w="15875">
            <a:solidFill>
              <a:srgbClr val="FFFFFF"/>
            </a:solidFill>
            <a:prstDash val="solid"/>
          </a:ln>
        </p:spPr>
      </p:sp>
      <p:sp>
        <p:nvSpPr>
          <p:cNvPr id="11" name="Text 8"/>
          <p:cNvSpPr/>
          <p:nvPr/>
        </p:nvSpPr>
        <p:spPr>
          <a:xfrm>
            <a:off x="808787" y="153390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4886096" y="1699412"/>
            <a:ext cx="447599" cy="220828"/>
          </a:xfrm>
          <a:prstGeom prst="rect">
            <a:avLst/>
          </a:prstGeom>
          <a:ln w="28575">
            <a:solidFill>
              <a:srgbClr val="E11D2E"/>
            </a:solidFill>
            <a:prstDash val="solid"/>
          </a:ln>
        </p:spPr>
      </p:sp>
      <p:sp>
        <p:nvSpPr>
          <p:cNvPr id="13" name="Shape 10"/>
          <p:cNvSpPr/>
          <p:nvPr/>
        </p:nvSpPr>
        <p:spPr>
          <a:xfrm>
            <a:off x="5196535" y="1562252"/>
            <a:ext cx="274320" cy="274320"/>
          </a:xfrm>
          <a:prstGeom prst="ellipse">
            <a:avLst/>
          </a:prstGeom>
          <a:solidFill>
            <a:srgbClr val="E11D2E"/>
          </a:solidFill>
          <a:ln w="15875">
            <a:solidFill>
              <a:srgbClr val="FFFFFF"/>
            </a:solidFill>
            <a:prstDash val="solid"/>
          </a:ln>
        </p:spPr>
      </p:sp>
      <p:sp>
        <p:nvSpPr>
          <p:cNvPr id="14" name="Text 11"/>
          <p:cNvSpPr/>
          <p:nvPr/>
        </p:nvSpPr>
        <p:spPr>
          <a:xfrm>
            <a:off x="5196535" y="156225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Shape 12"/>
          <p:cNvSpPr/>
          <p:nvPr/>
        </p:nvSpPr>
        <p:spPr>
          <a:xfrm>
            <a:off x="513664" y="2067916"/>
            <a:ext cx="5174361" cy="1414920"/>
          </a:xfrm>
          <a:prstGeom prst="rect">
            <a:avLst/>
          </a:prstGeom>
          <a:ln w="28575">
            <a:solidFill>
              <a:srgbClr val="E11D2E"/>
            </a:solidFill>
            <a:prstDash val="solid"/>
          </a:ln>
        </p:spPr>
      </p:sp>
      <p:sp>
        <p:nvSpPr>
          <p:cNvPr id="16" name="Shape 13"/>
          <p:cNvSpPr/>
          <p:nvPr/>
        </p:nvSpPr>
        <p:spPr>
          <a:xfrm>
            <a:off x="221056" y="2638215"/>
            <a:ext cx="274320" cy="274320"/>
          </a:xfrm>
          <a:prstGeom prst="ellipse">
            <a:avLst/>
          </a:prstGeom>
          <a:solidFill>
            <a:srgbClr val="E11D2E"/>
          </a:solidFill>
          <a:ln w="15875">
            <a:solidFill>
              <a:srgbClr val="FFFFFF"/>
            </a:solidFill>
            <a:prstDash val="solid"/>
          </a:ln>
        </p:spPr>
      </p:sp>
      <p:sp>
        <p:nvSpPr>
          <p:cNvPr id="17" name="Text 14"/>
          <p:cNvSpPr/>
          <p:nvPr/>
        </p:nvSpPr>
        <p:spPr>
          <a:xfrm>
            <a:off x="221056" y="2638215"/>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8" name="Text 15"/>
          <p:cNvSpPr/>
          <p:nvPr/>
        </p:nvSpPr>
        <p:spPr>
          <a:xfrm>
            <a:off x="6263640" y="1051560"/>
            <a:ext cx="5532120" cy="1097280"/>
          </a:xfrm>
          <a:prstGeom prst="rect">
            <a:avLst/>
          </a:prstGeom>
          <a:noFill/>
          <a:ln/>
        </p:spPr>
        <p:txBody>
          <a:bodyPr wrap="square" rtlCol="0" anchor="t"/>
          <a:lstStyle/>
          <a:p>
            <a:pPr indent="0" marL="0">
              <a:spcAft>
                <a:spcPts val="400"/>
              </a:spcAft>
              <a:buNone/>
            </a:pPr>
            <a:r>
              <a:rPr lang="en-US" sz="1250" b="1" dirty="0">
                <a:solidFill>
                  <a:srgbClr val="E11D2E"/>
                </a:solidFill>
                <a:latin typeface="Meiryo UI" pitchFamily="34" charset="0"/>
                <a:ea typeface="Meiryo UI" pitchFamily="34" charset="-122"/>
                <a:cs typeface="Meiryo UI" pitchFamily="34" charset="-120"/>
              </a:rPr>
              <a:t>① </a:t>
            </a:r>
            <a:pPr indent="0" marL="0">
              <a:spcAft>
                <a:spcPts val="400"/>
              </a:spcAft>
              <a:buNone/>
            </a:pPr>
            <a:r>
              <a:rPr lang="en-US" sz="1250" dirty="0">
                <a:solidFill>
                  <a:srgbClr val="1F2937"/>
                </a:solidFill>
                <a:latin typeface="Meiryo UI" pitchFamily="34" charset="0"/>
                <a:ea typeface="Meiryo UI" pitchFamily="34" charset="-122"/>
                <a:cs typeface="Meiryo UI" pitchFamily="34" charset="-120"/>
              </a:rPr>
              <a:t>「Body」タブ →「No Body ▼」→「JSON」</a:t>
            </a:r>
            <a:endParaRPr lang="en-US" sz="1250" dirty="0"/>
          </a:p>
          <a:p>
            <a:pPr indent="0" marL="0">
              <a:spcAft>
                <a:spcPts val="400"/>
              </a:spcAft>
              <a:buNone/>
            </a:pPr>
            <a:r>
              <a:rPr lang="en-US" sz="1250" b="1" dirty="0">
                <a:solidFill>
                  <a:srgbClr val="E11D2E"/>
                </a:solidFill>
                <a:latin typeface="Meiryo UI" pitchFamily="34" charset="0"/>
                <a:ea typeface="Meiryo UI" pitchFamily="34" charset="-122"/>
                <a:cs typeface="Meiryo UI" pitchFamily="34" charset="-120"/>
              </a:rPr>
              <a:t>② </a:t>
            </a:r>
            <a:pPr indent="0" marL="0">
              <a:spcAft>
                <a:spcPts val="400"/>
              </a:spcAft>
              <a:buNone/>
            </a:pPr>
            <a:r>
              <a:rPr lang="en-US" sz="1250" dirty="0">
                <a:solidFill>
                  <a:srgbClr val="1F2937"/>
                </a:solidFill>
                <a:latin typeface="Meiryo UI" pitchFamily="34" charset="0"/>
                <a:ea typeface="Meiryo UI" pitchFamily="34" charset="-122"/>
                <a:cs typeface="Meiryo UI" pitchFamily="34" charset="-120"/>
              </a:rPr>
              <a:t>下の枠の JSON をコピーして貼り付ける（項目の意味は次のスライド）</a:t>
            </a:r>
            <a:endParaRPr lang="en-US" sz="1250" dirty="0"/>
          </a:p>
        </p:txBody>
      </p:sp>
      <p:sp>
        <p:nvSpPr>
          <p:cNvPr id="19" name="Text 16"/>
          <p:cNvSpPr/>
          <p:nvPr/>
        </p:nvSpPr>
        <p:spPr>
          <a:xfrm>
            <a:off x="6263640" y="2103120"/>
            <a:ext cx="5532120" cy="1920240"/>
          </a:xfrm>
          <a:prstGeom prst="rect">
            <a:avLst/>
          </a:prstGeom>
          <a:solidFill>
            <a:srgbClr val="F3F4F6"/>
          </a:solidFill>
          <a:ln w="12700">
            <a:solidFill>
              <a:srgbClr val="D1D5DB"/>
            </a:solidFill>
          </a:ln>
        </p:spPr>
        <p:txBody>
          <a:bodyPr wrap="square" lIns="101600" tIns="101600" rIns="101600" bIns="101600" rtlCol="0" anchor="t"/>
          <a:lstStyle/>
          <a:p>
            <a:pPr indent="0" marL="0">
              <a:buNone/>
            </a:pPr>
            <a:r>
              <a:rPr lang="en-US" sz="1050" dirty="0">
                <a:solidFill>
                  <a:srgbClr val="111827"/>
                </a:solidFill>
                <a:latin typeface="Consolas" pitchFamily="34" charset="0"/>
                <a:ea typeface="Consolas" pitchFamily="34" charset="-122"/>
                <a:cs typeface="Consolas" pitchFamily="34" charset="-120"/>
              </a:rPr>
              <a:t>{</a:t>
            </a:r>
            <a:endParaRPr lang="en-US" sz="1050" dirty="0"/>
          </a:p>
          <a:p>
            <a:pPr indent="0" marL="0">
              <a:buNone/>
            </a:pPr>
            <a:r>
              <a:rPr lang="en-US" sz="1050" dirty="0">
                <a:solidFill>
                  <a:srgbClr val="111827"/>
                </a:solidFill>
                <a:latin typeface="Consolas" pitchFamily="34" charset="0"/>
                <a:ea typeface="Consolas" pitchFamily="34" charset="-122"/>
                <a:cs typeface="Consolas" pitchFamily="34" charset="-120"/>
              </a:rPr>
              <a:t>  "name": "法人当座",</a:t>
            </a:r>
            <a:endParaRPr lang="en-US" sz="1050" dirty="0"/>
          </a:p>
          <a:p>
            <a:pPr indent="0" marL="0">
              <a:buNone/>
            </a:pPr>
            <a:r>
              <a:rPr lang="en-US" sz="1050" dirty="0">
                <a:solidFill>
                  <a:srgbClr val="111827"/>
                </a:solidFill>
                <a:latin typeface="Consolas" pitchFamily="34" charset="0"/>
                <a:ea typeface="Consolas" pitchFamily="34" charset="-122"/>
                <a:cs typeface="Consolas" pitchFamily="34" charset="-120"/>
              </a:rPr>
              <a:t>  "accountHolderType": "GROUP",</a:t>
            </a:r>
            <a:endParaRPr lang="en-US" sz="1050" dirty="0"/>
          </a:p>
          <a:p>
            <a:pPr indent="0" marL="0">
              <a:buNone/>
            </a:pPr>
            <a:r>
              <a:rPr lang="en-US" sz="1050" dirty="0">
                <a:solidFill>
                  <a:srgbClr val="111827"/>
                </a:solidFill>
                <a:latin typeface="Consolas" pitchFamily="34" charset="0"/>
                <a:ea typeface="Consolas" pitchFamily="34" charset="-122"/>
                <a:cs typeface="Consolas" pitchFamily="34" charset="-120"/>
              </a:rPr>
              <a:t>  "accountHolderKey": "{{groupEncodedKey}}",</a:t>
            </a:r>
            <a:endParaRPr lang="en-US" sz="1050" dirty="0"/>
          </a:p>
          <a:p>
            <a:pPr indent="0" marL="0">
              <a:buNone/>
            </a:pPr>
            <a:r>
              <a:rPr lang="en-US" sz="1050" dirty="0">
                <a:solidFill>
                  <a:srgbClr val="111827"/>
                </a:solidFill>
                <a:latin typeface="Consolas" pitchFamily="34" charset="0"/>
                <a:ea typeface="Consolas" pitchFamily="34" charset="-122"/>
                <a:cs typeface="Consolas" pitchFamily="34" charset="-120"/>
              </a:rPr>
              <a:t>  "productTypeKey": "{{depositProductKey}}",</a:t>
            </a:r>
            <a:endParaRPr lang="en-US" sz="1050" dirty="0"/>
          </a:p>
          <a:p>
            <a:pPr indent="0" marL="0">
              <a:buNone/>
            </a:pPr>
            <a:r>
              <a:rPr lang="en-US" sz="1050" dirty="0">
                <a:solidFill>
                  <a:srgbClr val="111827"/>
                </a:solidFill>
                <a:latin typeface="Consolas" pitchFamily="34" charset="0"/>
                <a:ea typeface="Consolas" pitchFamily="34" charset="-122"/>
                <a:cs typeface="Consolas" pitchFamily="34" charset="-120"/>
              </a:rPr>
              <a:t>  "accountType": "CURRENT_ACCOUNT",</a:t>
            </a:r>
            <a:endParaRPr lang="en-US" sz="1050" dirty="0"/>
          </a:p>
          <a:p>
            <a:pPr indent="0" marL="0">
              <a:buNone/>
            </a:pPr>
            <a:r>
              <a:rPr lang="en-US" sz="1050" dirty="0">
                <a:solidFill>
                  <a:srgbClr val="111827"/>
                </a:solidFill>
                <a:latin typeface="Consolas" pitchFamily="34" charset="0"/>
                <a:ea typeface="Consolas" pitchFamily="34" charset="-122"/>
                <a:cs typeface="Consolas" pitchFamily="34" charset="-120"/>
              </a:rPr>
              <a:t>  "currencyCode": "JPY",</a:t>
            </a:r>
            <a:endParaRPr lang="en-US" sz="1050" dirty="0"/>
          </a:p>
          <a:p>
            <a:pPr indent="0" marL="0">
              <a:buNone/>
            </a:pPr>
            <a:r>
              <a:rPr lang="en-US" sz="1050" dirty="0">
                <a:solidFill>
                  <a:srgbClr val="111827"/>
                </a:solidFill>
                <a:latin typeface="Consolas" pitchFamily="34" charset="0"/>
                <a:ea typeface="Consolas" pitchFamily="34" charset="-122"/>
                <a:cs typeface="Consolas" pitchFamily="34" charset="-120"/>
              </a:rPr>
              <a:t>  "assignedBranchKey": "{{branchKey}}"</a:t>
            </a:r>
            <a:endParaRPr lang="en-US" sz="1050" dirty="0"/>
          </a:p>
          <a:p>
            <a:pPr indent="0" marL="0">
              <a:buNone/>
            </a:pPr>
            <a:r>
              <a:rPr lang="en-US" sz="1050" dirty="0">
                <a:solidFill>
                  <a:srgbClr val="111827"/>
                </a:solidFill>
                <a:latin typeface="Consolas" pitchFamily="34" charset="0"/>
                <a:ea typeface="Consolas" pitchFamily="34" charset="-122"/>
                <a:cs typeface="Consolas" pitchFamily="34" charset="-120"/>
              </a:rPr>
              <a:t>}</a:t>
            </a:r>
            <a:endParaRPr lang="en-US" sz="1050" dirty="0"/>
          </a:p>
        </p:txBody>
      </p:sp>
      <p:sp>
        <p:nvSpPr>
          <p:cNvPr id="20" name="Text 17"/>
          <p:cNvSpPr/>
          <p:nvPr/>
        </p:nvSpPr>
        <p:spPr>
          <a:xfrm>
            <a:off x="6263640" y="1828800"/>
            <a:ext cx="5532120" cy="274320"/>
          </a:xfrm>
          <a:prstGeom prst="rect">
            <a:avLst/>
          </a:prstGeom>
          <a:noFill/>
          <a:ln/>
        </p:spPr>
        <p:txBody>
          <a:bodyPr wrap="square" rtlCol="0" anchor="ctr"/>
          <a:lstStyle/>
          <a:p>
            <a:pPr indent="0" marL="0">
              <a:buNone/>
            </a:pPr>
            <a:r>
              <a:rPr lang="en-US" sz="1100" dirty="0">
                <a:solidFill>
                  <a:srgbClr val="6B7280"/>
                </a:solidFill>
                <a:latin typeface="Meiryo UI" pitchFamily="34" charset="0"/>
                <a:ea typeface="Meiryo UI" pitchFamily="34" charset="-122"/>
                <a:cs typeface="Meiryo UI" pitchFamily="34" charset="-120"/>
              </a:rPr>
              <a:t>コピー用（この枠の中を全部コピーして、Body の入力欄に貼り付ける）</a:t>
            </a:r>
            <a:endParaRPr lang="en-US" sz="1100" dirty="0"/>
          </a:p>
        </p:txBody>
      </p:sp>
      <p:sp>
        <p:nvSpPr>
          <p:cNvPr id="21" name="Shape 18"/>
          <p:cNvSpPr/>
          <p:nvPr/>
        </p:nvSpPr>
        <p:spPr>
          <a:xfrm>
            <a:off x="6263640" y="4133088"/>
            <a:ext cx="5532120" cy="731520"/>
          </a:xfrm>
          <a:prstGeom prst="rect">
            <a:avLst/>
          </a:prstGeom>
          <a:solidFill>
            <a:srgbClr val="EFF6FF"/>
          </a:solidFill>
          <a:ln w="15875">
            <a:solidFill>
              <a:srgbClr val="1D4ED8"/>
            </a:solidFill>
            <a:prstDash val="solid"/>
          </a:ln>
        </p:spPr>
      </p:sp>
      <p:sp>
        <p:nvSpPr>
          <p:cNvPr id="22" name="Shape 19"/>
          <p:cNvSpPr/>
          <p:nvPr/>
        </p:nvSpPr>
        <p:spPr>
          <a:xfrm>
            <a:off x="6263640" y="4133088"/>
            <a:ext cx="82296" cy="731520"/>
          </a:xfrm>
          <a:prstGeom prst="rect">
            <a:avLst/>
          </a:prstGeom>
          <a:solidFill>
            <a:srgbClr val="1D4ED8"/>
          </a:solidFill>
          <a:ln w="12700">
            <a:solidFill>
              <a:srgbClr val="1D4ED8"/>
            </a:solidFill>
            <a:prstDash val="solid"/>
          </a:ln>
        </p:spPr>
      </p:sp>
      <p:sp>
        <p:nvSpPr>
          <p:cNvPr id="23" name="Text 20"/>
          <p:cNvSpPr/>
          <p:nvPr/>
        </p:nvSpPr>
        <p:spPr>
          <a:xfrm>
            <a:off x="6428232" y="4178808"/>
            <a:ext cx="5303520" cy="640080"/>
          </a:xfrm>
          <a:prstGeom prst="rect">
            <a:avLst/>
          </a:prstGeom>
          <a:noFill/>
          <a:ln/>
        </p:spPr>
        <p:txBody>
          <a:bodyPr wrap="square" rtlCol="0" anchor="t"/>
          <a:lstStyle/>
          <a:p>
            <a:pPr indent="0" marL="0">
              <a:spcAft>
                <a:spcPts val="200"/>
              </a:spcAft>
              <a:buNone/>
            </a:pPr>
            <a:r>
              <a:rPr lang="en-US" sz="1100" b="1" dirty="0">
                <a:solidFill>
                  <a:srgbClr val="1D4ED8"/>
                </a:solidFill>
                <a:latin typeface="Meiryo UI" pitchFamily="34" charset="0"/>
                <a:ea typeface="Meiryo UI" pitchFamily="34" charset="-122"/>
                <a:cs typeface="Meiryo UI" pitchFamily="34" charset="-120"/>
              </a:rPr>
              <a:t>【ヒント】</a:t>
            </a:r>
            <a:endParaRPr lang="en-US" sz="1100" dirty="0"/>
          </a:p>
          <a:p>
            <a:pPr indent="0" marL="0">
              <a:spcAft>
                <a:spcPts val="200"/>
              </a:spcAft>
              <a:buNone/>
            </a:pPr>
            <a:r>
              <a:rPr lang="en-US" sz="1100" dirty="0">
                <a:solidFill>
                  <a:srgbClr val="1F2937"/>
                </a:solidFill>
                <a:latin typeface="Meiryo UI" pitchFamily="34" charset="0"/>
                <a:ea typeface="Meiryo UI" pitchFamily="34" charset="-122"/>
                <a:cs typeface="Meiryo UI" pitchFamily="34" charset="-120"/>
              </a:rPr>
              <a:t>accountHolderType は "GROUP"（法人）です。個人の口座なら "CLIENT" にします。</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ステップ④【4/7】Body の項目の意味</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6" name="Text 4"/>
          <p:cNvSpPr/>
          <p:nvPr/>
        </p:nvSpPr>
        <p:spPr>
          <a:xfrm>
            <a:off x="365760" y="6144768"/>
            <a:ext cx="11430000" cy="292608"/>
          </a:xfrm>
          <a:prstGeom prst="rect">
            <a:avLst/>
          </a:prstGeom>
          <a:noFill/>
          <a:ln/>
        </p:spPr>
        <p:txBody>
          <a:bodyPr wrap="square" rtlCol="0" anchor="t"/>
          <a:lstStyle/>
          <a:p>
            <a:pPr indent="0" marL="0">
              <a:buNone/>
            </a:pPr>
            <a:r>
              <a:rPr lang="en-US" sz="1000" dirty="0">
                <a:solidFill>
                  <a:srgbClr val="6B7280"/>
                </a:solidFill>
                <a:latin typeface="Meiryo UI" pitchFamily="34" charset="0"/>
                <a:ea typeface="Meiryo UI" pitchFamily="34" charset="-122"/>
                <a:cs typeface="Meiryo UI" pitchFamily="34" charset="-120"/>
              </a:rPr>
              <a:t>出典：https://docs.mambu.com/swagger_files/v2/deposits.json（公式 OpenAPI、2026-10-09 確認） ／ https://docs.mambu.com/api/pages/api-v2/responses/ ／ https://docs.mambu.com/docs/api-response-error-codes/（2026-10-09 確認）</a:t>
            </a:r>
            <a:endParaRPr lang="en-US" sz="10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11064240" cy="914400"/>
        </p:xfrm>
        <a:graphic>
          <a:graphicData uri="http://schemas.openxmlformats.org/drawingml/2006/table">
            <a:tbl>
              <a:tblPr/>
              <a:tblGrid>
                <a:gridCol w="2377440"/>
                <a:gridCol w="2651760"/>
                <a:gridCol w="4754880"/>
                <a:gridCol w="1280160"/>
              </a:tblGrid>
              <a:tr h="438912">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項目</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入れる値</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意味</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必須</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438912">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name</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法人当座</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口座の名前</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必須</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38912">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accountHolderType</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GROUP</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名義人の種類。法人は GROUP（個人は CLIENT）</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必須</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38912">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accountHolderKey</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{{groupEncodedKey}}</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名義人の encodedKey（ステップ③で保存）</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必須</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38912">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productTypeKey</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{{depositProductKey}}</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預金商品の key（ステップ①の 02 の Script で保存）</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必須</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38912">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accountType</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CURRENT_ACCOUNT</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口座の種類（CURRENT_ACCOUNT＝当座 など）</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実質必須※</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38912">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currencyCode</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JPY</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通貨（商品の設定と合わせる）</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任意</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38912">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assignedBranchKey</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{{branchKey}}</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担当支店</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任意</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4846320"/>
            <a:ext cx="11064240" cy="777240"/>
          </a:xfrm>
          <a:prstGeom prst="rect">
            <a:avLst/>
          </a:prstGeom>
          <a:solidFill>
            <a:srgbClr val="FEF2F2"/>
          </a:solidFill>
          <a:ln w="15875">
            <a:solidFill>
              <a:srgbClr val="B91C1C"/>
            </a:solidFill>
            <a:prstDash val="solid"/>
          </a:ln>
        </p:spPr>
      </p:sp>
      <p:sp>
        <p:nvSpPr>
          <p:cNvPr id="9" name="Shape 6"/>
          <p:cNvSpPr/>
          <p:nvPr/>
        </p:nvSpPr>
        <p:spPr>
          <a:xfrm>
            <a:off x="548640" y="4846320"/>
            <a:ext cx="82296" cy="777240"/>
          </a:xfrm>
          <a:prstGeom prst="rect">
            <a:avLst/>
          </a:prstGeom>
          <a:solidFill>
            <a:srgbClr val="B91C1C"/>
          </a:solidFill>
          <a:ln w="12700">
            <a:solidFill>
              <a:srgbClr val="B91C1C"/>
            </a:solidFill>
            <a:prstDash val="solid"/>
          </a:ln>
        </p:spPr>
      </p:sp>
      <p:sp>
        <p:nvSpPr>
          <p:cNvPr id="10" name="Text 7"/>
          <p:cNvSpPr/>
          <p:nvPr/>
        </p:nvSpPr>
        <p:spPr>
          <a:xfrm>
            <a:off x="713232" y="4892040"/>
            <a:ext cx="10835640" cy="685800"/>
          </a:xfrm>
          <a:prstGeom prst="rect">
            <a:avLst/>
          </a:prstGeom>
          <a:noFill/>
          <a:ln/>
        </p:spPr>
        <p:txBody>
          <a:bodyPr wrap="square" rtlCol="0" anchor="ctr"/>
          <a:lstStyle/>
          <a:p>
            <a:pPr indent="0" marL="0">
              <a:spcAft>
                <a:spcPts val="200"/>
              </a:spcAft>
              <a:buNone/>
            </a:pPr>
            <a:r>
              <a:rPr lang="en-US" sz="1200" b="1" dirty="0">
                <a:solidFill>
                  <a:srgbClr val="B91C1C"/>
                </a:solidFill>
                <a:latin typeface="Meiryo UI" pitchFamily="34" charset="0"/>
                <a:ea typeface="Meiryo UI" pitchFamily="34" charset="-122"/>
                <a:cs typeface="Meiryo UI" pitchFamily="34" charset="-120"/>
              </a:rPr>
              <a:t>【注意】</a:t>
            </a:r>
            <a:endParaRPr lang="en-US" sz="1200" dirty="0"/>
          </a:p>
          <a:p>
            <a:pPr indent="0" marL="0">
              <a:spcAft>
                <a:spcPts val="200"/>
              </a:spcAft>
              <a:buNone/>
            </a:pPr>
            <a:r>
              <a:rPr lang="en-US" sz="1200" dirty="0">
                <a:solidFill>
                  <a:srgbClr val="1F2937"/>
                </a:solidFill>
                <a:latin typeface="Meiryo UI" pitchFamily="34" charset="0"/>
                <a:ea typeface="Meiryo UI" pitchFamily="34" charset="-122"/>
                <a:cs typeface="Meiryo UI" pitchFamily="34" charset="-120"/>
              </a:rPr>
              <a:t>※ 仕様上は任意ですが、公式のエラー一覧に「accountType がないと 410 SAVINGS_ACCOUNT_INVALID」とあります。商品の設定と合わない値は 2814 DEPOSIT_PRODUCT_MISMATCH になります。</a:t>
            </a:r>
            <a:endParaRPr lang="en-US" sz="12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ステップ④【5/7】Script タブで口座の id を保存する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5669280" cy="3188970"/>
          </a:xfrm>
          <a:prstGeom prst="rect">
            <a:avLst/>
          </a:prstGeom>
        </p:spPr>
      </p:pic>
      <p:sp>
        <p:nvSpPr>
          <p:cNvPr id="7" name="Shape 4"/>
          <p:cNvSpPr/>
          <p:nvPr/>
        </p:nvSpPr>
        <p:spPr>
          <a:xfrm>
            <a:off x="411480" y="1051560"/>
            <a:ext cx="5669280" cy="3188970"/>
          </a:xfrm>
          <a:prstGeom prst="rect">
            <a:avLst/>
          </a:prstGeom>
          <a:ln w="9525">
            <a:solidFill>
              <a:srgbClr val="D1D5DB"/>
            </a:solidFill>
            <a:prstDash val="solid"/>
          </a:ln>
        </p:spPr>
      </p:sp>
      <p:sp>
        <p:nvSpPr>
          <p:cNvPr id="8" name="Text 5"/>
          <p:cNvSpPr/>
          <p:nvPr/>
        </p:nvSpPr>
        <p:spPr>
          <a:xfrm>
            <a:off x="411480" y="4258818"/>
            <a:ext cx="566928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2554605" y="1671066"/>
            <a:ext cx="376733" cy="263347"/>
          </a:xfrm>
          <a:prstGeom prst="rect">
            <a:avLst/>
          </a:prstGeom>
          <a:ln w="28575">
            <a:solidFill>
              <a:srgbClr val="E11D2E"/>
            </a:solidFill>
            <a:prstDash val="solid"/>
          </a:ln>
        </p:spPr>
      </p:sp>
      <p:sp>
        <p:nvSpPr>
          <p:cNvPr id="10" name="Shape 7"/>
          <p:cNvSpPr/>
          <p:nvPr/>
        </p:nvSpPr>
        <p:spPr>
          <a:xfrm>
            <a:off x="2417445" y="1533906"/>
            <a:ext cx="274320" cy="274320"/>
          </a:xfrm>
          <a:prstGeom prst="ellipse">
            <a:avLst/>
          </a:prstGeom>
          <a:solidFill>
            <a:srgbClr val="E11D2E"/>
          </a:solidFill>
          <a:ln w="15875">
            <a:solidFill>
              <a:srgbClr val="FFFFFF"/>
            </a:solidFill>
            <a:prstDash val="solid"/>
          </a:ln>
        </p:spPr>
      </p:sp>
      <p:sp>
        <p:nvSpPr>
          <p:cNvPr id="11" name="Text 8"/>
          <p:cNvSpPr/>
          <p:nvPr/>
        </p:nvSpPr>
        <p:spPr>
          <a:xfrm>
            <a:off x="2417445" y="153390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1151458" y="2011223"/>
            <a:ext cx="844448" cy="263347"/>
          </a:xfrm>
          <a:prstGeom prst="rect">
            <a:avLst/>
          </a:prstGeom>
          <a:ln w="28575">
            <a:solidFill>
              <a:srgbClr val="E11D2E"/>
            </a:solidFill>
            <a:prstDash val="solid"/>
          </a:ln>
        </p:spPr>
      </p:sp>
      <p:sp>
        <p:nvSpPr>
          <p:cNvPr id="13" name="Shape 10"/>
          <p:cNvSpPr/>
          <p:nvPr/>
        </p:nvSpPr>
        <p:spPr>
          <a:xfrm>
            <a:off x="1858747" y="1874063"/>
            <a:ext cx="274320" cy="274320"/>
          </a:xfrm>
          <a:prstGeom prst="ellipse">
            <a:avLst/>
          </a:prstGeom>
          <a:solidFill>
            <a:srgbClr val="E11D2E"/>
          </a:solidFill>
          <a:ln w="15875">
            <a:solidFill>
              <a:srgbClr val="FFFFFF"/>
            </a:solidFill>
            <a:prstDash val="solid"/>
          </a:ln>
        </p:spPr>
      </p:sp>
      <p:sp>
        <p:nvSpPr>
          <p:cNvPr id="14" name="Text 11"/>
          <p:cNvSpPr/>
          <p:nvPr/>
        </p:nvSpPr>
        <p:spPr>
          <a:xfrm>
            <a:off x="1858747" y="1874063"/>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Shape 12"/>
          <p:cNvSpPr/>
          <p:nvPr/>
        </p:nvSpPr>
        <p:spPr>
          <a:xfrm>
            <a:off x="513664" y="2301773"/>
            <a:ext cx="5174361" cy="412166"/>
          </a:xfrm>
          <a:prstGeom prst="rect">
            <a:avLst/>
          </a:prstGeom>
          <a:ln w="28575">
            <a:solidFill>
              <a:srgbClr val="E11D2E"/>
            </a:solidFill>
            <a:prstDash val="solid"/>
          </a:ln>
        </p:spPr>
      </p:sp>
      <p:sp>
        <p:nvSpPr>
          <p:cNvPr id="16" name="Shape 13"/>
          <p:cNvSpPr/>
          <p:nvPr/>
        </p:nvSpPr>
        <p:spPr>
          <a:xfrm>
            <a:off x="221056" y="2370696"/>
            <a:ext cx="274320" cy="274320"/>
          </a:xfrm>
          <a:prstGeom prst="ellipse">
            <a:avLst/>
          </a:prstGeom>
          <a:solidFill>
            <a:srgbClr val="E11D2E"/>
          </a:solidFill>
          <a:ln w="15875">
            <a:solidFill>
              <a:srgbClr val="FFFFFF"/>
            </a:solidFill>
            <a:prstDash val="solid"/>
          </a:ln>
        </p:spPr>
      </p:sp>
      <p:sp>
        <p:nvSpPr>
          <p:cNvPr id="17" name="Text 14"/>
          <p:cNvSpPr/>
          <p:nvPr/>
        </p:nvSpPr>
        <p:spPr>
          <a:xfrm>
            <a:off x="221056" y="237069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8" name="Text 15"/>
          <p:cNvSpPr/>
          <p:nvPr/>
        </p:nvSpPr>
        <p:spPr>
          <a:xfrm>
            <a:off x="6263640" y="1051560"/>
            <a:ext cx="5532120" cy="1097280"/>
          </a:xfrm>
          <a:prstGeom prst="rect">
            <a:avLst/>
          </a:prstGeom>
          <a:noFill/>
          <a:ln/>
        </p:spPr>
        <p:txBody>
          <a:bodyPr wrap="square" rtlCol="0" anchor="t"/>
          <a:lstStyle/>
          <a:p>
            <a:pPr indent="0" marL="0">
              <a:spcAft>
                <a:spcPts val="400"/>
              </a:spcAft>
              <a:buNone/>
            </a:pPr>
            <a:r>
              <a:rPr lang="en-US" sz="1250" b="1" dirty="0">
                <a:solidFill>
                  <a:srgbClr val="E11D2E"/>
                </a:solidFill>
                <a:latin typeface="Meiryo UI" pitchFamily="34" charset="0"/>
                <a:ea typeface="Meiryo UI" pitchFamily="34" charset="-122"/>
                <a:cs typeface="Meiryo UI" pitchFamily="34" charset="-120"/>
              </a:rPr>
              <a:t>① </a:t>
            </a:r>
            <a:pPr indent="0" marL="0">
              <a:spcAft>
                <a:spcPts val="400"/>
              </a:spcAft>
              <a:buNone/>
            </a:pPr>
            <a:r>
              <a:rPr lang="en-US" sz="1250" dirty="0">
                <a:solidFill>
                  <a:srgbClr val="1F2937"/>
                </a:solidFill>
                <a:latin typeface="Meiryo UI" pitchFamily="34" charset="0"/>
                <a:ea typeface="Meiryo UI" pitchFamily="34" charset="-122"/>
                <a:cs typeface="Meiryo UI" pitchFamily="34" charset="-120"/>
              </a:rPr>
              <a:t>「Script」タブをクリック</a:t>
            </a:r>
            <a:endParaRPr lang="en-US" sz="1250" dirty="0"/>
          </a:p>
          <a:p>
            <a:pPr indent="0" marL="0">
              <a:spcAft>
                <a:spcPts val="400"/>
              </a:spcAft>
              <a:buNone/>
            </a:pPr>
            <a:r>
              <a:rPr lang="en-US" sz="1250" b="1" dirty="0">
                <a:solidFill>
                  <a:srgbClr val="E11D2E"/>
                </a:solidFill>
                <a:latin typeface="Meiryo UI" pitchFamily="34" charset="0"/>
                <a:ea typeface="Meiryo UI" pitchFamily="34" charset="-122"/>
                <a:cs typeface="Meiryo UI" pitchFamily="34" charset="-120"/>
              </a:rPr>
              <a:t>② </a:t>
            </a:r>
            <a:pPr indent="0" marL="0">
              <a:spcAft>
                <a:spcPts val="400"/>
              </a:spcAft>
              <a:buNone/>
            </a:pPr>
            <a:r>
              <a:rPr lang="en-US" sz="1250" dirty="0">
                <a:solidFill>
                  <a:srgbClr val="1F2937"/>
                </a:solidFill>
                <a:latin typeface="Meiryo UI" pitchFamily="34" charset="0"/>
                <a:ea typeface="Meiryo UI" pitchFamily="34" charset="-122"/>
                <a:cs typeface="Meiryo UI" pitchFamily="34" charset="-120"/>
              </a:rPr>
              <a:t>「Post Response」を選ぶ</a:t>
            </a:r>
            <a:endParaRPr lang="en-US" sz="1250" dirty="0"/>
          </a:p>
          <a:p>
            <a:pPr indent="0" marL="0">
              <a:spcAft>
                <a:spcPts val="400"/>
              </a:spcAft>
              <a:buNone/>
            </a:pPr>
            <a:r>
              <a:rPr lang="en-US" sz="1250" b="1" dirty="0">
                <a:solidFill>
                  <a:srgbClr val="E11D2E"/>
                </a:solidFill>
                <a:latin typeface="Meiryo UI" pitchFamily="34" charset="0"/>
                <a:ea typeface="Meiryo UI" pitchFamily="34" charset="-122"/>
                <a:cs typeface="Meiryo UI" pitchFamily="34" charset="-120"/>
              </a:rPr>
              <a:t>③ </a:t>
            </a:r>
            <a:pPr indent="0" marL="0">
              <a:spcAft>
                <a:spcPts val="400"/>
              </a:spcAft>
              <a:buNone/>
            </a:pPr>
            <a:r>
              <a:rPr lang="en-US" sz="1250" dirty="0">
                <a:solidFill>
                  <a:srgbClr val="1F2937"/>
                </a:solidFill>
                <a:latin typeface="Meiryo UI" pitchFamily="34" charset="0"/>
                <a:ea typeface="Meiryo UI" pitchFamily="34" charset="-122"/>
                <a:cs typeface="Meiryo UI" pitchFamily="34" charset="-120"/>
              </a:rPr>
              <a:t>下の枠のスクリプトをコピーして貼り付ける</a:t>
            </a:r>
            <a:endParaRPr lang="en-US" sz="1250" dirty="0"/>
          </a:p>
        </p:txBody>
      </p:sp>
      <p:sp>
        <p:nvSpPr>
          <p:cNvPr id="19" name="Text 16"/>
          <p:cNvSpPr/>
          <p:nvPr/>
        </p:nvSpPr>
        <p:spPr>
          <a:xfrm>
            <a:off x="6263640" y="2377440"/>
            <a:ext cx="5532120" cy="914400"/>
          </a:xfrm>
          <a:prstGeom prst="rect">
            <a:avLst/>
          </a:prstGeom>
          <a:solidFill>
            <a:srgbClr val="F3F4F6"/>
          </a:solidFill>
          <a:ln w="12700">
            <a:solidFill>
              <a:srgbClr val="D1D5DB"/>
            </a:solidFill>
          </a:ln>
        </p:spPr>
        <p:txBody>
          <a:bodyPr wrap="square" lIns="101600" tIns="101600" rIns="101600" bIns="101600" rtlCol="0" anchor="t"/>
          <a:lstStyle/>
          <a:p>
            <a:pPr indent="0" marL="0">
              <a:buNone/>
            </a:pPr>
            <a:r>
              <a:rPr lang="en-US" sz="1000" dirty="0">
                <a:solidFill>
                  <a:srgbClr val="111827"/>
                </a:solidFill>
                <a:latin typeface="Consolas" pitchFamily="34" charset="0"/>
                <a:ea typeface="Consolas" pitchFamily="34" charset="-122"/>
                <a:cs typeface="Consolas" pitchFamily="34" charset="-120"/>
              </a:rPr>
              <a:t>// 作成した口座の id を、承認・入金・確認で使うために保存する</a:t>
            </a:r>
            <a:endParaRPr lang="en-US" sz="1000" dirty="0"/>
          </a:p>
          <a:p>
            <a:pPr indent="0" marL="0">
              <a:buNone/>
            </a:pPr>
            <a:r>
              <a:rPr lang="en-US" sz="1000" dirty="0">
                <a:solidFill>
                  <a:srgbClr val="111827"/>
                </a:solidFill>
                <a:latin typeface="Consolas" pitchFamily="34" charset="0"/>
                <a:ea typeface="Consolas" pitchFamily="34" charset="-122"/>
                <a:cs typeface="Consolas" pitchFamily="34" charset="-120"/>
              </a:rPr>
              <a:t>bru.setVar("depositId", res.body.id);</a:t>
            </a:r>
            <a:endParaRPr lang="en-US" sz="1000" dirty="0"/>
          </a:p>
        </p:txBody>
      </p:sp>
      <p:sp>
        <p:nvSpPr>
          <p:cNvPr id="20" name="Text 17"/>
          <p:cNvSpPr/>
          <p:nvPr/>
        </p:nvSpPr>
        <p:spPr>
          <a:xfrm>
            <a:off x="6263640" y="2103120"/>
            <a:ext cx="5532120" cy="274320"/>
          </a:xfrm>
          <a:prstGeom prst="rect">
            <a:avLst/>
          </a:prstGeom>
          <a:noFill/>
          <a:ln/>
        </p:spPr>
        <p:txBody>
          <a:bodyPr wrap="square" rtlCol="0" anchor="ctr"/>
          <a:lstStyle/>
          <a:p>
            <a:pPr indent="0" marL="0">
              <a:buNone/>
            </a:pPr>
            <a:r>
              <a:rPr lang="en-US" sz="1100" dirty="0">
                <a:solidFill>
                  <a:srgbClr val="6B7280"/>
                </a:solidFill>
                <a:latin typeface="Meiryo UI" pitchFamily="34" charset="0"/>
                <a:ea typeface="Meiryo UI" pitchFamily="34" charset="-122"/>
                <a:cs typeface="Meiryo UI" pitchFamily="34" charset="-120"/>
              </a:rPr>
              <a:t>コピー用（この枠の中を全部コピーして、Post Response に貼り付ける）</a:t>
            </a:r>
            <a:endParaRPr lang="en-US" sz="1100" dirty="0"/>
          </a:p>
        </p:txBody>
      </p:sp>
      <p:sp>
        <p:nvSpPr>
          <p:cNvPr id="21" name="Shape 18"/>
          <p:cNvSpPr/>
          <p:nvPr/>
        </p:nvSpPr>
        <p:spPr>
          <a:xfrm>
            <a:off x="6263640" y="3401568"/>
            <a:ext cx="5532120" cy="822960"/>
          </a:xfrm>
          <a:prstGeom prst="rect">
            <a:avLst/>
          </a:prstGeom>
          <a:solidFill>
            <a:srgbClr val="EFF6FF"/>
          </a:solidFill>
          <a:ln w="15875">
            <a:solidFill>
              <a:srgbClr val="1D4ED8"/>
            </a:solidFill>
            <a:prstDash val="solid"/>
          </a:ln>
        </p:spPr>
      </p:sp>
      <p:sp>
        <p:nvSpPr>
          <p:cNvPr id="22" name="Shape 19"/>
          <p:cNvSpPr/>
          <p:nvPr/>
        </p:nvSpPr>
        <p:spPr>
          <a:xfrm>
            <a:off x="6263640" y="3401568"/>
            <a:ext cx="82296" cy="822960"/>
          </a:xfrm>
          <a:prstGeom prst="rect">
            <a:avLst/>
          </a:prstGeom>
          <a:solidFill>
            <a:srgbClr val="1D4ED8"/>
          </a:solidFill>
          <a:ln w="12700">
            <a:solidFill>
              <a:srgbClr val="1D4ED8"/>
            </a:solidFill>
            <a:prstDash val="solid"/>
          </a:ln>
        </p:spPr>
      </p:sp>
      <p:sp>
        <p:nvSpPr>
          <p:cNvPr id="23" name="Text 20"/>
          <p:cNvSpPr/>
          <p:nvPr/>
        </p:nvSpPr>
        <p:spPr>
          <a:xfrm>
            <a:off x="6428232" y="3447288"/>
            <a:ext cx="5303520" cy="731520"/>
          </a:xfrm>
          <a:prstGeom prst="rect">
            <a:avLst/>
          </a:prstGeom>
          <a:noFill/>
          <a:ln/>
        </p:spPr>
        <p:txBody>
          <a:bodyPr wrap="square" rtlCol="0" anchor="t"/>
          <a:lstStyle/>
          <a:p>
            <a:pPr indent="0" marL="0">
              <a:spcAft>
                <a:spcPts val="200"/>
              </a:spcAft>
              <a:buNone/>
            </a:pPr>
            <a:r>
              <a:rPr lang="en-US" sz="1100" b="1" dirty="0">
                <a:solidFill>
                  <a:srgbClr val="1D4ED8"/>
                </a:solidFill>
                <a:latin typeface="Meiryo UI" pitchFamily="34" charset="0"/>
                <a:ea typeface="Meiryo UI" pitchFamily="34" charset="-122"/>
                <a:cs typeface="Meiryo UI" pitchFamily="34" charset="-120"/>
              </a:rPr>
              <a:t>【ヒント】</a:t>
            </a:r>
            <a:endParaRPr lang="en-US" sz="1100" dirty="0"/>
          </a:p>
          <a:p>
            <a:pPr indent="0" marL="0">
              <a:spcAft>
                <a:spcPts val="200"/>
              </a:spcAft>
              <a:buNone/>
            </a:pPr>
            <a:r>
              <a:rPr lang="en-US" sz="1100" dirty="0">
                <a:solidFill>
                  <a:srgbClr val="1F2937"/>
                </a:solidFill>
                <a:latin typeface="Meiryo UI" pitchFamily="34" charset="0"/>
                <a:ea typeface="Meiryo UI" pitchFamily="34" charset="-122"/>
                <a:cs typeface="Meiryo UI" pitchFamily="34" charset="-120"/>
              </a:rPr>
              <a:t>ここだけ encodedKey ではなく id を保存します。口座の URL（/deposits/{{depositId}}）に入れて使うためです。</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ステップ④【6/7】Assert タブに 2 行入れる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7680960" cy="4320540"/>
          </a:xfrm>
          <a:prstGeom prst="rect">
            <a:avLst/>
          </a:prstGeom>
        </p:spPr>
      </p:pic>
      <p:sp>
        <p:nvSpPr>
          <p:cNvPr id="7" name="Shape 4"/>
          <p:cNvSpPr/>
          <p:nvPr/>
        </p:nvSpPr>
        <p:spPr>
          <a:xfrm>
            <a:off x="411480" y="1051560"/>
            <a:ext cx="7680960" cy="4320540"/>
          </a:xfrm>
          <a:prstGeom prst="rect">
            <a:avLst/>
          </a:prstGeom>
          <a:ln w="9525">
            <a:solidFill>
              <a:srgbClr val="D1D5DB"/>
            </a:solidFill>
            <a:prstDash val="solid"/>
          </a:ln>
        </p:spPr>
      </p:sp>
      <p:sp>
        <p:nvSpPr>
          <p:cNvPr id="8" name="Text 5"/>
          <p:cNvSpPr/>
          <p:nvPr/>
        </p:nvSpPr>
        <p:spPr>
          <a:xfrm>
            <a:off x="411480" y="5390388"/>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3964838" y="1897380"/>
            <a:ext cx="478231" cy="343814"/>
          </a:xfrm>
          <a:prstGeom prst="rect">
            <a:avLst/>
          </a:prstGeom>
          <a:ln w="28575">
            <a:solidFill>
              <a:srgbClr val="E11D2E"/>
            </a:solidFill>
            <a:prstDash val="solid"/>
          </a:ln>
        </p:spPr>
      </p:sp>
      <p:sp>
        <p:nvSpPr>
          <p:cNvPr id="10" name="Shape 7"/>
          <p:cNvSpPr/>
          <p:nvPr/>
        </p:nvSpPr>
        <p:spPr>
          <a:xfrm>
            <a:off x="3827678" y="1760220"/>
            <a:ext cx="274320" cy="274320"/>
          </a:xfrm>
          <a:prstGeom prst="ellipse">
            <a:avLst/>
          </a:prstGeom>
          <a:solidFill>
            <a:srgbClr val="E11D2E"/>
          </a:solidFill>
          <a:ln w="15875">
            <a:solidFill>
              <a:srgbClr val="FFFFFF"/>
            </a:solidFill>
            <a:prstDash val="solid"/>
          </a:ln>
        </p:spPr>
      </p:sp>
      <p:sp>
        <p:nvSpPr>
          <p:cNvPr id="11" name="Text 8"/>
          <p:cNvSpPr/>
          <p:nvPr/>
        </p:nvSpPr>
        <p:spPr>
          <a:xfrm>
            <a:off x="3827678" y="17602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796442" y="2655875"/>
            <a:ext cx="4529938" cy="727862"/>
          </a:xfrm>
          <a:prstGeom prst="rect">
            <a:avLst/>
          </a:prstGeom>
          <a:ln w="28575">
            <a:solidFill>
              <a:srgbClr val="E11D2E"/>
            </a:solidFill>
            <a:prstDash val="solid"/>
          </a:ln>
        </p:spPr>
      </p:sp>
      <p:sp>
        <p:nvSpPr>
          <p:cNvPr id="13" name="Shape 10"/>
          <p:cNvSpPr/>
          <p:nvPr/>
        </p:nvSpPr>
        <p:spPr>
          <a:xfrm>
            <a:off x="503834" y="2882646"/>
            <a:ext cx="274320" cy="274320"/>
          </a:xfrm>
          <a:prstGeom prst="ellipse">
            <a:avLst/>
          </a:prstGeom>
          <a:solidFill>
            <a:srgbClr val="E11D2E"/>
          </a:solidFill>
          <a:ln w="15875">
            <a:solidFill>
              <a:srgbClr val="FFFFFF"/>
            </a:solidFill>
            <a:prstDash val="solid"/>
          </a:ln>
        </p:spPr>
      </p:sp>
      <p:sp>
        <p:nvSpPr>
          <p:cNvPr id="14" name="Text 11"/>
          <p:cNvSpPr/>
          <p:nvPr/>
        </p:nvSpPr>
        <p:spPr>
          <a:xfrm>
            <a:off x="503834" y="288264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Text 12"/>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「Assert」タブをクリック</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1 行目：res.status equals 201</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③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2 行目：res.body.accountState equals PENDING_APPROVAL</a:t>
            </a:r>
            <a:endParaRPr lang="en-US" sz="1300" dirty="0"/>
          </a:p>
        </p:txBody>
      </p:sp>
      <p:sp>
        <p:nvSpPr>
          <p:cNvPr id="16" name="Shape 13"/>
          <p:cNvSpPr/>
          <p:nvPr/>
        </p:nvSpPr>
        <p:spPr>
          <a:xfrm>
            <a:off x="8275320" y="4114800"/>
            <a:ext cx="3520440" cy="1508760"/>
          </a:xfrm>
          <a:prstGeom prst="rect">
            <a:avLst/>
          </a:prstGeom>
          <a:solidFill>
            <a:srgbClr val="EFF6FF"/>
          </a:solidFill>
          <a:ln w="15875">
            <a:solidFill>
              <a:srgbClr val="1D4ED8"/>
            </a:solidFill>
            <a:prstDash val="solid"/>
          </a:ln>
        </p:spPr>
      </p:sp>
      <p:sp>
        <p:nvSpPr>
          <p:cNvPr id="17" name="Shape 14"/>
          <p:cNvSpPr/>
          <p:nvPr/>
        </p:nvSpPr>
        <p:spPr>
          <a:xfrm>
            <a:off x="8275320" y="4114800"/>
            <a:ext cx="82296" cy="1508760"/>
          </a:xfrm>
          <a:prstGeom prst="rect">
            <a:avLst/>
          </a:prstGeom>
          <a:solidFill>
            <a:srgbClr val="1D4ED8"/>
          </a:solidFill>
          <a:ln w="12700">
            <a:solidFill>
              <a:srgbClr val="1D4ED8"/>
            </a:solidFill>
            <a:prstDash val="solid"/>
          </a:ln>
        </p:spPr>
      </p:sp>
      <p:sp>
        <p:nvSpPr>
          <p:cNvPr id="18" name="Text 15"/>
          <p:cNvSpPr/>
          <p:nvPr/>
        </p:nvSpPr>
        <p:spPr>
          <a:xfrm>
            <a:off x="8439912" y="4160520"/>
            <a:ext cx="3291840" cy="1417320"/>
          </a:xfrm>
          <a:prstGeom prst="rect">
            <a:avLst/>
          </a:prstGeom>
          <a:noFill/>
          <a:ln/>
        </p:spPr>
        <p:txBody>
          <a:bodyPr wrap="square" rtlCol="0" anchor="t"/>
          <a:lstStyle/>
          <a:p>
            <a:pPr indent="0" marL="0">
              <a:spcAft>
                <a:spcPts val="200"/>
              </a:spcAft>
              <a:buNone/>
            </a:pPr>
            <a:r>
              <a:rPr lang="en-US" sz="1150" b="1" dirty="0">
                <a:solidFill>
                  <a:srgbClr val="1D4ED8"/>
                </a:solidFill>
                <a:latin typeface="Meiryo UI" pitchFamily="34" charset="0"/>
                <a:ea typeface="Meiryo UI" pitchFamily="34" charset="-122"/>
                <a:cs typeface="Meiryo UI" pitchFamily="34" charset="-120"/>
              </a:rPr>
              <a:t>【ヒント】</a:t>
            </a:r>
            <a:endParaRPr lang="en-US" sz="1150" dirty="0"/>
          </a:p>
          <a:p>
            <a:pPr indent="0" marL="0">
              <a:spcAft>
                <a:spcPts val="200"/>
              </a:spcAft>
              <a:buNone/>
            </a:pPr>
            <a:r>
              <a:rPr lang="en-US" sz="1150" dirty="0">
                <a:solidFill>
                  <a:srgbClr val="1F2937"/>
                </a:solidFill>
                <a:latin typeface="Meiryo UI" pitchFamily="34" charset="0"/>
                <a:ea typeface="Meiryo UI" pitchFamily="34" charset="-122"/>
                <a:cs typeface="Meiryo UI" pitchFamily="34" charset="-120"/>
              </a:rPr>
              <a:t>1 行入力すると、下に新しい空の行が出ます。Expr 欄は幅が狭いので、長い式は途中で切れて見えますが、入力した値は保存されます。</a:t>
            </a:r>
            <a:endParaRPr lang="en-US" sz="115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ステップ④【7/7】保存する（Send は押さない）</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5356860" cy="4343400"/>
          </a:xfrm>
          <a:prstGeom prst="rect">
            <a:avLst/>
          </a:prstGeom>
        </p:spPr>
      </p:pic>
      <p:sp>
        <p:nvSpPr>
          <p:cNvPr id="7" name="Shape 4"/>
          <p:cNvSpPr/>
          <p:nvPr/>
        </p:nvSpPr>
        <p:spPr>
          <a:xfrm>
            <a:off x="411480" y="1051560"/>
            <a:ext cx="5356860" cy="4343400"/>
          </a:xfrm>
          <a:prstGeom prst="rect">
            <a:avLst/>
          </a:prstGeom>
          <a:ln w="9525">
            <a:solidFill>
              <a:srgbClr val="D1D5DB"/>
            </a:solidFill>
            <a:prstDash val="solid"/>
          </a:ln>
        </p:spPr>
      </p:sp>
      <p:sp>
        <p:nvSpPr>
          <p:cNvPr id="8" name="Text 5"/>
          <p:cNvSpPr/>
          <p:nvPr/>
        </p:nvSpPr>
        <p:spPr>
          <a:xfrm>
            <a:off x="411480" y="5413248"/>
            <a:ext cx="53568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4874133" y="1713738"/>
            <a:ext cx="217551" cy="224790"/>
          </a:xfrm>
          <a:prstGeom prst="rect">
            <a:avLst/>
          </a:prstGeom>
          <a:ln w="28575">
            <a:solidFill>
              <a:srgbClr val="E11D2E"/>
            </a:solidFill>
            <a:prstDash val="solid"/>
          </a:ln>
        </p:spPr>
      </p:sp>
      <p:sp>
        <p:nvSpPr>
          <p:cNvPr id="10" name="Shape 7"/>
          <p:cNvSpPr/>
          <p:nvPr/>
        </p:nvSpPr>
        <p:spPr>
          <a:xfrm>
            <a:off x="4581525" y="1688973"/>
            <a:ext cx="274320" cy="274320"/>
          </a:xfrm>
          <a:prstGeom prst="ellipse">
            <a:avLst/>
          </a:prstGeom>
          <a:solidFill>
            <a:srgbClr val="E11D2E"/>
          </a:solidFill>
          <a:ln w="15875">
            <a:solidFill>
              <a:srgbClr val="FFFFFF"/>
            </a:solidFill>
            <a:prstDash val="solid"/>
          </a:ln>
        </p:spPr>
      </p:sp>
      <p:sp>
        <p:nvSpPr>
          <p:cNvPr id="11" name="Text 8"/>
          <p:cNvSpPr/>
          <p:nvPr/>
        </p:nvSpPr>
        <p:spPr>
          <a:xfrm>
            <a:off x="4581525" y="1688973"/>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5156454" y="1684782"/>
            <a:ext cx="514350" cy="282702"/>
          </a:xfrm>
          <a:prstGeom prst="rect">
            <a:avLst/>
          </a:prstGeom>
          <a:ln w="28575">
            <a:solidFill>
              <a:srgbClr val="E11D2E"/>
            </a:solidFill>
            <a:prstDash val="solid"/>
          </a:ln>
        </p:spPr>
      </p:sp>
      <p:sp>
        <p:nvSpPr>
          <p:cNvPr id="13" name="Shape 10"/>
          <p:cNvSpPr/>
          <p:nvPr/>
        </p:nvSpPr>
        <p:spPr>
          <a:xfrm>
            <a:off x="5019294" y="1830324"/>
            <a:ext cx="274320" cy="274320"/>
          </a:xfrm>
          <a:prstGeom prst="ellipse">
            <a:avLst/>
          </a:prstGeom>
          <a:solidFill>
            <a:srgbClr val="E11D2E"/>
          </a:solidFill>
          <a:ln w="15875">
            <a:solidFill>
              <a:srgbClr val="FFFFFF"/>
            </a:solidFill>
            <a:prstDash val="solid"/>
          </a:ln>
        </p:spPr>
      </p:sp>
      <p:sp>
        <p:nvSpPr>
          <p:cNvPr id="14" name="Text 11"/>
          <p:cNvSpPr/>
          <p:nvPr/>
        </p:nvSpPr>
        <p:spPr>
          <a:xfrm>
            <a:off x="5019294" y="183032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Text 12"/>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Ctrl + S を押して保存する（または ① の保存アイコンをクリック）</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保存すると、① のアイコンがオレンジから灰色に変わる（タブの名前の右のオレンジの点も消える）</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③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② の Send は押さない（Ctrl + Enter も押さない。この教材では送信しない）</a:t>
            </a:r>
            <a:endParaRPr lang="en-US" sz="1300" dirty="0"/>
          </a:p>
        </p:txBody>
      </p:sp>
      <p:sp>
        <p:nvSpPr>
          <p:cNvPr id="16" name="Shape 13"/>
          <p:cNvSpPr/>
          <p:nvPr/>
        </p:nvSpPr>
        <p:spPr>
          <a:xfrm>
            <a:off x="8275320" y="3520440"/>
            <a:ext cx="3520440" cy="2103120"/>
          </a:xfrm>
          <a:prstGeom prst="rect">
            <a:avLst/>
          </a:prstGeom>
          <a:solidFill>
            <a:srgbClr val="ECFDF5"/>
          </a:solidFill>
          <a:ln w="15875">
            <a:solidFill>
              <a:srgbClr val="047857"/>
            </a:solidFill>
            <a:prstDash val="solid"/>
          </a:ln>
        </p:spPr>
      </p:sp>
      <p:sp>
        <p:nvSpPr>
          <p:cNvPr id="17" name="Shape 14"/>
          <p:cNvSpPr/>
          <p:nvPr/>
        </p:nvSpPr>
        <p:spPr>
          <a:xfrm>
            <a:off x="8275320" y="3520440"/>
            <a:ext cx="82296" cy="2103120"/>
          </a:xfrm>
          <a:prstGeom prst="rect">
            <a:avLst/>
          </a:prstGeom>
          <a:solidFill>
            <a:srgbClr val="047857"/>
          </a:solidFill>
          <a:ln w="12700">
            <a:solidFill>
              <a:srgbClr val="047857"/>
            </a:solidFill>
            <a:prstDash val="solid"/>
          </a:ln>
        </p:spPr>
      </p:sp>
      <p:sp>
        <p:nvSpPr>
          <p:cNvPr id="18" name="Text 15"/>
          <p:cNvSpPr/>
          <p:nvPr/>
        </p:nvSpPr>
        <p:spPr>
          <a:xfrm>
            <a:off x="8439912" y="3566160"/>
            <a:ext cx="3291840" cy="2011680"/>
          </a:xfrm>
          <a:prstGeom prst="rect">
            <a:avLst/>
          </a:prstGeom>
          <a:noFill/>
          <a:ln/>
        </p:spPr>
        <p:txBody>
          <a:bodyPr wrap="square" rtlCol="0" anchor="t"/>
          <a:lstStyle/>
          <a:p>
            <a:pPr indent="0" marL="0">
              <a:spcAft>
                <a:spcPts val="200"/>
              </a:spcAft>
              <a:buNone/>
            </a:pPr>
            <a:r>
              <a:rPr lang="en-US" sz="1150" b="1" dirty="0">
                <a:solidFill>
                  <a:srgbClr val="047857"/>
                </a:solidFill>
                <a:latin typeface="Meiryo UI" pitchFamily="34" charset="0"/>
                <a:ea typeface="Meiryo UI" pitchFamily="34" charset="-122"/>
                <a:cs typeface="Meiryo UI" pitchFamily="34" charset="-120"/>
              </a:rPr>
              <a:t>【実際に Send したときの期待する結果】</a:t>
            </a:r>
            <a:endParaRPr lang="en-US" sz="1150" dirty="0"/>
          </a:p>
          <a:p>
            <a:pPr indent="0" marL="0">
              <a:spcAft>
                <a:spcPts val="200"/>
              </a:spcAft>
              <a:buNone/>
            </a:pPr>
            <a:r>
              <a:rPr lang="en-US" sz="1150" dirty="0">
                <a:solidFill>
                  <a:srgbClr val="1F2937"/>
                </a:solidFill>
                <a:latin typeface="Meiryo UI" pitchFamily="34" charset="0"/>
                <a:ea typeface="Meiryo UI" pitchFamily="34" charset="-122"/>
                <a:cs typeface="Meiryo UI" pitchFamily="34" charset="-120"/>
              </a:rPr>
              <a:t>201 Created。accountState が PENDING_APPROVAL（承認待ち）でアサーション 2 件が Passed。レスポンスの id が depositId に保存される。</a:t>
            </a:r>
            <a:endParaRPr lang="en-US" sz="1150" dirty="0"/>
          </a:p>
        </p:txBody>
      </p:sp>
      <p:sp>
        <p:nvSpPr>
          <p:cNvPr id="19" name="Shape 16"/>
          <p:cNvSpPr/>
          <p:nvPr/>
        </p:nvSpPr>
        <p:spPr>
          <a:xfrm>
            <a:off x="548640" y="5788152"/>
            <a:ext cx="11064240" cy="329184"/>
          </a:xfrm>
          <a:prstGeom prst="rect">
            <a:avLst/>
          </a:prstGeom>
          <a:solidFill>
            <a:srgbClr val="ECFDF5"/>
          </a:solidFill>
          <a:ln w="12700">
            <a:solidFill>
              <a:srgbClr val="047857"/>
            </a:solidFill>
            <a:prstDash val="solid"/>
          </a:ln>
        </p:spPr>
      </p:sp>
      <p:sp>
        <p:nvSpPr>
          <p:cNvPr id="20" name="Text 17"/>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参考コレクション exercises\mambu-corporate-onboarding\06 Create Deposit Account.yml を開いて、自分の入力と比べる</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ステップ⑤：口座を承認する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6" name="Text 4"/>
          <p:cNvSpPr/>
          <p:nvPr/>
        </p:nvSpPr>
        <p:spPr>
          <a:xfrm>
            <a:off x="365760" y="6144768"/>
            <a:ext cx="11430000" cy="292608"/>
          </a:xfrm>
          <a:prstGeom prst="rect">
            <a:avLst/>
          </a:prstGeom>
          <a:noFill/>
          <a:ln/>
        </p:spPr>
        <p:txBody>
          <a:bodyPr wrap="square" rtlCol="0" anchor="t"/>
          <a:lstStyle/>
          <a:p>
            <a:pPr indent="0" marL="0">
              <a:buNone/>
            </a:pPr>
            <a:r>
              <a:rPr lang="en-US" sz="1000" dirty="0">
                <a:solidFill>
                  <a:srgbClr val="6B7280"/>
                </a:solidFill>
                <a:latin typeface="Meiryo UI" pitchFamily="34" charset="0"/>
                <a:ea typeface="Meiryo UI" pitchFamily="34" charset="-122"/>
                <a:cs typeface="Meiryo UI" pitchFamily="34" charset="-120"/>
              </a:rPr>
              <a:t>出典：https://docs.mambu.com/swagger_files/v2/deposits.json（公式 OpenAPI、2026-10-09 確認）</a:t>
            </a:r>
            <a:endParaRPr lang="en-US" sz="10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11064240" cy="914400"/>
        </p:xfrm>
        <a:graphic>
          <a:graphicData uri="http://schemas.openxmlformats.org/drawingml/2006/table">
            <a:tbl>
              <a:tblPr/>
              <a:tblGrid>
                <a:gridCol w="2377440"/>
                <a:gridCol w="8686800"/>
              </a:tblGrid>
              <a:tr h="457200">
                <a:tc>
                  <a:txBody>
                    <a:bodyPr/>
                    <a:lstStyle/>
                    <a:p>
                      <a:pPr indent="0" marL="0">
                        <a:buNone/>
                      </a:pPr>
                      <a:r>
                        <a:rPr lang="en-US" sz="1400" b="1" dirty="0">
                          <a:solidFill>
                            <a:srgbClr val="FFFFFF"/>
                          </a:solidFill>
                          <a:latin typeface="Meiryo UI" pitchFamily="34" charset="0"/>
                          <a:ea typeface="Meiryo UI" pitchFamily="34" charset="-122"/>
                          <a:cs typeface="Meiryo UI" pitchFamily="34" charset="-120"/>
                        </a:rPr>
                        <a:t>項目</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Meiryo UI" pitchFamily="34" charset="0"/>
                          <a:ea typeface="Meiryo UI" pitchFamily="34" charset="-122"/>
                          <a:cs typeface="Meiryo UI" pitchFamily="34" charset="-120"/>
                        </a:rPr>
                        <a:t>内容</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45720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目的</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承認待ち（PENDING_APPROVAL）の口座を承認し、APPROVED（承認済み）にする</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作るリクエスト</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07 Approve Deposit Account：POST {{baseUrl}}/deposits/{{depositId}}:changeState</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5720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使う値（入力）</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{{depositId}}（ステップ④で保存。URL の中で使う）</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保存する値（出力）</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なし</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5720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アサーション</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res.status equals 200、res.body.accountState equals APPROVED</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8" name="Text 5"/>
          <p:cNvSpPr/>
          <p:nvPr/>
        </p:nvSpPr>
        <p:spPr>
          <a:xfrm>
            <a:off x="548640" y="4572000"/>
            <a:ext cx="11064240" cy="411480"/>
          </a:xfrm>
          <a:prstGeom prst="rect">
            <a:avLst/>
          </a:prstGeom>
          <a:noFill/>
          <a:ln/>
        </p:spPr>
        <p:txBody>
          <a:bodyPr wrap="square" lIns="50800" tIns="50800" rIns="50800" bIns="50800" rtlCol="0" anchor="t"/>
          <a:lstStyle/>
          <a:p>
            <a:pPr algn="l" indent="0" marL="0">
              <a:buNone/>
            </a:pPr>
            <a:r>
              <a:rPr lang="en-US" sz="1400" b="1" dirty="0">
                <a:solidFill>
                  <a:srgbClr val="1F3A5F"/>
                </a:solidFill>
                <a:latin typeface="Meiryo UI" pitchFamily="34" charset="0"/>
                <a:ea typeface="Meiryo UI" pitchFamily="34" charset="-122"/>
                <a:cs typeface="Meiryo UI" pitchFamily="34" charset="-120"/>
              </a:rPr>
              <a:t>手順：New Request（POST）→ Headers → Body（JSON）→ Assert（2 行）→ 保存（Script はなし）</a:t>
            </a:r>
            <a:endParaRPr lang="en-US" sz="1400" dirty="0"/>
          </a:p>
        </p:txBody>
      </p:sp>
      <p:sp>
        <p:nvSpPr>
          <p:cNvPr id="9" name="Shape 6"/>
          <p:cNvSpPr/>
          <p:nvPr/>
        </p:nvSpPr>
        <p:spPr>
          <a:xfrm>
            <a:off x="548640" y="5029200"/>
            <a:ext cx="11064240" cy="685800"/>
          </a:xfrm>
          <a:prstGeom prst="rect">
            <a:avLst/>
          </a:prstGeom>
          <a:solidFill>
            <a:srgbClr val="EFF6FF"/>
          </a:solidFill>
          <a:ln w="15875">
            <a:solidFill>
              <a:srgbClr val="1D4ED8"/>
            </a:solidFill>
            <a:prstDash val="solid"/>
          </a:ln>
        </p:spPr>
      </p:sp>
      <p:sp>
        <p:nvSpPr>
          <p:cNvPr id="10" name="Shape 7"/>
          <p:cNvSpPr/>
          <p:nvPr/>
        </p:nvSpPr>
        <p:spPr>
          <a:xfrm>
            <a:off x="548640" y="5029200"/>
            <a:ext cx="82296" cy="685800"/>
          </a:xfrm>
          <a:prstGeom prst="rect">
            <a:avLst/>
          </a:prstGeom>
          <a:solidFill>
            <a:srgbClr val="1D4ED8"/>
          </a:solidFill>
          <a:ln w="12700">
            <a:solidFill>
              <a:srgbClr val="1D4ED8"/>
            </a:solidFill>
            <a:prstDash val="solid"/>
          </a:ln>
        </p:spPr>
      </p:sp>
      <p:sp>
        <p:nvSpPr>
          <p:cNvPr id="11" name="Text 8"/>
          <p:cNvSpPr/>
          <p:nvPr/>
        </p:nvSpPr>
        <p:spPr>
          <a:xfrm>
            <a:off x="713232" y="5074920"/>
            <a:ext cx="10835640" cy="594360"/>
          </a:xfrm>
          <a:prstGeom prst="rect">
            <a:avLst/>
          </a:prstGeom>
          <a:noFill/>
          <a:ln/>
        </p:spPr>
        <p:txBody>
          <a:bodyPr wrap="square" rtlCol="0" anchor="ctr"/>
          <a:lstStyle/>
          <a:p>
            <a:pPr indent="0" marL="0">
              <a:spcAft>
                <a:spcPts val="200"/>
              </a:spcAft>
              <a:buNone/>
            </a:pPr>
            <a:r>
              <a:rPr lang="en-US" sz="1250" b="1" dirty="0">
                <a:solidFill>
                  <a:srgbClr val="1D4ED8"/>
                </a:solidFill>
                <a:latin typeface="Meiryo UI" pitchFamily="34" charset="0"/>
                <a:ea typeface="Meiryo UI" pitchFamily="34" charset="-122"/>
                <a:cs typeface="Meiryo UI" pitchFamily="34" charset="-120"/>
              </a:rPr>
              <a:t>【ヒント】</a:t>
            </a:r>
            <a:endParaRPr lang="en-US" sz="1250" dirty="0"/>
          </a:p>
          <a:p>
            <a:pPr indent="0" marL="0">
              <a:spcAft>
                <a:spcPts val="200"/>
              </a:spcAft>
              <a:buNone/>
            </a:pPr>
            <a:r>
              <a:rPr lang="en-US" sz="1250" dirty="0">
                <a:solidFill>
                  <a:srgbClr val="1F2937"/>
                </a:solidFill>
                <a:latin typeface="Meiryo UI" pitchFamily="34" charset="0"/>
                <a:ea typeface="Meiryo UI" pitchFamily="34" charset="-122"/>
                <a:cs typeface="Meiryo UI" pitchFamily="34" charset="-120"/>
              </a:rPr>
              <a:t>URL の最後の「:changeState」は「状態を変える」という意味のパスです。作成ではないので、成功は 201 ではなく 200 です。</a:t>
            </a:r>
            <a:endParaRPr lang="en-US" sz="125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ステップ⑤【1/6】URL に変数を入れてリクエストを作る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6363081" cy="4343400"/>
          </a:xfrm>
          <a:prstGeom prst="rect">
            <a:avLst/>
          </a:prstGeom>
        </p:spPr>
      </p:pic>
      <p:sp>
        <p:nvSpPr>
          <p:cNvPr id="7" name="Shape 4"/>
          <p:cNvSpPr/>
          <p:nvPr/>
        </p:nvSpPr>
        <p:spPr>
          <a:xfrm>
            <a:off x="411480" y="1051560"/>
            <a:ext cx="6363081" cy="4343400"/>
          </a:xfrm>
          <a:prstGeom prst="rect">
            <a:avLst/>
          </a:prstGeom>
          <a:ln w="9525">
            <a:solidFill>
              <a:srgbClr val="D1D5DB"/>
            </a:solidFill>
            <a:prstDash val="solid"/>
          </a:ln>
        </p:spPr>
      </p:sp>
      <p:sp>
        <p:nvSpPr>
          <p:cNvPr id="8" name="Text 5"/>
          <p:cNvSpPr/>
          <p:nvPr/>
        </p:nvSpPr>
        <p:spPr>
          <a:xfrm>
            <a:off x="411480" y="5413248"/>
            <a:ext cx="6363081"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1044702" y="3042095"/>
            <a:ext cx="5096637" cy="405765"/>
          </a:xfrm>
          <a:prstGeom prst="rect">
            <a:avLst/>
          </a:prstGeom>
          <a:ln w="28575">
            <a:solidFill>
              <a:srgbClr val="E11D2E"/>
            </a:solidFill>
            <a:prstDash val="solid"/>
          </a:ln>
        </p:spPr>
      </p:sp>
      <p:sp>
        <p:nvSpPr>
          <p:cNvPr id="10" name="Shape 7"/>
          <p:cNvSpPr/>
          <p:nvPr/>
        </p:nvSpPr>
        <p:spPr>
          <a:xfrm>
            <a:off x="752094" y="3107817"/>
            <a:ext cx="274320" cy="274320"/>
          </a:xfrm>
          <a:prstGeom prst="ellipse">
            <a:avLst/>
          </a:prstGeom>
          <a:solidFill>
            <a:srgbClr val="E11D2E"/>
          </a:solidFill>
          <a:ln w="15875">
            <a:solidFill>
              <a:srgbClr val="FFFFFF"/>
            </a:solidFill>
            <a:prstDash val="solid"/>
          </a:ln>
        </p:spPr>
      </p:sp>
      <p:sp>
        <p:nvSpPr>
          <p:cNvPr id="11" name="Text 8"/>
          <p:cNvSpPr/>
          <p:nvPr/>
        </p:nvSpPr>
        <p:spPr>
          <a:xfrm>
            <a:off x="752094" y="3107817"/>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1044702" y="3899916"/>
            <a:ext cx="774954" cy="405765"/>
          </a:xfrm>
          <a:prstGeom prst="rect">
            <a:avLst/>
          </a:prstGeom>
          <a:ln w="28575">
            <a:solidFill>
              <a:srgbClr val="E11D2E"/>
            </a:solidFill>
            <a:prstDash val="solid"/>
          </a:ln>
        </p:spPr>
      </p:sp>
      <p:sp>
        <p:nvSpPr>
          <p:cNvPr id="13" name="Shape 10"/>
          <p:cNvSpPr/>
          <p:nvPr/>
        </p:nvSpPr>
        <p:spPr>
          <a:xfrm>
            <a:off x="752094" y="3965638"/>
            <a:ext cx="274320" cy="274320"/>
          </a:xfrm>
          <a:prstGeom prst="ellipse">
            <a:avLst/>
          </a:prstGeom>
          <a:solidFill>
            <a:srgbClr val="E11D2E"/>
          </a:solidFill>
          <a:ln w="15875">
            <a:solidFill>
              <a:srgbClr val="FFFFFF"/>
            </a:solidFill>
            <a:prstDash val="solid"/>
          </a:ln>
        </p:spPr>
      </p:sp>
      <p:sp>
        <p:nvSpPr>
          <p:cNvPr id="14" name="Text 11"/>
          <p:cNvSpPr/>
          <p:nvPr/>
        </p:nvSpPr>
        <p:spPr>
          <a:xfrm>
            <a:off x="752094" y="396563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Shape 12"/>
          <p:cNvSpPr/>
          <p:nvPr/>
        </p:nvSpPr>
        <p:spPr>
          <a:xfrm>
            <a:off x="1044702" y="3899916"/>
            <a:ext cx="5096637" cy="405765"/>
          </a:xfrm>
          <a:prstGeom prst="rect">
            <a:avLst/>
          </a:prstGeom>
          <a:ln w="28575">
            <a:solidFill>
              <a:srgbClr val="E11D2E"/>
            </a:solidFill>
            <a:prstDash val="solid"/>
          </a:ln>
        </p:spPr>
      </p:sp>
      <p:sp>
        <p:nvSpPr>
          <p:cNvPr id="16" name="Shape 13"/>
          <p:cNvSpPr/>
          <p:nvPr/>
        </p:nvSpPr>
        <p:spPr>
          <a:xfrm>
            <a:off x="6004179" y="3762756"/>
            <a:ext cx="274320" cy="274320"/>
          </a:xfrm>
          <a:prstGeom prst="ellipse">
            <a:avLst/>
          </a:prstGeom>
          <a:solidFill>
            <a:srgbClr val="E11D2E"/>
          </a:solidFill>
          <a:ln w="15875">
            <a:solidFill>
              <a:srgbClr val="FFFFFF"/>
            </a:solidFill>
            <a:prstDash val="solid"/>
          </a:ln>
        </p:spPr>
      </p:sp>
      <p:sp>
        <p:nvSpPr>
          <p:cNvPr id="17" name="Text 14"/>
          <p:cNvSpPr/>
          <p:nvPr/>
        </p:nvSpPr>
        <p:spPr>
          <a:xfrm>
            <a:off x="6004179" y="376275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8" name="Shape 15"/>
          <p:cNvSpPr/>
          <p:nvPr/>
        </p:nvSpPr>
        <p:spPr>
          <a:xfrm>
            <a:off x="5322951" y="4594860"/>
            <a:ext cx="818388" cy="362331"/>
          </a:xfrm>
          <a:prstGeom prst="rect">
            <a:avLst/>
          </a:prstGeom>
          <a:ln w="28575">
            <a:solidFill>
              <a:srgbClr val="E11D2E"/>
            </a:solidFill>
            <a:prstDash val="solid"/>
          </a:ln>
        </p:spPr>
      </p:sp>
      <p:sp>
        <p:nvSpPr>
          <p:cNvPr id="19" name="Shape 16"/>
          <p:cNvSpPr/>
          <p:nvPr/>
        </p:nvSpPr>
        <p:spPr>
          <a:xfrm>
            <a:off x="6159627" y="4638865"/>
            <a:ext cx="274320" cy="274320"/>
          </a:xfrm>
          <a:prstGeom prst="ellipse">
            <a:avLst/>
          </a:prstGeom>
          <a:solidFill>
            <a:srgbClr val="E11D2E"/>
          </a:solidFill>
          <a:ln w="15875">
            <a:solidFill>
              <a:srgbClr val="FFFFFF"/>
            </a:solidFill>
            <a:prstDash val="solid"/>
          </a:ln>
        </p:spPr>
      </p:sp>
      <p:sp>
        <p:nvSpPr>
          <p:cNvPr id="20" name="Text 17"/>
          <p:cNvSpPr/>
          <p:nvPr/>
        </p:nvSpPr>
        <p:spPr>
          <a:xfrm>
            <a:off x="6159627" y="4638865"/>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4</a:t>
            </a:r>
            <a:endParaRPr lang="en-US" sz="1200" dirty="0"/>
          </a:p>
        </p:txBody>
      </p:sp>
      <p:sp>
        <p:nvSpPr>
          <p:cNvPr id="21" name="Text 18"/>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右クリック → New Request。Request Name：07 Approve Deposit Account</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メソッド：POST</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③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URL：{{baseUrl}}/deposits/{{depositId}}:changeState</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④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「Create」をクリック</a:t>
            </a:r>
            <a:endParaRPr lang="en-US" sz="13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ステップ⑤【2/6】URL の赤い変数を確認する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7680960" cy="4320540"/>
          </a:xfrm>
          <a:prstGeom prst="rect">
            <a:avLst/>
          </a:prstGeom>
        </p:spPr>
      </p:pic>
      <p:sp>
        <p:nvSpPr>
          <p:cNvPr id="7" name="Shape 4"/>
          <p:cNvSpPr/>
          <p:nvPr/>
        </p:nvSpPr>
        <p:spPr>
          <a:xfrm>
            <a:off x="411480" y="1051560"/>
            <a:ext cx="7680960" cy="4320540"/>
          </a:xfrm>
          <a:prstGeom prst="rect">
            <a:avLst/>
          </a:prstGeom>
          <a:ln w="9525">
            <a:solidFill>
              <a:srgbClr val="D1D5DB"/>
            </a:solidFill>
            <a:prstDash val="solid"/>
          </a:ln>
        </p:spPr>
      </p:sp>
      <p:sp>
        <p:nvSpPr>
          <p:cNvPr id="8" name="Text 5"/>
          <p:cNvSpPr/>
          <p:nvPr/>
        </p:nvSpPr>
        <p:spPr>
          <a:xfrm>
            <a:off x="411480" y="5390388"/>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652424" y="1436522"/>
            <a:ext cx="7506310" cy="363017"/>
          </a:xfrm>
          <a:prstGeom prst="rect">
            <a:avLst/>
          </a:prstGeom>
          <a:ln w="28575">
            <a:solidFill>
              <a:srgbClr val="E11D2E"/>
            </a:solidFill>
            <a:prstDash val="solid"/>
          </a:ln>
        </p:spPr>
      </p:sp>
      <p:sp>
        <p:nvSpPr>
          <p:cNvPr id="10" name="Shape 7"/>
          <p:cNvSpPr/>
          <p:nvPr/>
        </p:nvSpPr>
        <p:spPr>
          <a:xfrm>
            <a:off x="359816" y="1480871"/>
            <a:ext cx="274320" cy="274320"/>
          </a:xfrm>
          <a:prstGeom prst="ellipse">
            <a:avLst/>
          </a:prstGeom>
          <a:solidFill>
            <a:srgbClr val="E11D2E"/>
          </a:solidFill>
          <a:ln w="15875">
            <a:solidFill>
              <a:srgbClr val="FFFFFF"/>
            </a:solidFill>
            <a:prstDash val="solid"/>
          </a:ln>
        </p:spPr>
      </p:sp>
      <p:sp>
        <p:nvSpPr>
          <p:cNvPr id="11" name="Text 8"/>
          <p:cNvSpPr/>
          <p:nvPr/>
        </p:nvSpPr>
        <p:spPr>
          <a:xfrm>
            <a:off x="359816" y="1480871"/>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Text 9"/>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URL 欄で {{depositId}} が赤色になっていることを確認</a:t>
            </a:r>
            <a:endParaRPr lang="en-US" sz="1300" dirty="0"/>
          </a:p>
        </p:txBody>
      </p:sp>
      <p:sp>
        <p:nvSpPr>
          <p:cNvPr id="13" name="Shape 10"/>
          <p:cNvSpPr/>
          <p:nvPr/>
        </p:nvSpPr>
        <p:spPr>
          <a:xfrm>
            <a:off x="8275320" y="2377440"/>
            <a:ext cx="3520440" cy="2011680"/>
          </a:xfrm>
          <a:prstGeom prst="rect">
            <a:avLst/>
          </a:prstGeom>
          <a:solidFill>
            <a:srgbClr val="FEF2F2"/>
          </a:solidFill>
          <a:ln w="15875">
            <a:solidFill>
              <a:srgbClr val="B91C1C"/>
            </a:solidFill>
            <a:prstDash val="solid"/>
          </a:ln>
        </p:spPr>
      </p:sp>
      <p:sp>
        <p:nvSpPr>
          <p:cNvPr id="14" name="Shape 11"/>
          <p:cNvSpPr/>
          <p:nvPr/>
        </p:nvSpPr>
        <p:spPr>
          <a:xfrm>
            <a:off x="8275320" y="2377440"/>
            <a:ext cx="82296" cy="2011680"/>
          </a:xfrm>
          <a:prstGeom prst="rect">
            <a:avLst/>
          </a:prstGeom>
          <a:solidFill>
            <a:srgbClr val="B91C1C"/>
          </a:solidFill>
          <a:ln w="12700">
            <a:solidFill>
              <a:srgbClr val="B91C1C"/>
            </a:solidFill>
            <a:prstDash val="solid"/>
          </a:ln>
        </p:spPr>
      </p:sp>
      <p:sp>
        <p:nvSpPr>
          <p:cNvPr id="15" name="Text 12"/>
          <p:cNvSpPr/>
          <p:nvPr/>
        </p:nvSpPr>
        <p:spPr>
          <a:xfrm>
            <a:off x="8439912" y="2423160"/>
            <a:ext cx="3291840" cy="1920240"/>
          </a:xfrm>
          <a:prstGeom prst="rect">
            <a:avLst/>
          </a:prstGeom>
          <a:noFill/>
          <a:ln/>
        </p:spPr>
        <p:txBody>
          <a:bodyPr wrap="square" rtlCol="0" anchor="t"/>
          <a:lstStyle/>
          <a:p>
            <a:pPr indent="0" marL="0">
              <a:spcAft>
                <a:spcPts val="200"/>
              </a:spcAft>
              <a:buNone/>
            </a:pPr>
            <a:r>
              <a:rPr lang="en-US" sz="1150" b="1" dirty="0">
                <a:solidFill>
                  <a:srgbClr val="B91C1C"/>
                </a:solidFill>
                <a:latin typeface="Meiryo UI" pitchFamily="34" charset="0"/>
                <a:ea typeface="Meiryo UI" pitchFamily="34" charset="-122"/>
                <a:cs typeface="Meiryo UI" pitchFamily="34" charset="-120"/>
              </a:rPr>
              <a:t>【赤い変数について】</a:t>
            </a:r>
            <a:endParaRPr lang="en-US" sz="1150" dirty="0"/>
          </a:p>
          <a:p>
            <a:pPr indent="0" marL="0">
              <a:spcAft>
                <a:spcPts val="200"/>
              </a:spcAft>
              <a:buNone/>
            </a:pPr>
            <a:r>
              <a:rPr lang="en-US" sz="1150" dirty="0">
                <a:solidFill>
                  <a:srgbClr val="1F2937"/>
                </a:solidFill>
                <a:latin typeface="Meiryo UI" pitchFamily="34" charset="0"/>
                <a:ea typeface="Meiryo UI" pitchFamily="34" charset="-122"/>
                <a:cs typeface="Meiryo UI" pitchFamily="34" charset="-120"/>
              </a:rPr>
              <a:t>depositId は、ステップ④を Send したときに Script で保存される変数です。まだ送信していないので値がなく、赤色で表示されます。実際の環境では、④ → ⑤ の順に送れば値が入ります。</a:t>
            </a:r>
            <a:endParaRPr lang="en-US" sz="115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ステップ⑤【3/6】Headers タブに Idempotency-Key</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7680960" cy="4320540"/>
          </a:xfrm>
          <a:prstGeom prst="rect">
            <a:avLst/>
          </a:prstGeom>
        </p:spPr>
      </p:pic>
      <p:sp>
        <p:nvSpPr>
          <p:cNvPr id="7" name="Shape 4"/>
          <p:cNvSpPr/>
          <p:nvPr/>
        </p:nvSpPr>
        <p:spPr>
          <a:xfrm>
            <a:off x="411480" y="1051560"/>
            <a:ext cx="7680960" cy="4320540"/>
          </a:xfrm>
          <a:prstGeom prst="rect">
            <a:avLst/>
          </a:prstGeom>
          <a:ln w="9525">
            <a:solidFill>
              <a:srgbClr val="D1D5DB"/>
            </a:solidFill>
            <a:prstDash val="solid"/>
          </a:ln>
        </p:spPr>
      </p:sp>
      <p:sp>
        <p:nvSpPr>
          <p:cNvPr id="8" name="Text 5"/>
          <p:cNvSpPr/>
          <p:nvPr/>
        </p:nvSpPr>
        <p:spPr>
          <a:xfrm>
            <a:off x="411480" y="5390388"/>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1602943" y="1897380"/>
            <a:ext cx="574243" cy="343814"/>
          </a:xfrm>
          <a:prstGeom prst="rect">
            <a:avLst/>
          </a:prstGeom>
          <a:ln w="28575">
            <a:solidFill>
              <a:srgbClr val="E11D2E"/>
            </a:solidFill>
            <a:prstDash val="solid"/>
          </a:ln>
        </p:spPr>
      </p:sp>
      <p:sp>
        <p:nvSpPr>
          <p:cNvPr id="10" name="Shape 7"/>
          <p:cNvSpPr/>
          <p:nvPr/>
        </p:nvSpPr>
        <p:spPr>
          <a:xfrm>
            <a:off x="1465783" y="1760220"/>
            <a:ext cx="274320" cy="274320"/>
          </a:xfrm>
          <a:prstGeom prst="ellipse">
            <a:avLst/>
          </a:prstGeom>
          <a:solidFill>
            <a:srgbClr val="E11D2E"/>
          </a:solidFill>
          <a:ln w="15875">
            <a:solidFill>
              <a:srgbClr val="FFFFFF"/>
            </a:solidFill>
            <a:prstDash val="solid"/>
          </a:ln>
        </p:spPr>
      </p:sp>
      <p:sp>
        <p:nvSpPr>
          <p:cNvPr id="11" name="Text 8"/>
          <p:cNvSpPr/>
          <p:nvPr/>
        </p:nvSpPr>
        <p:spPr>
          <a:xfrm>
            <a:off x="1465783" y="17602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796442" y="2655875"/>
            <a:ext cx="1428750" cy="382219"/>
          </a:xfrm>
          <a:prstGeom prst="rect">
            <a:avLst/>
          </a:prstGeom>
          <a:ln w="28575">
            <a:solidFill>
              <a:srgbClr val="E11D2E"/>
            </a:solidFill>
            <a:prstDash val="solid"/>
          </a:ln>
        </p:spPr>
      </p:sp>
      <p:sp>
        <p:nvSpPr>
          <p:cNvPr id="13" name="Shape 10"/>
          <p:cNvSpPr/>
          <p:nvPr/>
        </p:nvSpPr>
        <p:spPr>
          <a:xfrm>
            <a:off x="503834" y="2709824"/>
            <a:ext cx="274320" cy="274320"/>
          </a:xfrm>
          <a:prstGeom prst="ellipse">
            <a:avLst/>
          </a:prstGeom>
          <a:solidFill>
            <a:srgbClr val="E11D2E"/>
          </a:solidFill>
          <a:ln w="15875">
            <a:solidFill>
              <a:srgbClr val="FFFFFF"/>
            </a:solidFill>
            <a:prstDash val="solid"/>
          </a:ln>
        </p:spPr>
      </p:sp>
      <p:sp>
        <p:nvSpPr>
          <p:cNvPr id="14" name="Text 11"/>
          <p:cNvSpPr/>
          <p:nvPr/>
        </p:nvSpPr>
        <p:spPr>
          <a:xfrm>
            <a:off x="503834" y="270982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Shape 12"/>
          <p:cNvSpPr/>
          <p:nvPr/>
        </p:nvSpPr>
        <p:spPr>
          <a:xfrm>
            <a:off x="2188616" y="2655875"/>
            <a:ext cx="3070555" cy="382219"/>
          </a:xfrm>
          <a:prstGeom prst="rect">
            <a:avLst/>
          </a:prstGeom>
          <a:ln w="28575">
            <a:solidFill>
              <a:srgbClr val="E11D2E"/>
            </a:solidFill>
            <a:prstDash val="solid"/>
          </a:ln>
        </p:spPr>
      </p:sp>
      <p:sp>
        <p:nvSpPr>
          <p:cNvPr id="16" name="Shape 13"/>
          <p:cNvSpPr/>
          <p:nvPr/>
        </p:nvSpPr>
        <p:spPr>
          <a:xfrm>
            <a:off x="5122012" y="2518715"/>
            <a:ext cx="274320" cy="274320"/>
          </a:xfrm>
          <a:prstGeom prst="ellipse">
            <a:avLst/>
          </a:prstGeom>
          <a:solidFill>
            <a:srgbClr val="E11D2E"/>
          </a:solidFill>
          <a:ln w="15875">
            <a:solidFill>
              <a:srgbClr val="FFFFFF"/>
            </a:solidFill>
            <a:prstDash val="solid"/>
          </a:ln>
        </p:spPr>
      </p:sp>
      <p:sp>
        <p:nvSpPr>
          <p:cNvPr id="17" name="Text 14"/>
          <p:cNvSpPr/>
          <p:nvPr/>
        </p:nvSpPr>
        <p:spPr>
          <a:xfrm>
            <a:off x="5122012" y="2518715"/>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8" name="Text 15"/>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「Headers」タブをクリック</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Name：Idempotency-Key</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③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Value：{{$randomUUID}}</a:t>
            </a:r>
            <a:endParaRPr lang="en-US" sz="13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ステップ⑤【4/6】Body で操作（action）を指定する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5669280" cy="3188970"/>
          </a:xfrm>
          <a:prstGeom prst="rect">
            <a:avLst/>
          </a:prstGeom>
        </p:spPr>
      </p:pic>
      <p:sp>
        <p:nvSpPr>
          <p:cNvPr id="7" name="Shape 4"/>
          <p:cNvSpPr/>
          <p:nvPr/>
        </p:nvSpPr>
        <p:spPr>
          <a:xfrm>
            <a:off x="411480" y="1051560"/>
            <a:ext cx="5669280" cy="3188970"/>
          </a:xfrm>
          <a:prstGeom prst="rect">
            <a:avLst/>
          </a:prstGeom>
          <a:ln w="9525">
            <a:solidFill>
              <a:srgbClr val="D1D5DB"/>
            </a:solidFill>
            <a:prstDash val="solid"/>
          </a:ln>
        </p:spPr>
      </p:sp>
      <p:sp>
        <p:nvSpPr>
          <p:cNvPr id="8" name="Text 5"/>
          <p:cNvSpPr/>
          <p:nvPr/>
        </p:nvSpPr>
        <p:spPr>
          <a:xfrm>
            <a:off x="411480" y="4258818"/>
            <a:ext cx="566928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945947" y="1671066"/>
            <a:ext cx="341300" cy="263347"/>
          </a:xfrm>
          <a:prstGeom prst="rect">
            <a:avLst/>
          </a:prstGeom>
          <a:ln w="28575">
            <a:solidFill>
              <a:srgbClr val="E11D2E"/>
            </a:solidFill>
            <a:prstDash val="solid"/>
          </a:ln>
        </p:spPr>
      </p:sp>
      <p:sp>
        <p:nvSpPr>
          <p:cNvPr id="10" name="Shape 7"/>
          <p:cNvSpPr/>
          <p:nvPr/>
        </p:nvSpPr>
        <p:spPr>
          <a:xfrm>
            <a:off x="808787" y="1533906"/>
            <a:ext cx="274320" cy="274320"/>
          </a:xfrm>
          <a:prstGeom prst="ellipse">
            <a:avLst/>
          </a:prstGeom>
          <a:solidFill>
            <a:srgbClr val="E11D2E"/>
          </a:solidFill>
          <a:ln w="15875">
            <a:solidFill>
              <a:srgbClr val="FFFFFF"/>
            </a:solidFill>
            <a:prstDash val="solid"/>
          </a:ln>
        </p:spPr>
      </p:sp>
      <p:sp>
        <p:nvSpPr>
          <p:cNvPr id="11" name="Text 8"/>
          <p:cNvSpPr/>
          <p:nvPr/>
        </p:nvSpPr>
        <p:spPr>
          <a:xfrm>
            <a:off x="808787" y="153390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4886096" y="1699412"/>
            <a:ext cx="447599" cy="220828"/>
          </a:xfrm>
          <a:prstGeom prst="rect">
            <a:avLst/>
          </a:prstGeom>
          <a:ln w="28575">
            <a:solidFill>
              <a:srgbClr val="E11D2E"/>
            </a:solidFill>
            <a:prstDash val="solid"/>
          </a:ln>
        </p:spPr>
      </p:sp>
      <p:sp>
        <p:nvSpPr>
          <p:cNvPr id="13" name="Shape 10"/>
          <p:cNvSpPr/>
          <p:nvPr/>
        </p:nvSpPr>
        <p:spPr>
          <a:xfrm>
            <a:off x="5196535" y="1562252"/>
            <a:ext cx="274320" cy="274320"/>
          </a:xfrm>
          <a:prstGeom prst="ellipse">
            <a:avLst/>
          </a:prstGeom>
          <a:solidFill>
            <a:srgbClr val="E11D2E"/>
          </a:solidFill>
          <a:ln w="15875">
            <a:solidFill>
              <a:srgbClr val="FFFFFF"/>
            </a:solidFill>
            <a:prstDash val="solid"/>
          </a:ln>
        </p:spPr>
      </p:sp>
      <p:sp>
        <p:nvSpPr>
          <p:cNvPr id="14" name="Text 11"/>
          <p:cNvSpPr/>
          <p:nvPr/>
        </p:nvSpPr>
        <p:spPr>
          <a:xfrm>
            <a:off x="5196535" y="156225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Shape 12"/>
          <p:cNvSpPr/>
          <p:nvPr/>
        </p:nvSpPr>
        <p:spPr>
          <a:xfrm>
            <a:off x="513664" y="2067916"/>
            <a:ext cx="5174361" cy="688543"/>
          </a:xfrm>
          <a:prstGeom prst="rect">
            <a:avLst/>
          </a:prstGeom>
          <a:ln w="28575">
            <a:solidFill>
              <a:srgbClr val="E11D2E"/>
            </a:solidFill>
            <a:prstDash val="solid"/>
          </a:ln>
        </p:spPr>
      </p:sp>
      <p:sp>
        <p:nvSpPr>
          <p:cNvPr id="16" name="Shape 13"/>
          <p:cNvSpPr/>
          <p:nvPr/>
        </p:nvSpPr>
        <p:spPr>
          <a:xfrm>
            <a:off x="221056" y="2275027"/>
            <a:ext cx="274320" cy="274320"/>
          </a:xfrm>
          <a:prstGeom prst="ellipse">
            <a:avLst/>
          </a:prstGeom>
          <a:solidFill>
            <a:srgbClr val="E11D2E"/>
          </a:solidFill>
          <a:ln w="15875">
            <a:solidFill>
              <a:srgbClr val="FFFFFF"/>
            </a:solidFill>
            <a:prstDash val="solid"/>
          </a:ln>
        </p:spPr>
      </p:sp>
      <p:sp>
        <p:nvSpPr>
          <p:cNvPr id="17" name="Text 14"/>
          <p:cNvSpPr/>
          <p:nvPr/>
        </p:nvSpPr>
        <p:spPr>
          <a:xfrm>
            <a:off x="221056" y="2275027"/>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8" name="Text 15"/>
          <p:cNvSpPr/>
          <p:nvPr/>
        </p:nvSpPr>
        <p:spPr>
          <a:xfrm>
            <a:off x="6263640" y="1051560"/>
            <a:ext cx="5532120" cy="1097280"/>
          </a:xfrm>
          <a:prstGeom prst="rect">
            <a:avLst/>
          </a:prstGeom>
          <a:noFill/>
          <a:ln/>
        </p:spPr>
        <p:txBody>
          <a:bodyPr wrap="square" rtlCol="0" anchor="t"/>
          <a:lstStyle/>
          <a:p>
            <a:pPr indent="0" marL="0">
              <a:spcAft>
                <a:spcPts val="400"/>
              </a:spcAft>
              <a:buNone/>
            </a:pPr>
            <a:r>
              <a:rPr lang="en-US" sz="1250" b="1" dirty="0">
                <a:solidFill>
                  <a:srgbClr val="E11D2E"/>
                </a:solidFill>
                <a:latin typeface="Meiryo UI" pitchFamily="34" charset="0"/>
                <a:ea typeface="Meiryo UI" pitchFamily="34" charset="-122"/>
                <a:cs typeface="Meiryo UI" pitchFamily="34" charset="-120"/>
              </a:rPr>
              <a:t>① </a:t>
            </a:r>
            <a:pPr indent="0" marL="0">
              <a:spcAft>
                <a:spcPts val="400"/>
              </a:spcAft>
              <a:buNone/>
            </a:pPr>
            <a:r>
              <a:rPr lang="en-US" sz="1250" dirty="0">
                <a:solidFill>
                  <a:srgbClr val="1F2937"/>
                </a:solidFill>
                <a:latin typeface="Meiryo UI" pitchFamily="34" charset="0"/>
                <a:ea typeface="Meiryo UI" pitchFamily="34" charset="-122"/>
                <a:cs typeface="Meiryo UI" pitchFamily="34" charset="-120"/>
              </a:rPr>
              <a:t>「Body」タブ →「No Body ▼」→「JSON」</a:t>
            </a:r>
            <a:endParaRPr lang="en-US" sz="1250" dirty="0"/>
          </a:p>
          <a:p>
            <a:pPr indent="0" marL="0">
              <a:spcAft>
                <a:spcPts val="400"/>
              </a:spcAft>
              <a:buNone/>
            </a:pPr>
            <a:r>
              <a:rPr lang="en-US" sz="1250" b="1" dirty="0">
                <a:solidFill>
                  <a:srgbClr val="E11D2E"/>
                </a:solidFill>
                <a:latin typeface="Meiryo UI" pitchFamily="34" charset="0"/>
                <a:ea typeface="Meiryo UI" pitchFamily="34" charset="-122"/>
                <a:cs typeface="Meiryo UI" pitchFamily="34" charset="-120"/>
              </a:rPr>
              <a:t>② </a:t>
            </a:r>
            <a:pPr indent="0" marL="0">
              <a:spcAft>
                <a:spcPts val="400"/>
              </a:spcAft>
              <a:buNone/>
            </a:pPr>
            <a:r>
              <a:rPr lang="en-US" sz="1250" dirty="0">
                <a:solidFill>
                  <a:srgbClr val="1F2937"/>
                </a:solidFill>
                <a:latin typeface="Meiryo UI" pitchFamily="34" charset="0"/>
                <a:ea typeface="Meiryo UI" pitchFamily="34" charset="-122"/>
                <a:cs typeface="Meiryo UI" pitchFamily="34" charset="-120"/>
              </a:rPr>
              <a:t>下の枠の JSON をコピーして貼り付ける</a:t>
            </a:r>
            <a:endParaRPr lang="en-US" sz="1250" dirty="0"/>
          </a:p>
        </p:txBody>
      </p:sp>
      <p:sp>
        <p:nvSpPr>
          <p:cNvPr id="19" name="Text 16"/>
          <p:cNvSpPr/>
          <p:nvPr/>
        </p:nvSpPr>
        <p:spPr>
          <a:xfrm>
            <a:off x="6263640" y="2103120"/>
            <a:ext cx="5532120" cy="1005840"/>
          </a:xfrm>
          <a:prstGeom prst="rect">
            <a:avLst/>
          </a:prstGeom>
          <a:solidFill>
            <a:srgbClr val="F3F4F6"/>
          </a:solidFill>
          <a:ln w="12700">
            <a:solidFill>
              <a:srgbClr val="D1D5DB"/>
            </a:solidFill>
          </a:ln>
        </p:spPr>
        <p:txBody>
          <a:bodyPr wrap="square" lIns="101600" tIns="101600" rIns="101600" bIns="101600" rtlCol="0" anchor="t"/>
          <a:lstStyle/>
          <a:p>
            <a:pPr indent="0" marL="0">
              <a:buNone/>
            </a:pPr>
            <a:r>
              <a:rPr lang="en-US" sz="1100" dirty="0">
                <a:solidFill>
                  <a:srgbClr val="111827"/>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111827"/>
                </a:solidFill>
                <a:latin typeface="Consolas" pitchFamily="34" charset="0"/>
                <a:ea typeface="Consolas" pitchFamily="34" charset="-122"/>
                <a:cs typeface="Consolas" pitchFamily="34" charset="-120"/>
              </a:rPr>
              <a:t>  "action": "APPROVE",</a:t>
            </a:r>
            <a:endParaRPr lang="en-US" sz="1100" dirty="0"/>
          </a:p>
          <a:p>
            <a:pPr indent="0" marL="0">
              <a:buNone/>
            </a:pPr>
            <a:r>
              <a:rPr lang="en-US" sz="1100" dirty="0">
                <a:solidFill>
                  <a:srgbClr val="111827"/>
                </a:solidFill>
                <a:latin typeface="Consolas" pitchFamily="34" charset="0"/>
                <a:ea typeface="Consolas" pitchFamily="34" charset="-122"/>
                <a:cs typeface="Consolas" pitchFamily="34" charset="-120"/>
              </a:rPr>
              <a:t>  "notes": "KYC 完了"</a:t>
            </a:r>
            <a:endParaRPr lang="en-US" sz="1100" dirty="0"/>
          </a:p>
          <a:p>
            <a:pPr indent="0" marL="0">
              <a:buNone/>
            </a:pPr>
            <a:r>
              <a:rPr lang="en-US" sz="1100" dirty="0">
                <a:solidFill>
                  <a:srgbClr val="111827"/>
                </a:solidFill>
                <a:latin typeface="Consolas" pitchFamily="34" charset="0"/>
                <a:ea typeface="Consolas" pitchFamily="34" charset="-122"/>
                <a:cs typeface="Consolas" pitchFamily="34" charset="-120"/>
              </a:rPr>
              <a:t>}</a:t>
            </a:r>
            <a:endParaRPr lang="en-US" sz="1100" dirty="0"/>
          </a:p>
        </p:txBody>
      </p:sp>
      <p:sp>
        <p:nvSpPr>
          <p:cNvPr id="20" name="Text 17"/>
          <p:cNvSpPr/>
          <p:nvPr/>
        </p:nvSpPr>
        <p:spPr>
          <a:xfrm>
            <a:off x="6263640" y="1828800"/>
            <a:ext cx="5532120" cy="274320"/>
          </a:xfrm>
          <a:prstGeom prst="rect">
            <a:avLst/>
          </a:prstGeom>
          <a:noFill/>
          <a:ln/>
        </p:spPr>
        <p:txBody>
          <a:bodyPr wrap="square" rtlCol="0" anchor="ctr"/>
          <a:lstStyle/>
          <a:p>
            <a:pPr indent="0" marL="0">
              <a:buNone/>
            </a:pPr>
            <a:r>
              <a:rPr lang="en-US" sz="1100" dirty="0">
                <a:solidFill>
                  <a:srgbClr val="6B7280"/>
                </a:solidFill>
                <a:latin typeface="Meiryo UI" pitchFamily="34" charset="0"/>
                <a:ea typeface="Meiryo UI" pitchFamily="34" charset="-122"/>
                <a:cs typeface="Meiryo UI" pitchFamily="34" charset="-120"/>
              </a:rPr>
              <a:t>コピー用（この枠の中を全部コピーして、Body の入力欄に貼り付ける）</a:t>
            </a:r>
            <a:endParaRPr lang="en-US" sz="1100" dirty="0"/>
          </a:p>
        </p:txBody>
      </p:sp>
      <p:sp>
        <p:nvSpPr>
          <p:cNvPr id="21" name="Shape 18"/>
          <p:cNvSpPr/>
          <p:nvPr/>
        </p:nvSpPr>
        <p:spPr>
          <a:xfrm>
            <a:off x="6263640" y="3218688"/>
            <a:ext cx="5532120" cy="1051560"/>
          </a:xfrm>
          <a:prstGeom prst="rect">
            <a:avLst/>
          </a:prstGeom>
          <a:solidFill>
            <a:srgbClr val="EFF6FF"/>
          </a:solidFill>
          <a:ln w="15875">
            <a:solidFill>
              <a:srgbClr val="1D4ED8"/>
            </a:solidFill>
            <a:prstDash val="solid"/>
          </a:ln>
        </p:spPr>
      </p:sp>
      <p:sp>
        <p:nvSpPr>
          <p:cNvPr id="22" name="Shape 19"/>
          <p:cNvSpPr/>
          <p:nvPr/>
        </p:nvSpPr>
        <p:spPr>
          <a:xfrm>
            <a:off x="6263640" y="3218688"/>
            <a:ext cx="82296" cy="1051560"/>
          </a:xfrm>
          <a:prstGeom prst="rect">
            <a:avLst/>
          </a:prstGeom>
          <a:solidFill>
            <a:srgbClr val="1D4ED8"/>
          </a:solidFill>
          <a:ln w="12700">
            <a:solidFill>
              <a:srgbClr val="1D4ED8"/>
            </a:solidFill>
            <a:prstDash val="solid"/>
          </a:ln>
        </p:spPr>
      </p:sp>
      <p:sp>
        <p:nvSpPr>
          <p:cNvPr id="23" name="Text 20"/>
          <p:cNvSpPr/>
          <p:nvPr/>
        </p:nvSpPr>
        <p:spPr>
          <a:xfrm>
            <a:off x="6428232" y="3264408"/>
            <a:ext cx="5303520" cy="960120"/>
          </a:xfrm>
          <a:prstGeom prst="rect">
            <a:avLst/>
          </a:prstGeom>
          <a:noFill/>
          <a:ln/>
        </p:spPr>
        <p:txBody>
          <a:bodyPr wrap="square" rtlCol="0" anchor="t"/>
          <a:lstStyle/>
          <a:p>
            <a:pPr indent="0" marL="0">
              <a:spcAft>
                <a:spcPts val="200"/>
              </a:spcAft>
              <a:buNone/>
            </a:pPr>
            <a:r>
              <a:rPr lang="en-US" sz="1100" b="1" dirty="0">
                <a:solidFill>
                  <a:srgbClr val="1D4ED8"/>
                </a:solidFill>
                <a:latin typeface="Meiryo UI" pitchFamily="34" charset="0"/>
                <a:ea typeface="Meiryo UI" pitchFamily="34" charset="-122"/>
                <a:cs typeface="Meiryo UI" pitchFamily="34" charset="-120"/>
              </a:rPr>
              <a:t>【ヒント】</a:t>
            </a:r>
            <a:endParaRPr lang="en-US" sz="1100" dirty="0"/>
          </a:p>
          <a:p>
            <a:pPr indent="0" marL="0">
              <a:spcAft>
                <a:spcPts val="200"/>
              </a:spcAft>
              <a:buNone/>
            </a:pPr>
            <a:r>
              <a:rPr lang="en-US" sz="1100" dirty="0">
                <a:solidFill>
                  <a:srgbClr val="1F2937"/>
                </a:solidFill>
                <a:latin typeface="Meiryo UI" pitchFamily="34" charset="0"/>
                <a:ea typeface="Meiryo UI" pitchFamily="34" charset="-122"/>
                <a:cs typeface="Meiryo UI" pitchFamily="34" charset="-120"/>
              </a:rPr>
              <a:t>action（必須）：APPROVE＝承認。ほかに UNDO_APPROVE（承認の取り消し）・LOCK・CLOSE など。notes はメモ（任意）。KYC は本人確認のことです。</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ステップ⑤【5/6】Assert タブに 2 行入れる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7680960" cy="4320540"/>
          </a:xfrm>
          <a:prstGeom prst="rect">
            <a:avLst/>
          </a:prstGeom>
        </p:spPr>
      </p:pic>
      <p:sp>
        <p:nvSpPr>
          <p:cNvPr id="7" name="Shape 4"/>
          <p:cNvSpPr/>
          <p:nvPr/>
        </p:nvSpPr>
        <p:spPr>
          <a:xfrm>
            <a:off x="411480" y="1051560"/>
            <a:ext cx="7680960" cy="4320540"/>
          </a:xfrm>
          <a:prstGeom prst="rect">
            <a:avLst/>
          </a:prstGeom>
          <a:ln w="9525">
            <a:solidFill>
              <a:srgbClr val="D1D5DB"/>
            </a:solidFill>
            <a:prstDash val="solid"/>
          </a:ln>
        </p:spPr>
      </p:sp>
      <p:sp>
        <p:nvSpPr>
          <p:cNvPr id="8" name="Text 5"/>
          <p:cNvSpPr/>
          <p:nvPr/>
        </p:nvSpPr>
        <p:spPr>
          <a:xfrm>
            <a:off x="411480" y="5390388"/>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3830422" y="1897380"/>
            <a:ext cx="478231" cy="343814"/>
          </a:xfrm>
          <a:prstGeom prst="rect">
            <a:avLst/>
          </a:prstGeom>
          <a:ln w="28575">
            <a:solidFill>
              <a:srgbClr val="E11D2E"/>
            </a:solidFill>
            <a:prstDash val="solid"/>
          </a:ln>
        </p:spPr>
      </p:sp>
      <p:sp>
        <p:nvSpPr>
          <p:cNvPr id="10" name="Shape 7"/>
          <p:cNvSpPr/>
          <p:nvPr/>
        </p:nvSpPr>
        <p:spPr>
          <a:xfrm>
            <a:off x="3693262" y="1760220"/>
            <a:ext cx="274320" cy="274320"/>
          </a:xfrm>
          <a:prstGeom prst="ellipse">
            <a:avLst/>
          </a:prstGeom>
          <a:solidFill>
            <a:srgbClr val="E11D2E"/>
          </a:solidFill>
          <a:ln w="15875">
            <a:solidFill>
              <a:srgbClr val="FFFFFF"/>
            </a:solidFill>
            <a:prstDash val="solid"/>
          </a:ln>
        </p:spPr>
      </p:sp>
      <p:sp>
        <p:nvSpPr>
          <p:cNvPr id="11" name="Text 8"/>
          <p:cNvSpPr/>
          <p:nvPr/>
        </p:nvSpPr>
        <p:spPr>
          <a:xfrm>
            <a:off x="3693262" y="17602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796442" y="2655875"/>
            <a:ext cx="4529938" cy="727862"/>
          </a:xfrm>
          <a:prstGeom prst="rect">
            <a:avLst/>
          </a:prstGeom>
          <a:ln w="28575">
            <a:solidFill>
              <a:srgbClr val="E11D2E"/>
            </a:solidFill>
            <a:prstDash val="solid"/>
          </a:ln>
        </p:spPr>
      </p:sp>
      <p:sp>
        <p:nvSpPr>
          <p:cNvPr id="13" name="Shape 10"/>
          <p:cNvSpPr/>
          <p:nvPr/>
        </p:nvSpPr>
        <p:spPr>
          <a:xfrm>
            <a:off x="503834" y="2882646"/>
            <a:ext cx="274320" cy="274320"/>
          </a:xfrm>
          <a:prstGeom prst="ellipse">
            <a:avLst/>
          </a:prstGeom>
          <a:solidFill>
            <a:srgbClr val="E11D2E"/>
          </a:solidFill>
          <a:ln w="15875">
            <a:solidFill>
              <a:srgbClr val="FFFFFF"/>
            </a:solidFill>
            <a:prstDash val="solid"/>
          </a:ln>
        </p:spPr>
      </p:sp>
      <p:sp>
        <p:nvSpPr>
          <p:cNvPr id="14" name="Text 11"/>
          <p:cNvSpPr/>
          <p:nvPr/>
        </p:nvSpPr>
        <p:spPr>
          <a:xfrm>
            <a:off x="503834" y="288264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Text 12"/>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「Assert」タブをクリック</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1 行目：res.status equals 200</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③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2 行目：res.body.accountState equals APPROVED</a:t>
            </a:r>
            <a:endParaRPr lang="en-US" sz="1300" dirty="0"/>
          </a:p>
        </p:txBody>
      </p:sp>
      <p:sp>
        <p:nvSpPr>
          <p:cNvPr id="16" name="Shape 13"/>
          <p:cNvSpPr/>
          <p:nvPr/>
        </p:nvSpPr>
        <p:spPr>
          <a:xfrm>
            <a:off x="8275320" y="4114800"/>
            <a:ext cx="3520440" cy="1508760"/>
          </a:xfrm>
          <a:prstGeom prst="rect">
            <a:avLst/>
          </a:prstGeom>
          <a:solidFill>
            <a:srgbClr val="FEF2F2"/>
          </a:solidFill>
          <a:ln w="15875">
            <a:solidFill>
              <a:srgbClr val="B91C1C"/>
            </a:solidFill>
            <a:prstDash val="solid"/>
          </a:ln>
        </p:spPr>
      </p:sp>
      <p:sp>
        <p:nvSpPr>
          <p:cNvPr id="17" name="Shape 14"/>
          <p:cNvSpPr/>
          <p:nvPr/>
        </p:nvSpPr>
        <p:spPr>
          <a:xfrm>
            <a:off x="8275320" y="4114800"/>
            <a:ext cx="82296" cy="1508760"/>
          </a:xfrm>
          <a:prstGeom prst="rect">
            <a:avLst/>
          </a:prstGeom>
          <a:solidFill>
            <a:srgbClr val="B91C1C"/>
          </a:solidFill>
          <a:ln w="12700">
            <a:solidFill>
              <a:srgbClr val="B91C1C"/>
            </a:solidFill>
            <a:prstDash val="solid"/>
          </a:ln>
        </p:spPr>
      </p:sp>
      <p:sp>
        <p:nvSpPr>
          <p:cNvPr id="18" name="Text 15"/>
          <p:cNvSpPr/>
          <p:nvPr/>
        </p:nvSpPr>
        <p:spPr>
          <a:xfrm>
            <a:off x="8439912" y="4160520"/>
            <a:ext cx="3291840" cy="1417320"/>
          </a:xfrm>
          <a:prstGeom prst="rect">
            <a:avLst/>
          </a:prstGeom>
          <a:noFill/>
          <a:ln/>
        </p:spPr>
        <p:txBody>
          <a:bodyPr wrap="square" rtlCol="0" anchor="t"/>
          <a:lstStyle/>
          <a:p>
            <a:pPr indent="0" marL="0">
              <a:spcAft>
                <a:spcPts val="200"/>
              </a:spcAft>
              <a:buNone/>
            </a:pPr>
            <a:r>
              <a:rPr lang="en-US" sz="1150" b="1" dirty="0">
                <a:solidFill>
                  <a:srgbClr val="B91C1C"/>
                </a:solidFill>
                <a:latin typeface="Meiryo UI" pitchFamily="34" charset="0"/>
                <a:ea typeface="Meiryo UI" pitchFamily="34" charset="-122"/>
                <a:cs typeface="Meiryo UI" pitchFamily="34" charset="-120"/>
              </a:rPr>
              <a:t>【注意】</a:t>
            </a:r>
            <a:endParaRPr lang="en-US" sz="1150" dirty="0"/>
          </a:p>
          <a:p>
            <a:pPr indent="0" marL="0">
              <a:spcAft>
                <a:spcPts val="200"/>
              </a:spcAft>
              <a:buNone/>
            </a:pPr>
            <a:r>
              <a:rPr lang="en-US" sz="1150" dirty="0">
                <a:solidFill>
                  <a:srgbClr val="1F2937"/>
                </a:solidFill>
                <a:latin typeface="Meiryo UI" pitchFamily="34" charset="0"/>
                <a:ea typeface="Meiryo UI" pitchFamily="34" charset="-122"/>
                <a:cs typeface="Meiryo UI" pitchFamily="34" charset="-120"/>
              </a:rPr>
              <a:t>承認できない状態の口座に APPROVE を送ると、400 INVALID_SAVINGS_ACCOUNT_STATE_TRANSITION（状態を変えられない）になります。</a:t>
            </a:r>
            <a:endParaRPr lang="en-US" sz="115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ステップ⑤【6/6】保存する（Send は押さない）</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5356860" cy="4343400"/>
          </a:xfrm>
          <a:prstGeom prst="rect">
            <a:avLst/>
          </a:prstGeom>
        </p:spPr>
      </p:pic>
      <p:sp>
        <p:nvSpPr>
          <p:cNvPr id="7" name="Shape 4"/>
          <p:cNvSpPr/>
          <p:nvPr/>
        </p:nvSpPr>
        <p:spPr>
          <a:xfrm>
            <a:off x="411480" y="1051560"/>
            <a:ext cx="5356860" cy="4343400"/>
          </a:xfrm>
          <a:prstGeom prst="rect">
            <a:avLst/>
          </a:prstGeom>
          <a:ln w="9525">
            <a:solidFill>
              <a:srgbClr val="D1D5DB"/>
            </a:solidFill>
            <a:prstDash val="solid"/>
          </a:ln>
        </p:spPr>
      </p:sp>
      <p:sp>
        <p:nvSpPr>
          <p:cNvPr id="8" name="Text 5"/>
          <p:cNvSpPr/>
          <p:nvPr/>
        </p:nvSpPr>
        <p:spPr>
          <a:xfrm>
            <a:off x="411480" y="5413248"/>
            <a:ext cx="53568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4874133" y="1713738"/>
            <a:ext cx="217551" cy="224790"/>
          </a:xfrm>
          <a:prstGeom prst="rect">
            <a:avLst/>
          </a:prstGeom>
          <a:ln w="28575">
            <a:solidFill>
              <a:srgbClr val="E11D2E"/>
            </a:solidFill>
            <a:prstDash val="solid"/>
          </a:ln>
        </p:spPr>
      </p:sp>
      <p:sp>
        <p:nvSpPr>
          <p:cNvPr id="10" name="Shape 7"/>
          <p:cNvSpPr/>
          <p:nvPr/>
        </p:nvSpPr>
        <p:spPr>
          <a:xfrm>
            <a:off x="4581525" y="1688973"/>
            <a:ext cx="274320" cy="274320"/>
          </a:xfrm>
          <a:prstGeom prst="ellipse">
            <a:avLst/>
          </a:prstGeom>
          <a:solidFill>
            <a:srgbClr val="E11D2E"/>
          </a:solidFill>
          <a:ln w="15875">
            <a:solidFill>
              <a:srgbClr val="FFFFFF"/>
            </a:solidFill>
            <a:prstDash val="solid"/>
          </a:ln>
        </p:spPr>
      </p:sp>
      <p:sp>
        <p:nvSpPr>
          <p:cNvPr id="11" name="Text 8"/>
          <p:cNvSpPr/>
          <p:nvPr/>
        </p:nvSpPr>
        <p:spPr>
          <a:xfrm>
            <a:off x="4581525" y="1688973"/>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5156454" y="1684782"/>
            <a:ext cx="514350" cy="282702"/>
          </a:xfrm>
          <a:prstGeom prst="rect">
            <a:avLst/>
          </a:prstGeom>
          <a:ln w="28575">
            <a:solidFill>
              <a:srgbClr val="E11D2E"/>
            </a:solidFill>
            <a:prstDash val="solid"/>
          </a:ln>
        </p:spPr>
      </p:sp>
      <p:sp>
        <p:nvSpPr>
          <p:cNvPr id="13" name="Shape 10"/>
          <p:cNvSpPr/>
          <p:nvPr/>
        </p:nvSpPr>
        <p:spPr>
          <a:xfrm>
            <a:off x="5019294" y="1830324"/>
            <a:ext cx="274320" cy="274320"/>
          </a:xfrm>
          <a:prstGeom prst="ellipse">
            <a:avLst/>
          </a:prstGeom>
          <a:solidFill>
            <a:srgbClr val="E11D2E"/>
          </a:solidFill>
          <a:ln w="15875">
            <a:solidFill>
              <a:srgbClr val="FFFFFF"/>
            </a:solidFill>
            <a:prstDash val="solid"/>
          </a:ln>
        </p:spPr>
      </p:sp>
      <p:sp>
        <p:nvSpPr>
          <p:cNvPr id="14" name="Text 11"/>
          <p:cNvSpPr/>
          <p:nvPr/>
        </p:nvSpPr>
        <p:spPr>
          <a:xfrm>
            <a:off x="5019294" y="183032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Text 12"/>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Ctrl + S を押して保存する（または ① の保存アイコンをクリック）</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保存すると、① のアイコンがオレンジから灰色に変わる（タブの名前の右のオレンジの点も消える）</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③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② の Send は押さない（Ctrl + Enter も押さない。この教材では送信しない）</a:t>
            </a:r>
            <a:endParaRPr lang="en-US" sz="1300" dirty="0"/>
          </a:p>
        </p:txBody>
      </p:sp>
      <p:sp>
        <p:nvSpPr>
          <p:cNvPr id="16" name="Shape 13"/>
          <p:cNvSpPr/>
          <p:nvPr/>
        </p:nvSpPr>
        <p:spPr>
          <a:xfrm>
            <a:off x="8275320" y="3520440"/>
            <a:ext cx="3520440" cy="2103120"/>
          </a:xfrm>
          <a:prstGeom prst="rect">
            <a:avLst/>
          </a:prstGeom>
          <a:solidFill>
            <a:srgbClr val="ECFDF5"/>
          </a:solidFill>
          <a:ln w="15875">
            <a:solidFill>
              <a:srgbClr val="047857"/>
            </a:solidFill>
            <a:prstDash val="solid"/>
          </a:ln>
        </p:spPr>
      </p:sp>
      <p:sp>
        <p:nvSpPr>
          <p:cNvPr id="17" name="Shape 14"/>
          <p:cNvSpPr/>
          <p:nvPr/>
        </p:nvSpPr>
        <p:spPr>
          <a:xfrm>
            <a:off x="8275320" y="3520440"/>
            <a:ext cx="82296" cy="2103120"/>
          </a:xfrm>
          <a:prstGeom prst="rect">
            <a:avLst/>
          </a:prstGeom>
          <a:solidFill>
            <a:srgbClr val="047857"/>
          </a:solidFill>
          <a:ln w="12700">
            <a:solidFill>
              <a:srgbClr val="047857"/>
            </a:solidFill>
            <a:prstDash val="solid"/>
          </a:ln>
        </p:spPr>
      </p:sp>
      <p:sp>
        <p:nvSpPr>
          <p:cNvPr id="18" name="Text 15"/>
          <p:cNvSpPr/>
          <p:nvPr/>
        </p:nvSpPr>
        <p:spPr>
          <a:xfrm>
            <a:off x="8439912" y="3566160"/>
            <a:ext cx="3291840" cy="2011680"/>
          </a:xfrm>
          <a:prstGeom prst="rect">
            <a:avLst/>
          </a:prstGeom>
          <a:noFill/>
          <a:ln/>
        </p:spPr>
        <p:txBody>
          <a:bodyPr wrap="square" rtlCol="0" anchor="t"/>
          <a:lstStyle/>
          <a:p>
            <a:pPr indent="0" marL="0">
              <a:spcAft>
                <a:spcPts val="200"/>
              </a:spcAft>
              <a:buNone/>
            </a:pPr>
            <a:r>
              <a:rPr lang="en-US" sz="1150" b="1" dirty="0">
                <a:solidFill>
                  <a:srgbClr val="047857"/>
                </a:solidFill>
                <a:latin typeface="Meiryo UI" pitchFamily="34" charset="0"/>
                <a:ea typeface="Meiryo UI" pitchFamily="34" charset="-122"/>
                <a:cs typeface="Meiryo UI" pitchFamily="34" charset="-120"/>
              </a:rPr>
              <a:t>【実際に Send したときの期待する結果】</a:t>
            </a:r>
            <a:endParaRPr lang="en-US" sz="1150" dirty="0"/>
          </a:p>
          <a:p>
            <a:pPr indent="0" marL="0">
              <a:spcAft>
                <a:spcPts val="200"/>
              </a:spcAft>
              <a:buNone/>
            </a:pPr>
            <a:r>
              <a:rPr lang="en-US" sz="1150" dirty="0">
                <a:solidFill>
                  <a:srgbClr val="1F2937"/>
                </a:solidFill>
                <a:latin typeface="Meiryo UI" pitchFamily="34" charset="0"/>
                <a:ea typeface="Meiryo UI" pitchFamily="34" charset="-122"/>
                <a:cs typeface="Meiryo UI" pitchFamily="34" charset="-120"/>
              </a:rPr>
              <a:t>200 OK。レスポンスは口座の情報で、accountState が APPROVED（承認済み）。アサーション 2 件が Passed。</a:t>
            </a:r>
            <a:endParaRPr lang="en-US" sz="1150" dirty="0"/>
          </a:p>
        </p:txBody>
      </p:sp>
      <p:sp>
        <p:nvSpPr>
          <p:cNvPr id="19" name="Shape 16"/>
          <p:cNvSpPr/>
          <p:nvPr/>
        </p:nvSpPr>
        <p:spPr>
          <a:xfrm>
            <a:off x="548640" y="5788152"/>
            <a:ext cx="11064240" cy="329184"/>
          </a:xfrm>
          <a:prstGeom prst="rect">
            <a:avLst/>
          </a:prstGeom>
          <a:solidFill>
            <a:srgbClr val="ECFDF5"/>
          </a:solidFill>
          <a:ln w="12700">
            <a:solidFill>
              <a:srgbClr val="047857"/>
            </a:solidFill>
            <a:prstDash val="solid"/>
          </a:ln>
        </p:spPr>
      </p:sp>
      <p:sp>
        <p:nvSpPr>
          <p:cNvPr id="20" name="Text 17"/>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参考コレクション exercises\mambu-corporate-onboarding\07 Approve Deposit Account.yml を開いて、自分の入力と比べる</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ステップ⑥：初回入金をする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6" name="Text 4"/>
          <p:cNvSpPr/>
          <p:nvPr/>
        </p:nvSpPr>
        <p:spPr>
          <a:xfrm>
            <a:off x="365760" y="6144768"/>
            <a:ext cx="11430000" cy="292608"/>
          </a:xfrm>
          <a:prstGeom prst="rect">
            <a:avLst/>
          </a:prstGeom>
          <a:noFill/>
          <a:ln/>
        </p:spPr>
        <p:txBody>
          <a:bodyPr wrap="square" rtlCol="0" anchor="t"/>
          <a:lstStyle/>
          <a:p>
            <a:pPr indent="0" marL="0">
              <a:buNone/>
            </a:pPr>
            <a:r>
              <a:rPr lang="en-US" sz="1000" dirty="0">
                <a:solidFill>
                  <a:srgbClr val="6B7280"/>
                </a:solidFill>
                <a:latin typeface="Meiryo UI" pitchFamily="34" charset="0"/>
                <a:ea typeface="Meiryo UI" pitchFamily="34" charset="-122"/>
                <a:cs typeface="Meiryo UI" pitchFamily="34" charset="-120"/>
              </a:rPr>
              <a:t>出典：https://docs.mambu.com/swagger_files/v2/deposits_transactions.json（公式 OpenAPI、2026-10-09 確認） ／ https://docs.mambu.com/docs/deposit-accounts-life-cycle-and-states/（2026-10-09 確認）</a:t>
            </a:r>
            <a:endParaRPr lang="en-US" sz="1000" dirty="0"/>
          </a:p>
        </p:txBody>
      </p:sp>
      <p:graphicFrame>
        <p:nvGraphicFramePr>
          <p:cNvPr id="79"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11064240" cy="914400"/>
        </p:xfrm>
        <a:graphic>
          <a:graphicData uri="http://schemas.openxmlformats.org/drawingml/2006/table">
            <a:tbl>
              <a:tblPr/>
              <a:tblGrid>
                <a:gridCol w="2377440"/>
                <a:gridCol w="8686800"/>
              </a:tblGrid>
              <a:tr h="457200">
                <a:tc>
                  <a:txBody>
                    <a:bodyPr/>
                    <a:lstStyle/>
                    <a:p>
                      <a:pPr indent="0" marL="0">
                        <a:buNone/>
                      </a:pPr>
                      <a:r>
                        <a:rPr lang="en-US" sz="1400" b="1" dirty="0">
                          <a:solidFill>
                            <a:srgbClr val="FFFFFF"/>
                          </a:solidFill>
                          <a:latin typeface="Meiryo UI" pitchFamily="34" charset="0"/>
                          <a:ea typeface="Meiryo UI" pitchFamily="34" charset="-122"/>
                          <a:cs typeface="Meiryo UI" pitchFamily="34" charset="-120"/>
                        </a:rPr>
                        <a:t>項目</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Meiryo UI" pitchFamily="34" charset="0"/>
                          <a:ea typeface="Meiryo UI" pitchFamily="34" charset="-122"/>
                          <a:cs typeface="Meiryo UI" pitchFamily="34" charset="-120"/>
                        </a:rPr>
                        <a:t>内容</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45720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目的</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承認済みの口座に 10,000 円を入金する。最初の取引で、口座は自動的に ACTIVE（利用中）になる</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作るリクエスト</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08 First Deposit：POST {{baseUrl}}/deposits/{{depositId}}/deposit-transactions</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5720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使う値（入力）</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{{depositId}}（ステップ④で保存）、{{channelId}}（ステップ①の Script で保存した環境変数）</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保存する値（出力）</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なし</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5720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アサーション</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res.status equals 201</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8" name="Text 5"/>
          <p:cNvSpPr/>
          <p:nvPr/>
        </p:nvSpPr>
        <p:spPr>
          <a:xfrm>
            <a:off x="548640" y="4572000"/>
            <a:ext cx="11064240" cy="411480"/>
          </a:xfrm>
          <a:prstGeom prst="rect">
            <a:avLst/>
          </a:prstGeom>
          <a:noFill/>
          <a:ln/>
        </p:spPr>
        <p:txBody>
          <a:bodyPr wrap="square" lIns="50800" tIns="50800" rIns="50800" bIns="50800" rtlCol="0" anchor="t"/>
          <a:lstStyle/>
          <a:p>
            <a:pPr algn="l" indent="0" marL="0">
              <a:buNone/>
            </a:pPr>
            <a:r>
              <a:rPr lang="en-US" sz="1400" b="1" dirty="0">
                <a:solidFill>
                  <a:srgbClr val="1F3A5F"/>
                </a:solidFill>
                <a:latin typeface="Meiryo UI" pitchFamily="34" charset="0"/>
                <a:ea typeface="Meiryo UI" pitchFamily="34" charset="-122"/>
                <a:cs typeface="Meiryo UI" pitchFamily="34" charset="-120"/>
              </a:rPr>
              <a:t>手順：New Request（POST）→ Headers → Body（JSON）→ Assert → 保存（Script はなし）</a:t>
            </a:r>
            <a:endParaRPr lang="en-US" sz="1400" dirty="0"/>
          </a:p>
        </p:txBody>
      </p:sp>
      <p:sp>
        <p:nvSpPr>
          <p:cNvPr id="9" name="Shape 6"/>
          <p:cNvSpPr/>
          <p:nvPr/>
        </p:nvSpPr>
        <p:spPr>
          <a:xfrm>
            <a:off x="548640" y="5029200"/>
            <a:ext cx="11064240" cy="685800"/>
          </a:xfrm>
          <a:prstGeom prst="rect">
            <a:avLst/>
          </a:prstGeom>
          <a:solidFill>
            <a:srgbClr val="EFF6FF"/>
          </a:solidFill>
          <a:ln w="15875">
            <a:solidFill>
              <a:srgbClr val="1D4ED8"/>
            </a:solidFill>
            <a:prstDash val="solid"/>
          </a:ln>
        </p:spPr>
      </p:sp>
      <p:sp>
        <p:nvSpPr>
          <p:cNvPr id="10" name="Shape 7"/>
          <p:cNvSpPr/>
          <p:nvPr/>
        </p:nvSpPr>
        <p:spPr>
          <a:xfrm>
            <a:off x="548640" y="5029200"/>
            <a:ext cx="82296" cy="685800"/>
          </a:xfrm>
          <a:prstGeom prst="rect">
            <a:avLst/>
          </a:prstGeom>
          <a:solidFill>
            <a:srgbClr val="1D4ED8"/>
          </a:solidFill>
          <a:ln w="12700">
            <a:solidFill>
              <a:srgbClr val="1D4ED8"/>
            </a:solidFill>
            <a:prstDash val="solid"/>
          </a:ln>
        </p:spPr>
      </p:sp>
      <p:sp>
        <p:nvSpPr>
          <p:cNvPr id="11" name="Text 8"/>
          <p:cNvSpPr/>
          <p:nvPr/>
        </p:nvSpPr>
        <p:spPr>
          <a:xfrm>
            <a:off x="713232" y="5074920"/>
            <a:ext cx="10835640" cy="594360"/>
          </a:xfrm>
          <a:prstGeom prst="rect">
            <a:avLst/>
          </a:prstGeom>
          <a:noFill/>
          <a:ln/>
        </p:spPr>
        <p:txBody>
          <a:bodyPr wrap="square" rtlCol="0" anchor="ctr"/>
          <a:lstStyle/>
          <a:p>
            <a:pPr indent="0" marL="0">
              <a:spcAft>
                <a:spcPts val="200"/>
              </a:spcAft>
              <a:buNone/>
            </a:pPr>
            <a:r>
              <a:rPr lang="en-US" sz="1250" b="1" dirty="0">
                <a:solidFill>
                  <a:srgbClr val="1D4ED8"/>
                </a:solidFill>
                <a:latin typeface="Meiryo UI" pitchFamily="34" charset="0"/>
                <a:ea typeface="Meiryo UI" pitchFamily="34" charset="-122"/>
                <a:cs typeface="Meiryo UI" pitchFamily="34" charset="-120"/>
              </a:rPr>
              <a:t>【ヒント】</a:t>
            </a:r>
            <a:endParaRPr lang="en-US" sz="1250" dirty="0"/>
          </a:p>
          <a:p>
            <a:pPr indent="0" marL="0">
              <a:spcAft>
                <a:spcPts val="200"/>
              </a:spcAft>
              <a:buNone/>
            </a:pPr>
            <a:r>
              <a:rPr lang="en-US" sz="1250" dirty="0">
                <a:solidFill>
                  <a:srgbClr val="1F2937"/>
                </a:solidFill>
                <a:latin typeface="Meiryo UI" pitchFamily="34" charset="0"/>
                <a:ea typeface="Meiryo UI" pitchFamily="34" charset="-122"/>
                <a:cs typeface="Meiryo UI" pitchFamily="34" charset="-120"/>
              </a:rPr>
              <a:t>"Once the client makes any transaction … on the account, it will become "Active"."（公式）＝ 承認済みの口座で取引をすると ACTIVE になる。</a:t>
            </a:r>
            <a:endParaRPr lang="en-US" sz="125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ステップ⑥【1/6】POST のリクエストを作る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6363081" cy="4343400"/>
          </a:xfrm>
          <a:prstGeom prst="rect">
            <a:avLst/>
          </a:prstGeom>
        </p:spPr>
      </p:pic>
      <p:sp>
        <p:nvSpPr>
          <p:cNvPr id="7" name="Shape 4"/>
          <p:cNvSpPr/>
          <p:nvPr/>
        </p:nvSpPr>
        <p:spPr>
          <a:xfrm>
            <a:off x="411480" y="1051560"/>
            <a:ext cx="6363081" cy="4343400"/>
          </a:xfrm>
          <a:prstGeom prst="rect">
            <a:avLst/>
          </a:prstGeom>
          <a:ln w="9525">
            <a:solidFill>
              <a:srgbClr val="D1D5DB"/>
            </a:solidFill>
            <a:prstDash val="solid"/>
          </a:ln>
        </p:spPr>
      </p:sp>
      <p:sp>
        <p:nvSpPr>
          <p:cNvPr id="8" name="Text 5"/>
          <p:cNvSpPr/>
          <p:nvPr/>
        </p:nvSpPr>
        <p:spPr>
          <a:xfrm>
            <a:off x="411480" y="5413248"/>
            <a:ext cx="6363081"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1044702" y="3042095"/>
            <a:ext cx="5096637" cy="405765"/>
          </a:xfrm>
          <a:prstGeom prst="rect">
            <a:avLst/>
          </a:prstGeom>
          <a:ln w="28575">
            <a:solidFill>
              <a:srgbClr val="E11D2E"/>
            </a:solidFill>
            <a:prstDash val="solid"/>
          </a:ln>
        </p:spPr>
      </p:sp>
      <p:sp>
        <p:nvSpPr>
          <p:cNvPr id="10" name="Shape 7"/>
          <p:cNvSpPr/>
          <p:nvPr/>
        </p:nvSpPr>
        <p:spPr>
          <a:xfrm>
            <a:off x="752094" y="3107817"/>
            <a:ext cx="274320" cy="274320"/>
          </a:xfrm>
          <a:prstGeom prst="ellipse">
            <a:avLst/>
          </a:prstGeom>
          <a:solidFill>
            <a:srgbClr val="E11D2E"/>
          </a:solidFill>
          <a:ln w="15875">
            <a:solidFill>
              <a:srgbClr val="FFFFFF"/>
            </a:solidFill>
            <a:prstDash val="solid"/>
          </a:ln>
        </p:spPr>
      </p:sp>
      <p:sp>
        <p:nvSpPr>
          <p:cNvPr id="11" name="Text 8"/>
          <p:cNvSpPr/>
          <p:nvPr/>
        </p:nvSpPr>
        <p:spPr>
          <a:xfrm>
            <a:off x="752094" y="3107817"/>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1044702" y="3899916"/>
            <a:ext cx="774954" cy="405765"/>
          </a:xfrm>
          <a:prstGeom prst="rect">
            <a:avLst/>
          </a:prstGeom>
          <a:ln w="28575">
            <a:solidFill>
              <a:srgbClr val="E11D2E"/>
            </a:solidFill>
            <a:prstDash val="solid"/>
          </a:ln>
        </p:spPr>
      </p:sp>
      <p:sp>
        <p:nvSpPr>
          <p:cNvPr id="13" name="Shape 10"/>
          <p:cNvSpPr/>
          <p:nvPr/>
        </p:nvSpPr>
        <p:spPr>
          <a:xfrm>
            <a:off x="752094" y="3965638"/>
            <a:ext cx="274320" cy="274320"/>
          </a:xfrm>
          <a:prstGeom prst="ellipse">
            <a:avLst/>
          </a:prstGeom>
          <a:solidFill>
            <a:srgbClr val="E11D2E"/>
          </a:solidFill>
          <a:ln w="15875">
            <a:solidFill>
              <a:srgbClr val="FFFFFF"/>
            </a:solidFill>
            <a:prstDash val="solid"/>
          </a:ln>
        </p:spPr>
      </p:sp>
      <p:sp>
        <p:nvSpPr>
          <p:cNvPr id="14" name="Text 11"/>
          <p:cNvSpPr/>
          <p:nvPr/>
        </p:nvSpPr>
        <p:spPr>
          <a:xfrm>
            <a:off x="752094" y="396563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Shape 12"/>
          <p:cNvSpPr/>
          <p:nvPr/>
        </p:nvSpPr>
        <p:spPr>
          <a:xfrm>
            <a:off x="1044702" y="3899916"/>
            <a:ext cx="5096637" cy="405765"/>
          </a:xfrm>
          <a:prstGeom prst="rect">
            <a:avLst/>
          </a:prstGeom>
          <a:ln w="28575">
            <a:solidFill>
              <a:srgbClr val="E11D2E"/>
            </a:solidFill>
            <a:prstDash val="solid"/>
          </a:ln>
        </p:spPr>
      </p:sp>
      <p:sp>
        <p:nvSpPr>
          <p:cNvPr id="16" name="Shape 13"/>
          <p:cNvSpPr/>
          <p:nvPr/>
        </p:nvSpPr>
        <p:spPr>
          <a:xfrm>
            <a:off x="6004179" y="3762756"/>
            <a:ext cx="274320" cy="274320"/>
          </a:xfrm>
          <a:prstGeom prst="ellipse">
            <a:avLst/>
          </a:prstGeom>
          <a:solidFill>
            <a:srgbClr val="E11D2E"/>
          </a:solidFill>
          <a:ln w="15875">
            <a:solidFill>
              <a:srgbClr val="FFFFFF"/>
            </a:solidFill>
            <a:prstDash val="solid"/>
          </a:ln>
        </p:spPr>
      </p:sp>
      <p:sp>
        <p:nvSpPr>
          <p:cNvPr id="17" name="Text 14"/>
          <p:cNvSpPr/>
          <p:nvPr/>
        </p:nvSpPr>
        <p:spPr>
          <a:xfrm>
            <a:off x="6004179" y="376275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8" name="Shape 15"/>
          <p:cNvSpPr/>
          <p:nvPr/>
        </p:nvSpPr>
        <p:spPr>
          <a:xfrm>
            <a:off x="5322951" y="4594860"/>
            <a:ext cx="818388" cy="362331"/>
          </a:xfrm>
          <a:prstGeom prst="rect">
            <a:avLst/>
          </a:prstGeom>
          <a:ln w="28575">
            <a:solidFill>
              <a:srgbClr val="E11D2E"/>
            </a:solidFill>
            <a:prstDash val="solid"/>
          </a:ln>
        </p:spPr>
      </p:sp>
      <p:sp>
        <p:nvSpPr>
          <p:cNvPr id="19" name="Shape 16"/>
          <p:cNvSpPr/>
          <p:nvPr/>
        </p:nvSpPr>
        <p:spPr>
          <a:xfrm>
            <a:off x="6159627" y="4638865"/>
            <a:ext cx="274320" cy="274320"/>
          </a:xfrm>
          <a:prstGeom prst="ellipse">
            <a:avLst/>
          </a:prstGeom>
          <a:solidFill>
            <a:srgbClr val="E11D2E"/>
          </a:solidFill>
          <a:ln w="15875">
            <a:solidFill>
              <a:srgbClr val="FFFFFF"/>
            </a:solidFill>
            <a:prstDash val="solid"/>
          </a:ln>
        </p:spPr>
      </p:sp>
      <p:sp>
        <p:nvSpPr>
          <p:cNvPr id="20" name="Text 17"/>
          <p:cNvSpPr/>
          <p:nvPr/>
        </p:nvSpPr>
        <p:spPr>
          <a:xfrm>
            <a:off x="6159627" y="4638865"/>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4</a:t>
            </a:r>
            <a:endParaRPr lang="en-US" sz="1200" dirty="0"/>
          </a:p>
        </p:txBody>
      </p:sp>
      <p:sp>
        <p:nvSpPr>
          <p:cNvPr id="21" name="Text 18"/>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右クリック → New Request。Request Name：08 First Deposit</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メソッド：POST</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③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URL：{{baseUrl}}/deposits/{{depositId}}/deposit-transactions</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④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「Create」をクリック</a:t>
            </a:r>
            <a:endParaRPr lang="en-US" sz="13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ステップ⑥【2/6】Headers タブに Idempotency-Key</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7680960" cy="4320540"/>
          </a:xfrm>
          <a:prstGeom prst="rect">
            <a:avLst/>
          </a:prstGeom>
        </p:spPr>
      </p:pic>
      <p:sp>
        <p:nvSpPr>
          <p:cNvPr id="7" name="Shape 4"/>
          <p:cNvSpPr/>
          <p:nvPr/>
        </p:nvSpPr>
        <p:spPr>
          <a:xfrm>
            <a:off x="411480" y="1051560"/>
            <a:ext cx="7680960" cy="4320540"/>
          </a:xfrm>
          <a:prstGeom prst="rect">
            <a:avLst/>
          </a:prstGeom>
          <a:ln w="9525">
            <a:solidFill>
              <a:srgbClr val="D1D5DB"/>
            </a:solidFill>
            <a:prstDash val="solid"/>
          </a:ln>
        </p:spPr>
      </p:sp>
      <p:sp>
        <p:nvSpPr>
          <p:cNvPr id="8" name="Text 5"/>
          <p:cNvSpPr/>
          <p:nvPr/>
        </p:nvSpPr>
        <p:spPr>
          <a:xfrm>
            <a:off x="411480" y="5390388"/>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1602943" y="1897380"/>
            <a:ext cx="574243" cy="343814"/>
          </a:xfrm>
          <a:prstGeom prst="rect">
            <a:avLst/>
          </a:prstGeom>
          <a:ln w="28575">
            <a:solidFill>
              <a:srgbClr val="E11D2E"/>
            </a:solidFill>
            <a:prstDash val="solid"/>
          </a:ln>
        </p:spPr>
      </p:sp>
      <p:sp>
        <p:nvSpPr>
          <p:cNvPr id="10" name="Shape 7"/>
          <p:cNvSpPr/>
          <p:nvPr/>
        </p:nvSpPr>
        <p:spPr>
          <a:xfrm>
            <a:off x="1465783" y="1760220"/>
            <a:ext cx="274320" cy="274320"/>
          </a:xfrm>
          <a:prstGeom prst="ellipse">
            <a:avLst/>
          </a:prstGeom>
          <a:solidFill>
            <a:srgbClr val="E11D2E"/>
          </a:solidFill>
          <a:ln w="15875">
            <a:solidFill>
              <a:srgbClr val="FFFFFF"/>
            </a:solidFill>
            <a:prstDash val="solid"/>
          </a:ln>
        </p:spPr>
      </p:sp>
      <p:sp>
        <p:nvSpPr>
          <p:cNvPr id="11" name="Text 8"/>
          <p:cNvSpPr/>
          <p:nvPr/>
        </p:nvSpPr>
        <p:spPr>
          <a:xfrm>
            <a:off x="1465783" y="17602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796442" y="2655875"/>
            <a:ext cx="1428750" cy="382219"/>
          </a:xfrm>
          <a:prstGeom prst="rect">
            <a:avLst/>
          </a:prstGeom>
          <a:ln w="28575">
            <a:solidFill>
              <a:srgbClr val="E11D2E"/>
            </a:solidFill>
            <a:prstDash val="solid"/>
          </a:ln>
        </p:spPr>
      </p:sp>
      <p:sp>
        <p:nvSpPr>
          <p:cNvPr id="13" name="Shape 10"/>
          <p:cNvSpPr/>
          <p:nvPr/>
        </p:nvSpPr>
        <p:spPr>
          <a:xfrm>
            <a:off x="503834" y="2709824"/>
            <a:ext cx="274320" cy="274320"/>
          </a:xfrm>
          <a:prstGeom prst="ellipse">
            <a:avLst/>
          </a:prstGeom>
          <a:solidFill>
            <a:srgbClr val="E11D2E"/>
          </a:solidFill>
          <a:ln w="15875">
            <a:solidFill>
              <a:srgbClr val="FFFFFF"/>
            </a:solidFill>
            <a:prstDash val="solid"/>
          </a:ln>
        </p:spPr>
      </p:sp>
      <p:sp>
        <p:nvSpPr>
          <p:cNvPr id="14" name="Text 11"/>
          <p:cNvSpPr/>
          <p:nvPr/>
        </p:nvSpPr>
        <p:spPr>
          <a:xfrm>
            <a:off x="503834" y="270982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Shape 12"/>
          <p:cNvSpPr/>
          <p:nvPr/>
        </p:nvSpPr>
        <p:spPr>
          <a:xfrm>
            <a:off x="2188616" y="2655875"/>
            <a:ext cx="3070555" cy="382219"/>
          </a:xfrm>
          <a:prstGeom prst="rect">
            <a:avLst/>
          </a:prstGeom>
          <a:ln w="28575">
            <a:solidFill>
              <a:srgbClr val="E11D2E"/>
            </a:solidFill>
            <a:prstDash val="solid"/>
          </a:ln>
        </p:spPr>
      </p:sp>
      <p:sp>
        <p:nvSpPr>
          <p:cNvPr id="16" name="Shape 13"/>
          <p:cNvSpPr/>
          <p:nvPr/>
        </p:nvSpPr>
        <p:spPr>
          <a:xfrm>
            <a:off x="5122012" y="2518715"/>
            <a:ext cx="274320" cy="274320"/>
          </a:xfrm>
          <a:prstGeom prst="ellipse">
            <a:avLst/>
          </a:prstGeom>
          <a:solidFill>
            <a:srgbClr val="E11D2E"/>
          </a:solidFill>
          <a:ln w="15875">
            <a:solidFill>
              <a:srgbClr val="FFFFFF"/>
            </a:solidFill>
            <a:prstDash val="solid"/>
          </a:ln>
        </p:spPr>
      </p:sp>
      <p:sp>
        <p:nvSpPr>
          <p:cNvPr id="17" name="Text 14"/>
          <p:cNvSpPr/>
          <p:nvPr/>
        </p:nvSpPr>
        <p:spPr>
          <a:xfrm>
            <a:off x="5122012" y="2518715"/>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8" name="Text 15"/>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「Headers」タブをクリック</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Name：Idempotency-Key</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③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Value：{{$randomUUID}}</a:t>
            </a:r>
            <a:endParaRPr lang="en-US" sz="1300" dirty="0"/>
          </a:p>
        </p:txBody>
      </p:sp>
      <p:sp>
        <p:nvSpPr>
          <p:cNvPr id="19" name="Shape 16"/>
          <p:cNvSpPr/>
          <p:nvPr/>
        </p:nvSpPr>
        <p:spPr>
          <a:xfrm>
            <a:off x="8275320" y="4114800"/>
            <a:ext cx="3520440" cy="1508760"/>
          </a:xfrm>
          <a:prstGeom prst="rect">
            <a:avLst/>
          </a:prstGeom>
          <a:solidFill>
            <a:srgbClr val="EFF6FF"/>
          </a:solidFill>
          <a:ln w="15875">
            <a:solidFill>
              <a:srgbClr val="1D4ED8"/>
            </a:solidFill>
            <a:prstDash val="solid"/>
          </a:ln>
        </p:spPr>
      </p:sp>
      <p:sp>
        <p:nvSpPr>
          <p:cNvPr id="20" name="Shape 17"/>
          <p:cNvSpPr/>
          <p:nvPr/>
        </p:nvSpPr>
        <p:spPr>
          <a:xfrm>
            <a:off x="8275320" y="4114800"/>
            <a:ext cx="82296" cy="1508760"/>
          </a:xfrm>
          <a:prstGeom prst="rect">
            <a:avLst/>
          </a:prstGeom>
          <a:solidFill>
            <a:srgbClr val="1D4ED8"/>
          </a:solidFill>
          <a:ln w="12700">
            <a:solidFill>
              <a:srgbClr val="1D4ED8"/>
            </a:solidFill>
            <a:prstDash val="solid"/>
          </a:ln>
        </p:spPr>
      </p:sp>
      <p:sp>
        <p:nvSpPr>
          <p:cNvPr id="21" name="Text 18"/>
          <p:cNvSpPr/>
          <p:nvPr/>
        </p:nvSpPr>
        <p:spPr>
          <a:xfrm>
            <a:off x="8439912" y="4160520"/>
            <a:ext cx="3291840" cy="1417320"/>
          </a:xfrm>
          <a:prstGeom prst="rect">
            <a:avLst/>
          </a:prstGeom>
          <a:noFill/>
          <a:ln/>
        </p:spPr>
        <p:txBody>
          <a:bodyPr wrap="square" rtlCol="0" anchor="t"/>
          <a:lstStyle/>
          <a:p>
            <a:pPr indent="0" marL="0">
              <a:spcAft>
                <a:spcPts val="200"/>
              </a:spcAft>
              <a:buNone/>
            </a:pPr>
            <a:r>
              <a:rPr lang="en-US" sz="1150" b="1" dirty="0">
                <a:solidFill>
                  <a:srgbClr val="1D4ED8"/>
                </a:solidFill>
                <a:latin typeface="Meiryo UI" pitchFamily="34" charset="0"/>
                <a:ea typeface="Meiryo UI" pitchFamily="34" charset="-122"/>
                <a:cs typeface="Meiryo UI" pitchFamily="34" charset="-120"/>
              </a:rPr>
              <a:t>【ヒント】</a:t>
            </a:r>
            <a:endParaRPr lang="en-US" sz="1150" dirty="0"/>
          </a:p>
          <a:p>
            <a:pPr indent="0" marL="0">
              <a:spcAft>
                <a:spcPts val="200"/>
              </a:spcAft>
              <a:buNone/>
            </a:pPr>
            <a:r>
              <a:rPr lang="en-US" sz="1150" dirty="0">
                <a:solidFill>
                  <a:srgbClr val="1F2937"/>
                </a:solidFill>
                <a:latin typeface="Meiryo UI" pitchFamily="34" charset="0"/>
                <a:ea typeface="Meiryo UI" pitchFamily="34" charset="-122"/>
                <a:cs typeface="Meiryo UI" pitchFamily="34" charset="-120"/>
              </a:rPr>
              <a:t>お金を動かす操作では特に大切です。通信が切れて再送しても、同じキーなら入金が 2 回にならない（準備5）。</a:t>
            </a:r>
            <a:endParaRPr lang="en-US" sz="115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ステップ⑥【3/6】Body に入金額と取引チャネルを入れる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5669280" cy="3188970"/>
          </a:xfrm>
          <a:prstGeom prst="rect">
            <a:avLst/>
          </a:prstGeom>
        </p:spPr>
      </p:pic>
      <p:sp>
        <p:nvSpPr>
          <p:cNvPr id="7" name="Shape 4"/>
          <p:cNvSpPr/>
          <p:nvPr/>
        </p:nvSpPr>
        <p:spPr>
          <a:xfrm>
            <a:off x="411480" y="1051560"/>
            <a:ext cx="5669280" cy="3188970"/>
          </a:xfrm>
          <a:prstGeom prst="rect">
            <a:avLst/>
          </a:prstGeom>
          <a:ln w="9525">
            <a:solidFill>
              <a:srgbClr val="D1D5DB"/>
            </a:solidFill>
            <a:prstDash val="solid"/>
          </a:ln>
        </p:spPr>
      </p:sp>
      <p:sp>
        <p:nvSpPr>
          <p:cNvPr id="8" name="Text 5"/>
          <p:cNvSpPr/>
          <p:nvPr/>
        </p:nvSpPr>
        <p:spPr>
          <a:xfrm>
            <a:off x="411480" y="4258818"/>
            <a:ext cx="566928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945947" y="1671066"/>
            <a:ext cx="341300" cy="263347"/>
          </a:xfrm>
          <a:prstGeom prst="rect">
            <a:avLst/>
          </a:prstGeom>
          <a:ln w="28575">
            <a:solidFill>
              <a:srgbClr val="E11D2E"/>
            </a:solidFill>
            <a:prstDash val="solid"/>
          </a:ln>
        </p:spPr>
      </p:sp>
      <p:sp>
        <p:nvSpPr>
          <p:cNvPr id="10" name="Shape 7"/>
          <p:cNvSpPr/>
          <p:nvPr/>
        </p:nvSpPr>
        <p:spPr>
          <a:xfrm>
            <a:off x="808787" y="1533906"/>
            <a:ext cx="274320" cy="274320"/>
          </a:xfrm>
          <a:prstGeom prst="ellipse">
            <a:avLst/>
          </a:prstGeom>
          <a:solidFill>
            <a:srgbClr val="E11D2E"/>
          </a:solidFill>
          <a:ln w="15875">
            <a:solidFill>
              <a:srgbClr val="FFFFFF"/>
            </a:solidFill>
            <a:prstDash val="solid"/>
          </a:ln>
        </p:spPr>
      </p:sp>
      <p:sp>
        <p:nvSpPr>
          <p:cNvPr id="11" name="Text 8"/>
          <p:cNvSpPr/>
          <p:nvPr/>
        </p:nvSpPr>
        <p:spPr>
          <a:xfrm>
            <a:off x="808787" y="153390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4886096" y="1699412"/>
            <a:ext cx="447599" cy="220828"/>
          </a:xfrm>
          <a:prstGeom prst="rect">
            <a:avLst/>
          </a:prstGeom>
          <a:ln w="28575">
            <a:solidFill>
              <a:srgbClr val="E11D2E"/>
            </a:solidFill>
            <a:prstDash val="solid"/>
          </a:ln>
        </p:spPr>
      </p:sp>
      <p:sp>
        <p:nvSpPr>
          <p:cNvPr id="13" name="Shape 10"/>
          <p:cNvSpPr/>
          <p:nvPr/>
        </p:nvSpPr>
        <p:spPr>
          <a:xfrm>
            <a:off x="5196535" y="1562252"/>
            <a:ext cx="274320" cy="274320"/>
          </a:xfrm>
          <a:prstGeom prst="ellipse">
            <a:avLst/>
          </a:prstGeom>
          <a:solidFill>
            <a:srgbClr val="E11D2E"/>
          </a:solidFill>
          <a:ln w="15875">
            <a:solidFill>
              <a:srgbClr val="FFFFFF"/>
            </a:solidFill>
            <a:prstDash val="solid"/>
          </a:ln>
        </p:spPr>
      </p:sp>
      <p:sp>
        <p:nvSpPr>
          <p:cNvPr id="14" name="Text 11"/>
          <p:cNvSpPr/>
          <p:nvPr/>
        </p:nvSpPr>
        <p:spPr>
          <a:xfrm>
            <a:off x="5196535" y="156225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Shape 12"/>
          <p:cNvSpPr/>
          <p:nvPr/>
        </p:nvSpPr>
        <p:spPr>
          <a:xfrm>
            <a:off x="513664" y="2067916"/>
            <a:ext cx="5174361" cy="833818"/>
          </a:xfrm>
          <a:prstGeom prst="rect">
            <a:avLst/>
          </a:prstGeom>
          <a:ln w="28575">
            <a:solidFill>
              <a:srgbClr val="E11D2E"/>
            </a:solidFill>
            <a:prstDash val="solid"/>
          </a:ln>
        </p:spPr>
      </p:sp>
      <p:sp>
        <p:nvSpPr>
          <p:cNvPr id="16" name="Shape 13"/>
          <p:cNvSpPr/>
          <p:nvPr/>
        </p:nvSpPr>
        <p:spPr>
          <a:xfrm>
            <a:off x="221056" y="2347665"/>
            <a:ext cx="274320" cy="274320"/>
          </a:xfrm>
          <a:prstGeom prst="ellipse">
            <a:avLst/>
          </a:prstGeom>
          <a:solidFill>
            <a:srgbClr val="E11D2E"/>
          </a:solidFill>
          <a:ln w="15875">
            <a:solidFill>
              <a:srgbClr val="FFFFFF"/>
            </a:solidFill>
            <a:prstDash val="solid"/>
          </a:ln>
        </p:spPr>
      </p:sp>
      <p:sp>
        <p:nvSpPr>
          <p:cNvPr id="17" name="Text 14"/>
          <p:cNvSpPr/>
          <p:nvPr/>
        </p:nvSpPr>
        <p:spPr>
          <a:xfrm>
            <a:off x="221056" y="2347665"/>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8" name="Text 15"/>
          <p:cNvSpPr/>
          <p:nvPr/>
        </p:nvSpPr>
        <p:spPr>
          <a:xfrm>
            <a:off x="6263640" y="1051560"/>
            <a:ext cx="5532120" cy="1097280"/>
          </a:xfrm>
          <a:prstGeom prst="rect">
            <a:avLst/>
          </a:prstGeom>
          <a:noFill/>
          <a:ln/>
        </p:spPr>
        <p:txBody>
          <a:bodyPr wrap="square" rtlCol="0" anchor="t"/>
          <a:lstStyle/>
          <a:p>
            <a:pPr indent="0" marL="0">
              <a:spcAft>
                <a:spcPts val="400"/>
              </a:spcAft>
              <a:buNone/>
            </a:pPr>
            <a:r>
              <a:rPr lang="en-US" sz="1250" b="1" dirty="0">
                <a:solidFill>
                  <a:srgbClr val="E11D2E"/>
                </a:solidFill>
                <a:latin typeface="Meiryo UI" pitchFamily="34" charset="0"/>
                <a:ea typeface="Meiryo UI" pitchFamily="34" charset="-122"/>
                <a:cs typeface="Meiryo UI" pitchFamily="34" charset="-120"/>
              </a:rPr>
              <a:t>① </a:t>
            </a:r>
            <a:pPr indent="0" marL="0">
              <a:spcAft>
                <a:spcPts val="400"/>
              </a:spcAft>
              <a:buNone/>
            </a:pPr>
            <a:r>
              <a:rPr lang="en-US" sz="1250" dirty="0">
                <a:solidFill>
                  <a:srgbClr val="1F2937"/>
                </a:solidFill>
                <a:latin typeface="Meiryo UI" pitchFamily="34" charset="0"/>
                <a:ea typeface="Meiryo UI" pitchFamily="34" charset="-122"/>
                <a:cs typeface="Meiryo UI" pitchFamily="34" charset="-120"/>
              </a:rPr>
              <a:t>「Body」タブ →「No Body ▼」→「JSON」</a:t>
            </a:r>
            <a:endParaRPr lang="en-US" sz="1250" dirty="0"/>
          </a:p>
          <a:p>
            <a:pPr indent="0" marL="0">
              <a:spcAft>
                <a:spcPts val="400"/>
              </a:spcAft>
              <a:buNone/>
            </a:pPr>
            <a:r>
              <a:rPr lang="en-US" sz="1250" b="1" dirty="0">
                <a:solidFill>
                  <a:srgbClr val="E11D2E"/>
                </a:solidFill>
                <a:latin typeface="Meiryo UI" pitchFamily="34" charset="0"/>
                <a:ea typeface="Meiryo UI" pitchFamily="34" charset="-122"/>
                <a:cs typeface="Meiryo UI" pitchFamily="34" charset="-120"/>
              </a:rPr>
              <a:t>② </a:t>
            </a:r>
            <a:pPr indent="0" marL="0">
              <a:spcAft>
                <a:spcPts val="400"/>
              </a:spcAft>
              <a:buNone/>
            </a:pPr>
            <a:r>
              <a:rPr lang="en-US" sz="1250" dirty="0">
                <a:solidFill>
                  <a:srgbClr val="1F2937"/>
                </a:solidFill>
                <a:latin typeface="Meiryo UI" pitchFamily="34" charset="0"/>
                <a:ea typeface="Meiryo UI" pitchFamily="34" charset="-122"/>
                <a:cs typeface="Meiryo UI" pitchFamily="34" charset="-120"/>
              </a:rPr>
              <a:t>下の枠の JSON をコピーして貼り付ける</a:t>
            </a:r>
            <a:endParaRPr lang="en-US" sz="1250" dirty="0"/>
          </a:p>
        </p:txBody>
      </p:sp>
      <p:sp>
        <p:nvSpPr>
          <p:cNvPr id="19" name="Text 16"/>
          <p:cNvSpPr/>
          <p:nvPr/>
        </p:nvSpPr>
        <p:spPr>
          <a:xfrm>
            <a:off x="6263640" y="2103120"/>
            <a:ext cx="5532120" cy="1234440"/>
          </a:xfrm>
          <a:prstGeom prst="rect">
            <a:avLst/>
          </a:prstGeom>
          <a:solidFill>
            <a:srgbClr val="F3F4F6"/>
          </a:solidFill>
          <a:ln w="12700">
            <a:solidFill>
              <a:srgbClr val="D1D5DB"/>
            </a:solidFill>
          </a:ln>
        </p:spPr>
        <p:txBody>
          <a:bodyPr wrap="square" lIns="101600" tIns="101600" rIns="101600" bIns="101600" rtlCol="0" anchor="t"/>
          <a:lstStyle/>
          <a:p>
            <a:pPr indent="0" marL="0">
              <a:buNone/>
            </a:pPr>
            <a:r>
              <a:rPr lang="en-US" sz="1050" dirty="0">
                <a:solidFill>
                  <a:srgbClr val="111827"/>
                </a:solidFill>
                <a:latin typeface="Consolas" pitchFamily="34" charset="0"/>
                <a:ea typeface="Consolas" pitchFamily="34" charset="-122"/>
                <a:cs typeface="Consolas" pitchFamily="34" charset="-120"/>
              </a:rPr>
              <a:t>{</a:t>
            </a:r>
            <a:endParaRPr lang="en-US" sz="1050" dirty="0"/>
          </a:p>
          <a:p>
            <a:pPr indent="0" marL="0">
              <a:buNone/>
            </a:pPr>
            <a:r>
              <a:rPr lang="en-US" sz="1050" dirty="0">
                <a:solidFill>
                  <a:srgbClr val="111827"/>
                </a:solidFill>
                <a:latin typeface="Consolas" pitchFamily="34" charset="0"/>
                <a:ea typeface="Consolas" pitchFamily="34" charset="-122"/>
                <a:cs typeface="Consolas" pitchFamily="34" charset="-120"/>
              </a:rPr>
              <a:t>  "amount": 10000,</a:t>
            </a:r>
            <a:endParaRPr lang="en-US" sz="1050" dirty="0"/>
          </a:p>
          <a:p>
            <a:pPr indent="0" marL="0">
              <a:buNone/>
            </a:pPr>
            <a:r>
              <a:rPr lang="en-US" sz="1050" dirty="0">
                <a:solidFill>
                  <a:srgbClr val="111827"/>
                </a:solidFill>
                <a:latin typeface="Consolas" pitchFamily="34" charset="0"/>
                <a:ea typeface="Consolas" pitchFamily="34" charset="-122"/>
                <a:cs typeface="Consolas" pitchFamily="34" charset="-120"/>
              </a:rPr>
              <a:t>  "transactionDetails": { "transactionChannelId": "{{channelId}}" },</a:t>
            </a:r>
            <a:endParaRPr lang="en-US" sz="1050" dirty="0"/>
          </a:p>
          <a:p>
            <a:pPr indent="0" marL="0">
              <a:buNone/>
            </a:pPr>
            <a:r>
              <a:rPr lang="en-US" sz="1050" dirty="0">
                <a:solidFill>
                  <a:srgbClr val="111827"/>
                </a:solidFill>
                <a:latin typeface="Consolas" pitchFamily="34" charset="0"/>
                <a:ea typeface="Consolas" pitchFamily="34" charset="-122"/>
                <a:cs typeface="Consolas" pitchFamily="34" charset="-120"/>
              </a:rPr>
              <a:t>  "notes": "初回入金"</a:t>
            </a:r>
            <a:endParaRPr lang="en-US" sz="1050" dirty="0"/>
          </a:p>
          <a:p>
            <a:pPr indent="0" marL="0">
              <a:buNone/>
            </a:pPr>
            <a:r>
              <a:rPr lang="en-US" sz="1050" dirty="0">
                <a:solidFill>
                  <a:srgbClr val="111827"/>
                </a:solidFill>
                <a:latin typeface="Consolas" pitchFamily="34" charset="0"/>
                <a:ea typeface="Consolas" pitchFamily="34" charset="-122"/>
                <a:cs typeface="Consolas" pitchFamily="34" charset="-120"/>
              </a:rPr>
              <a:t>}</a:t>
            </a:r>
            <a:endParaRPr lang="en-US" sz="1050" dirty="0"/>
          </a:p>
        </p:txBody>
      </p:sp>
      <p:sp>
        <p:nvSpPr>
          <p:cNvPr id="20" name="Text 17"/>
          <p:cNvSpPr/>
          <p:nvPr/>
        </p:nvSpPr>
        <p:spPr>
          <a:xfrm>
            <a:off x="6263640" y="1828800"/>
            <a:ext cx="5532120" cy="274320"/>
          </a:xfrm>
          <a:prstGeom prst="rect">
            <a:avLst/>
          </a:prstGeom>
          <a:noFill/>
          <a:ln/>
        </p:spPr>
        <p:txBody>
          <a:bodyPr wrap="square" rtlCol="0" anchor="ctr"/>
          <a:lstStyle/>
          <a:p>
            <a:pPr indent="0" marL="0">
              <a:buNone/>
            </a:pPr>
            <a:r>
              <a:rPr lang="en-US" sz="1100" dirty="0">
                <a:solidFill>
                  <a:srgbClr val="6B7280"/>
                </a:solidFill>
                <a:latin typeface="Meiryo UI" pitchFamily="34" charset="0"/>
                <a:ea typeface="Meiryo UI" pitchFamily="34" charset="-122"/>
                <a:cs typeface="Meiryo UI" pitchFamily="34" charset="-120"/>
              </a:rPr>
              <a:t>コピー用（この枠の中を全部コピーして、Body の入力欄に貼り付ける）</a:t>
            </a:r>
            <a:endParaRPr lang="en-US" sz="1100" dirty="0"/>
          </a:p>
        </p:txBody>
      </p:sp>
      <p:sp>
        <p:nvSpPr>
          <p:cNvPr id="21" name="Shape 18"/>
          <p:cNvSpPr/>
          <p:nvPr/>
        </p:nvSpPr>
        <p:spPr>
          <a:xfrm>
            <a:off x="6263640" y="3447288"/>
            <a:ext cx="5532120" cy="1188720"/>
          </a:xfrm>
          <a:prstGeom prst="rect">
            <a:avLst/>
          </a:prstGeom>
          <a:solidFill>
            <a:srgbClr val="EFF6FF"/>
          </a:solidFill>
          <a:ln w="15875">
            <a:solidFill>
              <a:srgbClr val="1D4ED8"/>
            </a:solidFill>
            <a:prstDash val="solid"/>
          </a:ln>
        </p:spPr>
      </p:sp>
      <p:sp>
        <p:nvSpPr>
          <p:cNvPr id="22" name="Shape 19"/>
          <p:cNvSpPr/>
          <p:nvPr/>
        </p:nvSpPr>
        <p:spPr>
          <a:xfrm>
            <a:off x="6263640" y="3447288"/>
            <a:ext cx="82296" cy="1188720"/>
          </a:xfrm>
          <a:prstGeom prst="rect">
            <a:avLst/>
          </a:prstGeom>
          <a:solidFill>
            <a:srgbClr val="1D4ED8"/>
          </a:solidFill>
          <a:ln w="12700">
            <a:solidFill>
              <a:srgbClr val="1D4ED8"/>
            </a:solidFill>
            <a:prstDash val="solid"/>
          </a:ln>
        </p:spPr>
      </p:sp>
      <p:sp>
        <p:nvSpPr>
          <p:cNvPr id="23" name="Text 20"/>
          <p:cNvSpPr/>
          <p:nvPr/>
        </p:nvSpPr>
        <p:spPr>
          <a:xfrm>
            <a:off x="6428232" y="3493008"/>
            <a:ext cx="5303520" cy="1097280"/>
          </a:xfrm>
          <a:prstGeom prst="rect">
            <a:avLst/>
          </a:prstGeom>
          <a:noFill/>
          <a:ln/>
        </p:spPr>
        <p:txBody>
          <a:bodyPr wrap="square" rtlCol="0" anchor="t"/>
          <a:lstStyle/>
          <a:p>
            <a:pPr indent="0" marL="0">
              <a:spcAft>
                <a:spcPts val="200"/>
              </a:spcAft>
              <a:buNone/>
            </a:pPr>
            <a:r>
              <a:rPr lang="en-US" sz="1100" b="1" dirty="0">
                <a:solidFill>
                  <a:srgbClr val="1D4ED8"/>
                </a:solidFill>
                <a:latin typeface="Meiryo UI" pitchFamily="34" charset="0"/>
                <a:ea typeface="Meiryo UI" pitchFamily="34" charset="-122"/>
                <a:cs typeface="Meiryo UI" pitchFamily="34" charset="-120"/>
              </a:rPr>
              <a:t>【ヒント】</a:t>
            </a:r>
            <a:endParaRPr lang="en-US" sz="1100" dirty="0"/>
          </a:p>
          <a:p>
            <a:pPr indent="0" marL="0">
              <a:spcAft>
                <a:spcPts val="200"/>
              </a:spcAft>
              <a:buNone/>
            </a:pPr>
            <a:r>
              <a:rPr lang="en-US" sz="1100" dirty="0">
                <a:solidFill>
                  <a:srgbClr val="1F2937"/>
                </a:solidFill>
                <a:latin typeface="Meiryo UI" pitchFamily="34" charset="0"/>
                <a:ea typeface="Meiryo UI" pitchFamily="34" charset="-122"/>
                <a:cs typeface="Meiryo UI" pitchFamily="34" charset="-120"/>
              </a:rPr>
              <a:t>amount（必須）は数値なので " で囲みません（第1章）。取引チャネルが必須かどうかはテナントの設定によります（必須なのに無いと 228 TRANSACTION_CHANNEL_IS_MANDATORY）。</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ステップ⑥【4/6】Assert タブで 201 を確認する設定</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7680960" cy="4320540"/>
          </a:xfrm>
          <a:prstGeom prst="rect">
            <a:avLst/>
          </a:prstGeom>
        </p:spPr>
      </p:pic>
      <p:sp>
        <p:nvSpPr>
          <p:cNvPr id="7" name="Shape 4"/>
          <p:cNvSpPr/>
          <p:nvPr/>
        </p:nvSpPr>
        <p:spPr>
          <a:xfrm>
            <a:off x="411480" y="1051560"/>
            <a:ext cx="7680960" cy="4320540"/>
          </a:xfrm>
          <a:prstGeom prst="rect">
            <a:avLst/>
          </a:prstGeom>
          <a:ln w="9525">
            <a:solidFill>
              <a:srgbClr val="D1D5DB"/>
            </a:solidFill>
            <a:prstDash val="solid"/>
          </a:ln>
        </p:spPr>
      </p:sp>
      <p:sp>
        <p:nvSpPr>
          <p:cNvPr id="8" name="Text 5"/>
          <p:cNvSpPr/>
          <p:nvPr/>
        </p:nvSpPr>
        <p:spPr>
          <a:xfrm>
            <a:off x="411480" y="5390388"/>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3830422" y="1897380"/>
            <a:ext cx="459029" cy="343814"/>
          </a:xfrm>
          <a:prstGeom prst="rect">
            <a:avLst/>
          </a:prstGeom>
          <a:ln w="28575">
            <a:solidFill>
              <a:srgbClr val="E11D2E"/>
            </a:solidFill>
            <a:prstDash val="solid"/>
          </a:ln>
        </p:spPr>
      </p:sp>
      <p:sp>
        <p:nvSpPr>
          <p:cNvPr id="10" name="Shape 7"/>
          <p:cNvSpPr/>
          <p:nvPr/>
        </p:nvSpPr>
        <p:spPr>
          <a:xfrm>
            <a:off x="3693262" y="1760220"/>
            <a:ext cx="274320" cy="274320"/>
          </a:xfrm>
          <a:prstGeom prst="ellipse">
            <a:avLst/>
          </a:prstGeom>
          <a:solidFill>
            <a:srgbClr val="E11D2E"/>
          </a:solidFill>
          <a:ln w="15875">
            <a:solidFill>
              <a:srgbClr val="FFFFFF"/>
            </a:solidFill>
            <a:prstDash val="solid"/>
          </a:ln>
        </p:spPr>
      </p:sp>
      <p:sp>
        <p:nvSpPr>
          <p:cNvPr id="11" name="Text 8"/>
          <p:cNvSpPr/>
          <p:nvPr/>
        </p:nvSpPr>
        <p:spPr>
          <a:xfrm>
            <a:off x="3693262" y="17602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796442" y="2655875"/>
            <a:ext cx="4529938" cy="382219"/>
          </a:xfrm>
          <a:prstGeom prst="rect">
            <a:avLst/>
          </a:prstGeom>
          <a:ln w="28575">
            <a:solidFill>
              <a:srgbClr val="E11D2E"/>
            </a:solidFill>
            <a:prstDash val="solid"/>
          </a:ln>
        </p:spPr>
      </p:sp>
      <p:sp>
        <p:nvSpPr>
          <p:cNvPr id="13" name="Shape 10"/>
          <p:cNvSpPr/>
          <p:nvPr/>
        </p:nvSpPr>
        <p:spPr>
          <a:xfrm>
            <a:off x="503834" y="2709824"/>
            <a:ext cx="274320" cy="274320"/>
          </a:xfrm>
          <a:prstGeom prst="ellipse">
            <a:avLst/>
          </a:prstGeom>
          <a:solidFill>
            <a:srgbClr val="E11D2E"/>
          </a:solidFill>
          <a:ln w="15875">
            <a:solidFill>
              <a:srgbClr val="FFFFFF"/>
            </a:solidFill>
            <a:prstDash val="solid"/>
          </a:ln>
        </p:spPr>
      </p:sp>
      <p:sp>
        <p:nvSpPr>
          <p:cNvPr id="14" name="Text 11"/>
          <p:cNvSpPr/>
          <p:nvPr/>
        </p:nvSpPr>
        <p:spPr>
          <a:xfrm>
            <a:off x="503834" y="270982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Text 12"/>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「Assert」タブをクリック</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Expr：res.status、Operator：equals、Value：201</a:t>
            </a:r>
            <a:endParaRPr lang="en-US" sz="1300" dirty="0"/>
          </a:p>
        </p:txBody>
      </p:sp>
      <p:sp>
        <p:nvSpPr>
          <p:cNvPr id="16" name="Shape 13"/>
          <p:cNvSpPr/>
          <p:nvPr/>
        </p:nvSpPr>
        <p:spPr>
          <a:xfrm>
            <a:off x="8275320" y="4114800"/>
            <a:ext cx="3520440" cy="1508760"/>
          </a:xfrm>
          <a:prstGeom prst="rect">
            <a:avLst/>
          </a:prstGeom>
          <a:solidFill>
            <a:srgbClr val="EFF6FF"/>
          </a:solidFill>
          <a:ln w="15875">
            <a:solidFill>
              <a:srgbClr val="1D4ED8"/>
            </a:solidFill>
            <a:prstDash val="solid"/>
          </a:ln>
        </p:spPr>
      </p:sp>
      <p:sp>
        <p:nvSpPr>
          <p:cNvPr id="17" name="Shape 14"/>
          <p:cNvSpPr/>
          <p:nvPr/>
        </p:nvSpPr>
        <p:spPr>
          <a:xfrm>
            <a:off x="8275320" y="4114800"/>
            <a:ext cx="82296" cy="1508760"/>
          </a:xfrm>
          <a:prstGeom prst="rect">
            <a:avLst/>
          </a:prstGeom>
          <a:solidFill>
            <a:srgbClr val="1D4ED8"/>
          </a:solidFill>
          <a:ln w="12700">
            <a:solidFill>
              <a:srgbClr val="1D4ED8"/>
            </a:solidFill>
            <a:prstDash val="solid"/>
          </a:ln>
        </p:spPr>
      </p:sp>
      <p:sp>
        <p:nvSpPr>
          <p:cNvPr id="18" name="Text 15"/>
          <p:cNvSpPr/>
          <p:nvPr/>
        </p:nvSpPr>
        <p:spPr>
          <a:xfrm>
            <a:off x="8439912" y="4160520"/>
            <a:ext cx="3291840" cy="1417320"/>
          </a:xfrm>
          <a:prstGeom prst="rect">
            <a:avLst/>
          </a:prstGeom>
          <a:noFill/>
          <a:ln/>
        </p:spPr>
        <p:txBody>
          <a:bodyPr wrap="square" rtlCol="0" anchor="t"/>
          <a:lstStyle/>
          <a:p>
            <a:pPr indent="0" marL="0">
              <a:spcAft>
                <a:spcPts val="200"/>
              </a:spcAft>
              <a:buNone/>
            </a:pPr>
            <a:r>
              <a:rPr lang="en-US" sz="1150" b="1" dirty="0">
                <a:solidFill>
                  <a:srgbClr val="1D4ED8"/>
                </a:solidFill>
                <a:latin typeface="Meiryo UI" pitchFamily="34" charset="0"/>
                <a:ea typeface="Meiryo UI" pitchFamily="34" charset="-122"/>
                <a:cs typeface="Meiryo UI" pitchFamily="34" charset="-120"/>
              </a:rPr>
              <a:t>【ヒント】</a:t>
            </a:r>
            <a:endParaRPr lang="en-US" sz="1150" dirty="0"/>
          </a:p>
          <a:p>
            <a:pPr indent="0" marL="0">
              <a:spcAft>
                <a:spcPts val="200"/>
              </a:spcAft>
              <a:buNone/>
            </a:pPr>
            <a:r>
              <a:rPr lang="en-US" sz="1150" dirty="0">
                <a:solidFill>
                  <a:srgbClr val="1F2937"/>
                </a:solidFill>
                <a:latin typeface="Meiryo UI" pitchFamily="34" charset="0"/>
                <a:ea typeface="Meiryo UI" pitchFamily="34" charset="-122"/>
                <a:cs typeface="Meiryo UI" pitchFamily="34" charset="-120"/>
              </a:rPr>
              <a:t>入金のレスポンスは「取引」の情報です。口座の状態（ACTIVE）は、ステップ⑦で口座を取得して確認します。</a:t>
            </a:r>
            <a:endParaRPr lang="en-US" sz="115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ステップ⑥【5/6】保存する（Send は押さない）</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5356860" cy="4343400"/>
          </a:xfrm>
          <a:prstGeom prst="rect">
            <a:avLst/>
          </a:prstGeom>
        </p:spPr>
      </p:pic>
      <p:sp>
        <p:nvSpPr>
          <p:cNvPr id="7" name="Shape 4"/>
          <p:cNvSpPr/>
          <p:nvPr/>
        </p:nvSpPr>
        <p:spPr>
          <a:xfrm>
            <a:off x="411480" y="1051560"/>
            <a:ext cx="5356860" cy="4343400"/>
          </a:xfrm>
          <a:prstGeom prst="rect">
            <a:avLst/>
          </a:prstGeom>
          <a:ln w="9525">
            <a:solidFill>
              <a:srgbClr val="D1D5DB"/>
            </a:solidFill>
            <a:prstDash val="solid"/>
          </a:ln>
        </p:spPr>
      </p:sp>
      <p:sp>
        <p:nvSpPr>
          <p:cNvPr id="8" name="Text 5"/>
          <p:cNvSpPr/>
          <p:nvPr/>
        </p:nvSpPr>
        <p:spPr>
          <a:xfrm>
            <a:off x="411480" y="5413248"/>
            <a:ext cx="53568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4874133" y="1713738"/>
            <a:ext cx="217551" cy="224790"/>
          </a:xfrm>
          <a:prstGeom prst="rect">
            <a:avLst/>
          </a:prstGeom>
          <a:ln w="28575">
            <a:solidFill>
              <a:srgbClr val="E11D2E"/>
            </a:solidFill>
            <a:prstDash val="solid"/>
          </a:ln>
        </p:spPr>
      </p:sp>
      <p:sp>
        <p:nvSpPr>
          <p:cNvPr id="10" name="Shape 7"/>
          <p:cNvSpPr/>
          <p:nvPr/>
        </p:nvSpPr>
        <p:spPr>
          <a:xfrm>
            <a:off x="4581525" y="1688973"/>
            <a:ext cx="274320" cy="274320"/>
          </a:xfrm>
          <a:prstGeom prst="ellipse">
            <a:avLst/>
          </a:prstGeom>
          <a:solidFill>
            <a:srgbClr val="E11D2E"/>
          </a:solidFill>
          <a:ln w="15875">
            <a:solidFill>
              <a:srgbClr val="FFFFFF"/>
            </a:solidFill>
            <a:prstDash val="solid"/>
          </a:ln>
        </p:spPr>
      </p:sp>
      <p:sp>
        <p:nvSpPr>
          <p:cNvPr id="11" name="Text 8"/>
          <p:cNvSpPr/>
          <p:nvPr/>
        </p:nvSpPr>
        <p:spPr>
          <a:xfrm>
            <a:off x="4581525" y="1688973"/>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5156454" y="1684782"/>
            <a:ext cx="514350" cy="282702"/>
          </a:xfrm>
          <a:prstGeom prst="rect">
            <a:avLst/>
          </a:prstGeom>
          <a:ln w="28575">
            <a:solidFill>
              <a:srgbClr val="E11D2E"/>
            </a:solidFill>
            <a:prstDash val="solid"/>
          </a:ln>
        </p:spPr>
      </p:sp>
      <p:sp>
        <p:nvSpPr>
          <p:cNvPr id="13" name="Shape 10"/>
          <p:cNvSpPr/>
          <p:nvPr/>
        </p:nvSpPr>
        <p:spPr>
          <a:xfrm>
            <a:off x="5019294" y="1830324"/>
            <a:ext cx="274320" cy="274320"/>
          </a:xfrm>
          <a:prstGeom prst="ellipse">
            <a:avLst/>
          </a:prstGeom>
          <a:solidFill>
            <a:srgbClr val="E11D2E"/>
          </a:solidFill>
          <a:ln w="15875">
            <a:solidFill>
              <a:srgbClr val="FFFFFF"/>
            </a:solidFill>
            <a:prstDash val="solid"/>
          </a:ln>
        </p:spPr>
      </p:sp>
      <p:sp>
        <p:nvSpPr>
          <p:cNvPr id="14" name="Text 11"/>
          <p:cNvSpPr/>
          <p:nvPr/>
        </p:nvSpPr>
        <p:spPr>
          <a:xfrm>
            <a:off x="5019294" y="183032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Text 12"/>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Ctrl + S を押して保存する（または ① の保存アイコンをクリック）</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保存すると、① のアイコンがオレンジから灰色に変わる（タブの名前の右のオレンジの点も消える）</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③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② の Send は押さない（Ctrl + Enter も押さない。この教材では送信しない）</a:t>
            </a:r>
            <a:endParaRPr lang="en-US" sz="1300" dirty="0"/>
          </a:p>
        </p:txBody>
      </p:sp>
      <p:sp>
        <p:nvSpPr>
          <p:cNvPr id="16" name="Shape 13"/>
          <p:cNvSpPr/>
          <p:nvPr/>
        </p:nvSpPr>
        <p:spPr>
          <a:xfrm>
            <a:off x="8275320" y="3520440"/>
            <a:ext cx="3520440" cy="2103120"/>
          </a:xfrm>
          <a:prstGeom prst="rect">
            <a:avLst/>
          </a:prstGeom>
          <a:solidFill>
            <a:srgbClr val="ECFDF5"/>
          </a:solidFill>
          <a:ln w="15875">
            <a:solidFill>
              <a:srgbClr val="047857"/>
            </a:solidFill>
            <a:prstDash val="solid"/>
          </a:ln>
        </p:spPr>
      </p:sp>
      <p:sp>
        <p:nvSpPr>
          <p:cNvPr id="17" name="Shape 14"/>
          <p:cNvSpPr/>
          <p:nvPr/>
        </p:nvSpPr>
        <p:spPr>
          <a:xfrm>
            <a:off x="8275320" y="3520440"/>
            <a:ext cx="82296" cy="2103120"/>
          </a:xfrm>
          <a:prstGeom prst="rect">
            <a:avLst/>
          </a:prstGeom>
          <a:solidFill>
            <a:srgbClr val="047857"/>
          </a:solidFill>
          <a:ln w="12700">
            <a:solidFill>
              <a:srgbClr val="047857"/>
            </a:solidFill>
            <a:prstDash val="solid"/>
          </a:ln>
        </p:spPr>
      </p:sp>
      <p:sp>
        <p:nvSpPr>
          <p:cNvPr id="18" name="Text 15"/>
          <p:cNvSpPr/>
          <p:nvPr/>
        </p:nvSpPr>
        <p:spPr>
          <a:xfrm>
            <a:off x="8439912" y="3566160"/>
            <a:ext cx="3291840" cy="2011680"/>
          </a:xfrm>
          <a:prstGeom prst="rect">
            <a:avLst/>
          </a:prstGeom>
          <a:noFill/>
          <a:ln/>
        </p:spPr>
        <p:txBody>
          <a:bodyPr wrap="square" rtlCol="0" anchor="t"/>
          <a:lstStyle/>
          <a:p>
            <a:pPr indent="0" marL="0">
              <a:spcAft>
                <a:spcPts val="200"/>
              </a:spcAft>
              <a:buNone/>
            </a:pPr>
            <a:r>
              <a:rPr lang="en-US" sz="1150" b="1" dirty="0">
                <a:solidFill>
                  <a:srgbClr val="047857"/>
                </a:solidFill>
                <a:latin typeface="Meiryo UI" pitchFamily="34" charset="0"/>
                <a:ea typeface="Meiryo UI" pitchFamily="34" charset="-122"/>
                <a:cs typeface="Meiryo UI" pitchFamily="34" charset="-120"/>
              </a:rPr>
              <a:t>【実際に Send したときの期待する結果】</a:t>
            </a:r>
            <a:endParaRPr lang="en-US" sz="1150" dirty="0"/>
          </a:p>
          <a:p>
            <a:pPr indent="0" marL="0">
              <a:spcAft>
                <a:spcPts val="200"/>
              </a:spcAft>
              <a:buNone/>
            </a:pPr>
            <a:r>
              <a:rPr lang="en-US" sz="1150" dirty="0">
                <a:solidFill>
                  <a:srgbClr val="1F2937"/>
                </a:solidFill>
                <a:latin typeface="Meiryo UI" pitchFamily="34" charset="0"/>
                <a:ea typeface="Meiryo UI" pitchFamily="34" charset="-122"/>
                <a:cs typeface="Meiryo UI" pitchFamily="34" charset="-120"/>
              </a:rPr>
              <a:t>201 Created。レスポンスは入金の取引（DepositTransaction）の情報。</a:t>
            </a:r>
            <a:endParaRPr lang="en-US" sz="1150" dirty="0"/>
          </a:p>
        </p:txBody>
      </p:sp>
      <p:sp>
        <p:nvSpPr>
          <p:cNvPr id="19" name="Shape 16"/>
          <p:cNvSpPr/>
          <p:nvPr/>
        </p:nvSpPr>
        <p:spPr>
          <a:xfrm>
            <a:off x="548640" y="5788152"/>
            <a:ext cx="11064240" cy="329184"/>
          </a:xfrm>
          <a:prstGeom prst="rect">
            <a:avLst/>
          </a:prstGeom>
          <a:solidFill>
            <a:srgbClr val="ECFDF5"/>
          </a:solidFill>
          <a:ln w="12700">
            <a:solidFill>
              <a:srgbClr val="047857"/>
            </a:solidFill>
            <a:prstDash val="solid"/>
          </a:ln>
        </p:spPr>
      </p:sp>
      <p:sp>
        <p:nvSpPr>
          <p:cNvPr id="20" name="Text 17"/>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参考コレクション exercises\mambu-corporate-onboarding\08 First Deposit.yml を開いて、自分の入力と比べる</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ステップ⑥【6/6】入金のレスポンスと口座の変化</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6" name="Text 4"/>
          <p:cNvSpPr/>
          <p:nvPr/>
        </p:nvSpPr>
        <p:spPr>
          <a:xfrm>
            <a:off x="365760" y="6144768"/>
            <a:ext cx="11430000" cy="292608"/>
          </a:xfrm>
          <a:prstGeom prst="rect">
            <a:avLst/>
          </a:prstGeom>
          <a:noFill/>
          <a:ln/>
        </p:spPr>
        <p:txBody>
          <a:bodyPr wrap="square" rtlCol="0" anchor="t"/>
          <a:lstStyle/>
          <a:p>
            <a:pPr indent="0" marL="0">
              <a:buNone/>
            </a:pPr>
            <a:r>
              <a:rPr lang="en-US" sz="1000" dirty="0">
                <a:solidFill>
                  <a:srgbClr val="6B7280"/>
                </a:solidFill>
                <a:latin typeface="Meiryo UI" pitchFamily="34" charset="0"/>
                <a:ea typeface="Meiryo UI" pitchFamily="34" charset="-122"/>
                <a:cs typeface="Meiryo UI" pitchFamily="34" charset="-120"/>
              </a:rPr>
              <a:t>出典：https://docs.mambu.com/swagger_files/v2/deposits_transactions.json（公式 OpenAPI、2026-10-09 確認） ／ https://docs.mambu.com/docs/deposit-accounts-life-cycle-and-states/（2026-10-09 確認）</a:t>
            </a:r>
            <a:endParaRPr lang="en-US" sz="1000" dirty="0"/>
          </a:p>
        </p:txBody>
      </p:sp>
      <p:graphicFrame>
        <p:nvGraphicFramePr>
          <p:cNvPr id="85"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6400800" cy="914400"/>
        </p:xfrm>
        <a:graphic>
          <a:graphicData uri="http://schemas.openxmlformats.org/drawingml/2006/table">
            <a:tbl>
              <a:tblPr/>
              <a:tblGrid>
                <a:gridCol w="2743200"/>
                <a:gridCol w="3657600"/>
              </a:tblGrid>
              <a:tr h="438912">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レスポンスの項目</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意味</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438912">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id／encodedKey</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取引の識別子</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38912">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type</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取引の種類（DEPOSIT＝入金）</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38912">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amount</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入金額</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38912">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accountBalances</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取引後の残高</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38912">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parentAccountKey</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入金した口座</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8" name="Shape 5"/>
          <p:cNvSpPr/>
          <p:nvPr/>
        </p:nvSpPr>
        <p:spPr>
          <a:xfrm>
            <a:off x="7223760" y="1371600"/>
            <a:ext cx="1828800" cy="914400"/>
          </a:xfrm>
          <a:prstGeom prst="roundRect">
            <a:avLst>
              <a:gd name="adj" fmla="val 8000"/>
            </a:avLst>
          </a:prstGeom>
          <a:solidFill>
            <a:srgbClr val="F8FAFC"/>
          </a:solidFill>
          <a:ln w="15875">
            <a:solidFill>
              <a:srgbClr val="1F3A5F"/>
            </a:solidFill>
            <a:prstDash val="solid"/>
          </a:ln>
        </p:spPr>
      </p:sp>
      <p:sp>
        <p:nvSpPr>
          <p:cNvPr id="9" name="Text 6"/>
          <p:cNvSpPr/>
          <p:nvPr/>
        </p:nvSpPr>
        <p:spPr>
          <a:xfrm>
            <a:off x="7223760" y="1371600"/>
            <a:ext cx="1828800" cy="914400"/>
          </a:xfrm>
          <a:prstGeom prst="rect">
            <a:avLst/>
          </a:prstGeom>
          <a:noFill/>
          <a:ln/>
        </p:spPr>
        <p:txBody>
          <a:bodyPr wrap="square" lIns="50800" tIns="50800" rIns="50800" bIns="50800" rtlCol="0" anchor="ctr"/>
          <a:lstStyle/>
          <a:p>
            <a:pPr algn="ctr" indent="0" marL="0">
              <a:buNone/>
            </a:pPr>
            <a:r>
              <a:rPr lang="en-US" sz="1300" b="1" dirty="0">
                <a:solidFill>
                  <a:srgbClr val="1F2937"/>
                </a:solidFill>
                <a:latin typeface="Meiryo UI" pitchFamily="34" charset="0"/>
                <a:ea typeface="Meiryo UI" pitchFamily="34" charset="-122"/>
                <a:cs typeface="Meiryo UI" pitchFamily="34" charset="-120"/>
              </a:rPr>
              <a:t>APPROVED</a:t>
            </a:r>
            <a:endParaRPr lang="en-US" sz="1300" dirty="0"/>
          </a:p>
          <a:p>
            <a:pPr algn="ctr" indent="0" marL="0">
              <a:buNone/>
            </a:pPr>
            <a:r>
              <a:rPr lang="en-US" sz="1300" b="1" dirty="0">
                <a:solidFill>
                  <a:srgbClr val="1F2937"/>
                </a:solidFill>
                <a:latin typeface="Meiryo UI" pitchFamily="34" charset="0"/>
                <a:ea typeface="Meiryo UI" pitchFamily="34" charset="-122"/>
                <a:cs typeface="Meiryo UI" pitchFamily="34" charset="-120"/>
              </a:rPr>
              <a:t>承認済み</a:t>
            </a:r>
            <a:endParaRPr lang="en-US" sz="1300" dirty="0"/>
          </a:p>
        </p:txBody>
      </p:sp>
      <p:sp>
        <p:nvSpPr>
          <p:cNvPr id="10" name="Shape 7"/>
          <p:cNvSpPr/>
          <p:nvPr/>
        </p:nvSpPr>
        <p:spPr>
          <a:xfrm>
            <a:off x="9784080" y="1371600"/>
            <a:ext cx="1828800" cy="914400"/>
          </a:xfrm>
          <a:prstGeom prst="roundRect">
            <a:avLst>
              <a:gd name="adj" fmla="val 8000"/>
            </a:avLst>
          </a:prstGeom>
          <a:solidFill>
            <a:srgbClr val="ECFDF5"/>
          </a:solidFill>
          <a:ln w="15875">
            <a:solidFill>
              <a:srgbClr val="047857"/>
            </a:solidFill>
            <a:prstDash val="solid"/>
          </a:ln>
        </p:spPr>
      </p:sp>
      <p:sp>
        <p:nvSpPr>
          <p:cNvPr id="11" name="Text 8"/>
          <p:cNvSpPr/>
          <p:nvPr/>
        </p:nvSpPr>
        <p:spPr>
          <a:xfrm>
            <a:off x="9784080" y="1371600"/>
            <a:ext cx="1828800" cy="914400"/>
          </a:xfrm>
          <a:prstGeom prst="rect">
            <a:avLst/>
          </a:prstGeom>
          <a:noFill/>
          <a:ln/>
        </p:spPr>
        <p:txBody>
          <a:bodyPr wrap="square" lIns="50800" tIns="50800" rIns="50800" bIns="50800" rtlCol="0" anchor="ctr"/>
          <a:lstStyle/>
          <a:p>
            <a:pPr algn="ctr" indent="0" marL="0">
              <a:buNone/>
            </a:pPr>
            <a:r>
              <a:rPr lang="en-US" sz="1300" b="1" dirty="0">
                <a:solidFill>
                  <a:srgbClr val="1F2937"/>
                </a:solidFill>
                <a:latin typeface="Meiryo UI" pitchFamily="34" charset="0"/>
                <a:ea typeface="Meiryo UI" pitchFamily="34" charset="-122"/>
                <a:cs typeface="Meiryo UI" pitchFamily="34" charset="-120"/>
              </a:rPr>
              <a:t>ACTIVE</a:t>
            </a:r>
            <a:endParaRPr lang="en-US" sz="1300" dirty="0"/>
          </a:p>
          <a:p>
            <a:pPr algn="ctr" indent="0" marL="0">
              <a:buNone/>
            </a:pPr>
            <a:r>
              <a:rPr lang="en-US" sz="1300" b="1" dirty="0">
                <a:solidFill>
                  <a:srgbClr val="1F2937"/>
                </a:solidFill>
                <a:latin typeface="Meiryo UI" pitchFamily="34" charset="0"/>
                <a:ea typeface="Meiryo UI" pitchFamily="34" charset="-122"/>
                <a:cs typeface="Meiryo UI" pitchFamily="34" charset="-120"/>
              </a:rPr>
              <a:t>利用中</a:t>
            </a:r>
            <a:endParaRPr lang="en-US" sz="1300" dirty="0"/>
          </a:p>
        </p:txBody>
      </p:sp>
      <p:sp>
        <p:nvSpPr>
          <p:cNvPr id="12" name="Shape 9"/>
          <p:cNvSpPr/>
          <p:nvPr/>
        </p:nvSpPr>
        <p:spPr>
          <a:xfrm>
            <a:off x="9098280" y="1828800"/>
            <a:ext cx="640080" cy="914"/>
          </a:xfrm>
          <a:prstGeom prst="line">
            <a:avLst/>
          </a:prstGeom>
          <a:noFill/>
          <a:ln w="31750">
            <a:solidFill>
              <a:srgbClr val="D97706"/>
            </a:solidFill>
            <a:prstDash val="solid"/>
            <a:tailEnd type="triangle"/>
          </a:ln>
        </p:spPr>
      </p:sp>
      <p:sp>
        <p:nvSpPr>
          <p:cNvPr id="13" name="Text 10"/>
          <p:cNvSpPr/>
          <p:nvPr/>
        </p:nvSpPr>
        <p:spPr>
          <a:xfrm>
            <a:off x="7955280" y="1444752"/>
            <a:ext cx="2926080" cy="329184"/>
          </a:xfrm>
          <a:prstGeom prst="rect">
            <a:avLst/>
          </a:prstGeom>
          <a:noFill/>
          <a:ln/>
        </p:spPr>
        <p:txBody>
          <a:bodyPr wrap="square" rtlCol="0" anchor="ctr"/>
          <a:lstStyle/>
          <a:p>
            <a:pPr algn="ctr" indent="0" marL="0">
              <a:buNone/>
            </a:pPr>
            <a:r>
              <a:rPr lang="en-US" sz="1300" b="1" dirty="0">
                <a:solidFill>
                  <a:srgbClr val="D97706"/>
                </a:solidFill>
                <a:latin typeface="Meiryo UI" pitchFamily="34" charset="0"/>
                <a:ea typeface="Meiryo UI" pitchFamily="34" charset="-122"/>
                <a:cs typeface="Meiryo UI" pitchFamily="34" charset="-120"/>
              </a:rPr>
              <a:t>初回入金</a:t>
            </a:r>
            <a:endParaRPr lang="en-US" sz="1300" dirty="0"/>
          </a:p>
        </p:txBody>
      </p:sp>
      <p:sp>
        <p:nvSpPr>
          <p:cNvPr id="14" name="Text 11"/>
          <p:cNvSpPr/>
          <p:nvPr/>
        </p:nvSpPr>
        <p:spPr>
          <a:xfrm>
            <a:off x="7223760" y="2560320"/>
            <a:ext cx="4389120" cy="914400"/>
          </a:xfrm>
          <a:prstGeom prst="rect">
            <a:avLst/>
          </a:prstGeom>
          <a:noFill/>
          <a:ln/>
        </p:spPr>
        <p:txBody>
          <a:bodyPr wrap="square" lIns="50800" tIns="50800" rIns="50800" bIns="50800" rtlCol="0" anchor="t"/>
          <a:lstStyle/>
          <a:p>
            <a:pPr algn="l" indent="0" marL="0">
              <a:buNone/>
            </a:pPr>
            <a:r>
              <a:rPr lang="en-US" sz="1300" dirty="0">
                <a:solidFill>
                  <a:srgbClr val="1F2937"/>
                </a:solidFill>
                <a:latin typeface="Meiryo UI" pitchFamily="34" charset="0"/>
                <a:ea typeface="Meiryo UI" pitchFamily="34" charset="-122"/>
                <a:cs typeface="Meiryo UI" pitchFamily="34" charset="-120"/>
              </a:rPr>
              <a:t>口座の状態は、入金のレスポンスではなく、次のステップ⑦で口座を取得して確認します。</a:t>
            </a:r>
            <a:endParaRPr lang="en-US" sz="1300" dirty="0"/>
          </a:p>
        </p:txBody>
      </p:sp>
      <p:sp>
        <p:nvSpPr>
          <p:cNvPr id="15" name="Shape 12"/>
          <p:cNvSpPr/>
          <p:nvPr/>
        </p:nvSpPr>
        <p:spPr>
          <a:xfrm>
            <a:off x="548640" y="4114800"/>
            <a:ext cx="11064240" cy="777240"/>
          </a:xfrm>
          <a:prstGeom prst="rect">
            <a:avLst/>
          </a:prstGeom>
          <a:solidFill>
            <a:srgbClr val="FEF2F2"/>
          </a:solidFill>
          <a:ln w="15875">
            <a:solidFill>
              <a:srgbClr val="B91C1C"/>
            </a:solidFill>
            <a:prstDash val="solid"/>
          </a:ln>
        </p:spPr>
      </p:sp>
      <p:sp>
        <p:nvSpPr>
          <p:cNvPr id="16" name="Shape 13"/>
          <p:cNvSpPr/>
          <p:nvPr/>
        </p:nvSpPr>
        <p:spPr>
          <a:xfrm>
            <a:off x="548640" y="4114800"/>
            <a:ext cx="82296" cy="777240"/>
          </a:xfrm>
          <a:prstGeom prst="rect">
            <a:avLst/>
          </a:prstGeom>
          <a:solidFill>
            <a:srgbClr val="B91C1C"/>
          </a:solidFill>
          <a:ln w="12700">
            <a:solidFill>
              <a:srgbClr val="B91C1C"/>
            </a:solidFill>
            <a:prstDash val="solid"/>
          </a:ln>
        </p:spPr>
      </p:sp>
      <p:sp>
        <p:nvSpPr>
          <p:cNvPr id="17" name="Text 14"/>
          <p:cNvSpPr/>
          <p:nvPr/>
        </p:nvSpPr>
        <p:spPr>
          <a:xfrm>
            <a:off x="713232" y="4160520"/>
            <a:ext cx="10835640" cy="685800"/>
          </a:xfrm>
          <a:prstGeom prst="rect">
            <a:avLst/>
          </a:prstGeom>
          <a:noFill/>
          <a:ln/>
        </p:spPr>
        <p:txBody>
          <a:bodyPr wrap="square" rtlCol="0" anchor="ctr"/>
          <a:lstStyle/>
          <a:p>
            <a:pPr indent="0" marL="0">
              <a:spcAft>
                <a:spcPts val="200"/>
              </a:spcAft>
              <a:buNone/>
            </a:pPr>
            <a:r>
              <a:rPr lang="en-US" sz="1300" b="1" dirty="0">
                <a:solidFill>
                  <a:srgbClr val="B91C1C"/>
                </a:solidFill>
                <a:latin typeface="Meiryo UI" pitchFamily="34" charset="0"/>
                <a:ea typeface="Meiryo UI" pitchFamily="34" charset="-122"/>
                <a:cs typeface="Meiryo UI" pitchFamily="34" charset="-120"/>
              </a:rPr>
              <a:t>【注意】</a:t>
            </a:r>
            <a:endParaRPr lang="en-US" sz="1300" dirty="0"/>
          </a:p>
          <a:p>
            <a:pPr indent="0" marL="0">
              <a:spcAft>
                <a:spcPts val="200"/>
              </a:spcAft>
              <a:buNone/>
            </a:pPr>
            <a:r>
              <a:rPr lang="en-US" sz="1300" dirty="0">
                <a:solidFill>
                  <a:srgbClr val="1F2937"/>
                </a:solidFill>
                <a:latin typeface="Meiryo UI" pitchFamily="34" charset="0"/>
                <a:ea typeface="Meiryo UI" pitchFamily="34" charset="-122"/>
                <a:cs typeface="Meiryo UI" pitchFamily="34" charset="-120"/>
              </a:rPr>
              <a:t>入金額が商品で決められた最低・最高の開設金額の範囲外だと、400 INVALID_DEPOSIT_AMOUNT になります（公式のエラー一覧）。</a:t>
            </a:r>
            <a:endParaRPr lang="en-US" sz="13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ステップ⑦：口座が使える状態になったか確認する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6" name="Text 4"/>
          <p:cNvSpPr/>
          <p:nvPr/>
        </p:nvSpPr>
        <p:spPr>
          <a:xfrm>
            <a:off x="365760" y="6144768"/>
            <a:ext cx="11430000" cy="292608"/>
          </a:xfrm>
          <a:prstGeom prst="rect">
            <a:avLst/>
          </a:prstGeom>
          <a:noFill/>
          <a:ln/>
        </p:spPr>
        <p:txBody>
          <a:bodyPr wrap="square" rtlCol="0" anchor="t"/>
          <a:lstStyle/>
          <a:p>
            <a:pPr indent="0" marL="0">
              <a:buNone/>
            </a:pPr>
            <a:r>
              <a:rPr lang="en-US" sz="1000" dirty="0">
                <a:solidFill>
                  <a:srgbClr val="6B7280"/>
                </a:solidFill>
                <a:latin typeface="Meiryo UI" pitchFamily="34" charset="0"/>
                <a:ea typeface="Meiryo UI" pitchFamily="34" charset="-122"/>
                <a:cs typeface="Meiryo UI" pitchFamily="34" charset="-120"/>
              </a:rPr>
              <a:t>出典：https://docs.mambu.com/swagger_files/v2/deposits.json（公式 OpenAPI、2026-10-09 確認）</a:t>
            </a:r>
            <a:endParaRPr lang="en-US" sz="1000" dirty="0"/>
          </a:p>
        </p:txBody>
      </p:sp>
      <p:graphicFrame>
        <p:nvGraphicFramePr>
          <p:cNvPr id="86"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11064240" cy="914400"/>
        </p:xfrm>
        <a:graphic>
          <a:graphicData uri="http://schemas.openxmlformats.org/drawingml/2006/table">
            <a:tbl>
              <a:tblPr/>
              <a:tblGrid>
                <a:gridCol w="2377440"/>
                <a:gridCol w="8686800"/>
              </a:tblGrid>
              <a:tr h="457200">
                <a:tc>
                  <a:txBody>
                    <a:bodyPr/>
                    <a:lstStyle/>
                    <a:p>
                      <a:pPr indent="0" marL="0">
                        <a:buNone/>
                      </a:pPr>
                      <a:r>
                        <a:rPr lang="en-US" sz="1400" b="1" dirty="0">
                          <a:solidFill>
                            <a:srgbClr val="FFFFFF"/>
                          </a:solidFill>
                          <a:latin typeface="Meiryo UI" pitchFamily="34" charset="0"/>
                          <a:ea typeface="Meiryo UI" pitchFamily="34" charset="-122"/>
                          <a:cs typeface="Meiryo UI" pitchFamily="34" charset="-120"/>
                        </a:rPr>
                        <a:t>項目</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Meiryo UI" pitchFamily="34" charset="0"/>
                          <a:ea typeface="Meiryo UI" pitchFamily="34" charset="-122"/>
                          <a:cs typeface="Meiryo UI" pitchFamily="34" charset="-120"/>
                        </a:rPr>
                        <a:t>内容</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45720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目的</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口座を取得して、ACTIVE（利用中）になったことと残高を確認する</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作るリクエスト</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09 Check Deposit Account：GET {{baseUrl}}/deposits/{{depositId}}?detailsLevel=FULL</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5720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使う値（入力）</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{{depositId}}（ステップ④で保存）</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保存する値（出力）</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なし</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5720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アサーション</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res.status equals 200、res.body.accountState equals ACTIVE</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8" name="Text 5"/>
          <p:cNvSpPr/>
          <p:nvPr/>
        </p:nvSpPr>
        <p:spPr>
          <a:xfrm>
            <a:off x="548640" y="4572000"/>
            <a:ext cx="11064240" cy="411480"/>
          </a:xfrm>
          <a:prstGeom prst="rect">
            <a:avLst/>
          </a:prstGeom>
          <a:noFill/>
          <a:ln/>
        </p:spPr>
        <p:txBody>
          <a:bodyPr wrap="square" lIns="50800" tIns="50800" rIns="50800" bIns="50800" rtlCol="0" anchor="t"/>
          <a:lstStyle/>
          <a:p>
            <a:pPr algn="l" indent="0" marL="0">
              <a:buNone/>
            </a:pPr>
            <a:r>
              <a:rPr lang="en-US" sz="1400" b="1" dirty="0">
                <a:solidFill>
                  <a:srgbClr val="1F3A5F"/>
                </a:solidFill>
                <a:latin typeface="Meiryo UI" pitchFamily="34" charset="0"/>
                <a:ea typeface="Meiryo UI" pitchFamily="34" charset="-122"/>
                <a:cs typeface="Meiryo UI" pitchFamily="34" charset="-120"/>
              </a:rPr>
              <a:t>手順：New Request（GET）→ Params を確認 → Assert（2 行）→ 保存（Headers・Body・Script はなし）</a:t>
            </a:r>
            <a:endParaRPr lang="en-US" sz="1400" dirty="0"/>
          </a:p>
        </p:txBody>
      </p:sp>
      <p:sp>
        <p:nvSpPr>
          <p:cNvPr id="9" name="Shape 6"/>
          <p:cNvSpPr/>
          <p:nvPr/>
        </p:nvSpPr>
        <p:spPr>
          <a:xfrm>
            <a:off x="548640" y="5029200"/>
            <a:ext cx="11064240" cy="685800"/>
          </a:xfrm>
          <a:prstGeom prst="rect">
            <a:avLst/>
          </a:prstGeom>
          <a:solidFill>
            <a:srgbClr val="EFF6FF"/>
          </a:solidFill>
          <a:ln w="15875">
            <a:solidFill>
              <a:srgbClr val="1D4ED8"/>
            </a:solidFill>
            <a:prstDash val="solid"/>
          </a:ln>
        </p:spPr>
      </p:sp>
      <p:sp>
        <p:nvSpPr>
          <p:cNvPr id="10" name="Shape 7"/>
          <p:cNvSpPr/>
          <p:nvPr/>
        </p:nvSpPr>
        <p:spPr>
          <a:xfrm>
            <a:off x="548640" y="5029200"/>
            <a:ext cx="82296" cy="685800"/>
          </a:xfrm>
          <a:prstGeom prst="rect">
            <a:avLst/>
          </a:prstGeom>
          <a:solidFill>
            <a:srgbClr val="1D4ED8"/>
          </a:solidFill>
          <a:ln w="12700">
            <a:solidFill>
              <a:srgbClr val="1D4ED8"/>
            </a:solidFill>
            <a:prstDash val="solid"/>
          </a:ln>
        </p:spPr>
      </p:sp>
      <p:sp>
        <p:nvSpPr>
          <p:cNvPr id="11" name="Text 8"/>
          <p:cNvSpPr/>
          <p:nvPr/>
        </p:nvSpPr>
        <p:spPr>
          <a:xfrm>
            <a:off x="713232" y="5074920"/>
            <a:ext cx="10835640" cy="594360"/>
          </a:xfrm>
          <a:prstGeom prst="rect">
            <a:avLst/>
          </a:prstGeom>
          <a:noFill/>
          <a:ln/>
        </p:spPr>
        <p:txBody>
          <a:bodyPr wrap="square" rtlCol="0" anchor="ctr"/>
          <a:lstStyle/>
          <a:p>
            <a:pPr indent="0" marL="0">
              <a:spcAft>
                <a:spcPts val="200"/>
              </a:spcAft>
              <a:buNone/>
            </a:pPr>
            <a:r>
              <a:rPr lang="en-US" sz="1250" b="1" dirty="0">
                <a:solidFill>
                  <a:srgbClr val="1D4ED8"/>
                </a:solidFill>
                <a:latin typeface="Meiryo UI" pitchFamily="34" charset="0"/>
                <a:ea typeface="Meiryo UI" pitchFamily="34" charset="-122"/>
                <a:cs typeface="Meiryo UI" pitchFamily="34" charset="-120"/>
              </a:rPr>
              <a:t>【ヒント】</a:t>
            </a:r>
            <a:endParaRPr lang="en-US" sz="1250" dirty="0"/>
          </a:p>
          <a:p>
            <a:pPr indent="0" marL="0">
              <a:spcAft>
                <a:spcPts val="200"/>
              </a:spcAft>
              <a:buNone/>
            </a:pPr>
            <a:r>
              <a:rPr lang="en-US" sz="1250" dirty="0">
                <a:solidFill>
                  <a:srgbClr val="1F2937"/>
                </a:solidFill>
                <a:latin typeface="Meiryo UI" pitchFamily="34" charset="0"/>
                <a:ea typeface="Meiryo UI" pitchFamily="34" charset="-122"/>
                <a:cs typeface="Meiryo UI" pitchFamily="34" charset="-120"/>
              </a:rPr>
              <a:t>detailsLevel=FULL を付けると、すべての項目が返ります。取引の一覧は GET /deposits/{{depositId}}/transactions で確認できます。</a:t>
            </a:r>
            <a:endParaRPr lang="en-US" sz="125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ステップ⑦【1/6】GET のリクエストを作る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6363081" cy="4343400"/>
          </a:xfrm>
          <a:prstGeom prst="rect">
            <a:avLst/>
          </a:prstGeom>
        </p:spPr>
      </p:pic>
      <p:sp>
        <p:nvSpPr>
          <p:cNvPr id="7" name="Shape 4"/>
          <p:cNvSpPr/>
          <p:nvPr/>
        </p:nvSpPr>
        <p:spPr>
          <a:xfrm>
            <a:off x="411480" y="1051560"/>
            <a:ext cx="6363081" cy="4343400"/>
          </a:xfrm>
          <a:prstGeom prst="rect">
            <a:avLst/>
          </a:prstGeom>
          <a:ln w="9525">
            <a:solidFill>
              <a:srgbClr val="D1D5DB"/>
            </a:solidFill>
            <a:prstDash val="solid"/>
          </a:ln>
        </p:spPr>
      </p:sp>
      <p:sp>
        <p:nvSpPr>
          <p:cNvPr id="8" name="Text 5"/>
          <p:cNvSpPr/>
          <p:nvPr/>
        </p:nvSpPr>
        <p:spPr>
          <a:xfrm>
            <a:off x="411480" y="5413248"/>
            <a:ext cx="6363081"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1044702" y="3042095"/>
            <a:ext cx="5096637" cy="405765"/>
          </a:xfrm>
          <a:prstGeom prst="rect">
            <a:avLst/>
          </a:prstGeom>
          <a:ln w="28575">
            <a:solidFill>
              <a:srgbClr val="E11D2E"/>
            </a:solidFill>
            <a:prstDash val="solid"/>
          </a:ln>
        </p:spPr>
      </p:sp>
      <p:sp>
        <p:nvSpPr>
          <p:cNvPr id="10" name="Shape 7"/>
          <p:cNvSpPr/>
          <p:nvPr/>
        </p:nvSpPr>
        <p:spPr>
          <a:xfrm>
            <a:off x="752094" y="3107817"/>
            <a:ext cx="274320" cy="274320"/>
          </a:xfrm>
          <a:prstGeom prst="ellipse">
            <a:avLst/>
          </a:prstGeom>
          <a:solidFill>
            <a:srgbClr val="E11D2E"/>
          </a:solidFill>
          <a:ln w="15875">
            <a:solidFill>
              <a:srgbClr val="FFFFFF"/>
            </a:solidFill>
            <a:prstDash val="solid"/>
          </a:ln>
        </p:spPr>
      </p:sp>
      <p:sp>
        <p:nvSpPr>
          <p:cNvPr id="11" name="Text 8"/>
          <p:cNvSpPr/>
          <p:nvPr/>
        </p:nvSpPr>
        <p:spPr>
          <a:xfrm>
            <a:off x="752094" y="3107817"/>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1044702" y="3899916"/>
            <a:ext cx="774954" cy="405765"/>
          </a:xfrm>
          <a:prstGeom prst="rect">
            <a:avLst/>
          </a:prstGeom>
          <a:ln w="28575">
            <a:solidFill>
              <a:srgbClr val="E11D2E"/>
            </a:solidFill>
            <a:prstDash val="solid"/>
          </a:ln>
        </p:spPr>
      </p:sp>
      <p:sp>
        <p:nvSpPr>
          <p:cNvPr id="13" name="Shape 10"/>
          <p:cNvSpPr/>
          <p:nvPr/>
        </p:nvSpPr>
        <p:spPr>
          <a:xfrm>
            <a:off x="752094" y="3965638"/>
            <a:ext cx="274320" cy="274320"/>
          </a:xfrm>
          <a:prstGeom prst="ellipse">
            <a:avLst/>
          </a:prstGeom>
          <a:solidFill>
            <a:srgbClr val="E11D2E"/>
          </a:solidFill>
          <a:ln w="15875">
            <a:solidFill>
              <a:srgbClr val="FFFFFF"/>
            </a:solidFill>
            <a:prstDash val="solid"/>
          </a:ln>
        </p:spPr>
      </p:sp>
      <p:sp>
        <p:nvSpPr>
          <p:cNvPr id="14" name="Text 11"/>
          <p:cNvSpPr/>
          <p:nvPr/>
        </p:nvSpPr>
        <p:spPr>
          <a:xfrm>
            <a:off x="752094" y="396563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Shape 12"/>
          <p:cNvSpPr/>
          <p:nvPr/>
        </p:nvSpPr>
        <p:spPr>
          <a:xfrm>
            <a:off x="1044702" y="3899916"/>
            <a:ext cx="5096637" cy="405765"/>
          </a:xfrm>
          <a:prstGeom prst="rect">
            <a:avLst/>
          </a:prstGeom>
          <a:ln w="28575">
            <a:solidFill>
              <a:srgbClr val="E11D2E"/>
            </a:solidFill>
            <a:prstDash val="solid"/>
          </a:ln>
        </p:spPr>
      </p:sp>
      <p:sp>
        <p:nvSpPr>
          <p:cNvPr id="16" name="Shape 13"/>
          <p:cNvSpPr/>
          <p:nvPr/>
        </p:nvSpPr>
        <p:spPr>
          <a:xfrm>
            <a:off x="6004179" y="3762756"/>
            <a:ext cx="274320" cy="274320"/>
          </a:xfrm>
          <a:prstGeom prst="ellipse">
            <a:avLst/>
          </a:prstGeom>
          <a:solidFill>
            <a:srgbClr val="E11D2E"/>
          </a:solidFill>
          <a:ln w="15875">
            <a:solidFill>
              <a:srgbClr val="FFFFFF"/>
            </a:solidFill>
            <a:prstDash val="solid"/>
          </a:ln>
        </p:spPr>
      </p:sp>
      <p:sp>
        <p:nvSpPr>
          <p:cNvPr id="17" name="Text 14"/>
          <p:cNvSpPr/>
          <p:nvPr/>
        </p:nvSpPr>
        <p:spPr>
          <a:xfrm>
            <a:off x="6004179" y="376275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18" name="Shape 15"/>
          <p:cNvSpPr/>
          <p:nvPr/>
        </p:nvSpPr>
        <p:spPr>
          <a:xfrm>
            <a:off x="5322951" y="4594860"/>
            <a:ext cx="818388" cy="362331"/>
          </a:xfrm>
          <a:prstGeom prst="rect">
            <a:avLst/>
          </a:prstGeom>
          <a:ln w="28575">
            <a:solidFill>
              <a:srgbClr val="E11D2E"/>
            </a:solidFill>
            <a:prstDash val="solid"/>
          </a:ln>
        </p:spPr>
      </p:sp>
      <p:sp>
        <p:nvSpPr>
          <p:cNvPr id="19" name="Shape 16"/>
          <p:cNvSpPr/>
          <p:nvPr/>
        </p:nvSpPr>
        <p:spPr>
          <a:xfrm>
            <a:off x="6159627" y="4638865"/>
            <a:ext cx="274320" cy="274320"/>
          </a:xfrm>
          <a:prstGeom prst="ellipse">
            <a:avLst/>
          </a:prstGeom>
          <a:solidFill>
            <a:srgbClr val="E11D2E"/>
          </a:solidFill>
          <a:ln w="15875">
            <a:solidFill>
              <a:srgbClr val="FFFFFF"/>
            </a:solidFill>
            <a:prstDash val="solid"/>
          </a:ln>
        </p:spPr>
      </p:sp>
      <p:sp>
        <p:nvSpPr>
          <p:cNvPr id="20" name="Text 17"/>
          <p:cNvSpPr/>
          <p:nvPr/>
        </p:nvSpPr>
        <p:spPr>
          <a:xfrm>
            <a:off x="6159627" y="4638865"/>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4</a:t>
            </a:r>
            <a:endParaRPr lang="en-US" sz="1200" dirty="0"/>
          </a:p>
        </p:txBody>
      </p:sp>
      <p:sp>
        <p:nvSpPr>
          <p:cNvPr id="21" name="Text 18"/>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右クリック → New Request。Request Name：09 Check Deposit Account</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メソッド：GET（初期値のまま）</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③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URL：{{baseUrl}}/deposits/{{depositId}}?detailsLevel=FULL</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④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「Create」をクリック</a:t>
            </a:r>
            <a:endParaRPr lang="en-US" sz="13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ステップ⑦【2/6】Params タブでクエリを確かめる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7680960" cy="4320540"/>
          </a:xfrm>
          <a:prstGeom prst="rect">
            <a:avLst/>
          </a:prstGeom>
        </p:spPr>
      </p:pic>
      <p:sp>
        <p:nvSpPr>
          <p:cNvPr id="7" name="Shape 4"/>
          <p:cNvSpPr/>
          <p:nvPr/>
        </p:nvSpPr>
        <p:spPr>
          <a:xfrm>
            <a:off x="411480" y="1051560"/>
            <a:ext cx="7680960" cy="4320540"/>
          </a:xfrm>
          <a:prstGeom prst="rect">
            <a:avLst/>
          </a:prstGeom>
          <a:ln w="9525">
            <a:solidFill>
              <a:srgbClr val="D1D5DB"/>
            </a:solidFill>
            <a:prstDash val="solid"/>
          </a:ln>
        </p:spPr>
      </p:sp>
      <p:sp>
        <p:nvSpPr>
          <p:cNvPr id="8" name="Text 5"/>
          <p:cNvSpPr/>
          <p:nvPr/>
        </p:nvSpPr>
        <p:spPr>
          <a:xfrm>
            <a:off x="411480" y="5390388"/>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546811" y="1897380"/>
            <a:ext cx="516636" cy="343814"/>
          </a:xfrm>
          <a:prstGeom prst="rect">
            <a:avLst/>
          </a:prstGeom>
          <a:ln w="28575">
            <a:solidFill>
              <a:srgbClr val="E11D2E"/>
            </a:solidFill>
            <a:prstDash val="solid"/>
          </a:ln>
        </p:spPr>
      </p:sp>
      <p:sp>
        <p:nvSpPr>
          <p:cNvPr id="10" name="Shape 7"/>
          <p:cNvSpPr/>
          <p:nvPr/>
        </p:nvSpPr>
        <p:spPr>
          <a:xfrm>
            <a:off x="409651" y="1760220"/>
            <a:ext cx="274320" cy="274320"/>
          </a:xfrm>
          <a:prstGeom prst="ellipse">
            <a:avLst/>
          </a:prstGeom>
          <a:solidFill>
            <a:srgbClr val="E11D2E"/>
          </a:solidFill>
          <a:ln w="15875">
            <a:solidFill>
              <a:srgbClr val="FFFFFF"/>
            </a:solidFill>
            <a:prstDash val="solid"/>
          </a:ln>
        </p:spPr>
      </p:sp>
      <p:sp>
        <p:nvSpPr>
          <p:cNvPr id="11" name="Text 8"/>
          <p:cNvSpPr/>
          <p:nvPr/>
        </p:nvSpPr>
        <p:spPr>
          <a:xfrm>
            <a:off x="409651" y="17602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796442" y="2924708"/>
            <a:ext cx="4462729" cy="382219"/>
          </a:xfrm>
          <a:prstGeom prst="rect">
            <a:avLst/>
          </a:prstGeom>
          <a:ln w="28575">
            <a:solidFill>
              <a:srgbClr val="E11D2E"/>
            </a:solidFill>
            <a:prstDash val="solid"/>
          </a:ln>
        </p:spPr>
      </p:sp>
      <p:sp>
        <p:nvSpPr>
          <p:cNvPr id="13" name="Shape 10"/>
          <p:cNvSpPr/>
          <p:nvPr/>
        </p:nvSpPr>
        <p:spPr>
          <a:xfrm>
            <a:off x="503834" y="2978658"/>
            <a:ext cx="274320" cy="274320"/>
          </a:xfrm>
          <a:prstGeom prst="ellipse">
            <a:avLst/>
          </a:prstGeom>
          <a:solidFill>
            <a:srgbClr val="E11D2E"/>
          </a:solidFill>
          <a:ln w="15875">
            <a:solidFill>
              <a:srgbClr val="FFFFFF"/>
            </a:solidFill>
            <a:prstDash val="solid"/>
          </a:ln>
        </p:spPr>
      </p:sp>
      <p:sp>
        <p:nvSpPr>
          <p:cNvPr id="14" name="Text 11"/>
          <p:cNvSpPr/>
          <p:nvPr/>
        </p:nvSpPr>
        <p:spPr>
          <a:xfrm>
            <a:off x="503834" y="297865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Text 12"/>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「Params」タブをクリック</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Query に detailsLevel ＝ FULL の行があることを確認</a:t>
            </a:r>
            <a:endParaRPr lang="en-US" sz="1300" dirty="0"/>
          </a:p>
        </p:txBody>
      </p:sp>
      <p:sp>
        <p:nvSpPr>
          <p:cNvPr id="16" name="Shape 13"/>
          <p:cNvSpPr/>
          <p:nvPr/>
        </p:nvSpPr>
        <p:spPr>
          <a:xfrm>
            <a:off x="8275320" y="4114800"/>
            <a:ext cx="3520440" cy="1508760"/>
          </a:xfrm>
          <a:prstGeom prst="rect">
            <a:avLst/>
          </a:prstGeom>
          <a:solidFill>
            <a:srgbClr val="EFF6FF"/>
          </a:solidFill>
          <a:ln w="15875">
            <a:solidFill>
              <a:srgbClr val="1D4ED8"/>
            </a:solidFill>
            <a:prstDash val="solid"/>
          </a:ln>
        </p:spPr>
      </p:sp>
      <p:sp>
        <p:nvSpPr>
          <p:cNvPr id="17" name="Shape 14"/>
          <p:cNvSpPr/>
          <p:nvPr/>
        </p:nvSpPr>
        <p:spPr>
          <a:xfrm>
            <a:off x="8275320" y="4114800"/>
            <a:ext cx="82296" cy="1508760"/>
          </a:xfrm>
          <a:prstGeom prst="rect">
            <a:avLst/>
          </a:prstGeom>
          <a:solidFill>
            <a:srgbClr val="1D4ED8"/>
          </a:solidFill>
          <a:ln w="12700">
            <a:solidFill>
              <a:srgbClr val="1D4ED8"/>
            </a:solidFill>
            <a:prstDash val="solid"/>
          </a:ln>
        </p:spPr>
      </p:sp>
      <p:sp>
        <p:nvSpPr>
          <p:cNvPr id="18" name="Text 15"/>
          <p:cNvSpPr/>
          <p:nvPr/>
        </p:nvSpPr>
        <p:spPr>
          <a:xfrm>
            <a:off x="8439912" y="4160520"/>
            <a:ext cx="3291840" cy="1417320"/>
          </a:xfrm>
          <a:prstGeom prst="rect">
            <a:avLst/>
          </a:prstGeom>
          <a:noFill/>
          <a:ln/>
        </p:spPr>
        <p:txBody>
          <a:bodyPr wrap="square" rtlCol="0" anchor="t"/>
          <a:lstStyle/>
          <a:p>
            <a:pPr indent="0" marL="0">
              <a:spcAft>
                <a:spcPts val="200"/>
              </a:spcAft>
              <a:buNone/>
            </a:pPr>
            <a:r>
              <a:rPr lang="en-US" sz="1150" b="1" dirty="0">
                <a:solidFill>
                  <a:srgbClr val="1D4ED8"/>
                </a:solidFill>
                <a:latin typeface="Meiryo UI" pitchFamily="34" charset="0"/>
                <a:ea typeface="Meiryo UI" pitchFamily="34" charset="-122"/>
                <a:cs typeface="Meiryo UI" pitchFamily="34" charset="-120"/>
              </a:rPr>
              <a:t>【ヒント】</a:t>
            </a:r>
            <a:endParaRPr lang="en-US" sz="1150" dirty="0"/>
          </a:p>
          <a:p>
            <a:pPr indent="0" marL="0">
              <a:spcAft>
                <a:spcPts val="200"/>
              </a:spcAft>
              <a:buNone/>
            </a:pPr>
            <a:r>
              <a:rPr lang="en-US" sz="1150" dirty="0">
                <a:solidFill>
                  <a:srgbClr val="1F2937"/>
                </a:solidFill>
                <a:latin typeface="Meiryo UI" pitchFamily="34" charset="0"/>
                <a:ea typeface="Meiryo UI" pitchFamily="34" charset="-122"/>
                <a:cs typeface="Meiryo UI" pitchFamily="34" charset="-120"/>
              </a:rPr>
              <a:t>URL の {{depositId}} はステップ⑤と同じく、まだ値がないので赤色です。</a:t>
            </a:r>
            <a:endParaRPr lang="en-US" sz="115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ステップ⑦【3/6】Assert タブに 2 行入れる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7680960" cy="4320540"/>
          </a:xfrm>
          <a:prstGeom prst="rect">
            <a:avLst/>
          </a:prstGeom>
        </p:spPr>
      </p:pic>
      <p:sp>
        <p:nvSpPr>
          <p:cNvPr id="7" name="Shape 4"/>
          <p:cNvSpPr/>
          <p:nvPr/>
        </p:nvSpPr>
        <p:spPr>
          <a:xfrm>
            <a:off x="411480" y="1051560"/>
            <a:ext cx="7680960" cy="4320540"/>
          </a:xfrm>
          <a:prstGeom prst="rect">
            <a:avLst/>
          </a:prstGeom>
          <a:ln w="9525">
            <a:solidFill>
              <a:srgbClr val="D1D5DB"/>
            </a:solidFill>
            <a:prstDash val="solid"/>
          </a:ln>
        </p:spPr>
      </p:sp>
      <p:sp>
        <p:nvSpPr>
          <p:cNvPr id="8" name="Text 5"/>
          <p:cNvSpPr/>
          <p:nvPr/>
        </p:nvSpPr>
        <p:spPr>
          <a:xfrm>
            <a:off x="411480" y="5390388"/>
            <a:ext cx="76809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3696005" y="1897380"/>
            <a:ext cx="478231" cy="343814"/>
          </a:xfrm>
          <a:prstGeom prst="rect">
            <a:avLst/>
          </a:prstGeom>
          <a:ln w="28575">
            <a:solidFill>
              <a:srgbClr val="E11D2E"/>
            </a:solidFill>
            <a:prstDash val="solid"/>
          </a:ln>
        </p:spPr>
      </p:sp>
      <p:sp>
        <p:nvSpPr>
          <p:cNvPr id="10" name="Shape 7"/>
          <p:cNvSpPr/>
          <p:nvPr/>
        </p:nvSpPr>
        <p:spPr>
          <a:xfrm>
            <a:off x="3558845" y="1760220"/>
            <a:ext cx="274320" cy="274320"/>
          </a:xfrm>
          <a:prstGeom prst="ellipse">
            <a:avLst/>
          </a:prstGeom>
          <a:solidFill>
            <a:srgbClr val="E11D2E"/>
          </a:solidFill>
          <a:ln w="15875">
            <a:solidFill>
              <a:srgbClr val="FFFFFF"/>
            </a:solidFill>
            <a:prstDash val="solid"/>
          </a:ln>
        </p:spPr>
      </p:sp>
      <p:sp>
        <p:nvSpPr>
          <p:cNvPr id="11" name="Text 8"/>
          <p:cNvSpPr/>
          <p:nvPr/>
        </p:nvSpPr>
        <p:spPr>
          <a:xfrm>
            <a:off x="3558845" y="17602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796442" y="2655875"/>
            <a:ext cx="4529938" cy="727862"/>
          </a:xfrm>
          <a:prstGeom prst="rect">
            <a:avLst/>
          </a:prstGeom>
          <a:ln w="28575">
            <a:solidFill>
              <a:srgbClr val="E11D2E"/>
            </a:solidFill>
            <a:prstDash val="solid"/>
          </a:ln>
        </p:spPr>
      </p:sp>
      <p:sp>
        <p:nvSpPr>
          <p:cNvPr id="13" name="Shape 10"/>
          <p:cNvSpPr/>
          <p:nvPr/>
        </p:nvSpPr>
        <p:spPr>
          <a:xfrm>
            <a:off x="503834" y="2882646"/>
            <a:ext cx="274320" cy="274320"/>
          </a:xfrm>
          <a:prstGeom prst="ellipse">
            <a:avLst/>
          </a:prstGeom>
          <a:solidFill>
            <a:srgbClr val="E11D2E"/>
          </a:solidFill>
          <a:ln w="15875">
            <a:solidFill>
              <a:srgbClr val="FFFFFF"/>
            </a:solidFill>
            <a:prstDash val="solid"/>
          </a:ln>
        </p:spPr>
      </p:sp>
      <p:sp>
        <p:nvSpPr>
          <p:cNvPr id="14" name="Text 11"/>
          <p:cNvSpPr/>
          <p:nvPr/>
        </p:nvSpPr>
        <p:spPr>
          <a:xfrm>
            <a:off x="503834" y="288264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Text 12"/>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「Assert」タブをクリック</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1 行目：res.status equals 200</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③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2 行目：res.body.accountState equals ACTIVE</a:t>
            </a:r>
            <a:endParaRPr lang="en-US" sz="1300" dirty="0"/>
          </a:p>
        </p:txBody>
      </p:sp>
      <p:sp>
        <p:nvSpPr>
          <p:cNvPr id="16" name="Shape 13"/>
          <p:cNvSpPr/>
          <p:nvPr/>
        </p:nvSpPr>
        <p:spPr>
          <a:xfrm>
            <a:off x="8275320" y="4114800"/>
            <a:ext cx="3520440" cy="1508760"/>
          </a:xfrm>
          <a:prstGeom prst="rect">
            <a:avLst/>
          </a:prstGeom>
          <a:solidFill>
            <a:srgbClr val="EFF6FF"/>
          </a:solidFill>
          <a:ln w="15875">
            <a:solidFill>
              <a:srgbClr val="1D4ED8"/>
            </a:solidFill>
            <a:prstDash val="solid"/>
          </a:ln>
        </p:spPr>
      </p:sp>
      <p:sp>
        <p:nvSpPr>
          <p:cNvPr id="17" name="Shape 14"/>
          <p:cNvSpPr/>
          <p:nvPr/>
        </p:nvSpPr>
        <p:spPr>
          <a:xfrm>
            <a:off x="8275320" y="4114800"/>
            <a:ext cx="82296" cy="1508760"/>
          </a:xfrm>
          <a:prstGeom prst="rect">
            <a:avLst/>
          </a:prstGeom>
          <a:solidFill>
            <a:srgbClr val="1D4ED8"/>
          </a:solidFill>
          <a:ln w="12700">
            <a:solidFill>
              <a:srgbClr val="1D4ED8"/>
            </a:solidFill>
            <a:prstDash val="solid"/>
          </a:ln>
        </p:spPr>
      </p:sp>
      <p:sp>
        <p:nvSpPr>
          <p:cNvPr id="18" name="Text 15"/>
          <p:cNvSpPr/>
          <p:nvPr/>
        </p:nvSpPr>
        <p:spPr>
          <a:xfrm>
            <a:off x="8439912" y="4160520"/>
            <a:ext cx="3291840" cy="1417320"/>
          </a:xfrm>
          <a:prstGeom prst="rect">
            <a:avLst/>
          </a:prstGeom>
          <a:noFill/>
          <a:ln/>
        </p:spPr>
        <p:txBody>
          <a:bodyPr wrap="square" rtlCol="0" anchor="t"/>
          <a:lstStyle/>
          <a:p>
            <a:pPr indent="0" marL="0">
              <a:spcAft>
                <a:spcPts val="200"/>
              </a:spcAft>
              <a:buNone/>
            </a:pPr>
            <a:r>
              <a:rPr lang="en-US" sz="1150" b="1" dirty="0">
                <a:solidFill>
                  <a:srgbClr val="1D4ED8"/>
                </a:solidFill>
                <a:latin typeface="Meiryo UI" pitchFamily="34" charset="0"/>
                <a:ea typeface="Meiryo UI" pitchFamily="34" charset="-122"/>
                <a:cs typeface="Meiryo UI" pitchFamily="34" charset="-120"/>
              </a:rPr>
              <a:t>【ヒント】</a:t>
            </a:r>
            <a:endParaRPr lang="en-US" sz="1150" dirty="0"/>
          </a:p>
          <a:p>
            <a:pPr indent="0" marL="0">
              <a:spcAft>
                <a:spcPts val="200"/>
              </a:spcAft>
              <a:buNone/>
            </a:pPr>
            <a:r>
              <a:rPr lang="en-US" sz="1150" dirty="0">
                <a:solidFill>
                  <a:srgbClr val="1F2937"/>
                </a:solidFill>
                <a:latin typeface="Meiryo UI" pitchFamily="34" charset="0"/>
                <a:ea typeface="Meiryo UI" pitchFamily="34" charset="-122"/>
                <a:cs typeface="Meiryo UI" pitchFamily="34" charset="-120"/>
              </a:rPr>
              <a:t>残高も確かめたいときは、3 行目に res.body.balances.totalBalance equals 10000 を加えます（参考コレクションには含めていません）。</a:t>
            </a:r>
            <a:endParaRPr lang="en-US" sz="115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ステップ⑦【4/6】保存する（Send は押さない）</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pic>
        <p:nvPicPr>
          <p:cNvPr id="6" name="Image 0" descr="実画面（Bruno v4.2.1、2026-10-13 撮影）。値はダミーで、Send は押していません">    </p:cNvPr>
          <p:cNvPicPr>
            <a:picLocks noChangeAspect="1"/>
          </p:cNvPicPr>
          <p:nvPr/>
        </p:nvPicPr>
        <p:blipFill>
          <a:blip r:embed="rId1"/>
          <a:stretch>
            <a:fillRect/>
          </a:stretch>
        </p:blipFill>
        <p:spPr>
          <a:xfrm>
            <a:off x="411480" y="1051560"/>
            <a:ext cx="5356860" cy="4343400"/>
          </a:xfrm>
          <a:prstGeom prst="rect">
            <a:avLst/>
          </a:prstGeom>
        </p:spPr>
      </p:pic>
      <p:sp>
        <p:nvSpPr>
          <p:cNvPr id="7" name="Shape 4"/>
          <p:cNvSpPr/>
          <p:nvPr/>
        </p:nvSpPr>
        <p:spPr>
          <a:xfrm>
            <a:off x="411480" y="1051560"/>
            <a:ext cx="5356860" cy="4343400"/>
          </a:xfrm>
          <a:prstGeom prst="rect">
            <a:avLst/>
          </a:prstGeom>
          <a:ln w="9525">
            <a:solidFill>
              <a:srgbClr val="D1D5DB"/>
            </a:solidFill>
            <a:prstDash val="solid"/>
          </a:ln>
        </p:spPr>
      </p:sp>
      <p:sp>
        <p:nvSpPr>
          <p:cNvPr id="8" name="Text 5"/>
          <p:cNvSpPr/>
          <p:nvPr/>
        </p:nvSpPr>
        <p:spPr>
          <a:xfrm>
            <a:off x="411480" y="5413248"/>
            <a:ext cx="5356860" cy="237744"/>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実画面（Bruno v4.2.1、2026-10-13 撮影）。値はダミーで、Send は押していません</a:t>
            </a:r>
            <a:endParaRPr lang="en-US" sz="1000" dirty="0"/>
          </a:p>
        </p:txBody>
      </p:sp>
      <p:sp>
        <p:nvSpPr>
          <p:cNvPr id="9" name="Shape 6"/>
          <p:cNvSpPr/>
          <p:nvPr/>
        </p:nvSpPr>
        <p:spPr>
          <a:xfrm>
            <a:off x="4874133" y="1713738"/>
            <a:ext cx="217551" cy="224790"/>
          </a:xfrm>
          <a:prstGeom prst="rect">
            <a:avLst/>
          </a:prstGeom>
          <a:ln w="28575">
            <a:solidFill>
              <a:srgbClr val="E11D2E"/>
            </a:solidFill>
            <a:prstDash val="solid"/>
          </a:ln>
        </p:spPr>
      </p:sp>
      <p:sp>
        <p:nvSpPr>
          <p:cNvPr id="10" name="Shape 7"/>
          <p:cNvSpPr/>
          <p:nvPr/>
        </p:nvSpPr>
        <p:spPr>
          <a:xfrm>
            <a:off x="4581525" y="1688973"/>
            <a:ext cx="274320" cy="274320"/>
          </a:xfrm>
          <a:prstGeom prst="ellipse">
            <a:avLst/>
          </a:prstGeom>
          <a:solidFill>
            <a:srgbClr val="E11D2E"/>
          </a:solidFill>
          <a:ln w="15875">
            <a:solidFill>
              <a:srgbClr val="FFFFFF"/>
            </a:solidFill>
            <a:prstDash val="solid"/>
          </a:ln>
        </p:spPr>
      </p:sp>
      <p:sp>
        <p:nvSpPr>
          <p:cNvPr id="11" name="Text 8"/>
          <p:cNvSpPr/>
          <p:nvPr/>
        </p:nvSpPr>
        <p:spPr>
          <a:xfrm>
            <a:off x="4581525" y="1688973"/>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2" name="Shape 9"/>
          <p:cNvSpPr/>
          <p:nvPr/>
        </p:nvSpPr>
        <p:spPr>
          <a:xfrm>
            <a:off x="5156454" y="1684782"/>
            <a:ext cx="514350" cy="282702"/>
          </a:xfrm>
          <a:prstGeom prst="rect">
            <a:avLst/>
          </a:prstGeom>
          <a:ln w="28575">
            <a:solidFill>
              <a:srgbClr val="E11D2E"/>
            </a:solidFill>
            <a:prstDash val="solid"/>
          </a:ln>
        </p:spPr>
      </p:sp>
      <p:sp>
        <p:nvSpPr>
          <p:cNvPr id="13" name="Shape 10"/>
          <p:cNvSpPr/>
          <p:nvPr/>
        </p:nvSpPr>
        <p:spPr>
          <a:xfrm>
            <a:off x="5019294" y="1830324"/>
            <a:ext cx="274320" cy="274320"/>
          </a:xfrm>
          <a:prstGeom prst="ellipse">
            <a:avLst/>
          </a:prstGeom>
          <a:solidFill>
            <a:srgbClr val="E11D2E"/>
          </a:solidFill>
          <a:ln w="15875">
            <a:solidFill>
              <a:srgbClr val="FFFFFF"/>
            </a:solidFill>
            <a:prstDash val="solid"/>
          </a:ln>
        </p:spPr>
      </p:sp>
      <p:sp>
        <p:nvSpPr>
          <p:cNvPr id="14" name="Text 11"/>
          <p:cNvSpPr/>
          <p:nvPr/>
        </p:nvSpPr>
        <p:spPr>
          <a:xfrm>
            <a:off x="5019294" y="183032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15" name="Text 12"/>
          <p:cNvSpPr/>
          <p:nvPr/>
        </p:nvSpPr>
        <p:spPr>
          <a:xfrm>
            <a:off x="8275320" y="1097280"/>
            <a:ext cx="3520440" cy="3108960"/>
          </a:xfrm>
          <a:prstGeom prst="rect">
            <a:avLst/>
          </a:prstGeom>
          <a:noFill/>
          <a:ln/>
        </p:spPr>
        <p:txBody>
          <a:bodyPr wrap="square" rtlCol="0" anchor="t"/>
          <a:lstStyle/>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①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Ctrl + S を押して保存する（または ① の保存アイコンをクリック）</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②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保存すると、① のアイコンがオレンジから灰色に変わる（タブの名前の右のオレンジの点も消える）</a:t>
            </a:r>
            <a:endParaRPr lang="en-US" sz="1300" dirty="0"/>
          </a:p>
          <a:p>
            <a:pPr indent="0" marL="0">
              <a:spcAft>
                <a:spcPts val="700"/>
              </a:spcAft>
              <a:buNone/>
            </a:pPr>
            <a:r>
              <a:rPr lang="en-US" sz="1300" b="1" dirty="0">
                <a:solidFill>
                  <a:srgbClr val="E11D2E"/>
                </a:solidFill>
                <a:latin typeface="Meiryo UI" pitchFamily="34" charset="0"/>
                <a:ea typeface="Meiryo UI" pitchFamily="34" charset="-122"/>
                <a:cs typeface="Meiryo UI" pitchFamily="34" charset="-120"/>
              </a:rPr>
              <a:t>③ </a:t>
            </a:r>
            <a:pPr indent="0" marL="0">
              <a:spcAft>
                <a:spcPts val="700"/>
              </a:spcAft>
              <a:buNone/>
            </a:pPr>
            <a:r>
              <a:rPr lang="en-US" sz="1300" dirty="0">
                <a:solidFill>
                  <a:srgbClr val="1F2937"/>
                </a:solidFill>
                <a:latin typeface="Meiryo UI" pitchFamily="34" charset="0"/>
                <a:ea typeface="Meiryo UI" pitchFamily="34" charset="-122"/>
                <a:cs typeface="Meiryo UI" pitchFamily="34" charset="-120"/>
              </a:rPr>
              <a:t>② の Send は押さない（Ctrl + Enter も押さない。この教材では送信しない）</a:t>
            </a:r>
            <a:endParaRPr lang="en-US" sz="1300" dirty="0"/>
          </a:p>
        </p:txBody>
      </p:sp>
      <p:sp>
        <p:nvSpPr>
          <p:cNvPr id="16" name="Shape 13"/>
          <p:cNvSpPr/>
          <p:nvPr/>
        </p:nvSpPr>
        <p:spPr>
          <a:xfrm>
            <a:off x="8275320" y="3520440"/>
            <a:ext cx="3520440" cy="2103120"/>
          </a:xfrm>
          <a:prstGeom prst="rect">
            <a:avLst/>
          </a:prstGeom>
          <a:solidFill>
            <a:srgbClr val="ECFDF5"/>
          </a:solidFill>
          <a:ln w="15875">
            <a:solidFill>
              <a:srgbClr val="047857"/>
            </a:solidFill>
            <a:prstDash val="solid"/>
          </a:ln>
        </p:spPr>
      </p:sp>
      <p:sp>
        <p:nvSpPr>
          <p:cNvPr id="17" name="Shape 14"/>
          <p:cNvSpPr/>
          <p:nvPr/>
        </p:nvSpPr>
        <p:spPr>
          <a:xfrm>
            <a:off x="8275320" y="3520440"/>
            <a:ext cx="82296" cy="2103120"/>
          </a:xfrm>
          <a:prstGeom prst="rect">
            <a:avLst/>
          </a:prstGeom>
          <a:solidFill>
            <a:srgbClr val="047857"/>
          </a:solidFill>
          <a:ln w="12700">
            <a:solidFill>
              <a:srgbClr val="047857"/>
            </a:solidFill>
            <a:prstDash val="solid"/>
          </a:ln>
        </p:spPr>
      </p:sp>
      <p:sp>
        <p:nvSpPr>
          <p:cNvPr id="18" name="Text 15"/>
          <p:cNvSpPr/>
          <p:nvPr/>
        </p:nvSpPr>
        <p:spPr>
          <a:xfrm>
            <a:off x="8439912" y="3566160"/>
            <a:ext cx="3291840" cy="2011680"/>
          </a:xfrm>
          <a:prstGeom prst="rect">
            <a:avLst/>
          </a:prstGeom>
          <a:noFill/>
          <a:ln/>
        </p:spPr>
        <p:txBody>
          <a:bodyPr wrap="square" rtlCol="0" anchor="t"/>
          <a:lstStyle/>
          <a:p>
            <a:pPr indent="0" marL="0">
              <a:spcAft>
                <a:spcPts val="200"/>
              </a:spcAft>
              <a:buNone/>
            </a:pPr>
            <a:r>
              <a:rPr lang="en-US" sz="1150" b="1" dirty="0">
                <a:solidFill>
                  <a:srgbClr val="047857"/>
                </a:solidFill>
                <a:latin typeface="Meiryo UI" pitchFamily="34" charset="0"/>
                <a:ea typeface="Meiryo UI" pitchFamily="34" charset="-122"/>
                <a:cs typeface="Meiryo UI" pitchFamily="34" charset="-120"/>
              </a:rPr>
              <a:t>【実際に Send したときの期待する結果】</a:t>
            </a:r>
            <a:endParaRPr lang="en-US" sz="1150" dirty="0"/>
          </a:p>
          <a:p>
            <a:pPr indent="0" marL="0">
              <a:spcAft>
                <a:spcPts val="200"/>
              </a:spcAft>
              <a:buNone/>
            </a:pPr>
            <a:r>
              <a:rPr lang="en-US" sz="1150" dirty="0">
                <a:solidFill>
                  <a:srgbClr val="1F2937"/>
                </a:solidFill>
                <a:latin typeface="Meiryo UI" pitchFamily="34" charset="0"/>
                <a:ea typeface="Meiryo UI" pitchFamily="34" charset="-122"/>
                <a:cs typeface="Meiryo UI" pitchFamily="34" charset="-120"/>
              </a:rPr>
              <a:t>200 OK。accountState が ACTIVE（利用中）でアサーション 2 件が Passed。</a:t>
            </a:r>
            <a:endParaRPr lang="en-US" sz="1150" dirty="0"/>
          </a:p>
        </p:txBody>
      </p:sp>
      <p:sp>
        <p:nvSpPr>
          <p:cNvPr id="19" name="Shape 16"/>
          <p:cNvSpPr/>
          <p:nvPr/>
        </p:nvSpPr>
        <p:spPr>
          <a:xfrm>
            <a:off x="548640" y="5788152"/>
            <a:ext cx="11064240" cy="329184"/>
          </a:xfrm>
          <a:prstGeom prst="rect">
            <a:avLst/>
          </a:prstGeom>
          <a:solidFill>
            <a:srgbClr val="ECFDF5"/>
          </a:solidFill>
          <a:ln w="12700">
            <a:solidFill>
              <a:srgbClr val="047857"/>
            </a:solidFill>
            <a:prstDash val="solid"/>
          </a:ln>
        </p:spPr>
      </p:sp>
      <p:sp>
        <p:nvSpPr>
          <p:cNvPr id="20" name="Text 17"/>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参考コレクション exercises\mambu-corporate-onboarding\09 Check Deposit Account.yml を開いて、自分の入力と比べる</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ステップ⑦【5/6】確認のレスポンスの見かた</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6" name="Text 4"/>
          <p:cNvSpPr/>
          <p:nvPr/>
        </p:nvSpPr>
        <p:spPr>
          <a:xfrm>
            <a:off x="365760" y="6144768"/>
            <a:ext cx="11430000" cy="292608"/>
          </a:xfrm>
          <a:prstGeom prst="rect">
            <a:avLst/>
          </a:prstGeom>
          <a:noFill/>
          <a:ln/>
        </p:spPr>
        <p:txBody>
          <a:bodyPr wrap="square" rtlCol="0" anchor="t"/>
          <a:lstStyle/>
          <a:p>
            <a:pPr indent="0" marL="0">
              <a:buNone/>
            </a:pPr>
            <a:r>
              <a:rPr lang="en-US" sz="1000" dirty="0">
                <a:solidFill>
                  <a:srgbClr val="6B7280"/>
                </a:solidFill>
                <a:latin typeface="Meiryo UI" pitchFamily="34" charset="0"/>
                <a:ea typeface="Meiryo UI" pitchFamily="34" charset="-122"/>
                <a:cs typeface="Meiryo UI" pitchFamily="34" charset="-120"/>
              </a:rPr>
              <a:t>出典：https://docs.mambu.com/swagger_files/v2/deposits.json（公式 OpenAPI、2026-10-09 確認）</a:t>
            </a:r>
            <a:endParaRPr lang="en-US" sz="1000" dirty="0"/>
          </a:p>
        </p:txBody>
      </p:sp>
      <p:sp>
        <p:nvSpPr>
          <p:cNvPr id="7" name="Text 5"/>
          <p:cNvSpPr/>
          <p:nvPr/>
        </p:nvSpPr>
        <p:spPr>
          <a:xfrm>
            <a:off x="548640" y="1463040"/>
            <a:ext cx="5943600" cy="3566160"/>
          </a:xfrm>
          <a:prstGeom prst="rect">
            <a:avLst/>
          </a:prstGeom>
          <a:solidFill>
            <a:srgbClr val="F3F4F6"/>
          </a:solidFill>
          <a:ln w="12700">
            <a:solidFill>
              <a:srgbClr val="D1D5DB"/>
            </a:solidFill>
          </a:ln>
        </p:spPr>
        <p:txBody>
          <a:bodyPr wrap="square" lIns="101600" tIns="101600" rIns="101600" bIns="101600" rtlCol="0" anchor="t"/>
          <a:lstStyle/>
          <a:p>
            <a:pPr indent="0" marL="0">
              <a:buNone/>
            </a:pPr>
            <a:r>
              <a:rPr lang="en-US" sz="1200" dirty="0">
                <a:solidFill>
                  <a:srgbClr val="111827"/>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  "id": "（口座の ID）",</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  "accountHolderType": "GROUP",</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  "accountHolderKey": "（法人の encodedKey）",</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  "accountState": "ACTIVE",</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  "accountType": "CURRENT_ACCOUNT",</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  "currencyCode": "JPY",</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  "approvedDate": "…",</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  "activationDate": "…",</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  "balances": { "totalBalance": 10000, … }</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a:t>
            </a:r>
            <a:endParaRPr lang="en-US" sz="1200" dirty="0"/>
          </a:p>
        </p:txBody>
      </p:sp>
      <p:sp>
        <p:nvSpPr>
          <p:cNvPr id="8" name="Text 6"/>
          <p:cNvSpPr/>
          <p:nvPr/>
        </p:nvSpPr>
        <p:spPr>
          <a:xfrm>
            <a:off x="548640" y="1188720"/>
            <a:ext cx="5943600" cy="274320"/>
          </a:xfrm>
          <a:prstGeom prst="rect">
            <a:avLst/>
          </a:prstGeom>
          <a:noFill/>
          <a:ln/>
        </p:spPr>
        <p:txBody>
          <a:bodyPr wrap="square" rtlCol="0" anchor="ctr"/>
          <a:lstStyle/>
          <a:p>
            <a:pPr indent="0" marL="0">
              <a:buNone/>
            </a:pPr>
            <a:r>
              <a:rPr lang="en-US" sz="1100" dirty="0">
                <a:solidFill>
                  <a:srgbClr val="6B7280"/>
                </a:solidFill>
                <a:latin typeface="Meiryo UI" pitchFamily="34" charset="0"/>
                <a:ea typeface="Meiryo UI" pitchFamily="34" charset="-122"/>
                <a:cs typeface="Meiryo UI" pitchFamily="34" charset="-120"/>
              </a:rPr>
              <a:t>レスポンスで確認する項目（値は例。実際の値はテナントにより異なる）</a:t>
            </a:r>
            <a:endParaRPr lang="en-US" sz="1100" dirty="0"/>
          </a:p>
        </p:txBody>
      </p:sp>
      <p:sp>
        <p:nvSpPr>
          <p:cNvPr id="9" name="Text 7"/>
          <p:cNvSpPr/>
          <p:nvPr/>
        </p:nvSpPr>
        <p:spPr>
          <a:xfrm>
            <a:off x="6766560" y="1463040"/>
            <a:ext cx="4846320" cy="3566160"/>
          </a:xfrm>
          <a:prstGeom prst="rect">
            <a:avLst/>
          </a:prstGeom>
          <a:noFill/>
          <a:ln/>
        </p:spPr>
        <p:txBody>
          <a:bodyPr wrap="square" rtlCol="0" anchor="t"/>
          <a:lstStyle/>
          <a:p>
            <a:pPr indent="0" marL="0">
              <a:spcAft>
                <a:spcPts val="1000"/>
              </a:spcAft>
              <a:buNone/>
            </a:pPr>
            <a:r>
              <a:rPr lang="en-US" sz="1400" b="1" dirty="0">
                <a:solidFill>
                  <a:srgbClr val="E11D2E"/>
                </a:solidFill>
                <a:latin typeface="Meiryo UI" pitchFamily="34" charset="0"/>
                <a:ea typeface="Meiryo UI" pitchFamily="34" charset="-122"/>
                <a:cs typeface="Meiryo UI" pitchFamily="34" charset="-120"/>
              </a:rPr>
              <a:t>① </a:t>
            </a:r>
            <a:pPr indent="0" marL="0">
              <a:spcAft>
                <a:spcPts val="1000"/>
              </a:spcAft>
              <a:buNone/>
            </a:pPr>
            <a:r>
              <a:rPr lang="en-US" sz="1400" dirty="0">
                <a:solidFill>
                  <a:srgbClr val="1F2937"/>
                </a:solidFill>
                <a:latin typeface="Meiryo UI" pitchFamily="34" charset="0"/>
                <a:ea typeface="Meiryo UI" pitchFamily="34" charset="-122"/>
                <a:cs typeface="Meiryo UI" pitchFamily="34" charset="-120"/>
              </a:rPr>
              <a:t>accountHolderType が GROUP、accountHolderKey が法人の key になっている（法人名義の口座）</a:t>
            </a:r>
            <a:endParaRPr lang="en-US" sz="1400" dirty="0"/>
          </a:p>
          <a:p>
            <a:pPr indent="0" marL="0">
              <a:spcAft>
                <a:spcPts val="1000"/>
              </a:spcAft>
              <a:buNone/>
            </a:pPr>
            <a:r>
              <a:rPr lang="en-US" sz="1400" b="1" dirty="0">
                <a:solidFill>
                  <a:srgbClr val="E11D2E"/>
                </a:solidFill>
                <a:latin typeface="Meiryo UI" pitchFamily="34" charset="0"/>
                <a:ea typeface="Meiryo UI" pitchFamily="34" charset="-122"/>
                <a:cs typeface="Meiryo UI" pitchFamily="34" charset="-120"/>
              </a:rPr>
              <a:t>② </a:t>
            </a:r>
            <a:pPr indent="0" marL="0">
              <a:spcAft>
                <a:spcPts val="1000"/>
              </a:spcAft>
              <a:buNone/>
            </a:pPr>
            <a:r>
              <a:rPr lang="en-US" sz="1400" dirty="0">
                <a:solidFill>
                  <a:srgbClr val="1F2937"/>
                </a:solidFill>
                <a:latin typeface="Meiryo UI" pitchFamily="34" charset="0"/>
                <a:ea typeface="Meiryo UI" pitchFamily="34" charset="-122"/>
                <a:cs typeface="Meiryo UI" pitchFamily="34" charset="-120"/>
              </a:rPr>
              <a:t>accountState が ACTIVE（利用中）</a:t>
            </a:r>
            <a:endParaRPr lang="en-US" sz="1400" dirty="0"/>
          </a:p>
          <a:p>
            <a:pPr indent="0" marL="0">
              <a:spcAft>
                <a:spcPts val="1000"/>
              </a:spcAft>
              <a:buNone/>
            </a:pPr>
            <a:r>
              <a:rPr lang="en-US" sz="1400" b="1" dirty="0">
                <a:solidFill>
                  <a:srgbClr val="E11D2E"/>
                </a:solidFill>
                <a:latin typeface="Meiryo UI" pitchFamily="34" charset="0"/>
                <a:ea typeface="Meiryo UI" pitchFamily="34" charset="-122"/>
                <a:cs typeface="Meiryo UI" pitchFamily="34" charset="-120"/>
              </a:rPr>
              <a:t>③ </a:t>
            </a:r>
            <a:pPr indent="0" marL="0">
              <a:spcAft>
                <a:spcPts val="1000"/>
              </a:spcAft>
              <a:buNone/>
            </a:pPr>
            <a:r>
              <a:rPr lang="en-US" sz="1400" dirty="0">
                <a:solidFill>
                  <a:srgbClr val="1F2937"/>
                </a:solidFill>
                <a:latin typeface="Meiryo UI" pitchFamily="34" charset="0"/>
                <a:ea typeface="Meiryo UI" pitchFamily="34" charset="-122"/>
                <a:cs typeface="Meiryo UI" pitchFamily="34" charset="-120"/>
              </a:rPr>
              <a:t>balances.totalBalance が入金額になっている</a:t>
            </a:r>
            <a:endParaRPr lang="en-US" sz="1400" dirty="0"/>
          </a:p>
          <a:p>
            <a:pPr indent="0" marL="0">
              <a:spcAft>
                <a:spcPts val="1000"/>
              </a:spcAft>
              <a:buNone/>
            </a:pPr>
            <a:r>
              <a:rPr lang="en-US" sz="1400" b="1" dirty="0">
                <a:solidFill>
                  <a:srgbClr val="E11D2E"/>
                </a:solidFill>
                <a:latin typeface="Meiryo UI" pitchFamily="34" charset="0"/>
                <a:ea typeface="Meiryo UI" pitchFamily="34" charset="-122"/>
                <a:cs typeface="Meiryo UI" pitchFamily="34" charset="-120"/>
              </a:rPr>
              <a:t>④ </a:t>
            </a:r>
            <a:pPr indent="0" marL="0">
              <a:spcAft>
                <a:spcPts val="1000"/>
              </a:spcAft>
              <a:buNone/>
            </a:pPr>
            <a:r>
              <a:rPr lang="en-US" sz="1400" dirty="0">
                <a:solidFill>
                  <a:srgbClr val="1F2937"/>
                </a:solidFill>
                <a:latin typeface="Meiryo UI" pitchFamily="34" charset="0"/>
                <a:ea typeface="Meiryo UI" pitchFamily="34" charset="-122"/>
                <a:cs typeface="Meiryo UI" pitchFamily="34" charset="-120"/>
              </a:rPr>
              <a:t>approvedDate（承認日）・activationDate（利用開始日）が入っている</a:t>
            </a:r>
            <a:endParaRPr lang="en-US" sz="14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ステップ⑦【6/6】完成したコレクションとゴール</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6" name="Text 4"/>
          <p:cNvSpPr/>
          <p:nvPr/>
        </p:nvSpPr>
        <p:spPr>
          <a:xfrm>
            <a:off x="548640" y="1188720"/>
            <a:ext cx="5760720" cy="3566160"/>
          </a:xfrm>
          <a:prstGeom prst="rect">
            <a:avLst/>
          </a:prstGeom>
          <a:solidFill>
            <a:srgbClr val="F3F4F6"/>
          </a:solidFill>
          <a:ln w="12700">
            <a:solidFill>
              <a:srgbClr val="D1D5DB"/>
            </a:solidFill>
          </a:ln>
        </p:spPr>
        <p:txBody>
          <a:bodyPr wrap="square" lIns="101600" tIns="101600" rIns="101600" bIns="101600" rtlCol="0" anchor="t"/>
          <a:lstStyle/>
          <a:p>
            <a:pPr indent="0" marL="0">
              <a:buNone/>
            </a:pPr>
            <a:r>
              <a:rPr lang="en-US" sz="1200" dirty="0">
                <a:solidFill>
                  <a:srgbClr val="111827"/>
                </a:solidFill>
                <a:latin typeface="Consolas" pitchFamily="34" charset="0"/>
                <a:ea typeface="Consolas" pitchFamily="34" charset="-122"/>
                <a:cs typeface="Consolas" pitchFamily="34" charset="-120"/>
              </a:rPr>
              <a:t>mambu-practice\</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 opencollection.yml   … 共通ヘッダー（準備4）</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 environments\Mambu-Sandbox.yml（準備3）</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 01 Get Branches.yml</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 02 Get Deposit Products.yml</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 03 Get Transaction Channels.yml</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 04 Create Director Client.yml</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 05 Create Corporate Group.yml</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 06 Create Deposit Account.yml</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 07 Approve Deposit Account.yml</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 08 First Deposit.yml</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 09 Check Deposit Account.yml</a:t>
            </a:r>
            <a:endParaRPr lang="en-US" sz="1200" dirty="0"/>
          </a:p>
        </p:txBody>
      </p:sp>
      <p:sp>
        <p:nvSpPr>
          <p:cNvPr id="7" name="Shape 5"/>
          <p:cNvSpPr/>
          <p:nvPr/>
        </p:nvSpPr>
        <p:spPr>
          <a:xfrm>
            <a:off x="6583680" y="1188720"/>
            <a:ext cx="5029200" cy="1737360"/>
          </a:xfrm>
          <a:prstGeom prst="rect">
            <a:avLst/>
          </a:prstGeom>
          <a:solidFill>
            <a:srgbClr val="ECFDF5"/>
          </a:solidFill>
          <a:ln w="15875">
            <a:solidFill>
              <a:srgbClr val="047857"/>
            </a:solidFill>
            <a:prstDash val="solid"/>
          </a:ln>
        </p:spPr>
      </p:sp>
      <p:sp>
        <p:nvSpPr>
          <p:cNvPr id="8" name="Shape 6"/>
          <p:cNvSpPr/>
          <p:nvPr/>
        </p:nvSpPr>
        <p:spPr>
          <a:xfrm>
            <a:off x="6583680" y="1188720"/>
            <a:ext cx="82296" cy="1737360"/>
          </a:xfrm>
          <a:prstGeom prst="rect">
            <a:avLst/>
          </a:prstGeom>
          <a:solidFill>
            <a:srgbClr val="047857"/>
          </a:solidFill>
          <a:ln w="12700">
            <a:solidFill>
              <a:srgbClr val="047857"/>
            </a:solidFill>
            <a:prstDash val="solid"/>
          </a:ln>
        </p:spPr>
      </p:sp>
      <p:sp>
        <p:nvSpPr>
          <p:cNvPr id="9" name="Text 7"/>
          <p:cNvSpPr/>
          <p:nvPr/>
        </p:nvSpPr>
        <p:spPr>
          <a:xfrm>
            <a:off x="6748272" y="1234440"/>
            <a:ext cx="4800600" cy="1645920"/>
          </a:xfrm>
          <a:prstGeom prst="rect">
            <a:avLst/>
          </a:prstGeom>
          <a:noFill/>
          <a:ln/>
        </p:spPr>
        <p:txBody>
          <a:bodyPr wrap="square" rtlCol="0" anchor="t"/>
          <a:lstStyle/>
          <a:p>
            <a:pPr indent="0" marL="0">
              <a:spcAft>
                <a:spcPts val="200"/>
              </a:spcAft>
              <a:buNone/>
            </a:pPr>
            <a:r>
              <a:rPr lang="en-US" sz="1300" b="1" dirty="0">
                <a:solidFill>
                  <a:srgbClr val="047857"/>
                </a:solidFill>
                <a:latin typeface="Meiryo UI" pitchFamily="34" charset="0"/>
                <a:ea typeface="Meiryo UI" pitchFamily="34" charset="-122"/>
                <a:cs typeface="Meiryo UI" pitchFamily="34" charset="-120"/>
              </a:rPr>
              <a:t>【ゴール達成】</a:t>
            </a:r>
            <a:endParaRPr lang="en-US" sz="1300" dirty="0"/>
          </a:p>
          <a:p>
            <a:pPr indent="0" marL="0">
              <a:spcAft>
                <a:spcPts val="200"/>
              </a:spcAft>
              <a:buNone/>
            </a:pPr>
            <a:r>
              <a:rPr lang="en-US" sz="1300" dirty="0">
                <a:solidFill>
                  <a:srgbClr val="1F2937"/>
                </a:solidFill>
                <a:latin typeface="Meiryo UI" pitchFamily="34" charset="0"/>
                <a:ea typeface="Meiryo UI" pitchFamily="34" charset="-122"/>
                <a:cs typeface="Meiryo UI" pitchFamily="34" charset="-120"/>
              </a:rPr>
              <a:t>法人の顧客登録 → 口座の作成 → 承認 → 初回入金 → 確認 の 9 つのリクエストができました。実際の環境では、01 から順に Send すると、口座が ACTIVE になるまでを確認できます。</a:t>
            </a:r>
            <a:endParaRPr lang="en-US" sz="1300" dirty="0"/>
          </a:p>
        </p:txBody>
      </p:sp>
      <p:sp>
        <p:nvSpPr>
          <p:cNvPr id="10" name="Shape 8"/>
          <p:cNvSpPr/>
          <p:nvPr/>
        </p:nvSpPr>
        <p:spPr>
          <a:xfrm>
            <a:off x="6583680" y="3108960"/>
            <a:ext cx="5029200" cy="1645920"/>
          </a:xfrm>
          <a:prstGeom prst="rect">
            <a:avLst/>
          </a:prstGeom>
          <a:solidFill>
            <a:srgbClr val="EFF6FF"/>
          </a:solidFill>
          <a:ln w="15875">
            <a:solidFill>
              <a:srgbClr val="1D4ED8"/>
            </a:solidFill>
            <a:prstDash val="solid"/>
          </a:ln>
        </p:spPr>
      </p:sp>
      <p:sp>
        <p:nvSpPr>
          <p:cNvPr id="11" name="Shape 9"/>
          <p:cNvSpPr/>
          <p:nvPr/>
        </p:nvSpPr>
        <p:spPr>
          <a:xfrm>
            <a:off x="6583680" y="3108960"/>
            <a:ext cx="82296" cy="1645920"/>
          </a:xfrm>
          <a:prstGeom prst="rect">
            <a:avLst/>
          </a:prstGeom>
          <a:solidFill>
            <a:srgbClr val="1D4ED8"/>
          </a:solidFill>
          <a:ln w="12700">
            <a:solidFill>
              <a:srgbClr val="1D4ED8"/>
            </a:solidFill>
            <a:prstDash val="solid"/>
          </a:ln>
        </p:spPr>
      </p:sp>
      <p:sp>
        <p:nvSpPr>
          <p:cNvPr id="12" name="Text 10"/>
          <p:cNvSpPr/>
          <p:nvPr/>
        </p:nvSpPr>
        <p:spPr>
          <a:xfrm>
            <a:off x="6748272" y="3154680"/>
            <a:ext cx="4800600" cy="1554480"/>
          </a:xfrm>
          <a:prstGeom prst="rect">
            <a:avLst/>
          </a:prstGeom>
          <a:noFill/>
          <a:ln/>
        </p:spPr>
        <p:txBody>
          <a:bodyPr wrap="square" rtlCol="0" anchor="t"/>
          <a:lstStyle/>
          <a:p>
            <a:pPr indent="0" marL="0">
              <a:spcAft>
                <a:spcPts val="200"/>
              </a:spcAft>
              <a:buNone/>
            </a:pPr>
            <a:r>
              <a:rPr lang="en-US" sz="1200" b="1" dirty="0">
                <a:solidFill>
                  <a:srgbClr val="1D4ED8"/>
                </a:solidFill>
                <a:latin typeface="Meiryo UI" pitchFamily="34" charset="0"/>
                <a:ea typeface="Meiryo UI" pitchFamily="34" charset="-122"/>
                <a:cs typeface="Meiryo UI" pitchFamily="34" charset="-120"/>
              </a:rPr>
              <a:t>【自分で作ったものと比べる】</a:t>
            </a:r>
            <a:endParaRPr lang="en-US" sz="1200" dirty="0"/>
          </a:p>
          <a:p>
            <a:pPr indent="0" marL="0">
              <a:spcAft>
                <a:spcPts val="200"/>
              </a:spcAft>
              <a:buNone/>
            </a:pPr>
            <a:r>
              <a:rPr lang="en-US" sz="1200" dirty="0">
                <a:solidFill>
                  <a:srgbClr val="1F2937"/>
                </a:solidFill>
                <a:latin typeface="Meiryo UI" pitchFamily="34" charset="0"/>
                <a:ea typeface="Meiryo UI" pitchFamily="34" charset="-122"/>
                <a:cs typeface="Meiryo UI" pitchFamily="34" charset="-120"/>
              </a:rPr>
              <a:t>作成環境で、この手順どおりに Bruno の画面で入力して保存した 9 つのファイルは、参考コレクション（exercises\mambu-corporate-onboarding\）のファイルと内容が完全に一致しました（2026-10-13 確認）。</a:t>
            </a:r>
            <a:endParaRPr lang="en-US" sz="12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まとめて実行する（Collection Runner）</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6" name="Text 4"/>
          <p:cNvSpPr/>
          <p:nvPr/>
        </p:nvSpPr>
        <p:spPr>
          <a:xfrm>
            <a:off x="548640" y="1188720"/>
            <a:ext cx="11064240" cy="1737360"/>
          </a:xfrm>
          <a:prstGeom prst="rect">
            <a:avLst/>
          </a:prstGeom>
          <a:noFill/>
          <a:ln/>
        </p:spPr>
        <p:txBody>
          <a:bodyPr wrap="square" rtlCol="0" anchor="t"/>
          <a:lstStyle/>
          <a:p>
            <a:pPr indent="0" marL="0">
              <a:spcAft>
                <a:spcPts val="800"/>
              </a:spcAft>
              <a:buNone/>
            </a:pPr>
            <a:r>
              <a:rPr lang="en-US" sz="1500" b="1" dirty="0">
                <a:solidFill>
                  <a:srgbClr val="E11D2E"/>
                </a:solidFill>
                <a:latin typeface="Meiryo UI" pitchFamily="34" charset="0"/>
                <a:ea typeface="Meiryo UI" pitchFamily="34" charset="-122"/>
                <a:cs typeface="Meiryo UI" pitchFamily="34" charset="-120"/>
              </a:rPr>
              <a:t>① </a:t>
            </a:r>
            <a:pPr indent="0" marL="0">
              <a:spcAft>
                <a:spcPts val="800"/>
              </a:spcAft>
              <a:buNone/>
            </a:pPr>
            <a:r>
              <a:rPr lang="en-US" sz="1500" dirty="0">
                <a:solidFill>
                  <a:srgbClr val="1F2937"/>
                </a:solidFill>
                <a:latin typeface="Meiryo UI" pitchFamily="34" charset="0"/>
                <a:ea typeface="Meiryo UI" pitchFamily="34" charset="-122"/>
                <a:cs typeface="Meiryo UI" pitchFamily="34" charset="-120"/>
              </a:rPr>
              <a:t>環境 Mambu-Sandbox を選び、値がすべて入っていることを確認</a:t>
            </a:r>
            <a:endParaRPr lang="en-US" sz="1500" dirty="0"/>
          </a:p>
          <a:p>
            <a:pPr indent="0" marL="0">
              <a:spcAft>
                <a:spcPts val="800"/>
              </a:spcAft>
              <a:buNone/>
            </a:pPr>
            <a:r>
              <a:rPr lang="en-US" sz="1500" b="1" dirty="0">
                <a:solidFill>
                  <a:srgbClr val="E11D2E"/>
                </a:solidFill>
                <a:latin typeface="Meiryo UI" pitchFamily="34" charset="0"/>
                <a:ea typeface="Meiryo UI" pitchFamily="34" charset="-122"/>
                <a:cs typeface="Meiryo UI" pitchFamily="34" charset="-120"/>
              </a:rPr>
              <a:t>② </a:t>
            </a:r>
            <a:pPr indent="0" marL="0">
              <a:spcAft>
                <a:spcPts val="800"/>
              </a:spcAft>
              <a:buNone/>
            </a:pPr>
            <a:r>
              <a:rPr lang="en-US" sz="1500" dirty="0">
                <a:solidFill>
                  <a:srgbClr val="1F2937"/>
                </a:solidFill>
                <a:latin typeface="Meiryo UI" pitchFamily="34" charset="0"/>
                <a:ea typeface="Meiryo UI" pitchFamily="34" charset="-122"/>
                <a:cs typeface="Meiryo UI" pitchFamily="34" charset="-120"/>
              </a:rPr>
              <a:t>コレクション mambu-practice（または参考コレクション）を右クリック → Run → Run</a:t>
            </a:r>
            <a:endParaRPr lang="en-US" sz="1500" dirty="0"/>
          </a:p>
          <a:p>
            <a:pPr indent="0" marL="0">
              <a:spcAft>
                <a:spcPts val="800"/>
              </a:spcAft>
              <a:buNone/>
            </a:pPr>
            <a:r>
              <a:rPr lang="en-US" sz="1500" b="1" dirty="0">
                <a:solidFill>
                  <a:srgbClr val="E11D2E"/>
                </a:solidFill>
                <a:latin typeface="Meiryo UI" pitchFamily="34" charset="0"/>
                <a:ea typeface="Meiryo UI" pitchFamily="34" charset="-122"/>
                <a:cs typeface="Meiryo UI" pitchFamily="34" charset="-120"/>
              </a:rPr>
              <a:t>③ </a:t>
            </a:r>
            <a:pPr indent="0" marL="0">
              <a:spcAft>
                <a:spcPts val="800"/>
              </a:spcAft>
              <a:buNone/>
            </a:pPr>
            <a:r>
              <a:rPr lang="en-US" sz="1500" dirty="0">
                <a:solidFill>
                  <a:srgbClr val="1F2937"/>
                </a:solidFill>
                <a:latin typeface="Meiryo UI" pitchFamily="34" charset="0"/>
                <a:ea typeface="Meiryo UI" pitchFamily="34" charset="-122"/>
                <a:cs typeface="Meiryo UI" pitchFamily="34" charset="-120"/>
              </a:rPr>
              <a:t>01〜09 が順番に実行され、各ステップのアサーションの結果が表示される</a:t>
            </a:r>
            <a:endParaRPr lang="en-US" sz="1500" dirty="0"/>
          </a:p>
        </p:txBody>
      </p:sp>
      <p:graphicFrame>
        <p:nvGraphicFramePr>
          <p:cNvPr id="93" name="Table 0"/>
          <p:cNvGraphicFramePr>
            <a:graphicFrameLocks noGrp="1"/>
          </p:cNvGraphicFramePr>
          <p:nvPr>
            <p:extLst>
              <p:ext uri="{D42A27DB-BD31-4B8C-83A1-F6EECF244321}">
                <p14:modId xmlns:p14="http://schemas.microsoft.com/office/powerpoint/2010/main" val="1579011935"/>
              </p:ext>
            </p:extLst>
          </p:nvPr>
        </p:nvGraphicFramePr>
        <p:xfrm>
          <a:off x="548640" y="3108960"/>
          <a:ext cx="11064240" cy="914400"/>
        </p:xfrm>
        <a:graphic>
          <a:graphicData uri="http://schemas.openxmlformats.org/drawingml/2006/table">
            <a:tbl>
              <a:tblPr/>
              <a:tblGrid>
                <a:gridCol w="4572000"/>
                <a:gridCol w="6492240"/>
              </a:tblGrid>
              <a:tr h="457200">
                <a:tc>
                  <a:txBody>
                    <a:bodyPr/>
                    <a:lstStyle/>
                    <a:p>
                      <a:pPr indent="0" marL="0">
                        <a:buNone/>
                      </a:pPr>
                      <a:r>
                        <a:rPr lang="en-US" sz="1400" b="1" dirty="0">
                          <a:solidFill>
                            <a:srgbClr val="FFFFFF"/>
                          </a:solidFill>
                          <a:latin typeface="Meiryo UI" pitchFamily="34" charset="0"/>
                          <a:ea typeface="Meiryo UI" pitchFamily="34" charset="-122"/>
                          <a:cs typeface="Meiryo UI" pitchFamily="34" charset="-120"/>
                        </a:rPr>
                        <a:t>ステップ</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Meiryo UI" pitchFamily="34" charset="0"/>
                          <a:ea typeface="Meiryo UI" pitchFamily="34" charset="-122"/>
                          <a:cs typeface="Meiryo UI" pitchFamily="34" charset="-120"/>
                        </a:rPr>
                        <a:t>確認すること（アサーション）</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45720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④ 06 Create Deposit Account</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201、accountState = PENDING_APPROVAL</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⑤ 07 Approve Deposit Account</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200、accountState = APPROVED</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5720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⑥ 08 First Deposit</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201</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⑦ 09 Check Deposit Account</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200、accountState = ACTIVE</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bl>
          </a:graphicData>
        </a:graphic>
      </p:graphicFrame>
      <p:sp>
        <p:nvSpPr>
          <p:cNvPr id="8" name="Shape 5"/>
          <p:cNvSpPr/>
          <p:nvPr/>
        </p:nvSpPr>
        <p:spPr>
          <a:xfrm>
            <a:off x="548640" y="5440680"/>
            <a:ext cx="11064240" cy="640080"/>
          </a:xfrm>
          <a:prstGeom prst="rect">
            <a:avLst/>
          </a:prstGeom>
          <a:solidFill>
            <a:srgbClr val="FEF2F2"/>
          </a:solidFill>
          <a:ln w="15875">
            <a:solidFill>
              <a:srgbClr val="B91C1C"/>
            </a:solidFill>
            <a:prstDash val="solid"/>
          </a:ln>
        </p:spPr>
      </p:sp>
      <p:sp>
        <p:nvSpPr>
          <p:cNvPr id="9" name="Shape 6"/>
          <p:cNvSpPr/>
          <p:nvPr/>
        </p:nvSpPr>
        <p:spPr>
          <a:xfrm>
            <a:off x="548640" y="5440680"/>
            <a:ext cx="82296" cy="640080"/>
          </a:xfrm>
          <a:prstGeom prst="rect">
            <a:avLst/>
          </a:prstGeom>
          <a:solidFill>
            <a:srgbClr val="B91C1C"/>
          </a:solidFill>
          <a:ln w="12700">
            <a:solidFill>
              <a:srgbClr val="B91C1C"/>
            </a:solidFill>
            <a:prstDash val="solid"/>
          </a:ln>
        </p:spPr>
      </p:sp>
      <p:sp>
        <p:nvSpPr>
          <p:cNvPr id="10" name="Text 7"/>
          <p:cNvSpPr/>
          <p:nvPr/>
        </p:nvSpPr>
        <p:spPr>
          <a:xfrm>
            <a:off x="713232" y="5486400"/>
            <a:ext cx="10835640" cy="548640"/>
          </a:xfrm>
          <a:prstGeom prst="rect">
            <a:avLst/>
          </a:prstGeom>
          <a:noFill/>
          <a:ln/>
        </p:spPr>
        <p:txBody>
          <a:bodyPr wrap="square" rtlCol="0" anchor="ctr"/>
          <a:lstStyle/>
          <a:p>
            <a:pPr indent="0" marL="0">
              <a:spcAft>
                <a:spcPts val="200"/>
              </a:spcAft>
              <a:buNone/>
            </a:pPr>
            <a:r>
              <a:rPr lang="en-US" sz="1300" b="1" dirty="0">
                <a:solidFill>
                  <a:srgbClr val="B91C1C"/>
                </a:solidFill>
                <a:latin typeface="Meiryo UI" pitchFamily="34" charset="0"/>
                <a:ea typeface="Meiryo UI" pitchFamily="34" charset="-122"/>
                <a:cs typeface="Meiryo UI" pitchFamily="34" charset="-120"/>
              </a:rPr>
              <a:t>【注意】</a:t>
            </a:r>
            <a:endParaRPr lang="en-US" sz="1300" dirty="0"/>
          </a:p>
          <a:p>
            <a:pPr indent="0" marL="0">
              <a:spcAft>
                <a:spcPts val="200"/>
              </a:spcAft>
              <a:buNone/>
            </a:pPr>
            <a:r>
              <a:rPr lang="en-US" sz="1300" dirty="0">
                <a:solidFill>
                  <a:srgbClr val="1F2937"/>
                </a:solidFill>
                <a:latin typeface="Meiryo UI" pitchFamily="34" charset="0"/>
                <a:ea typeface="Meiryo UI" pitchFamily="34" charset="-122"/>
                <a:cs typeface="Meiryo UI" pitchFamily="34" charset="-120"/>
              </a:rPr>
              <a:t>1 回実行するごとに、新しい顧客・法人・口座が作られます。サンドボックスでも、むやみに繰り返さないでください。</a:t>
            </a:r>
            <a:endParaRPr lang="en-US" sz="13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エラーのときのレスポンスの読み方</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6" name="Text 4"/>
          <p:cNvSpPr/>
          <p:nvPr/>
        </p:nvSpPr>
        <p:spPr>
          <a:xfrm>
            <a:off x="365760" y="6144768"/>
            <a:ext cx="11430000" cy="292608"/>
          </a:xfrm>
          <a:prstGeom prst="rect">
            <a:avLst/>
          </a:prstGeom>
          <a:noFill/>
          <a:ln/>
        </p:spPr>
        <p:txBody>
          <a:bodyPr wrap="square" rtlCol="0" anchor="t"/>
          <a:lstStyle/>
          <a:p>
            <a:pPr indent="0" marL="0">
              <a:buNone/>
            </a:pPr>
            <a:r>
              <a:rPr lang="en-US" sz="1000" dirty="0">
                <a:solidFill>
                  <a:srgbClr val="6B7280"/>
                </a:solidFill>
                <a:latin typeface="Meiryo UI" pitchFamily="34" charset="0"/>
                <a:ea typeface="Meiryo UI" pitchFamily="34" charset="-122"/>
                <a:cs typeface="Meiryo UI" pitchFamily="34" charset="-120"/>
              </a:rPr>
              <a:t>出典：https://docs.mambu.com/api/pages/api-v2/responses/ ／ https://docs.mambu.com/docs/api-response-error-codes/（2026-10-09 確認）</a:t>
            </a:r>
            <a:endParaRPr lang="en-US" sz="1000" dirty="0"/>
          </a:p>
        </p:txBody>
      </p:sp>
      <p:sp>
        <p:nvSpPr>
          <p:cNvPr id="7" name="Text 5"/>
          <p:cNvSpPr/>
          <p:nvPr/>
        </p:nvSpPr>
        <p:spPr>
          <a:xfrm>
            <a:off x="548640" y="1463040"/>
            <a:ext cx="5486400" cy="2743200"/>
          </a:xfrm>
          <a:prstGeom prst="rect">
            <a:avLst/>
          </a:prstGeom>
          <a:solidFill>
            <a:srgbClr val="F3F4F6"/>
          </a:solidFill>
          <a:ln w="12700">
            <a:solidFill>
              <a:srgbClr val="D1D5DB"/>
            </a:solidFill>
          </a:ln>
        </p:spPr>
        <p:txBody>
          <a:bodyPr wrap="square" lIns="101600" tIns="101600" rIns="101600" bIns="101600" rtlCol="0" anchor="t"/>
          <a:lstStyle/>
          <a:p>
            <a:pPr indent="0" marL="0">
              <a:buNone/>
            </a:pPr>
            <a:r>
              <a:rPr lang="en-US" sz="1300" dirty="0">
                <a:solidFill>
                  <a:srgbClr val="111827"/>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rgbClr val="111827"/>
                </a:solidFill>
                <a:latin typeface="Consolas" pitchFamily="34" charset="0"/>
                <a:ea typeface="Consolas" pitchFamily="34" charset="-122"/>
                <a:cs typeface="Consolas" pitchFamily="34" charset="-120"/>
              </a:rPr>
              <a:t>  "errors": [</a:t>
            </a:r>
            <a:endParaRPr lang="en-US" sz="1300" dirty="0"/>
          </a:p>
          <a:p>
            <a:pPr indent="0" marL="0">
              <a:buNone/>
            </a:pPr>
            <a:r>
              <a:rPr lang="en-US" sz="1300" dirty="0">
                <a:solidFill>
                  <a:srgbClr val="111827"/>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rgbClr val="111827"/>
                </a:solidFill>
                <a:latin typeface="Consolas" pitchFamily="34" charset="0"/>
                <a:ea typeface="Consolas" pitchFamily="34" charset="-122"/>
                <a:cs typeface="Consolas" pitchFamily="34" charset="-120"/>
              </a:rPr>
              <a:t>      "errorCode": 4,</a:t>
            </a:r>
            <a:endParaRPr lang="en-US" sz="1300" dirty="0"/>
          </a:p>
          <a:p>
            <a:pPr indent="0" marL="0">
              <a:buNone/>
            </a:pPr>
            <a:r>
              <a:rPr lang="en-US" sz="1300" dirty="0">
                <a:solidFill>
                  <a:srgbClr val="111827"/>
                </a:solidFill>
                <a:latin typeface="Consolas" pitchFamily="34" charset="0"/>
                <a:ea typeface="Consolas" pitchFamily="34" charset="-122"/>
                <a:cs typeface="Consolas" pitchFamily="34" charset="-120"/>
              </a:rPr>
              <a:t>      "errorReason": "INVALID_PARAMETERS",</a:t>
            </a:r>
            <a:endParaRPr lang="en-US" sz="1300" dirty="0"/>
          </a:p>
          <a:p>
            <a:pPr indent="0" marL="0">
              <a:buNone/>
            </a:pPr>
            <a:r>
              <a:rPr lang="en-US" sz="1300" dirty="0">
                <a:solidFill>
                  <a:srgbClr val="111827"/>
                </a:solidFill>
                <a:latin typeface="Consolas" pitchFamily="34" charset="0"/>
                <a:ea typeface="Consolas" pitchFamily="34" charset="-122"/>
                <a:cs typeface="Consolas" pitchFamily="34" charset="-120"/>
              </a:rPr>
              <a:t>      "errorSource": "groupName"</a:t>
            </a:r>
            <a:endParaRPr lang="en-US" sz="1300" dirty="0"/>
          </a:p>
          <a:p>
            <a:pPr indent="0" marL="0">
              <a:buNone/>
            </a:pPr>
            <a:r>
              <a:rPr lang="en-US" sz="1300" dirty="0">
                <a:solidFill>
                  <a:srgbClr val="111827"/>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rgbClr val="111827"/>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rgbClr val="111827"/>
                </a:solidFill>
                <a:latin typeface="Consolas" pitchFamily="34" charset="0"/>
                <a:ea typeface="Consolas" pitchFamily="34" charset="-122"/>
                <a:cs typeface="Consolas" pitchFamily="34" charset="-120"/>
              </a:rPr>
              <a:t>}</a:t>
            </a:r>
            <a:endParaRPr lang="en-US" sz="1300" dirty="0"/>
          </a:p>
        </p:txBody>
      </p:sp>
      <p:sp>
        <p:nvSpPr>
          <p:cNvPr id="8" name="Text 6"/>
          <p:cNvSpPr/>
          <p:nvPr/>
        </p:nvSpPr>
        <p:spPr>
          <a:xfrm>
            <a:off x="548640" y="1188720"/>
            <a:ext cx="5486400" cy="274320"/>
          </a:xfrm>
          <a:prstGeom prst="rect">
            <a:avLst/>
          </a:prstGeom>
          <a:noFill/>
          <a:ln/>
        </p:spPr>
        <p:txBody>
          <a:bodyPr wrap="square" rtlCol="0" anchor="ctr"/>
          <a:lstStyle/>
          <a:p>
            <a:pPr indent="0" marL="0">
              <a:buNone/>
            </a:pPr>
            <a:r>
              <a:rPr lang="en-US" sz="1100" dirty="0">
                <a:solidFill>
                  <a:srgbClr val="6B7280"/>
                </a:solidFill>
                <a:latin typeface="Meiryo UI" pitchFamily="34" charset="0"/>
                <a:ea typeface="Meiryo UI" pitchFamily="34" charset="-122"/>
                <a:cs typeface="Meiryo UI" pitchFamily="34" charset="-120"/>
              </a:rPr>
              <a:t>エラーのボディの形（公式）</a:t>
            </a:r>
            <a:endParaRPr lang="en-US" sz="1100" dirty="0"/>
          </a:p>
        </p:txBody>
      </p:sp>
      <p:graphicFrame>
        <p:nvGraphicFramePr>
          <p:cNvPr id="94" name="Table 0"/>
          <p:cNvGraphicFramePr>
            <a:graphicFrameLocks noGrp="1"/>
          </p:cNvGraphicFramePr>
          <p:nvPr>
            <p:extLst>
              <p:ext uri="{D42A27DB-BD31-4B8C-83A1-F6EECF244321}">
                <p14:modId xmlns:p14="http://schemas.microsoft.com/office/powerpoint/2010/main" val="1579011935"/>
              </p:ext>
            </p:extLst>
          </p:nvPr>
        </p:nvGraphicFramePr>
        <p:xfrm>
          <a:off x="6309360" y="1188720"/>
          <a:ext cx="5303520" cy="914400"/>
        </p:xfrm>
        <a:graphic>
          <a:graphicData uri="http://schemas.openxmlformats.org/drawingml/2006/table">
            <a:tbl>
              <a:tblPr/>
              <a:tblGrid>
                <a:gridCol w="1828800"/>
                <a:gridCol w="3474720"/>
              </a:tblGrid>
              <a:tr h="502920">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項目</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意味</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50292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errorCode</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エラーの番号</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errorReason</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エラーの理由（英語の決まった文字列）</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50292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errorSource</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問題のある項目の名前（無い場合もある）</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10" name="Shape 7"/>
          <p:cNvSpPr/>
          <p:nvPr/>
        </p:nvSpPr>
        <p:spPr>
          <a:xfrm>
            <a:off x="6309360" y="3383280"/>
            <a:ext cx="5303520" cy="1371600"/>
          </a:xfrm>
          <a:prstGeom prst="rect">
            <a:avLst/>
          </a:prstGeom>
          <a:solidFill>
            <a:srgbClr val="EFF6FF"/>
          </a:solidFill>
          <a:ln w="15875">
            <a:solidFill>
              <a:srgbClr val="1D4ED8"/>
            </a:solidFill>
            <a:prstDash val="solid"/>
          </a:ln>
        </p:spPr>
      </p:sp>
      <p:sp>
        <p:nvSpPr>
          <p:cNvPr id="11" name="Shape 8"/>
          <p:cNvSpPr/>
          <p:nvPr/>
        </p:nvSpPr>
        <p:spPr>
          <a:xfrm>
            <a:off x="6309360" y="3383280"/>
            <a:ext cx="82296" cy="1371600"/>
          </a:xfrm>
          <a:prstGeom prst="rect">
            <a:avLst/>
          </a:prstGeom>
          <a:solidFill>
            <a:srgbClr val="1D4ED8"/>
          </a:solidFill>
          <a:ln w="12700">
            <a:solidFill>
              <a:srgbClr val="1D4ED8"/>
            </a:solidFill>
            <a:prstDash val="solid"/>
          </a:ln>
        </p:spPr>
      </p:sp>
      <p:sp>
        <p:nvSpPr>
          <p:cNvPr id="12" name="Text 9"/>
          <p:cNvSpPr/>
          <p:nvPr/>
        </p:nvSpPr>
        <p:spPr>
          <a:xfrm>
            <a:off x="6473952" y="3429000"/>
            <a:ext cx="5074920" cy="1280160"/>
          </a:xfrm>
          <a:prstGeom prst="rect">
            <a:avLst/>
          </a:prstGeom>
          <a:noFill/>
          <a:ln/>
        </p:spPr>
        <p:txBody>
          <a:bodyPr wrap="square" rtlCol="0" anchor="ctr"/>
          <a:lstStyle/>
          <a:p>
            <a:pPr indent="0" marL="0">
              <a:spcAft>
                <a:spcPts val="200"/>
              </a:spcAft>
              <a:buNone/>
            </a:pPr>
            <a:r>
              <a:rPr lang="en-US" sz="1300" b="1" dirty="0">
                <a:solidFill>
                  <a:srgbClr val="1D4ED8"/>
                </a:solidFill>
                <a:latin typeface="Meiryo UI" pitchFamily="34" charset="0"/>
                <a:ea typeface="Meiryo UI" pitchFamily="34" charset="-122"/>
                <a:cs typeface="Meiryo UI" pitchFamily="34" charset="-120"/>
              </a:rPr>
              <a:t>【読み方のコツ】</a:t>
            </a:r>
            <a:endParaRPr lang="en-US" sz="1300" dirty="0"/>
          </a:p>
          <a:p>
            <a:pPr indent="0" marL="0">
              <a:spcAft>
                <a:spcPts val="200"/>
              </a:spcAft>
              <a:buNone/>
            </a:pPr>
            <a:r>
              <a:rPr lang="en-US" sz="1300" dirty="0">
                <a:solidFill>
                  <a:srgbClr val="1F2937"/>
                </a:solidFill>
                <a:latin typeface="Meiryo UI" pitchFamily="34" charset="0"/>
                <a:ea typeface="Meiryo UI" pitchFamily="34" charset="-122"/>
                <a:cs typeface="Meiryo UI" pitchFamily="34" charset="-120"/>
              </a:rPr>
              <a:t>まず errorSource で「どの項目か」、次に errorReason で「何がいけないか」を見ます。番号の意味は公式のエラーコード一覧で調べます。</a:t>
            </a:r>
            <a:endParaRPr lang="en-US" sz="13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よく出るエラーと対処</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6" name="Text 4"/>
          <p:cNvSpPr/>
          <p:nvPr/>
        </p:nvSpPr>
        <p:spPr>
          <a:xfrm>
            <a:off x="365760" y="6144768"/>
            <a:ext cx="11430000" cy="292608"/>
          </a:xfrm>
          <a:prstGeom prst="rect">
            <a:avLst/>
          </a:prstGeom>
          <a:noFill/>
          <a:ln/>
        </p:spPr>
        <p:txBody>
          <a:bodyPr wrap="square" rtlCol="0" anchor="t"/>
          <a:lstStyle/>
          <a:p>
            <a:pPr indent="0" marL="0">
              <a:buNone/>
            </a:pPr>
            <a:r>
              <a:rPr lang="en-US" sz="1000" dirty="0">
                <a:solidFill>
                  <a:srgbClr val="6B7280"/>
                </a:solidFill>
                <a:latin typeface="Meiryo UI" pitchFamily="34" charset="0"/>
                <a:ea typeface="Meiryo UI" pitchFamily="34" charset="-122"/>
                <a:cs typeface="Meiryo UI" pitchFamily="34" charset="-120"/>
              </a:rPr>
              <a:t>出典：https://docs.mambu.com/api/pages/api-v2/responses/ ／ https://docs.mambu.com/docs/api-response-error-codes/（2026-10-09 確認）</a:t>
            </a:r>
            <a:endParaRPr lang="en-US" sz="1000" dirty="0"/>
          </a:p>
        </p:txBody>
      </p:sp>
      <p:graphicFrame>
        <p:nvGraphicFramePr>
          <p:cNvPr id="95"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11064240" cy="914400"/>
        </p:xfrm>
        <a:graphic>
          <a:graphicData uri="http://schemas.openxmlformats.org/drawingml/2006/table">
            <a:tbl>
              <a:tblPr/>
              <a:tblGrid>
                <a:gridCol w="1188720"/>
                <a:gridCol w="3474720"/>
                <a:gridCol w="3200400"/>
                <a:gridCol w="3200400"/>
              </a:tblGrid>
              <a:tr h="457200">
                <a:tc>
                  <a:txBody>
                    <a:bodyPr/>
                    <a:lstStyle/>
                    <a:p>
                      <a:pPr indent="0" marL="0">
                        <a:buNone/>
                      </a:pPr>
                      <a:r>
                        <a:rPr lang="en-US" sz="1100" b="1" dirty="0">
                          <a:solidFill>
                            <a:srgbClr val="FFFFFF"/>
                          </a:solidFill>
                          <a:latin typeface="Meiryo UI" pitchFamily="34" charset="0"/>
                          <a:ea typeface="Meiryo UI" pitchFamily="34" charset="-122"/>
                          <a:cs typeface="Meiryo UI" pitchFamily="34" charset="-120"/>
                        </a:rPr>
                        <a:t>ステータス</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UI" pitchFamily="34" charset="0"/>
                          <a:ea typeface="Meiryo UI" pitchFamily="34" charset="-122"/>
                          <a:cs typeface="Meiryo UI" pitchFamily="34" charset="-120"/>
                        </a:rPr>
                        <a:t>errorReason（例）</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UI" pitchFamily="34" charset="0"/>
                          <a:ea typeface="Meiryo UI" pitchFamily="34" charset="-122"/>
                          <a:cs typeface="Meiryo UI" pitchFamily="34" charset="-120"/>
                        </a:rPr>
                        <a:t>考えられる原因</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UI" pitchFamily="34" charset="0"/>
                          <a:ea typeface="Meiryo UI" pitchFamily="34" charset="-122"/>
                          <a:cs typeface="Meiryo UI" pitchFamily="34" charset="-120"/>
                        </a:rPr>
                        <a:t>対処</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457200">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401</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INVALID_CREDENTIALS など</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API キーが違う・入っていない</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Secrets の apiKey を確認</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403</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API_NOT_AUTHORIZED など</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権限が足りない</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組織に権限を確認</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57200">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400</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INVALID_BRANCH_KEY</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支店の key が違う</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GET /branches で確認</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400</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INVALID_PRODUCT_KEY</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預金商品の key が違う</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ステップ①の 02 が保存した depositProductKey を確認</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57200">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400</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SAVINGS_ACCOUNT_INVALID</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accountType が無い</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Body に accountType を入れる</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400</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DEPOSIT_PRODUCT_MISMATCH</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口座の種類・通貨が商品と合わない</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商品の type・通貨に合わせる</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57200">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400</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TRANSACTION_CHANNEL_IS_MANDATORY</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取引チャネルが必須</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transactionChannelId を入れる</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404</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INVALID_DEPOSIT_ACCOUNT_ID など</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口座が見つからない</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{{depositId}} が保存されているか確認</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bl>
          </a:graphicData>
        </a:graphic>
      </p:graphicFrame>
      <p:sp>
        <p:nvSpPr>
          <p:cNvPr id="8" name="Text 5"/>
          <p:cNvSpPr/>
          <p:nvPr/>
        </p:nvSpPr>
        <p:spPr>
          <a:xfrm>
            <a:off x="548640" y="5440680"/>
            <a:ext cx="11064240" cy="365760"/>
          </a:xfrm>
          <a:prstGeom prst="rect">
            <a:avLst/>
          </a:prstGeom>
          <a:noFill/>
          <a:ln/>
        </p:spPr>
        <p:txBody>
          <a:bodyPr wrap="square" lIns="50800" tIns="50800" rIns="50800" bIns="50800" rtlCol="0" anchor="t"/>
          <a:lstStyle/>
          <a:p>
            <a:pPr algn="l" indent="0" marL="0">
              <a:buNone/>
            </a:pPr>
            <a:r>
              <a:rPr lang="en-US" sz="1200" dirty="0">
                <a:solidFill>
                  <a:srgbClr val="6B7280"/>
                </a:solidFill>
                <a:latin typeface="Meiryo UI" pitchFamily="34" charset="0"/>
                <a:ea typeface="Meiryo UI" pitchFamily="34" charset="-122"/>
                <a:cs typeface="Meiryo UI" pitchFamily="34" charset="-120"/>
              </a:rPr>
              <a:t>※ 401 と 403 でどの errorReason が返るかの対応は、公式資料で確認できていません。</a:t>
            </a:r>
            <a:endParaRPr lang="en-US" sz="12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公式資料で確認できなかった事項</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6" name="Text 4"/>
          <p:cNvSpPr/>
          <p:nvPr/>
        </p:nvSpPr>
        <p:spPr>
          <a:xfrm>
            <a:off x="548640" y="1143000"/>
            <a:ext cx="11064240" cy="457200"/>
          </a:xfrm>
          <a:prstGeom prst="rect">
            <a:avLst/>
          </a:prstGeom>
          <a:noFill/>
          <a:ln/>
        </p:spPr>
        <p:txBody>
          <a:bodyPr wrap="square" lIns="50800" tIns="50800" rIns="50800" bIns="50800" rtlCol="0" anchor="t"/>
          <a:lstStyle/>
          <a:p>
            <a:pPr algn="l" indent="0" marL="0">
              <a:buNone/>
            </a:pPr>
            <a:r>
              <a:rPr lang="en-US" sz="1500" dirty="0">
                <a:solidFill>
                  <a:srgbClr val="1F2937"/>
                </a:solidFill>
                <a:latin typeface="Meiryo UI" pitchFamily="34" charset="0"/>
                <a:ea typeface="Meiryo UI" pitchFamily="34" charset="-122"/>
                <a:cs typeface="Meiryo UI" pitchFamily="34" charset="-120"/>
              </a:rPr>
              <a:t>次の点は公式資料では確認できませんでした。実際に使う前に、組織のシステム管理者に確認してください。</a:t>
            </a:r>
            <a:endParaRPr lang="en-US" sz="1500" dirty="0"/>
          </a:p>
        </p:txBody>
      </p:sp>
      <p:graphicFrame>
        <p:nvGraphicFramePr>
          <p:cNvPr id="96"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7680960"/>
                <a:gridCol w="3383280"/>
              </a:tblGrid>
              <a:tr h="457200">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事項</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Meiryo UI" pitchFamily="34" charset="0"/>
                          <a:ea typeface="Meiryo UI" pitchFamily="34" charset="-122"/>
                          <a:cs typeface="Meiryo UI" pitchFamily="34" charset="-120"/>
                        </a:rPr>
                        <a:t>影響するステップ</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45720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個人顧客が「承認待ち」の場合に、API で承認する方法</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②（口座を開設できない）</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法人用の Group の種類の key を API で取得する方法</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①【9/9】・③</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5720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役職の key（groupRoleNameKey）に入れる値の形式</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③</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assignedBranchKey・groupRoleKey が必須になる条件</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③</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5720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取引チャネルの指定が必須になる条件</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⑥</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API キー（API consumer）の提供状況（ページ上は Early Access と記載）</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準備1</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57200">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公式の Postman コレクションの有無</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Meiryo UI" pitchFamily="34" charset="0"/>
                          <a:ea typeface="Meiryo UI" pitchFamily="34" charset="-122"/>
                          <a:cs typeface="Meiryo UI" pitchFamily="34" charset="-120"/>
                        </a:rPr>
                        <a:t>—</a:t>
                      </a:r>
                      <a:endParaRPr lang="en-US" sz="13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Mambu 机上演習のまとめ</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9966960" y="292608"/>
            <a:ext cx="1828800" cy="347472"/>
          </a:xfrm>
          <a:prstGeom prst="rect">
            <a:avLst/>
          </a:prstGeom>
          <a:solidFill>
            <a:srgbClr val="1F3A5F"/>
          </a:solidFill>
          <a:ln/>
        </p:spPr>
        <p:txBody>
          <a:bodyPr wrap="square"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未実行</a:t>
            </a:r>
            <a:endParaRPr lang="en-US" sz="1100" dirty="0"/>
          </a:p>
        </p:txBody>
      </p:sp>
      <p:sp>
        <p:nvSpPr>
          <p:cNvPr id="5" name="Text 3"/>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6" name="Text 4"/>
          <p:cNvSpPr/>
          <p:nvPr/>
        </p:nvSpPr>
        <p:spPr>
          <a:xfrm>
            <a:off x="548640" y="1188720"/>
            <a:ext cx="11064240" cy="4206240"/>
          </a:xfrm>
          <a:prstGeom prst="rect">
            <a:avLst/>
          </a:prstGeom>
          <a:noFill/>
          <a:ln/>
        </p:spPr>
        <p:txBody>
          <a:bodyPr wrap="square" rtlCol="0" anchor="t"/>
          <a:lstStyle/>
          <a:p>
            <a:pPr marL="228600" indent="-228600">
              <a:spcAft>
                <a:spcPts val="1000"/>
              </a:spcAft>
              <a:buSzPct val="100000"/>
              <a:buChar char="•"/>
            </a:pPr>
            <a:r>
              <a:rPr lang="en-US" sz="1700" dirty="0">
                <a:solidFill>
                  <a:srgbClr val="1F2937"/>
                </a:solidFill>
                <a:latin typeface="Meiryo UI" pitchFamily="34" charset="0"/>
                <a:ea typeface="Meiryo UI" pitchFamily="34" charset="-122"/>
                <a:cs typeface="Meiryo UI" pitchFamily="34" charset="-120"/>
              </a:rPr>
              <a:t>法人は Group、役員・担当者は Client として登録し、Group のメンバーにする</a:t>
            </a:r>
            <a:endParaRPr lang="en-US" sz="1700" dirty="0"/>
          </a:p>
          <a:p>
            <a:pPr marL="228600" indent="-228600">
              <a:spcAft>
                <a:spcPts val="1000"/>
              </a:spcAft>
              <a:buSzPct val="100000"/>
              <a:buChar char="•"/>
            </a:pPr>
            <a:r>
              <a:rPr lang="en-US" sz="1700" dirty="0">
                <a:solidFill>
                  <a:srgbClr val="1F2937"/>
                </a:solidFill>
                <a:latin typeface="Meiryo UI" pitchFamily="34" charset="0"/>
                <a:ea typeface="Meiryo UI" pitchFamily="34" charset="-122"/>
                <a:cs typeface="Meiryo UI" pitchFamily="34" charset="-120"/>
              </a:rPr>
              <a:t>口座は PENDING_APPROVAL → APPROVED（承認）→ ACTIVE（初回入金）と変わる</a:t>
            </a:r>
            <a:endParaRPr lang="en-US" sz="1700" dirty="0"/>
          </a:p>
          <a:p>
            <a:pPr marL="228600" indent="-228600">
              <a:spcAft>
                <a:spcPts val="1000"/>
              </a:spcAft>
              <a:buSzPct val="100000"/>
              <a:buChar char="•"/>
            </a:pPr>
            <a:r>
              <a:rPr lang="en-US" sz="1700" dirty="0">
                <a:solidFill>
                  <a:srgbClr val="1F2937"/>
                </a:solidFill>
                <a:latin typeface="Meiryo UI" pitchFamily="34" charset="0"/>
                <a:ea typeface="Meiryo UI" pitchFamily="34" charset="-122"/>
                <a:cs typeface="Meiryo UI" pitchFamily="34" charset="-120"/>
              </a:rPr>
              <a:t>組織から受け取る値は Bruno の環境変数に、API キーは Secrets に入れる</a:t>
            </a:r>
            <a:endParaRPr lang="en-US" sz="1700" dirty="0"/>
          </a:p>
          <a:p>
            <a:pPr marL="228600" indent="-228600">
              <a:spcAft>
                <a:spcPts val="1000"/>
              </a:spcAft>
              <a:buSzPct val="100000"/>
              <a:buChar char="•"/>
            </a:pPr>
            <a:r>
              <a:rPr lang="en-US" sz="1700" dirty="0">
                <a:solidFill>
                  <a:srgbClr val="1F2937"/>
                </a:solidFill>
                <a:latin typeface="Meiryo UI" pitchFamily="34" charset="0"/>
                <a:ea typeface="Meiryo UI" pitchFamily="34" charset="-122"/>
                <a:cs typeface="Meiryo UI" pitchFamily="34" charset="-120"/>
              </a:rPr>
              <a:t>depositProductKey・channelId は、ステップ①の Script（bru.setEnvVar）で環境に自動で保存する</a:t>
            </a:r>
            <a:endParaRPr lang="en-US" sz="1700" dirty="0"/>
          </a:p>
          <a:p>
            <a:pPr marL="228600" indent="-228600">
              <a:spcAft>
                <a:spcPts val="1000"/>
              </a:spcAft>
              <a:buSzPct val="100000"/>
              <a:buChar char="•"/>
            </a:pPr>
            <a:r>
              <a:rPr lang="en-US" sz="1700" dirty="0">
                <a:solidFill>
                  <a:srgbClr val="1F2937"/>
                </a:solidFill>
                <a:latin typeface="Meiryo UI" pitchFamily="34" charset="0"/>
                <a:ea typeface="Meiryo UI" pitchFamily="34" charset="-122"/>
                <a:cs typeface="Meiryo UI" pitchFamily="34" charset="-120"/>
              </a:rPr>
              <a:t>レスポンスの encodedKey・id を bru.setVar で保存し、次のリクエストに渡す</a:t>
            </a:r>
            <a:endParaRPr lang="en-US" sz="1700" dirty="0"/>
          </a:p>
          <a:p>
            <a:pPr marL="228600" indent="-228600">
              <a:spcAft>
                <a:spcPts val="1000"/>
              </a:spcAft>
              <a:buSzPct val="100000"/>
              <a:buChar char="•"/>
            </a:pPr>
            <a:r>
              <a:rPr lang="en-US" sz="1700" dirty="0">
                <a:solidFill>
                  <a:srgbClr val="1F2937"/>
                </a:solidFill>
                <a:latin typeface="Meiryo UI" pitchFamily="34" charset="0"/>
                <a:ea typeface="Meiryo UI" pitchFamily="34" charset="-122"/>
                <a:cs typeface="Meiryo UI" pitchFamily="34" charset="-120"/>
              </a:rPr>
              <a:t>各ステップにアサーションを付けて、状態の変化を自動で確認する</a:t>
            </a:r>
            <a:endParaRPr lang="en-US" sz="1700" dirty="0"/>
          </a:p>
          <a:p>
            <a:pPr marL="228600" indent="-228600">
              <a:spcAft>
                <a:spcPts val="1000"/>
              </a:spcAft>
              <a:buSzPct val="100000"/>
              <a:buChar char="•"/>
            </a:pPr>
            <a:r>
              <a:rPr lang="en-US" sz="1700" dirty="0">
                <a:solidFill>
                  <a:srgbClr val="1F2937"/>
                </a:solidFill>
                <a:latin typeface="Meiryo UI" pitchFamily="34" charset="0"/>
                <a:ea typeface="Meiryo UI" pitchFamily="34" charset="-122"/>
                <a:cs typeface="Meiryo UI" pitchFamily="34" charset="-120"/>
              </a:rPr>
              <a:t>実際に試すときは、必ずサンドボックスで、組織の手順に従う</a:t>
            </a:r>
            <a:endParaRPr lang="en-US" sz="17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【発展課題】データが保存される模擬 API で確かめる</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5" name="Text 3"/>
          <p:cNvSpPr/>
          <p:nvPr/>
        </p:nvSpPr>
        <p:spPr>
          <a:xfrm>
            <a:off x="365760" y="6144768"/>
            <a:ext cx="11430000" cy="292608"/>
          </a:xfrm>
          <a:prstGeom prst="rect">
            <a:avLst/>
          </a:prstGeom>
          <a:noFill/>
          <a:ln/>
        </p:spPr>
        <p:txBody>
          <a:bodyPr wrap="square" rtlCol="0" anchor="t"/>
          <a:lstStyle/>
          <a:p>
            <a:pPr indent="0" marL="0">
              <a:buNone/>
            </a:pPr>
            <a:r>
              <a:rPr lang="en-US" sz="1000" dirty="0">
                <a:solidFill>
                  <a:srgbClr val="6B7280"/>
                </a:solidFill>
                <a:latin typeface="Meiryo UI" pitchFamily="34" charset="0"/>
                <a:ea typeface="Meiryo UI" pitchFamily="34" charset="-122"/>
                <a:cs typeface="Meiryo UI" pitchFamily="34" charset="-120"/>
              </a:rPr>
              <a:t>出典：https://github.com/typicode/json-server ／ npm json-server 1.0.0-beta.15（2026-10-09 確認）</a:t>
            </a:r>
            <a:endParaRPr lang="en-US" sz="1000" dirty="0"/>
          </a:p>
        </p:txBody>
      </p:sp>
      <p:sp>
        <p:nvSpPr>
          <p:cNvPr id="6" name="Shape 4"/>
          <p:cNvSpPr/>
          <p:nvPr/>
        </p:nvSpPr>
        <p:spPr>
          <a:xfrm>
            <a:off x="548640" y="1188720"/>
            <a:ext cx="11064240" cy="914400"/>
          </a:xfrm>
          <a:prstGeom prst="rect">
            <a:avLst/>
          </a:prstGeom>
          <a:solidFill>
            <a:srgbClr val="FEF2F2"/>
          </a:solidFill>
          <a:ln w="15875">
            <a:solidFill>
              <a:srgbClr val="B91C1C"/>
            </a:solidFill>
            <a:prstDash val="solid"/>
          </a:ln>
        </p:spPr>
      </p:sp>
      <p:sp>
        <p:nvSpPr>
          <p:cNvPr id="7" name="Shape 5"/>
          <p:cNvSpPr/>
          <p:nvPr/>
        </p:nvSpPr>
        <p:spPr>
          <a:xfrm>
            <a:off x="548640" y="1188720"/>
            <a:ext cx="82296" cy="914400"/>
          </a:xfrm>
          <a:prstGeom prst="rect">
            <a:avLst/>
          </a:prstGeom>
          <a:solidFill>
            <a:srgbClr val="B91C1C"/>
          </a:solidFill>
          <a:ln w="12700">
            <a:solidFill>
              <a:srgbClr val="B91C1C"/>
            </a:solidFill>
            <a:prstDash val="solid"/>
          </a:ln>
        </p:spPr>
      </p:sp>
      <p:sp>
        <p:nvSpPr>
          <p:cNvPr id="8" name="Text 6"/>
          <p:cNvSpPr/>
          <p:nvPr/>
        </p:nvSpPr>
        <p:spPr>
          <a:xfrm>
            <a:off x="713232" y="1234440"/>
            <a:ext cx="10835640" cy="822960"/>
          </a:xfrm>
          <a:prstGeom prst="rect">
            <a:avLst/>
          </a:prstGeom>
          <a:noFill/>
          <a:ln/>
        </p:spPr>
        <p:txBody>
          <a:bodyPr wrap="square" rtlCol="0" anchor="ctr"/>
          <a:lstStyle/>
          <a:p>
            <a:pPr indent="0" marL="0">
              <a:spcAft>
                <a:spcPts val="200"/>
              </a:spcAft>
              <a:buNone/>
            </a:pPr>
            <a:r>
              <a:rPr lang="en-US" sz="1400" b="1" dirty="0">
                <a:solidFill>
                  <a:srgbClr val="B91C1C"/>
                </a:solidFill>
                <a:latin typeface="Meiryo UI" pitchFamily="34" charset="0"/>
                <a:ea typeface="Meiryo UI" pitchFamily="34" charset="-122"/>
                <a:cs typeface="Meiryo UI" pitchFamily="34" charset="-120"/>
              </a:rPr>
              <a:t>【基本演習とは別の任意課題】</a:t>
            </a:r>
            <a:endParaRPr lang="en-US" sz="1400" dirty="0"/>
          </a:p>
          <a:p>
            <a:pPr indent="0" marL="0">
              <a:spcAft>
                <a:spcPts val="200"/>
              </a:spcAft>
              <a:buNone/>
            </a:pPr>
            <a:r>
              <a:rPr lang="en-US" sz="1400" dirty="0">
                <a:solidFill>
                  <a:srgbClr val="1F2937"/>
                </a:solidFill>
                <a:latin typeface="Meiryo UI" pitchFamily="34" charset="0"/>
                <a:ea typeface="Meiryo UI" pitchFamily="34" charset="-122"/>
                <a:cs typeface="Meiryo UI" pitchFamily="34" charset="-120"/>
              </a:rPr>
              <a:t>Node.js 22.12 以上と、json-server（npm のパッケージ）のインストールが必要です。json-server の現在の版（1.0.0-beta.15）はベータ版です。</a:t>
            </a:r>
            <a:endParaRPr lang="en-US" sz="1400" dirty="0"/>
          </a:p>
        </p:txBody>
      </p:sp>
      <p:graphicFrame>
        <p:nvGraphicFramePr>
          <p:cNvPr id="98" name="Table 0"/>
          <p:cNvGraphicFramePr>
            <a:graphicFrameLocks noGrp="1"/>
          </p:cNvGraphicFramePr>
          <p:nvPr>
            <p:extLst>
              <p:ext uri="{D42A27DB-BD31-4B8C-83A1-F6EECF244321}">
                <p14:modId xmlns:p14="http://schemas.microsoft.com/office/powerpoint/2010/main" val="1579011935"/>
              </p:ext>
            </p:extLst>
          </p:nvPr>
        </p:nvGraphicFramePr>
        <p:xfrm>
          <a:off x="548640" y="2377440"/>
          <a:ext cx="11064240" cy="914400"/>
        </p:xfrm>
        <a:graphic>
          <a:graphicData uri="http://schemas.openxmlformats.org/drawingml/2006/table">
            <a:tbl>
              <a:tblPr/>
              <a:tblGrid>
                <a:gridCol w="2926080"/>
                <a:gridCol w="4023360"/>
                <a:gridCol w="4114800"/>
              </a:tblGrid>
              <a:tr h="502920">
                <a:tc>
                  <a:txBody>
                    <a:bodyPr/>
                    <a:lstStyle/>
                    <a:p>
                      <a:pPr indent="0" marL="0">
                        <a:buNone/>
                      </a:pP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Meiryo UI" pitchFamily="34" charset="0"/>
                          <a:ea typeface="Meiryo UI" pitchFamily="34" charset="-122"/>
                          <a:cs typeface="Meiryo UI" pitchFamily="34" charset="-120"/>
                        </a:rPr>
                        <a:t>JSONPlaceholder</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Meiryo UI" pitchFamily="34" charset="0"/>
                          <a:ea typeface="Meiryo UI" pitchFamily="34" charset="-122"/>
                          <a:cs typeface="Meiryo UI" pitchFamily="34" charset="-120"/>
                        </a:rPr>
                        <a:t>json-server（自分の PC）</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50292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POST の後に GET</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404（保存されない）</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200（保存されている）</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DELETE の後に GET</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200（残っている）</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404（削除されている）</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50292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データの保存先</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なし</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db.json ファイル</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id</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数値（作成は常に 101）</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文字列（作成時にランダム）</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bl>
          </a:graphicData>
        </a:graphic>
      </p:graphicFrame>
      <p:sp>
        <p:nvSpPr>
          <p:cNvPr id="10" name="Text 7"/>
          <p:cNvSpPr/>
          <p:nvPr/>
        </p:nvSpPr>
        <p:spPr>
          <a:xfrm>
            <a:off x="548640" y="5029200"/>
            <a:ext cx="10972800" cy="365760"/>
          </a:xfrm>
          <a:prstGeom prst="rect">
            <a:avLst/>
          </a:prstGeom>
          <a:noFill/>
          <a:ln/>
        </p:spPr>
        <p:txBody>
          <a:bodyPr wrap="square" lIns="50800" tIns="50800" rIns="50800" bIns="50800" rtlCol="0" anchor="t"/>
          <a:lstStyle/>
          <a:p>
            <a:pPr algn="l" indent="0" marL="0">
              <a:buNone/>
            </a:pPr>
            <a:r>
              <a:rPr lang="en-US" sz="1200" dirty="0">
                <a:solidFill>
                  <a:srgbClr val="6B7280"/>
                </a:solidFill>
                <a:latin typeface="Meiryo UI" pitchFamily="34" charset="0"/>
                <a:ea typeface="Meiryo UI" pitchFamily="34" charset="-122"/>
                <a:cs typeface="Meiryo UI" pitchFamily="34" charset="-120"/>
              </a:rPr>
              <a:t>※ 作成環境で 2026-10-09 に実行して確認した結果です。</a:t>
            </a:r>
            <a:endParaRPr lang="en-US" sz="12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【発展課題】手順</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5" name="Text 3"/>
          <p:cNvSpPr/>
          <p:nvPr/>
        </p:nvSpPr>
        <p:spPr>
          <a:xfrm>
            <a:off x="548640" y="1188720"/>
            <a:ext cx="6400800" cy="3840480"/>
          </a:xfrm>
          <a:prstGeom prst="rect">
            <a:avLst/>
          </a:prstGeom>
          <a:noFill/>
          <a:ln/>
        </p:spPr>
        <p:txBody>
          <a:bodyPr wrap="square" rtlCol="0" anchor="t"/>
          <a:lstStyle/>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①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ターミナルで exercises\local-mock フォルダに移動し、npm install（初回のみ）</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②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npm start で起動（http://localhost:3000 で待ち受ける）。ターミナルは開いたままにする</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③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Bruno で bruno-hands-on を開き、画面右上の環境を Local-Mock に切り替える</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④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10_LocalMock の 01 → 02 → 03 → 04 の順に Send</a:t>
            </a:r>
            <a:endParaRPr lang="en-US" sz="1400" dirty="0"/>
          </a:p>
          <a:p>
            <a:pPr indent="0" marL="0">
              <a:spcAft>
                <a:spcPts val="800"/>
              </a:spcAft>
              <a:buNone/>
            </a:pPr>
            <a:r>
              <a:rPr lang="en-US" sz="1400" b="1" dirty="0">
                <a:solidFill>
                  <a:srgbClr val="E11D2E"/>
                </a:solidFill>
                <a:latin typeface="Meiryo UI" pitchFamily="34" charset="0"/>
                <a:ea typeface="Meiryo UI" pitchFamily="34" charset="-122"/>
                <a:cs typeface="Meiryo UI" pitchFamily="34" charset="-120"/>
              </a:rPr>
              <a:t>⑤ </a:t>
            </a:r>
            <a:pPr indent="0" marL="0">
              <a:spcAft>
                <a:spcPts val="800"/>
              </a:spcAft>
              <a:buNone/>
            </a:pPr>
            <a:r>
              <a:rPr lang="en-US" sz="1400" dirty="0">
                <a:solidFill>
                  <a:srgbClr val="1F2937"/>
                </a:solidFill>
                <a:latin typeface="Meiryo UI" pitchFamily="34" charset="0"/>
                <a:ea typeface="Meiryo UI" pitchFamily="34" charset="-122"/>
                <a:cs typeface="Meiryo UI" pitchFamily="34" charset="-120"/>
              </a:rPr>
              <a:t>終わったらターミナルで Ctrl + C を押して止める</a:t>
            </a:r>
            <a:endParaRPr lang="en-US" sz="1400" dirty="0"/>
          </a:p>
        </p:txBody>
      </p:sp>
      <p:sp>
        <p:nvSpPr>
          <p:cNvPr id="6" name="Text 4"/>
          <p:cNvSpPr/>
          <p:nvPr/>
        </p:nvSpPr>
        <p:spPr>
          <a:xfrm>
            <a:off x="7223760" y="1188720"/>
            <a:ext cx="4389120" cy="1097280"/>
          </a:xfrm>
          <a:prstGeom prst="rect">
            <a:avLst/>
          </a:prstGeom>
          <a:solidFill>
            <a:srgbClr val="F3F4F6"/>
          </a:solidFill>
          <a:ln w="12700">
            <a:solidFill>
              <a:srgbClr val="D1D5DB"/>
            </a:solidFill>
          </a:ln>
        </p:spPr>
        <p:txBody>
          <a:bodyPr wrap="square" lIns="101600" tIns="101600" rIns="101600" bIns="101600" rtlCol="0" anchor="t"/>
          <a:lstStyle/>
          <a:p>
            <a:pPr indent="0" marL="0">
              <a:buNone/>
            </a:pPr>
            <a:r>
              <a:rPr lang="en-US" sz="1200" dirty="0">
                <a:solidFill>
                  <a:srgbClr val="111827"/>
                </a:solidFill>
                <a:latin typeface="Consolas" pitchFamily="34" charset="0"/>
                <a:ea typeface="Consolas" pitchFamily="34" charset="-122"/>
                <a:cs typeface="Consolas" pitchFamily="34" charset="-120"/>
              </a:rPr>
              <a:t>cd $env:USERPROFILE\Documents\bruno-learning\exercises\local-mock</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npm install</a:t>
            </a:r>
            <a:endParaRPr lang="en-US" sz="1200" dirty="0"/>
          </a:p>
          <a:p>
            <a:pPr indent="0" marL="0">
              <a:buNone/>
            </a:pPr>
            <a:r>
              <a:rPr lang="en-US" sz="1200" dirty="0">
                <a:solidFill>
                  <a:srgbClr val="111827"/>
                </a:solidFill>
                <a:latin typeface="Consolas" pitchFamily="34" charset="0"/>
                <a:ea typeface="Consolas" pitchFamily="34" charset="-122"/>
                <a:cs typeface="Consolas" pitchFamily="34" charset="-120"/>
              </a:rPr>
              <a:t>npm start</a:t>
            </a:r>
            <a:endParaRPr lang="en-US" sz="1200" dirty="0"/>
          </a:p>
        </p:txBody>
      </p:sp>
      <p:graphicFrame>
        <p:nvGraphicFramePr>
          <p:cNvPr id="99" name="Table 0"/>
          <p:cNvGraphicFramePr>
            <a:graphicFrameLocks noGrp="1"/>
          </p:cNvGraphicFramePr>
          <p:nvPr>
            <p:extLst>
              <p:ext uri="{D42A27DB-BD31-4B8C-83A1-F6EECF244321}">
                <p14:modId xmlns:p14="http://schemas.microsoft.com/office/powerpoint/2010/main" val="1579011935"/>
              </p:ext>
            </p:extLst>
          </p:nvPr>
        </p:nvGraphicFramePr>
        <p:xfrm>
          <a:off x="7223760" y="2560320"/>
          <a:ext cx="4389120" cy="914400"/>
        </p:xfrm>
        <a:graphic>
          <a:graphicData uri="http://schemas.openxmlformats.org/drawingml/2006/table">
            <a:tbl>
              <a:tblPr/>
              <a:tblGrid>
                <a:gridCol w="2377440"/>
                <a:gridCol w="2011680"/>
              </a:tblGrid>
              <a:tr h="411480">
                <a:tc>
                  <a:txBody>
                    <a:bodyPr/>
                    <a:lstStyle/>
                    <a:p>
                      <a:pPr indent="0" marL="0">
                        <a:buNone/>
                      </a:pPr>
                      <a:r>
                        <a:rPr lang="en-US" sz="1200" b="1" dirty="0">
                          <a:solidFill>
                            <a:srgbClr val="FFFFFF"/>
                          </a:solidFill>
                          <a:latin typeface="Meiryo UI" pitchFamily="34" charset="0"/>
                          <a:ea typeface="Meiryo UI" pitchFamily="34" charset="-122"/>
                          <a:cs typeface="Meiryo UI" pitchFamily="34" charset="-120"/>
                        </a:rPr>
                        <a:t>リクエスト</a:t>
                      </a:r>
                      <a:endParaRPr lang="en-US" sz="12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200" b="1" dirty="0">
                          <a:solidFill>
                            <a:srgbClr val="FFFFFF"/>
                          </a:solidFill>
                          <a:latin typeface="Meiryo UI" pitchFamily="34" charset="0"/>
                          <a:ea typeface="Meiryo UI" pitchFamily="34" charset="-122"/>
                          <a:cs typeface="Meiryo UI" pitchFamily="34" charset="-120"/>
                        </a:rPr>
                        <a:t>結果（作成環境）</a:t>
                      </a:r>
                      <a:endParaRPr lang="en-US" sz="12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411480">
                <a:tc>
                  <a:txBody>
                    <a:bodyPr/>
                    <a:lstStyle/>
                    <a:p>
                      <a:pPr indent="0" marL="0">
                        <a:buNone/>
                      </a:pPr>
                      <a:r>
                        <a:rPr lang="en-US" sz="1200" dirty="0">
                          <a:solidFill>
                            <a:srgbClr val="1F2937"/>
                          </a:solidFill>
                          <a:latin typeface="Meiryo UI" pitchFamily="34" charset="0"/>
                          <a:ea typeface="Meiryo UI" pitchFamily="34" charset="-122"/>
                          <a:cs typeface="Meiryo UI" pitchFamily="34" charset="-120"/>
                        </a:rPr>
                        <a:t>01 Create Post</a:t>
                      </a:r>
                      <a:endParaRPr lang="en-US" sz="12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Meiryo UI" pitchFamily="34" charset="0"/>
                          <a:ea typeface="Meiryo UI" pitchFamily="34" charset="-122"/>
                          <a:cs typeface="Meiryo UI" pitchFamily="34" charset="-120"/>
                        </a:rPr>
                        <a:t>201、id が保存される</a:t>
                      </a:r>
                      <a:endParaRPr lang="en-US" sz="12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F2937"/>
                          </a:solidFill>
                          <a:latin typeface="Meiryo UI" pitchFamily="34" charset="0"/>
                          <a:ea typeface="Meiryo UI" pitchFamily="34" charset="-122"/>
                          <a:cs typeface="Meiryo UI" pitchFamily="34" charset="-120"/>
                        </a:rPr>
                        <a:t>02 Get Created Post</a:t>
                      </a:r>
                      <a:endParaRPr lang="en-US" sz="12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200" dirty="0">
                          <a:solidFill>
                            <a:srgbClr val="1F2937"/>
                          </a:solidFill>
                          <a:latin typeface="Meiryo UI" pitchFamily="34" charset="0"/>
                          <a:ea typeface="Meiryo UI" pitchFamily="34" charset="-122"/>
                          <a:cs typeface="Meiryo UI" pitchFamily="34" charset="-120"/>
                        </a:rPr>
                        <a:t>200（保存された）</a:t>
                      </a:r>
                      <a:endParaRPr lang="en-US" sz="12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11480">
                <a:tc>
                  <a:txBody>
                    <a:bodyPr/>
                    <a:lstStyle/>
                    <a:p>
                      <a:pPr indent="0" marL="0">
                        <a:buNone/>
                      </a:pPr>
                      <a:r>
                        <a:rPr lang="en-US" sz="1200" dirty="0">
                          <a:solidFill>
                            <a:srgbClr val="1F2937"/>
                          </a:solidFill>
                          <a:latin typeface="Meiryo UI" pitchFamily="34" charset="0"/>
                          <a:ea typeface="Meiryo UI" pitchFamily="34" charset="-122"/>
                          <a:cs typeface="Meiryo UI" pitchFamily="34" charset="-120"/>
                        </a:rPr>
                        <a:t>03 Delete Created Post</a:t>
                      </a:r>
                      <a:endParaRPr lang="en-US" sz="12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Meiryo UI" pitchFamily="34" charset="0"/>
                          <a:ea typeface="Meiryo UI" pitchFamily="34" charset="-122"/>
                          <a:cs typeface="Meiryo UI" pitchFamily="34" charset="-120"/>
                        </a:rPr>
                        <a:t>200</a:t>
                      </a:r>
                      <a:endParaRPr lang="en-US" sz="12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F2937"/>
                          </a:solidFill>
                          <a:latin typeface="Meiryo UI" pitchFamily="34" charset="0"/>
                          <a:ea typeface="Meiryo UI" pitchFamily="34" charset="-122"/>
                          <a:cs typeface="Meiryo UI" pitchFamily="34" charset="-120"/>
                        </a:rPr>
                        <a:t>04 Get After Delete</a:t>
                      </a:r>
                      <a:endParaRPr lang="en-US" sz="12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200" dirty="0">
                          <a:solidFill>
                            <a:srgbClr val="1F2937"/>
                          </a:solidFill>
                          <a:latin typeface="Meiryo UI" pitchFamily="34" charset="0"/>
                          <a:ea typeface="Meiryo UI" pitchFamily="34" charset="-122"/>
                          <a:cs typeface="Meiryo UI" pitchFamily="34" charset="-120"/>
                        </a:rPr>
                        <a:t>404（削除された）</a:t>
                      </a:r>
                      <a:endParaRPr lang="en-US" sz="12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bl>
          </a:graphicData>
        </a:graphic>
      </p:graphicFrame>
      <p:sp>
        <p:nvSpPr>
          <p:cNvPr id="8" name="Text 5"/>
          <p:cNvSpPr/>
          <p:nvPr/>
        </p:nvSpPr>
        <p:spPr>
          <a:xfrm>
            <a:off x="548640" y="5120640"/>
            <a:ext cx="10972800" cy="365760"/>
          </a:xfrm>
          <a:prstGeom prst="rect">
            <a:avLst/>
          </a:prstGeom>
          <a:noFill/>
          <a:ln/>
        </p:spPr>
        <p:txBody>
          <a:bodyPr wrap="square" lIns="50800" tIns="50800" rIns="50800" bIns="50800" rtlCol="0" anchor="t"/>
          <a:lstStyle/>
          <a:p>
            <a:pPr algn="l" indent="0" marL="0">
              <a:buNone/>
            </a:pPr>
            <a:r>
              <a:rPr lang="en-US" sz="1300" dirty="0">
                <a:solidFill>
                  <a:srgbClr val="1F2937"/>
                </a:solidFill>
                <a:latin typeface="Meiryo UI" pitchFamily="34" charset="0"/>
                <a:ea typeface="Meiryo UI" pitchFamily="34" charset="-122"/>
                <a:cs typeface="Meiryo UI" pitchFamily="34" charset="-120"/>
              </a:rPr>
              <a:t>元のデータに戻すときは、db.template.json を db.json にコピーします。</a:t>
            </a:r>
            <a:endParaRPr lang="en-US" sz="1300" dirty="0"/>
          </a:p>
        </p:txBody>
      </p:sp>
      <p:sp>
        <p:nvSpPr>
          <p:cNvPr id="9" name="Shape 6"/>
          <p:cNvSpPr/>
          <p:nvPr/>
        </p:nvSpPr>
        <p:spPr>
          <a:xfrm>
            <a:off x="548640" y="5788152"/>
            <a:ext cx="11064240" cy="329184"/>
          </a:xfrm>
          <a:prstGeom prst="rect">
            <a:avLst/>
          </a:prstGeom>
          <a:solidFill>
            <a:srgbClr val="ECFDF5"/>
          </a:solidFill>
          <a:ln w="12700">
            <a:solidFill>
              <a:srgbClr val="047857"/>
            </a:solidFill>
            <a:prstDash val="solid"/>
          </a:ln>
        </p:spPr>
      </p:sp>
      <p:sp>
        <p:nvSpPr>
          <p:cNvPr id="10" name="Text 7"/>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samples の 10_LocalMock の .yml を、環境 Local-Mock を選んで順に Send（json-server の起動は必要）</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理解度チェック（1/3）：API の基礎</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graphicFrame>
        <p:nvGraphicFramePr>
          <p:cNvPr id="100"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914400"/>
                <a:gridCol w="10149840"/>
              </a:tblGrid>
              <a:tr h="685800">
                <a:tc>
                  <a:txBody>
                    <a:bodyPr/>
                    <a:lstStyle/>
                    <a:p>
                      <a:pPr indent="0" marL="0">
                        <a:buNone/>
                      </a:pPr>
                      <a:r>
                        <a:rPr lang="en-US" sz="1600" b="1" dirty="0">
                          <a:solidFill>
                            <a:srgbClr val="FFFFFF"/>
                          </a:solidFill>
                          <a:latin typeface="Meiryo UI" pitchFamily="34" charset="0"/>
                          <a:ea typeface="Meiryo UI" pitchFamily="34" charset="-122"/>
                          <a:cs typeface="Meiryo UI" pitchFamily="34" charset="-120"/>
                        </a:rPr>
                        <a:t>No</a:t>
                      </a:r>
                      <a:endParaRPr lang="en-US" sz="16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Meiryo UI" pitchFamily="34" charset="0"/>
                          <a:ea typeface="Meiryo UI" pitchFamily="34" charset="-122"/>
                          <a:cs typeface="Meiryo UI" pitchFamily="34" charset="-120"/>
                        </a:rPr>
                        <a:t>問題</a:t>
                      </a:r>
                      <a:endParaRPr lang="en-US" sz="16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685800">
                <a:tc>
                  <a:txBody>
                    <a:bodyPr/>
                    <a:lstStyle/>
                    <a:p>
                      <a:pPr indent="0" marL="0">
                        <a:buNone/>
                      </a:pPr>
                      <a:r>
                        <a:rPr lang="en-US" sz="1600" dirty="0">
                          <a:solidFill>
                            <a:srgbClr val="1F2937"/>
                          </a:solidFill>
                          <a:latin typeface="Meiryo UI" pitchFamily="34" charset="0"/>
                          <a:ea typeface="Meiryo UI" pitchFamily="34" charset="-122"/>
                          <a:cs typeface="Meiryo UI" pitchFamily="34" charset="-120"/>
                        </a:rPr>
                        <a:t>Q1</a:t>
                      </a:r>
                      <a:endParaRPr lang="en-US" sz="16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Meiryo UI" pitchFamily="34" charset="0"/>
                          <a:ea typeface="Meiryo UI" pitchFamily="34" charset="-122"/>
                          <a:cs typeface="Meiryo UI" pitchFamily="34" charset="-120"/>
                        </a:rPr>
                        <a:t>API とは何ですか。一言で説明してください。</a:t>
                      </a:r>
                      <a:endParaRPr lang="en-US" sz="16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685800">
                <a:tc>
                  <a:txBody>
                    <a:bodyPr/>
                    <a:lstStyle/>
                    <a:p>
                      <a:pPr indent="0" marL="0">
                        <a:buNone/>
                      </a:pPr>
                      <a:r>
                        <a:rPr lang="en-US" sz="1600" dirty="0">
                          <a:solidFill>
                            <a:srgbClr val="1F2937"/>
                          </a:solidFill>
                          <a:latin typeface="Meiryo UI" pitchFamily="34" charset="0"/>
                          <a:ea typeface="Meiryo UI" pitchFamily="34" charset="-122"/>
                          <a:cs typeface="Meiryo UI" pitchFamily="34" charset="-120"/>
                        </a:rPr>
                        <a:t>Q2</a:t>
                      </a:r>
                      <a:endParaRPr lang="en-US" sz="16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600" dirty="0">
                          <a:solidFill>
                            <a:srgbClr val="1F2937"/>
                          </a:solidFill>
                          <a:latin typeface="Meiryo UI" pitchFamily="34" charset="0"/>
                          <a:ea typeface="Meiryo UI" pitchFamily="34" charset="-122"/>
                          <a:cs typeface="Meiryo UI" pitchFamily="34" charset="-120"/>
                        </a:rPr>
                        <a:t>クライアントとサーバーのうち、Bruno はどちらですか。</a:t>
                      </a:r>
                      <a:endParaRPr lang="en-US" sz="16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685800">
                <a:tc>
                  <a:txBody>
                    <a:bodyPr/>
                    <a:lstStyle/>
                    <a:p>
                      <a:pPr indent="0" marL="0">
                        <a:buNone/>
                      </a:pPr>
                      <a:r>
                        <a:rPr lang="en-US" sz="1600" dirty="0">
                          <a:solidFill>
                            <a:srgbClr val="1F2937"/>
                          </a:solidFill>
                          <a:latin typeface="Meiryo UI" pitchFamily="34" charset="0"/>
                          <a:ea typeface="Meiryo UI" pitchFamily="34" charset="-122"/>
                          <a:cs typeface="Meiryo UI" pitchFamily="34" charset="-120"/>
                        </a:rPr>
                        <a:t>Q3</a:t>
                      </a:r>
                      <a:endParaRPr lang="en-US" sz="16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Meiryo UI" pitchFamily="34" charset="0"/>
                          <a:ea typeface="Meiryo UI" pitchFamily="34" charset="-122"/>
                          <a:cs typeface="Meiryo UI" pitchFamily="34" charset="-120"/>
                        </a:rPr>
                        <a:t>URL https://jsonplaceholder.typicode.com/posts?userId=1&amp;id=3 のパスとクエリはどこですか。</a:t>
                      </a:r>
                      <a:endParaRPr lang="en-US" sz="16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685800">
                <a:tc>
                  <a:txBody>
                    <a:bodyPr/>
                    <a:lstStyle/>
                    <a:p>
                      <a:pPr indent="0" marL="0">
                        <a:buNone/>
                      </a:pPr>
                      <a:r>
                        <a:rPr lang="en-US" sz="1600" dirty="0">
                          <a:solidFill>
                            <a:srgbClr val="1F2937"/>
                          </a:solidFill>
                          <a:latin typeface="Meiryo UI" pitchFamily="34" charset="0"/>
                          <a:ea typeface="Meiryo UI" pitchFamily="34" charset="-122"/>
                          <a:cs typeface="Meiryo UI" pitchFamily="34" charset="-120"/>
                        </a:rPr>
                        <a:t>Q4</a:t>
                      </a:r>
                      <a:endParaRPr lang="en-US" sz="16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600" dirty="0">
                          <a:solidFill>
                            <a:srgbClr val="1F2937"/>
                          </a:solidFill>
                          <a:latin typeface="Meiryo UI" pitchFamily="34" charset="0"/>
                          <a:ea typeface="Meiryo UI" pitchFamily="34" charset="-122"/>
                          <a:cs typeface="Meiryo UI" pitchFamily="34" charset="-120"/>
                        </a:rPr>
                        <a:t>JSON で文字列と数値の書き方の違いは何ですか。</a:t>
                      </a:r>
                      <a:endParaRPr lang="en-US" sz="16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685800">
                <a:tc>
                  <a:txBody>
                    <a:bodyPr/>
                    <a:lstStyle/>
                    <a:p>
                      <a:pPr indent="0" marL="0">
                        <a:buNone/>
                      </a:pPr>
                      <a:r>
                        <a:rPr lang="en-US" sz="1600" dirty="0">
                          <a:solidFill>
                            <a:srgbClr val="1F2937"/>
                          </a:solidFill>
                          <a:latin typeface="Meiryo UI" pitchFamily="34" charset="0"/>
                          <a:ea typeface="Meiryo UI" pitchFamily="34" charset="-122"/>
                          <a:cs typeface="Meiryo UI" pitchFamily="34" charset="-120"/>
                        </a:rPr>
                        <a:t>Q5</a:t>
                      </a:r>
                      <a:endParaRPr lang="en-US" sz="16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Meiryo UI" pitchFamily="34" charset="0"/>
                          <a:ea typeface="Meiryo UI" pitchFamily="34" charset="-122"/>
                          <a:cs typeface="Meiryo UI" pitchFamily="34" charset="-120"/>
                        </a:rPr>
                        <a:t>ステータスコード 201 と 404 の意味は何ですか。</a:t>
                      </a:r>
                      <a:endParaRPr lang="en-US" sz="16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5760720"/>
            <a:ext cx="10972800" cy="365760"/>
          </a:xfrm>
          <a:prstGeom prst="rect">
            <a:avLst/>
          </a:prstGeom>
          <a:noFill/>
          <a:ln/>
        </p:spPr>
        <p:txBody>
          <a:bodyPr wrap="square" lIns="50800" tIns="50800" rIns="50800" bIns="50800" rtlCol="0" anchor="t"/>
          <a:lstStyle/>
          <a:p>
            <a:pPr algn="l" indent="0" marL="0">
              <a:buNone/>
            </a:pPr>
            <a:r>
              <a:rPr lang="en-US" sz="1300" dirty="0">
                <a:solidFill>
                  <a:srgbClr val="6B7280"/>
                </a:solidFill>
                <a:latin typeface="Meiryo UI" pitchFamily="34" charset="0"/>
                <a:ea typeface="Meiryo UI" pitchFamily="34" charset="-122"/>
                <a:cs typeface="Meiryo UI" pitchFamily="34" charset="-120"/>
              </a:rPr>
              <a:t>合格の目安：15 問中 12 問以上（80% 以上）。答えは最後のスライドにあります。</a:t>
            </a:r>
            <a:endParaRPr lang="en-US" sz="13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理解度チェック（2/3）：Bruno の操作とメソッド</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graphicFrame>
        <p:nvGraphicFramePr>
          <p:cNvPr id="101"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914400"/>
                <a:gridCol w="10149840"/>
              </a:tblGrid>
              <a:tr h="685800">
                <a:tc>
                  <a:txBody>
                    <a:bodyPr/>
                    <a:lstStyle/>
                    <a:p>
                      <a:pPr indent="0" marL="0">
                        <a:buNone/>
                      </a:pPr>
                      <a:r>
                        <a:rPr lang="en-US" sz="1600" b="1" dirty="0">
                          <a:solidFill>
                            <a:srgbClr val="FFFFFF"/>
                          </a:solidFill>
                          <a:latin typeface="Meiryo UI" pitchFamily="34" charset="0"/>
                          <a:ea typeface="Meiryo UI" pitchFamily="34" charset="-122"/>
                          <a:cs typeface="Meiryo UI" pitchFamily="34" charset="-120"/>
                        </a:rPr>
                        <a:t>No</a:t>
                      </a:r>
                      <a:endParaRPr lang="en-US" sz="16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Meiryo UI" pitchFamily="34" charset="0"/>
                          <a:ea typeface="Meiryo UI" pitchFamily="34" charset="-122"/>
                          <a:cs typeface="Meiryo UI" pitchFamily="34" charset="-120"/>
                        </a:rPr>
                        <a:t>問題</a:t>
                      </a:r>
                      <a:endParaRPr lang="en-US" sz="16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685800">
                <a:tc>
                  <a:txBody>
                    <a:bodyPr/>
                    <a:lstStyle/>
                    <a:p>
                      <a:pPr indent="0" marL="0">
                        <a:buNone/>
                      </a:pPr>
                      <a:r>
                        <a:rPr lang="en-US" sz="1600" dirty="0">
                          <a:solidFill>
                            <a:srgbClr val="1F2937"/>
                          </a:solidFill>
                          <a:latin typeface="Meiryo UI" pitchFamily="34" charset="0"/>
                          <a:ea typeface="Meiryo UI" pitchFamily="34" charset="-122"/>
                          <a:cs typeface="Meiryo UI" pitchFamily="34" charset="-120"/>
                        </a:rPr>
                        <a:t>Q6</a:t>
                      </a:r>
                      <a:endParaRPr lang="en-US" sz="16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Meiryo UI" pitchFamily="34" charset="0"/>
                          <a:ea typeface="Meiryo UI" pitchFamily="34" charset="-122"/>
                          <a:cs typeface="Meiryo UI" pitchFamily="34" charset="-120"/>
                        </a:rPr>
                        <a:t>API をテストする目的を 1 つ挙げてください。</a:t>
                      </a:r>
                      <a:endParaRPr lang="en-US" sz="16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685800">
                <a:tc>
                  <a:txBody>
                    <a:bodyPr/>
                    <a:lstStyle/>
                    <a:p>
                      <a:pPr indent="0" marL="0">
                        <a:buNone/>
                      </a:pPr>
                      <a:r>
                        <a:rPr lang="en-US" sz="1600" dirty="0">
                          <a:solidFill>
                            <a:srgbClr val="1F2937"/>
                          </a:solidFill>
                          <a:latin typeface="Meiryo UI" pitchFamily="34" charset="0"/>
                          <a:ea typeface="Meiryo UI" pitchFamily="34" charset="-122"/>
                          <a:cs typeface="Meiryo UI" pitchFamily="34" charset="-120"/>
                        </a:rPr>
                        <a:t>Q7</a:t>
                      </a:r>
                      <a:endParaRPr lang="en-US" sz="16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600" dirty="0">
                          <a:solidFill>
                            <a:srgbClr val="1F2937"/>
                          </a:solidFill>
                          <a:latin typeface="Meiryo UI" pitchFamily="34" charset="0"/>
                          <a:ea typeface="Meiryo UI" pitchFamily="34" charset="-122"/>
                          <a:cs typeface="Meiryo UI" pitchFamily="34" charset="-120"/>
                        </a:rPr>
                        <a:t>レスポンスの Content-Type はどこで確認しますか。</a:t>
                      </a:r>
                      <a:endParaRPr lang="en-US" sz="16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685800">
                <a:tc>
                  <a:txBody>
                    <a:bodyPr/>
                    <a:lstStyle/>
                    <a:p>
                      <a:pPr indent="0" marL="0">
                        <a:buNone/>
                      </a:pPr>
                      <a:r>
                        <a:rPr lang="en-US" sz="1600" dirty="0">
                          <a:solidFill>
                            <a:srgbClr val="1F2937"/>
                          </a:solidFill>
                          <a:latin typeface="Meiryo UI" pitchFamily="34" charset="0"/>
                          <a:ea typeface="Meiryo UI" pitchFamily="34" charset="-122"/>
                          <a:cs typeface="Meiryo UI" pitchFamily="34" charset="-120"/>
                        </a:rPr>
                        <a:t>Q8</a:t>
                      </a:r>
                      <a:endParaRPr lang="en-US" sz="16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Meiryo UI" pitchFamily="34" charset="0"/>
                          <a:ea typeface="Meiryo UI" pitchFamily="34" charset="-122"/>
                          <a:cs typeface="Meiryo UI" pitchFamily="34" charset="-120"/>
                        </a:rPr>
                        <a:t>JSON を POST するとき、Body の種類は何を選びますか。</a:t>
                      </a:r>
                      <a:endParaRPr lang="en-US" sz="16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685800">
                <a:tc>
                  <a:txBody>
                    <a:bodyPr/>
                    <a:lstStyle/>
                    <a:p>
                      <a:pPr indent="0" marL="0">
                        <a:buNone/>
                      </a:pPr>
                      <a:r>
                        <a:rPr lang="en-US" sz="1600" dirty="0">
                          <a:solidFill>
                            <a:srgbClr val="1F2937"/>
                          </a:solidFill>
                          <a:latin typeface="Meiryo UI" pitchFamily="34" charset="0"/>
                          <a:ea typeface="Meiryo UI" pitchFamily="34" charset="-122"/>
                          <a:cs typeface="Meiryo UI" pitchFamily="34" charset="-120"/>
                        </a:rPr>
                        <a:t>Q9</a:t>
                      </a:r>
                      <a:endParaRPr lang="en-US" sz="16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600" dirty="0">
                          <a:solidFill>
                            <a:srgbClr val="1F2937"/>
                          </a:solidFill>
                          <a:latin typeface="Meiryo UI" pitchFamily="34" charset="0"/>
                          <a:ea typeface="Meiryo UI" pitchFamily="34" charset="-122"/>
                          <a:cs typeface="Meiryo UI" pitchFamily="34" charset="-120"/>
                        </a:rPr>
                        <a:t>PUT と PATCH の違いは何ですか（一般的な意味）。</a:t>
                      </a:r>
                      <a:endParaRPr lang="en-US" sz="16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685800">
                <a:tc>
                  <a:txBody>
                    <a:bodyPr/>
                    <a:lstStyle/>
                    <a:p>
                      <a:pPr indent="0" marL="0">
                        <a:buNone/>
                      </a:pPr>
                      <a:r>
                        <a:rPr lang="en-US" sz="1600" dirty="0">
                          <a:solidFill>
                            <a:srgbClr val="1F2937"/>
                          </a:solidFill>
                          <a:latin typeface="Meiryo UI" pitchFamily="34" charset="0"/>
                          <a:ea typeface="Meiryo UI" pitchFamily="34" charset="-122"/>
                          <a:cs typeface="Meiryo UI" pitchFamily="34" charset="-120"/>
                        </a:rPr>
                        <a:t>Q10</a:t>
                      </a:r>
                      <a:endParaRPr lang="en-US" sz="16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Meiryo UI" pitchFamily="34" charset="0"/>
                          <a:ea typeface="Meiryo UI" pitchFamily="34" charset="-122"/>
                          <a:cs typeface="Meiryo UI" pitchFamily="34" charset="-120"/>
                        </a:rPr>
                        <a:t>PUT /posts/1 に title だけを送ると、JSONPlaceholder のレスポンスはどうなりますか。</a:t>
                      </a:r>
                      <a:endParaRPr lang="en-US" sz="16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5760720"/>
            <a:ext cx="10972800" cy="365760"/>
          </a:xfrm>
          <a:prstGeom prst="rect">
            <a:avLst/>
          </a:prstGeom>
          <a:noFill/>
          <a:ln/>
        </p:spPr>
        <p:txBody>
          <a:bodyPr wrap="square" lIns="50800" tIns="50800" rIns="50800" bIns="50800" rtlCol="0" anchor="t"/>
          <a:lstStyle/>
          <a:p>
            <a:pPr algn="l" indent="0" marL="0">
              <a:buNone/>
            </a:pPr>
            <a:r>
              <a:rPr lang="en-US" sz="1300" dirty="0">
                <a:solidFill>
                  <a:srgbClr val="6B7280"/>
                </a:solidFill>
                <a:latin typeface="Meiryo UI" pitchFamily="34" charset="0"/>
                <a:ea typeface="Meiryo UI" pitchFamily="34" charset="-122"/>
                <a:cs typeface="Meiryo UI" pitchFamily="34" charset="-120"/>
              </a:rPr>
              <a:t>合格の目安：15 問中 12 問以上（80% 以上）。答えは最後のスライドにあります。</a:t>
            </a:r>
            <a:endParaRPr lang="en-US" sz="13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理解度チェック（3/3）：テスト・管理・制約</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graphicFrame>
        <p:nvGraphicFramePr>
          <p:cNvPr id="102"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914400"/>
                <a:gridCol w="10149840"/>
              </a:tblGrid>
              <a:tr h="685800">
                <a:tc>
                  <a:txBody>
                    <a:bodyPr/>
                    <a:lstStyle/>
                    <a:p>
                      <a:pPr indent="0" marL="0">
                        <a:buNone/>
                      </a:pPr>
                      <a:r>
                        <a:rPr lang="en-US" sz="1600" b="1" dirty="0">
                          <a:solidFill>
                            <a:srgbClr val="FFFFFF"/>
                          </a:solidFill>
                          <a:latin typeface="Meiryo UI" pitchFamily="34" charset="0"/>
                          <a:ea typeface="Meiryo UI" pitchFamily="34" charset="-122"/>
                          <a:cs typeface="Meiryo UI" pitchFamily="34" charset="-120"/>
                        </a:rPr>
                        <a:t>No</a:t>
                      </a:r>
                      <a:endParaRPr lang="en-US" sz="16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Meiryo UI" pitchFamily="34" charset="0"/>
                          <a:ea typeface="Meiryo UI" pitchFamily="34" charset="-122"/>
                          <a:cs typeface="Meiryo UI" pitchFamily="34" charset="-120"/>
                        </a:rPr>
                        <a:t>問題</a:t>
                      </a:r>
                      <a:endParaRPr lang="en-US" sz="16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685800">
                <a:tc>
                  <a:txBody>
                    <a:bodyPr/>
                    <a:lstStyle/>
                    <a:p>
                      <a:pPr indent="0" marL="0">
                        <a:buNone/>
                      </a:pPr>
                      <a:r>
                        <a:rPr lang="en-US" sz="1600" dirty="0">
                          <a:solidFill>
                            <a:srgbClr val="1F2937"/>
                          </a:solidFill>
                          <a:latin typeface="Meiryo UI" pitchFamily="34" charset="0"/>
                          <a:ea typeface="Meiryo UI" pitchFamily="34" charset="-122"/>
                          <a:cs typeface="Meiryo UI" pitchFamily="34" charset="-120"/>
                        </a:rPr>
                        <a:t>Q11</a:t>
                      </a:r>
                      <a:endParaRPr lang="en-US" sz="16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Meiryo UI" pitchFamily="34" charset="0"/>
                          <a:ea typeface="Meiryo UI" pitchFamily="34" charset="-122"/>
                          <a:cs typeface="Meiryo UI" pitchFamily="34" charset="-120"/>
                        </a:rPr>
                        <a:t>ステータスコードが 200 であることを確かめるアサーションを書いてください。</a:t>
                      </a:r>
                      <a:endParaRPr lang="en-US" sz="16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685800">
                <a:tc>
                  <a:txBody>
                    <a:bodyPr/>
                    <a:lstStyle/>
                    <a:p>
                      <a:pPr indent="0" marL="0">
                        <a:buNone/>
                      </a:pPr>
                      <a:r>
                        <a:rPr lang="en-US" sz="1600" dirty="0">
                          <a:solidFill>
                            <a:srgbClr val="1F2937"/>
                          </a:solidFill>
                          <a:latin typeface="Meiryo UI" pitchFamily="34" charset="0"/>
                          <a:ea typeface="Meiryo UI" pitchFamily="34" charset="-122"/>
                          <a:cs typeface="Meiryo UI" pitchFamily="34" charset="-120"/>
                        </a:rPr>
                        <a:t>Q12</a:t>
                      </a:r>
                      <a:endParaRPr lang="en-US" sz="16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600" dirty="0">
                          <a:solidFill>
                            <a:srgbClr val="1F2937"/>
                          </a:solidFill>
                          <a:latin typeface="Meiryo UI" pitchFamily="34" charset="0"/>
                          <a:ea typeface="Meiryo UI" pitchFamily="34" charset="-122"/>
                          <a:cs typeface="Meiryo UI" pitchFamily="34" charset="-120"/>
                        </a:rPr>
                        <a:t>Bruno のコレクションが Git で管理しやすい理由は何ですか。</a:t>
                      </a:r>
                      <a:endParaRPr lang="en-US" sz="16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685800">
                <a:tc>
                  <a:txBody>
                    <a:bodyPr/>
                    <a:lstStyle/>
                    <a:p>
                      <a:pPr indent="0" marL="0">
                        <a:buNone/>
                      </a:pPr>
                      <a:r>
                        <a:rPr lang="en-US" sz="1600" dirty="0">
                          <a:solidFill>
                            <a:srgbClr val="1F2937"/>
                          </a:solidFill>
                          <a:latin typeface="Meiryo UI" pitchFamily="34" charset="0"/>
                          <a:ea typeface="Meiryo UI" pitchFamily="34" charset="-122"/>
                          <a:cs typeface="Meiryo UI" pitchFamily="34" charset="-120"/>
                        </a:rPr>
                        <a:t>Q13</a:t>
                      </a:r>
                      <a:endParaRPr lang="en-US" sz="16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Meiryo UI" pitchFamily="34" charset="0"/>
                          <a:ea typeface="Meiryo UI" pitchFamily="34" charset="-122"/>
                          <a:cs typeface="Meiryo UI" pitchFamily="34" charset="-120"/>
                        </a:rPr>
                        <a:t>API キーなどの秘密の値は、環境のどこに入れますか。</a:t>
                      </a:r>
                      <a:endParaRPr lang="en-US" sz="16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685800">
                <a:tc>
                  <a:txBody>
                    <a:bodyPr/>
                    <a:lstStyle/>
                    <a:p>
                      <a:pPr indent="0" marL="0">
                        <a:buNone/>
                      </a:pPr>
                      <a:r>
                        <a:rPr lang="en-US" sz="1600" dirty="0">
                          <a:solidFill>
                            <a:srgbClr val="1F2937"/>
                          </a:solidFill>
                          <a:latin typeface="Meiryo UI" pitchFamily="34" charset="0"/>
                          <a:ea typeface="Meiryo UI" pitchFamily="34" charset="-122"/>
                          <a:cs typeface="Meiryo UI" pitchFamily="34" charset="-120"/>
                        </a:rPr>
                        <a:t>Q14</a:t>
                      </a:r>
                      <a:endParaRPr lang="en-US" sz="16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600" dirty="0">
                          <a:solidFill>
                            <a:srgbClr val="1F2937"/>
                          </a:solidFill>
                          <a:latin typeface="Meiryo UI" pitchFamily="34" charset="0"/>
                          <a:ea typeface="Meiryo UI" pitchFamily="34" charset="-122"/>
                          <a:cs typeface="Meiryo UI" pitchFamily="34" charset="-120"/>
                        </a:rPr>
                        <a:t>JSONPlaceholder に POST して 201 が返った後、そのデータを GET すると何が返りますか。</a:t>
                      </a:r>
                      <a:endParaRPr lang="en-US" sz="16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685800">
                <a:tc>
                  <a:txBody>
                    <a:bodyPr/>
                    <a:lstStyle/>
                    <a:p>
                      <a:pPr indent="0" marL="0">
                        <a:buNone/>
                      </a:pPr>
                      <a:r>
                        <a:rPr lang="en-US" sz="1600" dirty="0">
                          <a:solidFill>
                            <a:srgbClr val="1F2937"/>
                          </a:solidFill>
                          <a:latin typeface="Meiryo UI" pitchFamily="34" charset="0"/>
                          <a:ea typeface="Meiryo UI" pitchFamily="34" charset="-122"/>
                          <a:cs typeface="Meiryo UI" pitchFamily="34" charset="-120"/>
                        </a:rPr>
                        <a:t>Q15</a:t>
                      </a:r>
                      <a:endParaRPr lang="en-US" sz="16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Meiryo UI" pitchFamily="34" charset="0"/>
                          <a:ea typeface="Meiryo UI" pitchFamily="34" charset="-122"/>
                          <a:cs typeface="Meiryo UI" pitchFamily="34" charset="-120"/>
                        </a:rPr>
                        <a:t>「レスポンスが返ったこと」と「データが保存されたこと」が違う理由を説明してください。</a:t>
                      </a:r>
                      <a:endParaRPr lang="en-US" sz="16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5760720"/>
            <a:ext cx="10972800" cy="365760"/>
          </a:xfrm>
          <a:prstGeom prst="rect">
            <a:avLst/>
          </a:prstGeom>
          <a:noFill/>
          <a:ln/>
        </p:spPr>
        <p:txBody>
          <a:bodyPr wrap="square" lIns="50800" tIns="50800" rIns="50800" bIns="50800" rtlCol="0" anchor="t"/>
          <a:lstStyle/>
          <a:p>
            <a:pPr algn="l" indent="0" marL="0">
              <a:buNone/>
            </a:pPr>
            <a:r>
              <a:rPr lang="en-US" sz="1300" dirty="0">
                <a:solidFill>
                  <a:srgbClr val="6B7280"/>
                </a:solidFill>
                <a:latin typeface="Meiryo UI" pitchFamily="34" charset="0"/>
                <a:ea typeface="Meiryo UI" pitchFamily="34" charset="-122"/>
                <a:cs typeface="Meiryo UI" pitchFamily="34" charset="-120"/>
              </a:rPr>
              <a:t>合格の目安：15 問中 12 問以上（80% 以上）。答えは最後のスライドにあります。</a:t>
            </a:r>
            <a:endParaRPr lang="en-US" sz="13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修了課題（実技）</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sp>
        <p:nvSpPr>
          <p:cNvPr id="5" name="Text 3"/>
          <p:cNvSpPr/>
          <p:nvPr/>
        </p:nvSpPr>
        <p:spPr>
          <a:xfrm>
            <a:off x="548640" y="1097280"/>
            <a:ext cx="11064240" cy="411480"/>
          </a:xfrm>
          <a:prstGeom prst="rect">
            <a:avLst/>
          </a:prstGeom>
          <a:noFill/>
          <a:ln/>
        </p:spPr>
        <p:txBody>
          <a:bodyPr wrap="square" lIns="50800" tIns="50800" rIns="50800" bIns="50800" rtlCol="0" anchor="t"/>
          <a:lstStyle/>
          <a:p>
            <a:pPr algn="l" indent="0" marL="0">
              <a:buNone/>
            </a:pPr>
            <a:r>
              <a:rPr lang="en-US" sz="1600" dirty="0">
                <a:solidFill>
                  <a:srgbClr val="1F2937"/>
                </a:solidFill>
                <a:latin typeface="Meiryo UI" pitchFamily="34" charset="0"/>
                <a:ea typeface="Meiryo UI" pitchFamily="34" charset="-122"/>
                <a:cs typeface="Meiryo UI" pitchFamily="34" charset="-120"/>
              </a:rPr>
              <a:t>次の内容を、資料を見ながら自分で行ってください（目安 30 分）。</a:t>
            </a:r>
            <a:endParaRPr lang="en-US" sz="1600" dirty="0"/>
          </a:p>
        </p:txBody>
      </p:sp>
      <p:sp>
        <p:nvSpPr>
          <p:cNvPr id="6" name="Text 4"/>
          <p:cNvSpPr/>
          <p:nvPr/>
        </p:nvSpPr>
        <p:spPr>
          <a:xfrm>
            <a:off x="548640" y="1645920"/>
            <a:ext cx="11064240" cy="3840480"/>
          </a:xfrm>
          <a:prstGeom prst="rect">
            <a:avLst/>
          </a:prstGeom>
          <a:noFill/>
          <a:ln/>
        </p:spPr>
        <p:txBody>
          <a:bodyPr wrap="square" rtlCol="0" anchor="t"/>
          <a:lstStyle/>
          <a:p>
            <a:pPr indent="0" marL="0">
              <a:spcAft>
                <a:spcPts val="900"/>
              </a:spcAft>
              <a:buNone/>
            </a:pPr>
            <a:r>
              <a:rPr lang="en-US" sz="1600" b="1" dirty="0">
                <a:solidFill>
                  <a:srgbClr val="E11D2E"/>
                </a:solidFill>
                <a:latin typeface="Meiryo UI" pitchFamily="34" charset="0"/>
                <a:ea typeface="Meiryo UI" pitchFamily="34" charset="-122"/>
                <a:cs typeface="Meiryo UI" pitchFamily="34" charset="-120"/>
              </a:rPr>
              <a:t>① </a:t>
            </a:r>
            <a:pPr indent="0" marL="0">
              <a:spcAft>
                <a:spcPts val="900"/>
              </a:spcAft>
              <a:buNone/>
            </a:pPr>
            <a:r>
              <a:rPr lang="en-US" sz="1600" dirty="0">
                <a:solidFill>
                  <a:srgbClr val="1F2937"/>
                </a:solidFill>
                <a:latin typeface="Meiryo UI" pitchFamily="34" charset="0"/>
                <a:ea typeface="Meiryo UI" pitchFamily="34" charset="-122"/>
                <a:cs typeface="Meiryo UI" pitchFamily="34" charset="-120"/>
              </a:rPr>
              <a:t>新しいコレクション Final-Test を作る</a:t>
            </a:r>
            <a:endParaRPr lang="en-US" sz="1600" dirty="0"/>
          </a:p>
          <a:p>
            <a:pPr indent="0" marL="0">
              <a:spcAft>
                <a:spcPts val="900"/>
              </a:spcAft>
              <a:buNone/>
            </a:pPr>
            <a:r>
              <a:rPr lang="en-US" sz="1600" b="1" dirty="0">
                <a:solidFill>
                  <a:srgbClr val="E11D2E"/>
                </a:solidFill>
                <a:latin typeface="Meiryo UI" pitchFamily="34" charset="0"/>
                <a:ea typeface="Meiryo UI" pitchFamily="34" charset="-122"/>
                <a:cs typeface="Meiryo UI" pitchFamily="34" charset="-120"/>
              </a:rPr>
              <a:t>② </a:t>
            </a:r>
            <a:pPr indent="0" marL="0">
              <a:spcAft>
                <a:spcPts val="900"/>
              </a:spcAft>
              <a:buNone/>
            </a:pPr>
            <a:r>
              <a:rPr lang="en-US" sz="1600" dirty="0">
                <a:solidFill>
                  <a:srgbClr val="1F2937"/>
                </a:solidFill>
                <a:latin typeface="Meiryo UI" pitchFamily="34" charset="0"/>
                <a:ea typeface="Meiryo UI" pitchFamily="34" charset="-122"/>
                <a:cs typeface="Meiryo UI" pitchFamily="34" charset="-120"/>
              </a:rPr>
              <a:t>環境 JSONPlaceholder（baseUrl）を作って選ぶ</a:t>
            </a:r>
            <a:endParaRPr lang="en-US" sz="1600" dirty="0"/>
          </a:p>
          <a:p>
            <a:pPr indent="0" marL="0">
              <a:spcAft>
                <a:spcPts val="900"/>
              </a:spcAft>
              <a:buNone/>
            </a:pPr>
            <a:r>
              <a:rPr lang="en-US" sz="1600" b="1" dirty="0">
                <a:solidFill>
                  <a:srgbClr val="E11D2E"/>
                </a:solidFill>
                <a:latin typeface="Meiryo UI" pitchFamily="34" charset="0"/>
                <a:ea typeface="Meiryo UI" pitchFamily="34" charset="-122"/>
                <a:cs typeface="Meiryo UI" pitchFamily="34" charset="-120"/>
              </a:rPr>
              <a:t>③ </a:t>
            </a:r>
            <a:pPr indent="0" marL="0">
              <a:spcAft>
                <a:spcPts val="900"/>
              </a:spcAft>
              <a:buNone/>
            </a:pPr>
            <a:r>
              <a:rPr lang="en-US" sz="1600" dirty="0">
                <a:solidFill>
                  <a:srgbClr val="1F2937"/>
                </a:solidFill>
                <a:latin typeface="Meiryo UI" pitchFamily="34" charset="0"/>
                <a:ea typeface="Meiryo UI" pitchFamily="34" charset="-122"/>
                <a:cs typeface="Meiryo UI" pitchFamily="34" charset="-120"/>
              </a:rPr>
              <a:t>GET・POST・PATCH・PUT・DELETE の 5 つのリクエストを {{baseUrl}} を使って作り、保存する</a:t>
            </a:r>
            <a:endParaRPr lang="en-US" sz="1600" dirty="0"/>
          </a:p>
          <a:p>
            <a:pPr indent="0" marL="0">
              <a:spcAft>
                <a:spcPts val="900"/>
              </a:spcAft>
              <a:buNone/>
            </a:pPr>
            <a:r>
              <a:rPr lang="en-US" sz="1600" b="1" dirty="0">
                <a:solidFill>
                  <a:srgbClr val="E11D2E"/>
                </a:solidFill>
                <a:latin typeface="Meiryo UI" pitchFamily="34" charset="0"/>
                <a:ea typeface="Meiryo UI" pitchFamily="34" charset="-122"/>
                <a:cs typeface="Meiryo UI" pitchFamily="34" charset="-120"/>
              </a:rPr>
              <a:t>④ </a:t>
            </a:r>
            <a:pPr indent="0" marL="0">
              <a:spcAft>
                <a:spcPts val="900"/>
              </a:spcAft>
              <a:buNone/>
            </a:pPr>
            <a:r>
              <a:rPr lang="en-US" sz="1600" dirty="0">
                <a:solidFill>
                  <a:srgbClr val="1F2937"/>
                </a:solidFill>
                <a:latin typeface="Meiryo UI" pitchFamily="34" charset="0"/>
                <a:ea typeface="Meiryo UI" pitchFamily="34" charset="-122"/>
                <a:cs typeface="Meiryo UI" pitchFamily="34" charset="-120"/>
              </a:rPr>
              <a:t>各リクエストに、ステータスコードを確認するアサーションを 1 つ以上付ける</a:t>
            </a:r>
            <a:endParaRPr lang="en-US" sz="1600" dirty="0"/>
          </a:p>
          <a:p>
            <a:pPr indent="0" marL="0">
              <a:spcAft>
                <a:spcPts val="900"/>
              </a:spcAft>
              <a:buNone/>
            </a:pPr>
            <a:r>
              <a:rPr lang="en-US" sz="1600" b="1" dirty="0">
                <a:solidFill>
                  <a:srgbClr val="E11D2E"/>
                </a:solidFill>
                <a:latin typeface="Meiryo UI" pitchFamily="34" charset="0"/>
                <a:ea typeface="Meiryo UI" pitchFamily="34" charset="-122"/>
                <a:cs typeface="Meiryo UI" pitchFamily="34" charset="-120"/>
              </a:rPr>
              <a:t>⑤ </a:t>
            </a:r>
            <a:pPr indent="0" marL="0">
              <a:spcAft>
                <a:spcPts val="900"/>
              </a:spcAft>
              <a:buNone/>
            </a:pPr>
            <a:r>
              <a:rPr lang="en-US" sz="1600" dirty="0">
                <a:solidFill>
                  <a:srgbClr val="1F2937"/>
                </a:solidFill>
                <a:latin typeface="Meiryo UI" pitchFamily="34" charset="0"/>
                <a:ea typeface="Meiryo UI" pitchFamily="34" charset="-122"/>
                <a:cs typeface="Meiryo UI" pitchFamily="34" charset="-120"/>
              </a:rPr>
              <a:t>Collection Runner で全件を実行し、Failed が 0 になることを確認する</a:t>
            </a:r>
            <a:endParaRPr lang="en-US" sz="1600" dirty="0"/>
          </a:p>
          <a:p>
            <a:pPr indent="0" marL="0">
              <a:spcAft>
                <a:spcPts val="900"/>
              </a:spcAft>
              <a:buNone/>
            </a:pPr>
            <a:r>
              <a:rPr lang="en-US" sz="1600" b="1" dirty="0">
                <a:solidFill>
                  <a:srgbClr val="E11D2E"/>
                </a:solidFill>
                <a:latin typeface="Meiryo UI" pitchFamily="34" charset="0"/>
                <a:ea typeface="Meiryo UI" pitchFamily="34" charset="-122"/>
                <a:cs typeface="Meiryo UI" pitchFamily="34" charset="-120"/>
              </a:rPr>
              <a:t>⑥ </a:t>
            </a:r>
            <a:pPr indent="0" marL="0">
              <a:spcAft>
                <a:spcPts val="900"/>
              </a:spcAft>
              <a:buNone/>
            </a:pPr>
            <a:r>
              <a:rPr lang="en-US" sz="1600" dirty="0">
                <a:solidFill>
                  <a:srgbClr val="1F2937"/>
                </a:solidFill>
                <a:latin typeface="Meiryo UI" pitchFamily="34" charset="0"/>
                <a:ea typeface="Meiryo UI" pitchFamily="34" charset="-122"/>
                <a:cs typeface="Meiryo UI" pitchFamily="34" charset="-120"/>
              </a:rPr>
              <a:t>Share → Export → Bruno Collection (ZIP) で共有用ファイルを作る</a:t>
            </a:r>
            <a:endParaRPr lang="en-US" sz="1600" dirty="0"/>
          </a:p>
        </p:txBody>
      </p:sp>
      <p:sp>
        <p:nvSpPr>
          <p:cNvPr id="7" name="Shape 5"/>
          <p:cNvSpPr/>
          <p:nvPr/>
        </p:nvSpPr>
        <p:spPr>
          <a:xfrm>
            <a:off x="548640" y="5788152"/>
            <a:ext cx="11064240" cy="329184"/>
          </a:xfrm>
          <a:prstGeom prst="rect">
            <a:avLst/>
          </a:prstGeom>
          <a:solidFill>
            <a:srgbClr val="ECFDF5"/>
          </a:solidFill>
          <a:ln w="12700">
            <a:solidFill>
              <a:srgbClr val="047857"/>
            </a:solidFill>
            <a:prstDash val="solid"/>
          </a:ln>
        </p:spPr>
      </p:sp>
      <p:sp>
        <p:nvSpPr>
          <p:cNvPr id="8" name="Text 6"/>
          <p:cNvSpPr/>
          <p:nvPr/>
        </p:nvSpPr>
        <p:spPr>
          <a:xfrm>
            <a:off x="640080" y="5788152"/>
            <a:ext cx="10881360" cy="329184"/>
          </a:xfrm>
          <a:prstGeom prst="rect">
            <a:avLst/>
          </a:prstGeom>
          <a:noFill/>
          <a:ln/>
        </p:spPr>
        <p:txBody>
          <a:bodyPr wrap="square" lIns="25400" tIns="25400" rIns="25400" bIns="25400" rtlCol="0" anchor="ctr"/>
          <a:lstStyle/>
          <a:p>
            <a:pPr indent="0" marL="0">
              <a:buNone/>
            </a:pPr>
            <a:r>
              <a:rPr lang="en-US" sz="1100" b="1" dirty="0">
                <a:solidFill>
                  <a:srgbClr val="047857"/>
                </a:solidFill>
                <a:latin typeface="Meiryo UI" pitchFamily="34" charset="0"/>
                <a:ea typeface="Meiryo UI" pitchFamily="34" charset="-122"/>
                <a:cs typeface="Meiryo UI" pitchFamily="34" charset="-120"/>
              </a:rPr>
              <a:t>できなかった場合：</a:t>
            </a:r>
            <a:pPr indent="0" marL="0">
              <a:buNone/>
            </a:pPr>
            <a:r>
              <a:rPr lang="en-US" sz="1100" dirty="0">
                <a:solidFill>
                  <a:srgbClr val="1F2937"/>
                </a:solidFill>
                <a:latin typeface="Meiryo UI" pitchFamily="34" charset="0"/>
                <a:ea typeface="Meiryo UI" pitchFamily="34" charset="-122"/>
                <a:cs typeface="Meiryo UI" pitchFamily="34" charset="-120"/>
              </a:rPr>
              <a:t>samples の 10_Final\Posts の 01〜05（完成形の例）を開いて、自分で作ったものと比べる（Comments は追加の例）</a:t>
            </a:r>
            <a:endParaRPr lang="en-US" sz="11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修了課題の合格基準（チェックリスト）</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graphicFrame>
        <p:nvGraphicFramePr>
          <p:cNvPr id="104"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6035040"/>
                <a:gridCol w="3657600"/>
                <a:gridCol w="1371600"/>
              </a:tblGrid>
              <a:tr h="548640">
                <a:tc>
                  <a:txBody>
                    <a:bodyPr/>
                    <a:lstStyle/>
                    <a:p>
                      <a:pPr indent="0" marL="0">
                        <a:buNone/>
                      </a:pPr>
                      <a:r>
                        <a:rPr lang="en-US" sz="1500" b="1" dirty="0">
                          <a:solidFill>
                            <a:srgbClr val="FFFFFF"/>
                          </a:solidFill>
                          <a:latin typeface="Meiryo UI" pitchFamily="34" charset="0"/>
                          <a:ea typeface="Meiryo UI" pitchFamily="34" charset="-122"/>
                          <a:cs typeface="Meiryo UI" pitchFamily="34" charset="-120"/>
                        </a:rPr>
                        <a:t>確認すること</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Meiryo UI" pitchFamily="34" charset="0"/>
                          <a:ea typeface="Meiryo UI" pitchFamily="34" charset="-122"/>
                          <a:cs typeface="Meiryo UI" pitchFamily="34" charset="-120"/>
                        </a:rPr>
                        <a:t>確認方法</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Meiryo UI" pitchFamily="34" charset="0"/>
                          <a:ea typeface="Meiryo UI" pitchFamily="34" charset="-122"/>
                          <a:cs typeface="Meiryo UI" pitchFamily="34" charset="-120"/>
                        </a:rPr>
                        <a:t>OK</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548640">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コレクションと 5 つのリクエストがある</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サイドバー</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URL がすべて {{baseUrl}} で始まり、緑で表示される</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各リクエストの URL 欄</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548640">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POST・PATCH・PUT の Body の種類が JSON</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Body タブ</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各リクエストにアサーションがある</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Assert タブ</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548640">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Runner で Passed 5、Failed 0</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Runner の結果</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ZIP ファイルができている</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エクスプローラー</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548640">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「保存されない理由」を説明できる（Q15）</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講師に口頭で説明</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理解度チェックの解答</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graphicFrame>
        <p:nvGraphicFramePr>
          <p:cNvPr id="105"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11064240" cy="914400"/>
        </p:xfrm>
        <a:graphic>
          <a:graphicData uri="http://schemas.openxmlformats.org/drawingml/2006/table">
            <a:tbl>
              <a:tblPr/>
              <a:tblGrid>
                <a:gridCol w="731520"/>
                <a:gridCol w="10332720"/>
              </a:tblGrid>
              <a:tr h="301752">
                <a:tc>
                  <a:txBody>
                    <a:bodyPr/>
                    <a:lstStyle/>
                    <a:p>
                      <a:pPr indent="0" marL="0">
                        <a:buNone/>
                      </a:pPr>
                      <a:r>
                        <a:rPr lang="en-US" sz="1100" b="1" dirty="0">
                          <a:solidFill>
                            <a:srgbClr val="FFFFFF"/>
                          </a:solidFill>
                          <a:latin typeface="Meiryo UI" pitchFamily="34" charset="0"/>
                          <a:ea typeface="Meiryo UI" pitchFamily="34" charset="-122"/>
                          <a:cs typeface="Meiryo UI" pitchFamily="34" charset="-120"/>
                        </a:rPr>
                        <a:t>No</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Meiryo UI" pitchFamily="34" charset="0"/>
                          <a:ea typeface="Meiryo UI" pitchFamily="34" charset="-122"/>
                          <a:cs typeface="Meiryo UI" pitchFamily="34" charset="-120"/>
                        </a:rPr>
                        <a:t>解答</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301752">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Q1</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ソフトウェア同士がやり取りするための窓口と約束事</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Q2</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クライアント</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301752">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Q3</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パス：/posts、クエリ：userId=1&amp;id=3</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Q4</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文字列は " で囲む、数値は囲まない</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301752">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Q5</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201：作成された／404：見つからない</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Q6</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例：画面がなくても動作を確認できる、変更で壊れていないか確かめられる</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301752">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Q7</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レスポンス側の Headers タブ</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Q8</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JSON（Content-Type: application/json が自動で付く）</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301752">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Q9</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PUT は全体を置き換える、PATCH は一部を変更する</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Q10</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title と id だけが返る（body・userId がなくなる）</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301752">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Q11</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Expr：res.status、Operator：equals、Value：200</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Q12</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リクエストが 1 件ずつテキスト（YAML）ファイルで保存されるから</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301752">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Q13</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Secrets（値はファイルやエクスポートに含まれない）</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Q14</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404（データは保存されていない）</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301752">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Q15</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Meiryo UI" pitchFamily="34" charset="0"/>
                          <a:ea typeface="Meiryo UI" pitchFamily="34" charset="-122"/>
                          <a:cs typeface="Meiryo UI" pitchFamily="34" charset="-120"/>
                        </a:rPr>
                        <a:t>JSONPlaceholder は成功したふりのレスポンスを返すだけで、サーバーにデータを保存しないから</a:t>
                      </a:r>
                      <a:endParaRPr lang="en-US" sz="11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学習目標の達成度を確かめよう</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graphicFrame>
        <p:nvGraphicFramePr>
          <p:cNvPr id="106"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6400800"/>
                <a:gridCol w="2377440"/>
                <a:gridCol w="2286000"/>
              </a:tblGrid>
              <a:tr h="484632">
                <a:tc>
                  <a:txBody>
                    <a:bodyPr/>
                    <a:lstStyle/>
                    <a:p>
                      <a:pPr indent="0" marL="0">
                        <a:buNone/>
                      </a:pPr>
                      <a:r>
                        <a:rPr lang="en-US" sz="1400" b="1" dirty="0">
                          <a:solidFill>
                            <a:srgbClr val="FFFFFF"/>
                          </a:solidFill>
                          <a:latin typeface="Meiryo UI" pitchFamily="34" charset="0"/>
                          <a:ea typeface="Meiryo UI" pitchFamily="34" charset="-122"/>
                          <a:cs typeface="Meiryo UI" pitchFamily="34" charset="-120"/>
                        </a:rPr>
                        <a:t>学習目標</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Meiryo UI" pitchFamily="34" charset="0"/>
                          <a:ea typeface="Meiryo UI" pitchFamily="34" charset="-122"/>
                          <a:cs typeface="Meiryo UI" pitchFamily="34" charset="-120"/>
                        </a:rPr>
                        <a:t>できる／あいまい</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Meiryo UI" pitchFamily="34" charset="0"/>
                          <a:ea typeface="Meiryo UI" pitchFamily="34" charset="-122"/>
                          <a:cs typeface="Meiryo UI" pitchFamily="34" charset="-120"/>
                        </a:rPr>
                        <a:t>復習する章</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484632">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API・リクエスト・レスポンス・JSON を説明できる</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第1章</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84632">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Bruno をインストールして起動できる</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第2章</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84632">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コレクション・リクエストを作って保存できる</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第3章</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84632">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5 つのメソッドを送信し、結果を確認できる</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第4〜8章</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84632">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PUT と PATCH の違いを説明できる</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第6・7章</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84632">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開く・インポート・エクスポートができる</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第3章</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84632">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環境変数・アサーション・まとめて実行ができる</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第9章</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84632">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JSONPlaceholder の制約を説明できる</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400" dirty="0">
                          <a:solidFill>
                            <a:srgbClr val="1F2937"/>
                          </a:solidFill>
                          <a:latin typeface="Meiryo UI" pitchFamily="34" charset="0"/>
                          <a:ea typeface="Meiryo UI" pitchFamily="34" charset="-122"/>
                          <a:cs typeface="Meiryo UI" pitchFamily="34" charset="-120"/>
                        </a:rPr>
                        <a:t>第3・5〜8章</a:t>
                      </a:r>
                      <a:endParaRPr lang="en-US" sz="14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bl>
          </a:graphicData>
        </a:graphic>
      </p:graphicFrame>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28600"/>
            <a:ext cx="11430000" cy="640080"/>
          </a:xfrm>
          <a:prstGeom prst="rect">
            <a:avLst/>
          </a:prstGeom>
          <a:noFill/>
          <a:ln/>
        </p:spPr>
        <p:txBody>
          <a:bodyPr wrap="square" rtlCol="0" anchor="ctr"/>
          <a:lstStyle/>
          <a:p>
            <a:pPr indent="0" marL="0">
              <a:buNone/>
            </a:pPr>
            <a:r>
              <a:rPr lang="en-US" sz="2600" b="1" dirty="0">
                <a:solidFill>
                  <a:srgbClr val="1F3A5F"/>
                </a:solidFill>
                <a:latin typeface="Meiryo UI" pitchFamily="34" charset="0"/>
                <a:ea typeface="Meiryo UI" pitchFamily="34" charset="-122"/>
                <a:cs typeface="Meiryo UI" pitchFamily="34" charset="-120"/>
              </a:rPr>
              <a:t>参考資料と次のステップ</a:t>
            </a:r>
            <a:endParaRPr lang="en-US" sz="2600" dirty="0"/>
          </a:p>
        </p:txBody>
      </p:sp>
      <p:sp>
        <p:nvSpPr>
          <p:cNvPr id="3" name="Shape 1"/>
          <p:cNvSpPr/>
          <p:nvPr/>
        </p:nvSpPr>
        <p:spPr>
          <a:xfrm>
            <a:off x="365760" y="896112"/>
            <a:ext cx="11430000" cy="45720"/>
          </a:xfrm>
          <a:prstGeom prst="rect">
            <a:avLst/>
          </a:prstGeom>
          <a:solidFill>
            <a:srgbClr val="D97706"/>
          </a:solidFill>
          <a:ln w="12700">
            <a:solidFill>
              <a:srgbClr val="D97706"/>
            </a:solidFill>
            <a:prstDash val="solid"/>
          </a:ln>
        </p:spPr>
      </p:sp>
      <p:sp>
        <p:nvSpPr>
          <p:cNvPr id="4" name="Text 2"/>
          <p:cNvSpPr/>
          <p:nvPr/>
        </p:nvSpPr>
        <p:spPr>
          <a:xfrm>
            <a:off x="365760" y="6473952"/>
            <a:ext cx="4572000" cy="274320"/>
          </a:xfrm>
          <a:prstGeom prst="rect">
            <a:avLst/>
          </a:prstGeom>
          <a:noFill/>
          <a:ln/>
        </p:spPr>
        <p:txBody>
          <a:bodyPr wrap="square" rtlCol="0" anchor="ctr"/>
          <a:lstStyle/>
          <a:p>
            <a:pPr indent="0" marL="0">
              <a:buNone/>
            </a:pPr>
            <a:r>
              <a:rPr lang="en-US" sz="1000" dirty="0">
                <a:solidFill>
                  <a:srgbClr val="6B7280"/>
                </a:solidFill>
                <a:latin typeface="Meiryo UI" pitchFamily="34" charset="0"/>
                <a:ea typeface="Meiryo UI" pitchFamily="34" charset="-122"/>
                <a:cs typeface="Meiryo UI" pitchFamily="34" charset="-120"/>
              </a:rPr>
              <a:t>Bruno v4.2.1｜確認日 2026-10-09</a:t>
            </a:r>
            <a:endParaRPr lang="en-US" sz="1000" dirty="0"/>
          </a:p>
        </p:txBody>
      </p:sp>
      <p:graphicFrame>
        <p:nvGraphicFramePr>
          <p:cNvPr id="107"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3840480"/>
                <a:gridCol w="7223760"/>
              </a:tblGrid>
              <a:tr h="475488">
                <a:tc>
                  <a:txBody>
                    <a:bodyPr/>
                    <a:lstStyle/>
                    <a:p>
                      <a:pPr indent="0" marL="0">
                        <a:buNone/>
                      </a:pPr>
                      <a:r>
                        <a:rPr lang="en-US" sz="1500" b="1" dirty="0">
                          <a:solidFill>
                            <a:srgbClr val="FFFFFF"/>
                          </a:solidFill>
                          <a:latin typeface="Meiryo UI" pitchFamily="34" charset="0"/>
                          <a:ea typeface="Meiryo UI" pitchFamily="34" charset="-122"/>
                          <a:cs typeface="Meiryo UI" pitchFamily="34" charset="-120"/>
                        </a:rPr>
                        <a:t>資料</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Meiryo UI" pitchFamily="34" charset="0"/>
                          <a:ea typeface="Meiryo UI" pitchFamily="34" charset="-122"/>
                          <a:cs typeface="Meiryo UI" pitchFamily="34" charset="-120"/>
                        </a:rPr>
                        <a:t>URL</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r>
              <a:tr h="475488">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Bruno 公式ドキュメント</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https://docs.usebruno.com/</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75488">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Bruno ダウンロード</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https://www.usebruno.com/downloads</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75488">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JSONPlaceholder</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https://jsonplaceholder.typicode.com/</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75488">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HTTP の仕様（RFC 9110）</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https://www.rfc-editor.org/rfc/rfc9110</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r h="475488">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Mambu API リファレンス</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https://docs.mambu.com/api/</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75488">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json-server</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500" dirty="0">
                          <a:solidFill>
                            <a:srgbClr val="1F2937"/>
                          </a:solidFill>
                          <a:latin typeface="Meiryo UI" pitchFamily="34" charset="0"/>
                          <a:ea typeface="Meiryo UI" pitchFamily="34" charset="-122"/>
                          <a:cs typeface="Meiryo UI" pitchFamily="34" charset="-120"/>
                        </a:rPr>
                        <a:t>https://github.com/typicode/json-server</a:t>
                      </a:r>
                      <a:endParaRPr lang="en-US" sz="1500" dirty="0">
                        <a:latin typeface="Meiryo UI" charset="0"/>
                        <a:ea typeface="Meiryo UI" charset="0"/>
                        <a:cs typeface="Meiryo UI" charset="0"/>
                      </a:endParaRPr>
                    </a:p>
                  </a:txBody>
                  <a:tcPr marL="54864" marR="54864" marT="54864" marB="54864"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8FAFC"/>
                    </a:solidFill>
                  </a:tcPr>
                </a:tc>
              </a:tr>
            </a:tbl>
          </a:graphicData>
        </a:graphic>
      </p:graphicFrame>
      <p:sp>
        <p:nvSpPr>
          <p:cNvPr id="6" name="Text 3"/>
          <p:cNvSpPr/>
          <p:nvPr/>
        </p:nvSpPr>
        <p:spPr>
          <a:xfrm>
            <a:off x="548640" y="4754880"/>
            <a:ext cx="11064240" cy="914400"/>
          </a:xfrm>
          <a:prstGeom prst="rect">
            <a:avLst/>
          </a:prstGeom>
          <a:noFill/>
          <a:ln/>
        </p:spPr>
        <p:txBody>
          <a:bodyPr wrap="square" rtlCol="0" anchor="t"/>
          <a:lstStyle/>
          <a:p>
            <a:pPr marL="228600" indent="-228600">
              <a:spcAft>
                <a:spcPts val="800"/>
              </a:spcAft>
              <a:buSzPct val="100000"/>
              <a:buChar char="•"/>
            </a:pPr>
            <a:r>
              <a:rPr lang="en-US" sz="1500" dirty="0">
                <a:solidFill>
                  <a:srgbClr val="1F2937"/>
                </a:solidFill>
                <a:latin typeface="Meiryo UI" pitchFamily="34" charset="0"/>
                <a:ea typeface="Meiryo UI" pitchFamily="34" charset="-122"/>
                <a:cs typeface="Meiryo UI" pitchFamily="34" charset="-120"/>
              </a:rPr>
              <a:t>業務で使う API の仕様書を読み、Bruno で 1 つずつ試してみましょう</a:t>
            </a:r>
            <a:endParaRPr lang="en-US" sz="1500" dirty="0"/>
          </a:p>
          <a:p>
            <a:pPr marL="228600" indent="-228600">
              <a:spcAft>
                <a:spcPts val="800"/>
              </a:spcAft>
              <a:buSzPct val="100000"/>
              <a:buChar char="•"/>
            </a:pPr>
            <a:r>
              <a:rPr lang="en-US" sz="1500" dirty="0">
                <a:solidFill>
                  <a:srgbClr val="1F2937"/>
                </a:solidFill>
                <a:latin typeface="Meiryo UI" pitchFamily="34" charset="0"/>
                <a:ea typeface="Meiryo UI" pitchFamily="34" charset="-122"/>
                <a:cs typeface="Meiryo UI" pitchFamily="34" charset="-120"/>
              </a:rPr>
              <a:t>テストを増やして、変更のたびに Runner や CLI で確認する習慣をつけましょう</a:t>
            </a:r>
            <a:endParaRPr lang="en-US" sz="1500" dirty="0"/>
          </a:p>
        </p:txBody>
      </p:sp>
      <p:sp>
        <p:nvSpPr>
          <p:cNvPr id="25" name="Slide Number Placeholder 0"/>
          <p:cNvSpPr>
            <a:spLocks noGrp="1"/>
          </p:cNvSpPr>
          <p:nvPr>
            <p:ph type="sldNum" sz="quarter" idx="4294967295"/>
          </p:nvPr>
        </p:nvSpPr>
        <p:spPr>
          <a:xfrm>
            <a:off x="112928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Meiryo UI"/>
                <a:ea typeface="Meiryo UI"/>
                <a:cs typeface="Meiryo UI"/>
              </a:defRPr>
            </a:lvl1pPr>
          </a:lstStyle>
          <a:p>
            <a:pPr algn="r"/>
            <a:fld id="{F7021451-1387-4CA6-816F-3879F97B5CBC}" type="slidenum">
              <a:rPr b="0" lang="en-US"/>
              <a:t>106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106</Slides>
  <Notes>106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106</vt:i4>
      </vt:variant>
    </vt:vector>
  </HeadingPairs>
  <TitlesOfParts>
    <vt:vector size="10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Bruno ではじめる API 入門（第10章）</dc:title>
  <dc:subject>PptxGenJS Presentation</dc:subject>
  <dc:creator>Bruno 研修教材</dc:creator>
  <cp:lastModifiedBy>Bruno 研修教材</cp:lastModifiedBy>
  <cp:revision>1</cp:revision>
  <dcterms:created xsi:type="dcterms:W3CDTF">2026-10-13T06:01:27Z</dcterms:created>
  <dcterms:modified xsi:type="dcterms:W3CDTF">2026-10-13T06:01:27Z</dcterms:modified>
</cp:coreProperties>
</file>