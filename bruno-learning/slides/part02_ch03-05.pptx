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JSONPlaceholder を使うための準備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この章で学ぶこと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JSONPlaceholder とは（できること・できないこと）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最初のコレクションとリクエストを作る（演習3-A）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配布コレクションを開く・インポートする（演習3-B・3-C）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環境変数でベース URL を切り替える（演習3-D）・環境と Secret の作り方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共有用ファイルを作る（演習3-E）・つながらないときの対処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目安時間：50 分　｜　対応する学習目標：B4, B5, B6, B8, A1, A5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080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JSONPlaceholder とは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出典：https://jsonplaceholder.typicode.com/#guide（2026-10-09 に確認）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練習用に公開されている、無料・登録不要の API です。ブログの投稿・コメント・ユーザーなどのダミーデータを返します。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"Free for everyone, and it stays that way. No signup, no API key."（公式サイトより）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64240" cy="173736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23160"/>
            <a:ext cx="82296" cy="17373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468880"/>
            <a:ext cx="10835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【最重要：書き込みは保存されない】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公式の説明（POST の例）：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"The resource is not really created on the server, but the response is faked as if."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＝「サーバー上に本当に作られるのではなく、作られたかのようなレスポンスが返る」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PUT・PATCH・DELETE も同様に、本当には更新・削除されません。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この教材の演習で確認できること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確認できないこと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リクエストの送り方、レスポンスの読み方、ステータスコード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データが本当に保存・変更・削除されること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PUT と PATCH のレスポンスの違い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認証エラー（401）や入力チェックのエラー（400）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エンドポイントの調べ方【1/10】全体の流れ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出典：https://jsonplaceholder.typicode.com/（2026-10-13 に確認）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エンドポイントは API の「窓口」です。「どのデータに・何をするか」を、メソッドと URL の組で表します。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83080"/>
            <a:ext cx="1188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395728"/>
            <a:ext cx="1371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メソッド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70048"/>
            <a:ext cx="17373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何をするか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（取得・作成など）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31720" y="178308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https://jsonplaceholder.typicode.com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40280" y="2395728"/>
            <a:ext cx="51206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ベース URL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57400" y="2670048"/>
            <a:ext cx="54864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どのサービスか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（全部のエンドポイントで共通）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7830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/posts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23760" y="2395728"/>
            <a:ext cx="19202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リソース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2670048"/>
            <a:ext cx="22860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どのデータの種類か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（投稿・ユーザーなど）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98280" y="178308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783080"/>
            <a:ext cx="1188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06840" y="2395728"/>
            <a:ext cx="1371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23960" y="2670048"/>
            <a:ext cx="17373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 1 件か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（番号）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11064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公式サイトで、次の順に調べます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86200"/>
            <a:ext cx="192024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公式サイトを開く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4873752"/>
            <a:ext cx="1920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【2/10】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87168" y="4361688"/>
            <a:ext cx="310896" cy="914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816352" y="38862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16352" y="3886200"/>
            <a:ext cx="192024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Resources 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データの種類を知る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816352" y="4873752"/>
            <a:ext cx="1920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【3・4/10】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4361688"/>
            <a:ext cx="310896" cy="914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84064" y="38862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84064" y="3886200"/>
            <a:ext cx="192024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Routes 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URL の形を知る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84064" y="4873752"/>
            <a:ext cx="1920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【5・6/10】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022592" y="4361688"/>
            <a:ext cx="310896" cy="914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51776" y="38862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51776" y="3886200"/>
            <a:ext cx="192024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Guide 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送り方を知る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51776" y="4873752"/>
            <a:ext cx="1920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【7/10】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290304" y="4361688"/>
            <a:ext cx="310896" cy="914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619488" y="38862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19488" y="3886200"/>
            <a:ext cx="1920240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ブラウザ・Bruno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で試す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19488" y="4873752"/>
            <a:ext cx="1920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【8・9/10】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5257800"/>
            <a:ext cx="11064240" cy="68580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5257800"/>
            <a:ext cx="82296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5303520"/>
            <a:ext cx="10835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サイトは英語ですが、読むのは「/」で始まる短い文字と表だけです。英文はスライドで訳します。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エンドポイントの調べ方【2/10】公式サイトを開く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出典：https://jsonplaceholder.typicode.com/（2026-10-13 に確認）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4206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ブラウザ（Chrome または Edge）を開く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アドレスバーに https://jsonplaceholder.typicode.com/ と入力して Enter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「Fake data you can rely on.」のページが開けば OK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マウスのホイールで下へスクロールする。使うのは右の図の 3 つの節（上から Guide → Resources → Routes）</a:t>
            </a:r>
            <a:endParaRPr lang="en-US" sz="1500" dirty="0"/>
          </a:p>
        </p:txBody>
      </p:sp>
      <p:pic>
        <p:nvPicPr>
          <p:cNvPr id="7" name="Image 0" descr="公式サイト（Chrome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97280"/>
            <a:ext cx="4023360" cy="254689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37760" y="1097280"/>
            <a:ext cx="4023360" cy="2546898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366246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公式サイト（Chrome、2026-10-13 撮影）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39247" y="1337373"/>
            <a:ext cx="3340161" cy="22113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46639" y="1310780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46639" y="13107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60717" y="2500087"/>
            <a:ext cx="3063324" cy="35032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68109" y="2538089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68109" y="253808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20043" y="1713871"/>
            <a:ext cx="324486" cy="18422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4023360"/>
            <a:ext cx="40233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上のメニューの「Guide」（赤枠）をクリックすると、Guide の節へ移動します</a:t>
            </a:r>
            <a:endParaRPr lang="en-US" sz="1200" dirty="0"/>
          </a:p>
        </p:txBody>
      </p:sp>
      <p:pic>
        <p:nvPicPr>
          <p:cNvPr id="18" name="Image 1" descr="C:\Users\h-akita\git_test\.claude\worktrees\samples-check\bruno-learning\assets\screenshots\ch3\jp_pag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417320"/>
            <a:ext cx="1463040" cy="4465086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195560" y="1417320"/>
            <a:ext cx="1463040" cy="4465086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199780" y="3087155"/>
            <a:ext cx="1454599" cy="100724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144000" y="331645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Guide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【7/10】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10199780" y="4057826"/>
            <a:ext cx="1454599" cy="908773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144000" y="42378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Resources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【3/10】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10199780" y="4930023"/>
            <a:ext cx="1454599" cy="970671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144000" y="514103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Routes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【5/10】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195560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ページ全体（縮小）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48640" y="5257800"/>
            <a:ext cx="8138160" cy="68580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48640" y="5257800"/>
            <a:ext cx="82296" cy="685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13232" y="5303520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【注意】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URL の綴りに注意（jsonplaceholder の後ろは .typicode.com）。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エンドポイントの調べ方【3/10】Resources でデータの種類と件数を知る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出典：https://jsonplaceholder.typicode.com/（2026-10-13 に確認）</a:t>
            </a:r>
            <a:endParaRPr lang="en-US" sz="1000" dirty="0"/>
          </a:p>
        </p:txBody>
      </p:sp>
      <p:pic>
        <p:nvPicPr>
          <p:cNvPr id="6" name="Image 0" descr="公式サイト（Chrome、2026-10-13 撮影）　Resources 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937760" cy="311181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097280"/>
            <a:ext cx="4937760" cy="3111818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227386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公式サイト（Chrome、2026-10-13 撮影）　Resources 節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0719" y="1792653"/>
            <a:ext cx="599146" cy="1631061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8111" y="2471023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8111" y="24710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77299" y="1792653"/>
            <a:ext cx="743807" cy="1631061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39394" y="2471023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39394" y="24710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4526280"/>
            <a:ext cx="4937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左の列：URL に付ける名前（リソース）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右の列：入っているデータの件数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097280"/>
          <a:ext cx="58521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914400"/>
                <a:gridCol w="685800"/>
                <a:gridCol w="3108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リソース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中身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件に入っている項目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/posts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userId, id, title, body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/comments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コメント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postId, id, name, email, body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/albums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アルバム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userId, id, title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/photos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写真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5000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albumId, id, title, url, thumbnailUrl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/todos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やること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userId, id, title, completed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/users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ユーザー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id, name, username, email, address など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5760720" y="4224528"/>
            <a:ext cx="58521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項目は各リソースの 1 件目（/posts/1 など）を開いて確認したもの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760720" y="4572000"/>
            <a:ext cx="5852160" cy="1371600"/>
          </a:xfrm>
          <a:prstGeom prst="rect">
            <a:avLst/>
          </a:prstGeom>
          <a:solidFill>
            <a:srgbClr val="ECFDF5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760720" y="4572000"/>
            <a:ext cx="82296" cy="13716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925312" y="4617720"/>
            <a:ext cx="5623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【読み方のコツ】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英文「comes with a set of 6 common resources」＝「よく使う 6 種類のデータがある」。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リソース名は必ず複数形です（/post と書くと見つからない）。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エンドポイントの調べ方【4/10】リソース名をクリックして中身を見る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出典：https://jsonplaceholder.typicode.com/（2026-10-13 に確認）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Resources の「/posts」（青緑の文字）をクリック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ブラウザに投稿 100 件のデータ（JSON）が表示される。アドレスバーは …/posts になる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 から } までが 1 件分。中の項目名（"userId" など）を確認する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ブラウザの「←」（戻る）でサイトに戻る</a:t>
            </a:r>
            <a:endParaRPr lang="en-US" sz="1500" dirty="0"/>
          </a:p>
        </p:txBody>
      </p:sp>
      <p:pic>
        <p:nvPicPr>
          <p:cNvPr id="7" name="Image 0" descr="公式サイト（Chrome、2026-10-13 撮影）　/posts を開いたところ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097280"/>
            <a:ext cx="6361889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12080" y="1097280"/>
            <a:ext cx="6361889" cy="274320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12080" y="3858768"/>
            <a:ext cx="636188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公式サイト（Chrome、2026-10-13 撮影）　/posts を開いたところ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31928" y="1487554"/>
            <a:ext cx="5260329" cy="32840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9320" y="1514597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9320" y="15145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68890" y="2246311"/>
            <a:ext cx="6211694" cy="67860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76282" y="244845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6282" y="24484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368890" y="1516737"/>
            <a:ext cx="240857" cy="27004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76282" y="1514597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6282" y="15145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4206240"/>
          <a:ext cx="6400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754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項目名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意味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userId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投稿したユーザーの番号（/users の id）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この投稿の番号（1〜100）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title / body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タイトル / 本文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548640" y="4526280"/>
            <a:ext cx="4480560" cy="91440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4526280"/>
            <a:ext cx="82296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13232" y="457200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データの中の ¥n は「ここで改行」という記号です。日本語の Windows では、バックスラッシュ記号が ¥ で表示されます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エンドポイントの調べ方【5/10】Routes で URL の形を知る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出典：https://jsonplaceholder.typicode.com/（2026-10-13 に確認）</a:t>
            </a:r>
            <a:endParaRPr lang="en-US" sz="1000" dirty="0"/>
          </a:p>
        </p:txBody>
      </p:sp>
      <p:pic>
        <p:nvPicPr>
          <p:cNvPr id="6" name="Image 0" descr="公式サイト（Chrome、2026-10-13 撮影）　Routes 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120640" cy="342042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097280"/>
            <a:ext cx="5120640" cy="3420427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535995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公式サイト（Chrome、2026-10-13 撮影）　Routes 節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3696" y="1812417"/>
            <a:ext cx="403288" cy="2263521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1088" y="2807017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1088" y="28070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130427" y="1812417"/>
            <a:ext cx="1136713" cy="2263521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85428" y="2807017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5428" y="28070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左の列：メソッド　② 右の列：ベース URL の後ろに付けるパス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097280"/>
          <a:ext cx="56692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見えている文字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意味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 HTTP methods are supported.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GET・POST・PUT・PATCH・DELETE がすべて使える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You can use http or https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http でも https でもよい（教材では https）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GET の 4 行（青緑の文字）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リンクになっている。クリックするとブラウザで結果が見られる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POST・PUT・PATCH・DELETE の行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リンクではない。ブラウザでは試せないので Bruno で送る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5943600" y="4160520"/>
            <a:ext cx="5669280" cy="1783080"/>
          </a:xfrm>
          <a:prstGeom prst="rect">
            <a:avLst/>
          </a:prstGeom>
          <a:solidFill>
            <a:srgbClr val="ECFDF5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43600" y="4160520"/>
            <a:ext cx="82296" cy="17830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08192" y="4206240"/>
            <a:ext cx="54406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【見本の /posts は入れ替えられる】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Routes は /posts を例にした見本です。posts を Resources の他の名前（users・todos など）に替えても同じ形で使えます（第4〜8章の演習で確認済み）。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例：GET /users/3、PATCH /todos/1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エンドポイントの調べ方【6/10】Routes の読み方（GET の 4 つの形）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出典：https://jsonplaceholder.typicode.com/（2026-10-13 に確認）　件数は 2026-10-13 にブラウザと curl で確認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502920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形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Routes の例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意味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結果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一覧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/posts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投稿をすべて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100 件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1 件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/posts/1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id が 1 の投稿だけ（数字を替えると別の投稿）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件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関連データ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/posts/1/comments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投稿 1 に付いたコメント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 件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 絞り込み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/comments?postId=1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postId が 1 のコメント（③と同じ結果）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 件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絞り込みの URL の読み方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39319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931920"/>
            <a:ext cx="1463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/comments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リソース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267712" y="3931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6771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993392" y="4480560"/>
            <a:ext cx="10515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ここから条件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43784" y="39319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43784" y="3931920"/>
            <a:ext cx="10972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postId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569464" y="4480560"/>
            <a:ext cx="1645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項目名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014216" y="3931920"/>
            <a:ext cx="411480" cy="502920"/>
          </a:xfrm>
          <a:prstGeom prst="roundRect">
            <a:avLst>
              <a:gd name="adj" fmla="val 17778"/>
            </a:avLst>
          </a:prstGeom>
          <a:solidFill>
            <a:srgbClr val="F8FAFC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14216" y="3931920"/>
            <a:ext cx="4114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498848" y="3931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9884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224528" y="4480560"/>
            <a:ext cx="10515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4892040"/>
            <a:ext cx="54864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条件を 2 つ付けるときは &amp; でつなぐ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例：/posts?userId=1&amp;id=3 → 1 件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0" y="3520440"/>
            <a:ext cx="5212080" cy="210312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0" y="3520440"/>
            <a:ext cx="82296" cy="2103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65392" y="3566160"/>
            <a:ext cx="4983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【③ 関連データの組み合わせ】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Resources 節の「nested routes」に一覧があります。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/posts/1/comments　/albums/1/photos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/users/1/albums　/users/1/todos　/users/1/posts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たどれるのは 1 段だけ（/posts/1/comments/1 は見つからない）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エンドポイントの調べ方【7/10】Guide で送り方を確認する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出典：https://jsonplaceholder.typicode.com/（2026-10-13 に確認）</a:t>
            </a:r>
            <a:endParaRPr lang="en-US" sz="1000" dirty="0"/>
          </a:p>
        </p:txBody>
      </p:sp>
      <p:pic>
        <p:nvPicPr>
          <p:cNvPr id="6" name="Image 0" descr="公式サイト（Chrome、2026-10-13 撮影）　Guide の Create タ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754880" cy="464962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097280"/>
            <a:ext cx="4754880" cy="4649629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65197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公式サイト（Chrome、2026-10-13 撮影）　Guide の Create タブ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133999" y="1729073"/>
            <a:ext cx="330660" cy="24707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391" y="1715453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391" y="17154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6090" y="2116026"/>
            <a:ext cx="2265426" cy="18207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99804" y="206990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99804" y="206990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3480" y="2267712"/>
            <a:ext cx="739283" cy="15421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0872" y="2207657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0872" y="22076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3480" y="2394633"/>
            <a:ext cx="1073610" cy="67117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0872" y="259306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0872" y="259306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93480" y="3044714"/>
            <a:ext cx="2389251" cy="42972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0872" y="3122414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0872" y="31224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7743" y="4004358"/>
            <a:ext cx="4627388" cy="117267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15135" y="4453533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5135" y="445353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577840" y="1097280"/>
            <a:ext cx="6035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タブ（Get・List・Create・Update・Patch・Delete・Filter・Nested）をクリックして、知りたい操作の例を表示します。例は JavaScript ですが、読むのは次の場所だけです。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05740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57400"/>
                <a:gridCol w="1965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例の中の場所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意味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Bruno で入れる場所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タブ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Create＝作成（POST）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'https://…/posts'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送り先の URL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URL の欄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method: 'POST'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メソッド（ない例は GET）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URL の左のメソッド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 body: …({ … })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送るデータ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Body タブ（JSON）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 headers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データの形式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JSON を選ぶと自動で付く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⑥ RESPONSE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返ってくる結果の見本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送った後に見比べる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5577840" y="4846320"/>
            <a:ext cx="6035040" cy="109728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577840" y="4846320"/>
            <a:ext cx="82296" cy="10972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742432" y="4892040"/>
            <a:ext cx="5806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【④ を書き写すときの注意】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JavaScript の書き方 title: 'foo' のままでは JSON になりません。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項目名と文字は " で囲みます → "title": "foo"（第5章で練習）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エンドポイントの調べ方【8/10】ブラウザのアドレスバーで GET を試す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出典：https://jsonplaceholder.typicode.com/（2026-10-13 に確認）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アドレスバーをクリックし、ベース URL＋パスを入力して Enter（入力例は下）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データ（JSON）が表示されれば、そのエンドポイントは正しい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{} だけが表示されたら「見つからない」という意味。綴り・数字・単数形/複数形を見直す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4572000" cy="45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https://jsonplaceholder.typicode.com/posts/1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入力例（ベース URL＋パス）</a:t>
            </a:r>
            <a:endParaRPr lang="en-US" sz="1100" dirty="0"/>
          </a:p>
        </p:txBody>
      </p:sp>
      <p:pic>
        <p:nvPicPr>
          <p:cNvPr id="9" name="Image 0" descr="公式サイト（Chrome、2026-10-13 撮影）　/posts/1 を開いたところ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309360" cy="191017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03520" y="1097280"/>
            <a:ext cx="6309360" cy="1910173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3025741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公式サイト（Chrome、2026-10-13 撮影）　/posts/1 を開いたところ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13971" y="1484180"/>
            <a:ext cx="5217197" cy="32599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1363" y="1510018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1363" y="15100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14174" y="2091963"/>
            <a:ext cx="6305417" cy="864318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1566" y="238696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1566" y="238696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3429000"/>
          <a:ext cx="6309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入力した URL（ベース URL の後ろ）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表示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/posts/1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id が 1 の投稿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/posts/101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{}（101 番の投稿はない）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/post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{}（単数形は間違い）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48640" y="5212080"/>
            <a:ext cx="11064240" cy="77724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5212080"/>
            <a:ext cx="82296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3232" y="525780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【ブラウザで試せるのは GET だけ】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アドレスバーから送られるのは GET です。POST・PUT・PATCH・DELETE は Bruno で送ります（第5〜8章）。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エンドポイントの調べ方【9/10】調べた結果を Bruno に書き写す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出典：https://jsonplaceholder.typicode.com/（2026-10-13 に確認）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566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調べた場所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Bruno で入れる場所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Routes の左の列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 POST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URL の左のメソッド（初期値は GET）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ベース URL＋Routes のパス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https://jsonplaceholder.typicode.com/posts/1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URL の欄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Guide の body（POST・PUT・PATCH だけ）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 "title": "foo", … 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Body タブで JSON を選んで入力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GET の例（演習3-A ②で入力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54680"/>
            <a:ext cx="5394960" cy="5694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3154680"/>
            <a:ext cx="5394960" cy="569468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3742436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GET の例（演習3-A ②で入力）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84302" y="3466084"/>
            <a:ext cx="228397" cy="18643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91694" y="342214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1694" y="342214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6094" y="3466084"/>
            <a:ext cx="1753972" cy="18643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578354" y="342214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78354" y="342214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pic>
        <p:nvPicPr>
          <p:cNvPr id="16" name="Image 1" descr="POST の例（第5章で入力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154680"/>
            <a:ext cx="5394960" cy="157068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217920" y="3154680"/>
            <a:ext cx="5394960" cy="1570685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217920" y="4743653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POST の例（第5章で入力）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67923" y="3211512"/>
            <a:ext cx="326811" cy="19364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75315" y="3171174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975315" y="31711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575230" y="3211512"/>
            <a:ext cx="821918" cy="19364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15437" y="3171174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415437" y="31711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404504" y="3870516"/>
            <a:ext cx="1607261" cy="68533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111896" y="4076025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111896" y="40760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48640" y="4114800"/>
            <a:ext cx="5394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48640" y="5029200"/>
            <a:ext cx="82296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13232" y="5074920"/>
            <a:ext cx="10835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【ベース URL は変数にまとめる】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右の画面の {{baseUrl}} は、ベース URL を入れておく変数です（このあとの「ベース URL と環境変数の考え方」で扱います）。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{{baseUrl}}/posts ＝ https://jsonplaceholder.typicode.com/posts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エンドポイントの調べ方【10/10】練習：自分で調べてみよう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出典：https://jsonplaceholder.typicode.com/（2026-10-13 に確認）　答えは 2026-10-13 にブラウザと curl で確認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公式サイトの Resources・Routes を見て URL を考え、ブラウザのアドレスバーで確かめます。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035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2377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問題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ヒント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答え（ベース URL の後ろ）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Q1 ユーザー 3 の情報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1 件の形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/users/3 → name は Clementine Bauch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Q2 ユーザー 3 のやること一覧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関連データの形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/users/3/todos → 20 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アルバム 1 の写真一覧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関連データの形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/albums/1/photos → 50 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公式サイト（Chrome、2026-10-13 撮影）　Q2 を確かめたところ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554480"/>
            <a:ext cx="4754880" cy="191940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858000" y="1554480"/>
            <a:ext cx="4754880" cy="1919401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0" y="3492169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公式サイト（Chrome、2026-10-13 撮影）　Q2 を確かめたところ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690356" y="1841551"/>
            <a:ext cx="3940812" cy="25469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よくある間違い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結果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直し方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/post/1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{}（見つからない）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複数形 /posts にする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/posts?userid=1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絞り込まれず 100 件全部が出る（エラーにならない）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項目名の大文字・小文字を 1 件目のデータと同じに（userId）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/posts/1/comments/1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{}（見つからない）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関連データは 1 段まで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この教材で使うエンドポイント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出典：https://jsonplaceholder.typicode.com/（2026-10-09 に確認）　件数・結果は 2026-10-09 に curl と Bruno で確認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  <a:gridCol w="19202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メソッドと URL（ホスト部分は省略）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使う章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/posts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投稿の一覧（100 件）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第4章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/posts/1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投稿 1 件（id が 1）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第4章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/posts?userId=1&amp;id=3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条件で絞り込み（1 件）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第4章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/posts/1/comments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投稿 1 のコメント（5 件）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第4章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/posts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投稿の作成（のふり）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第5章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PATCH・PUT・DELETE /posts/1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投稿の変更・置き換え・削除（のふり）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第6〜8章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/users・/todos・/comments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演習問題で使う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第4〜8章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【演習3-A ①】最初のコレクションを作る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サイドバー上部の「＋」（Add new collection）→「Create collection」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名前の入力欄が出たら、右端の歯車（Advanced options）をクリック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Name：My-First-Collection と入力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Location の下の「Browse」で保存先フォルダを選ぶ（例：ドキュメントの bruno-learning）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「Create」をクリック → サイドバーに My-First-Collection が表示される</a:t>
            </a:r>
            <a:endParaRPr lang="en-US" sz="1500" dirty="0"/>
          </a:p>
        </p:txBody>
      </p:sp>
      <p:pic>
        <p:nvPicPr>
          <p:cNvPr id="6" name="Image 0" descr="①「＋」のメニュ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097280"/>
            <a:ext cx="2377440" cy="96229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1097280"/>
            <a:ext cx="2377440" cy="962297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2077865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①「＋」のメニュー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960326" y="1141258"/>
            <a:ext cx="155448" cy="14978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67718" y="107899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67718" y="1078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87658" y="1362021"/>
            <a:ext cx="928116" cy="16393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pic>
        <p:nvPicPr>
          <p:cNvPr id="13" name="Image 1" descr="実画面（Bruno v4.2.1、Windows 11、2026-10-09 撮影）（保存先のパスはマスク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14600"/>
            <a:ext cx="3820106" cy="28803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852160" y="2514600"/>
            <a:ext cx="3820106" cy="288036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52160" y="5413248"/>
            <a:ext cx="382010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撮影）（保存先のパスはマスク）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67576" y="3149550"/>
            <a:ext cx="3589275" cy="288703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74968" y="315674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74968" y="315674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959936" y="4016714"/>
            <a:ext cx="399486" cy="16646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667328" y="3962784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67328" y="3962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973999" y="5017582"/>
            <a:ext cx="586671" cy="26578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681391" y="5013313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681391" y="50133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004964" y="3752314"/>
            <a:ext cx="3499217" cy="21392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（選んだ保存先のパスが表示される）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48640" y="4617720"/>
            <a:ext cx="5120640" cy="82296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48640" y="4617720"/>
            <a:ext cx="82296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13232" y="466344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Location は直接入力できません。Browse で選びます。File Format は初期値の OpenCollection (YAML) のままで構いません。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コレクション（exercises\samples）を Open Collection で開き、03_Setup\01 Get Post 1.yml（演習で作る Get Post 1 の完成形）を使って先へ進めます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【演習3-A ②】リクエストを作る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サイドバーの My-First-Collection を右クリック →「New Request」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Type：HTTP（初期値のまま）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Request Name：Get Post 1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URL：https://jsonplaceholder.typicode.com/posts/1（左のメソッドは GET のまま）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「Create」をクリック → サイドバーにリクエストが追加される</a:t>
            </a:r>
            <a:endParaRPr lang="en-US" sz="1500" dirty="0"/>
          </a:p>
        </p:txBody>
      </p:sp>
      <p:pic>
        <p:nvPicPr>
          <p:cNvPr id="6" name="Image 0" descr="① 右クリックメニュ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097280"/>
            <a:ext cx="2194560" cy="27170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097280"/>
            <a:ext cx="2194560" cy="2717074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383264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右クリックメニュー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50992" y="1308898"/>
            <a:ext cx="1337637" cy="16197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58384" y="1252728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58384" y="1252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00523" y="1523129"/>
            <a:ext cx="1081605" cy="15414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pic>
        <p:nvPicPr>
          <p:cNvPr id="13" name="Image 1" descr="②〜⑤ New Reque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97280"/>
            <a:ext cx="3566160" cy="260329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46720" y="1097280"/>
            <a:ext cx="3566160" cy="2603297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0" y="3718865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②〜⑤ New Request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46115" y="1692372"/>
            <a:ext cx="489478" cy="157825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853507" y="1634124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853507" y="16341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53248" y="2330714"/>
            <a:ext cx="3353105" cy="26837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0640" y="232774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860640" y="232774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153248" y="2879903"/>
            <a:ext cx="3353105" cy="271943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60640" y="2878714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860640" y="28787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0959816" y="3347070"/>
            <a:ext cx="550103" cy="24697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0667208" y="3333399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667208" y="333339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48640" y="5120640"/>
            <a:ext cx="11064240" cy="621792"/>
          </a:xfrm>
          <a:prstGeom prst="rect">
            <a:avLst/>
          </a:prstGeom>
          <a:solidFill>
            <a:srgbClr val="ECFDF5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5120640"/>
            <a:ext cx="82296" cy="6217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13232" y="5166360"/>
            <a:ext cx="10835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【確認】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この方法で作ると、リクエストのファイル（Get Post 1.yml）がすぐにコレクションのフォルダに作られます（作成環境で確認）。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566928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03_Setup\01 Get Post 1.yml（演習で作る Get Post 1 の完成形）を開いて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【演習3-A ③】送信して結果を確認する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Get Post 1 を開いた状態で「Send」をクリック（または Ctrl + Enter）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右側のレスポンスで次を確認する</a:t>
            </a:r>
            <a:endParaRPr lang="en-US" sz="1600" dirty="0"/>
          </a:p>
        </p:txBody>
      </p:sp>
      <p:pic>
        <p:nvPicPr>
          <p:cNvPr id="6" name="Image 0" descr="C:\Users\h-akita\git_test\.claude\worktrees\samples-check\bruno-learning\assets\screenshots\crop_ch3_sent_u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5120640" cy="5405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920240"/>
            <a:ext cx="5120640" cy="540512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pic>
        <p:nvPicPr>
          <p:cNvPr id="8" name="Image 1" descr="C:\Users\h-akita\git_test\.claude\worktrees\samples-check\bruno-learning\assets\screenshots\crop_ch3_sent_s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965960"/>
            <a:ext cx="1554480" cy="36150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852160" y="1965960"/>
            <a:ext cx="1554480" cy="361507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828016" y="1983823"/>
            <a:ext cx="517380" cy="282401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35408" y="1987863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35408" y="19878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pic>
        <p:nvPicPr>
          <p:cNvPr id="13" name="Image 2" descr="実画面（Bruno v4.2.1、Windows 11、2026-10-09 撮影）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88920"/>
            <a:ext cx="6858000" cy="20147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48640" y="2788920"/>
            <a:ext cx="6858000" cy="201478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48640" y="4821988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179844" y="2817127"/>
            <a:ext cx="1024593" cy="19155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87236" y="2775746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887236" y="27757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30352" y="3158090"/>
            <a:ext cx="6778339" cy="110208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920240"/>
          <a:ext cx="3931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確認する場所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期待する結果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ステータス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 OK（緑色）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ボディ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"id": 1 の投稿 1 件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応答時間・サイズ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毎回変わる（292B 前後）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548640" y="5257800"/>
            <a:ext cx="11064240" cy="484632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48640" y="5257800"/>
            <a:ext cx="82296" cy="4846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13232" y="5303520"/>
            <a:ext cx="10835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【注意】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エラーが表示されたら、URL の入力ミスとインターネット接続を確認します（3-17）。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03_Setup\01 Get Post 1.yml（演習で作る Get Post 1 の完成形）を開いて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変更の保存（Ctrl + S）と、保存されるファイル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保存していない変更があると、タブにオレンジの点が付き、保存アイコンが色付きになります。</a:t>
            </a:r>
            <a:endParaRPr lang="en-US" sz="1600" dirty="0"/>
          </a:p>
        </p:txBody>
      </p:sp>
      <p:pic>
        <p:nvPicPr>
          <p:cNvPr id="6" name="Image 0" descr="未保存の状態（URL を変更した直後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4754880" cy="868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45920"/>
            <a:ext cx="4754880" cy="86868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53288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未保存の状態（URL を変更した直後）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261872" y="1696212"/>
            <a:ext cx="219456" cy="21945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9264" y="1668780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16687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pic>
        <p:nvPicPr>
          <p:cNvPr id="12" name="Image 1" descr="右端の保存アイコン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2194560" cy="51036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577840" y="1645920"/>
            <a:ext cx="2194560" cy="510363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577840" y="2174571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右端の保存アイコン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580278" y="1755223"/>
            <a:ext cx="266239" cy="240721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87670" y="1738423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87670" y="17384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Ctrl + S を押す（または保存アイコンをクリック）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オレンジの点が消えれば保存完了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09360" y="2880360"/>
            <a:ext cx="530352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My-First-Collection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opencollection.yml   … コレクションの設定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.gitignore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Get Post 1.yml       … リクエスト（1 件 = 1 ファイル）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309360" y="2606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保存先フォルダの中身（作成環境で確認）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4572000"/>
            <a:ext cx="82296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3232" y="4617720"/>
            <a:ext cx="10835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サイドバーの右クリック →「Remove」は、Bruno の一覧から外すだけです。ファイルは削除されず、あとで Open Collection で開き直せます（確認ダイアログに表示されます）。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配布ファイルの配置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講師から受け取った配布ファイル（zip）を展開する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展開した bruno-learning フォルダを「ドキュメント」の中に置く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1064240" cy="23774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ドキュメント\bruno-learning\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exercises\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bruno-hands-on\       … 第3〜9章の演習用コレクション（演習3-B で開く）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environments\        … 環境 JSONPlaceholder・Local-Mock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05_POST\ 09_Features\ 09_TIPS\ …（04_GET・06_PATCH・07_PUT・08_DELETE は各章で自分で作る）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import-practice\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import-practice.postman_collection.json   … 演習3-C でインポートする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tips\                   … 第9章 TIPS 用のデータファイル（CSV・JSON）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samples\                … できなかった場合の完成済みリクエスト（次のスライド）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11064240" cy="64008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617720"/>
            <a:ext cx="82296" cy="6400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663440"/>
            <a:ext cx="10835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【注意】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zip のままでは開けません。必ず展開してから使います。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手順どおりにできなかった場合（samples コレクション）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自分でリクエストを作れなかった・設定がうまくいかなかったときは、完成済みのリクエスト（.yml ファイル）を集めた samples コレクションを開いて、そのまま Send すれば先へ進めます。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4805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サイドバー上部の「＋」→「Open collection」→ exercises の中の samples フォルダを選ぶ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サイドバーに samples が表示される。章のフォルダ（04_GET など）を開き、スライドの緑の帯に書かれた .yml（リクエスト）をクリック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画面右上の環境で JSONPlaceholder を選ぶ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「Send」をクリックして結果を確認する</a:t>
            </a:r>
            <a:endParaRPr lang="en-US" sz="1400" dirty="0"/>
          </a:p>
        </p:txBody>
      </p:sp>
      <p:pic>
        <p:nvPicPr>
          <p:cNvPr id="7" name="Image 0" descr="実画面（Bruno v4.2.1、Windows 11、2026-10-09 撮影）　samples の 04_GET &gt; 01 Get Posts を Send したところ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828800"/>
            <a:ext cx="6400800" cy="344043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12080" y="1828800"/>
            <a:ext cx="6400800" cy="344043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12080" y="528751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　samples の 04_GET &gt; 01 Get Posts を Send したところ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93792" y="2050542"/>
            <a:ext cx="861679" cy="1653445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22141" y="2315575"/>
            <a:ext cx="733330" cy="10825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533" y="2232541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533" y="22325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1059525" y="1963865"/>
            <a:ext cx="516636" cy="12658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66917" y="1889998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66917" y="18899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1316224" y="2238899"/>
            <a:ext cx="263271" cy="15492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023616" y="2179201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023616" y="217920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0551128" y="2422255"/>
            <a:ext cx="561642" cy="11325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フォルダ構成：03_Setup（第3章）／04_GET〜08_DELETE（第4〜8章。演習問題の解答 Q1〜 を含む）／09_Features・09_TIPS・09_Chain・10_MyFolder（第9章）／10_Final・10_LocalMock（第10章）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【演習3-B】配布コレクションを開く（Open Collection）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サイドバー上部の「＋」→「Open collection」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フォルダーの選択画面で exercises フォルダを選ぶ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見つかったコレクションの一覧で bruno-hands-on にチェック →「Open」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サイドバーに bruno-hands-on と 05_POST などのフォルダが表示されれば完了（04_GET は第4章で自分で作るので、まだありません）</a:t>
            </a:r>
            <a:endParaRPr lang="en-US" sz="1500" dirty="0"/>
          </a:p>
        </p:txBody>
      </p:sp>
      <p:pic>
        <p:nvPicPr>
          <p:cNvPr id="6" name="Image 0" descr="③ Open Coll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4206240" cy="1950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1097280"/>
            <a:ext cx="4206240" cy="1950528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0" y="3066096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Open Collection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67679" y="2223434"/>
            <a:ext cx="948813" cy="26878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75071" y="2220665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75071" y="222066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947447" y="2717701"/>
            <a:ext cx="467815" cy="23560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pic>
        <p:nvPicPr>
          <p:cNvPr id="13" name="Image 1" descr="④（2026-10-13 撮影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097280"/>
            <a:ext cx="1920240" cy="221566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692640" y="1097280"/>
            <a:ext cx="1920240" cy="2215662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92640" y="333123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④（2026-10-13 撮影）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9748207" y="1322715"/>
            <a:ext cx="1801720" cy="1750021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455599" y="2060565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455599" y="206056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303520" y="3657600"/>
            <a:ext cx="63093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303520" y="4023360"/>
            <a:ext cx="6309360" cy="109728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03520" y="4023360"/>
            <a:ext cx="82296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68112" y="4069080"/>
            <a:ext cx="6080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exercises フォルダを選ぶと、その中にあるコレクションが一覧に表示されます（作成環境で確認）。複数あるときは開きたいものだけチェックします。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コレクション（exercises\samples）を開くと、各章のフォルダ（04_GET など）に同じリクエストの .yml があります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【演習3-C】コレクションをインポートする（Import Collection）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サイドバー上部の「＋」→「Import collection」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File タブの「choose file(s)」→ exercises\import-practice\import-practice.postman_collection.json を選ぶ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Name を確認し、Location の「Browse」で保存先を選ぶ →「Import」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import-practice の Import Practice → 02 Get Post by ID を開いて Send → 200 OK を確認</a:t>
            </a:r>
            <a:endParaRPr lang="en-US" sz="1400" dirty="0"/>
          </a:p>
        </p:txBody>
      </p:sp>
      <p:pic>
        <p:nvPicPr>
          <p:cNvPr id="6" name="Image 0" descr="①② File タブ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097280"/>
            <a:ext cx="3017520" cy="142784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097280"/>
            <a:ext cx="3017520" cy="1427849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2543417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File タブ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22384" y="1376460"/>
            <a:ext cx="279310" cy="16746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6815" y="1947600"/>
            <a:ext cx="476829" cy="11986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24207" y="1870373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24207" y="187037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pic>
        <p:nvPicPr>
          <p:cNvPr id="13" name="Image 1" descr="③（ユーザー名はマスク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097280"/>
            <a:ext cx="2743200" cy="156911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869680" y="1097280"/>
            <a:ext cx="2743200" cy="156911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869680" y="268467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③（ユーザー名はマスク）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941918" y="2107692"/>
            <a:ext cx="297180" cy="124358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49310" y="2032711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49310" y="20327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1111789" y="2384755"/>
            <a:ext cx="426110" cy="201168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979408" y="1931213"/>
            <a:ext cx="2512771" cy="1426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C:\Users\&lt;ユーザー名&gt;\Documents\bruno</a:t>
            </a:r>
            <a:endParaRPr lang="en-US" sz="600" dirty="0"/>
          </a:p>
        </p:txBody>
      </p:sp>
      <p:pic>
        <p:nvPicPr>
          <p:cNvPr id="21" name="Image 2" descr="④ 送信結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154680"/>
            <a:ext cx="5943600" cy="1343186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669280" y="3154680"/>
            <a:ext cx="5943600" cy="1343186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669280" y="451615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送信結果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9646972" y="3176688"/>
            <a:ext cx="926437" cy="170895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354364" y="3124975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354364" y="312497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669280" y="4892040"/>
            <a:ext cx="5943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48640" y="5257800"/>
            <a:ext cx="11064240" cy="484632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48640" y="5257800"/>
            <a:ext cx="82296" cy="4846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13232" y="5303520"/>
            <a:ext cx="10835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Import Collection は、Postman・Insomnia・OpenAPI などの形式のファイルを、Bruno のコレクション（YAML のファイル群）に変換して保存します。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04_GET\02 Get Post by ID.yml を開き、環境 JSONPlaceholder を選んで Send（インポートした 02 Get Post by ID と同じリクエスト）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インポートの注意点（作成環境で確認した結果）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21031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ファイルの種類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Import Collection（無料版）での結果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どうするか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Postman 形式（.json）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インポートできた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そのまま使える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Bruno の ZIP（Share で作ったもの）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有料版の案内画面（Premium Feature）が表示された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ZIP を展開して Open Collection で開く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ZIP を指定したときの表示（実画面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143000"/>
            <a:ext cx="3840480" cy="186431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0" y="1143000"/>
            <a:ext cx="3840480" cy="1864311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0" y="3025599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ZIP を指定したときの表示（実画面）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3566160"/>
            <a:ext cx="11064240" cy="123444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3566160"/>
            <a:ext cx="82296" cy="1234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3232" y="3611880"/>
            <a:ext cx="10835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【環境は引き継がれない】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Postman 形式のファイルには Bruno の環境（Environments）は含まれません。インポート後に必要なら環境を作り直します。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（練習用ファイルでは、ベース URL をコレクションの変数として入れてあるため、そのまま送信できます）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" y="4983480"/>
            <a:ext cx="110642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ZIP の動作は Bruno v4.2.1 無料版での確認結果です。表示の理由（有料版の機能の判定）は公式資料では確認できていません。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ベース URL と環境変数の考え方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出典：https://docs.usebruno.com/variables/environment-variables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多くのリクエストで共通する部分（ベース URL）を変数にしておくと、接続先をまとめて切り替えられます。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572000" cy="64008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{{baseUrl}}</a:t>
            </a:r>
            <a:pPr algn="ctr"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/posts/1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0" y="2331720"/>
            <a:ext cx="1097280" cy="914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572000" y="194767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送信時に置き換え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2011680"/>
            <a:ext cx="493776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https://jsonplaceholder.typicode.com/posts/1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環境（Environment）の名前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変数 baseUrl の値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JSONPlaceholder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https://jsonplaceholder.typicode.com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Local-Mock（第10章の発展課題）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http://localhost:3000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470916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変数は {{ }}（二重の波かっこ）で囲んで書きます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リクエストを書き換えずに接続先を切り替えられ、値の変更も 1 か所で済みます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環境は environments フォルダの YAML ファイルとして保存されます（作り方は演習3-D のあと）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【演習3-D】環境を選んでから送信する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bruno-hands-on を右クリック →「New Request」（3-6 と同じ）。Request Name：Get Posts with baseUrl、URL：{{baseUrl}}/posts →「Create」→ 環境を選ばずに Send</a:t>
            </a:r>
            <a:endParaRPr lang="en-US" sz="1400" dirty="0"/>
          </a:p>
        </p:txBody>
      </p:sp>
      <p:pic>
        <p:nvPicPr>
          <p:cNvPr id="6" name="Image 0" descr="C:\Users\h-akita\git_test\.claude\worktrees\samples-check\bruno-learning\assets\screenshots\crop_ch3_noenv_u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120640" cy="4923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08760"/>
            <a:ext cx="5120640" cy="492369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98103" y="1588946"/>
            <a:ext cx="750511" cy="243371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5495" y="1573471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5495" y="15734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1" descr="C:\Users\h-akita\git_test\.claude\worktrees\samples-check\bruno-learning\assets\screenshots\crop_ch3_noenv_res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508760"/>
            <a:ext cx="5760720" cy="65092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852160" y="1508760"/>
            <a:ext cx="5760720" cy="650929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833872" y="1799663"/>
            <a:ext cx="1566259" cy="183035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2240280"/>
            <a:ext cx="11064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{{baseUrl}} が赤字になり、送信に失敗する（getaddrinfo ENOTFOUND {{baseurl}}）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26974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画面右上の「No Environment」をクリック →「JSONPlaceholder」を選ぶ　</a:t>
            </a:r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もう一度 Send</a:t>
            </a:r>
            <a:endParaRPr lang="en-US" sz="1500" dirty="0"/>
          </a:p>
        </p:txBody>
      </p:sp>
      <p:pic>
        <p:nvPicPr>
          <p:cNvPr id="16" name="Image 2" descr="② 環境の一覧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0"/>
            <a:ext cx="2743200" cy="1959429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8640" y="3200400"/>
            <a:ext cx="2743200" cy="1959429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48640" y="5178117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環境の一覧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375481" y="3231098"/>
            <a:ext cx="830145" cy="190065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082873" y="3188970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082873" y="31889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1941141" y="4210812"/>
            <a:ext cx="1238359" cy="183533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pic>
        <p:nvPicPr>
          <p:cNvPr id="23" name="Image 3" descr="C:\Users\h-akita\git_test\.claude\worktrees\samples-check\bruno-learning\assets\screenshots\crop_ch3_env_ur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200400"/>
            <a:ext cx="5120640" cy="492369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566160" y="3200400"/>
            <a:ext cx="5120640" cy="492369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015623" y="3280586"/>
            <a:ext cx="750511" cy="243371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pic>
        <p:nvPicPr>
          <p:cNvPr id="26" name="Image 4" descr="③ {{baseUrl}} が緑になり、200 O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840480"/>
            <a:ext cx="5486400" cy="1275907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3566160" y="3840480"/>
            <a:ext cx="5486400" cy="1275907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566160" y="5134675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{{baseUrl}} が緑になり、200 OK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511150" y="4396350"/>
            <a:ext cx="457625" cy="25029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18542" y="4384335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8218542" y="43843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007167" y="3870039"/>
            <a:ext cx="961609" cy="186495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056616" y="4747225"/>
            <a:ext cx="993506" cy="16416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48640" y="5440680"/>
            <a:ext cx="7315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9235440" y="3200400"/>
            <a:ext cx="2377440" cy="182880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9235440" y="3200400"/>
            <a:ext cx="82296" cy="1828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9400032" y="32461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変数名が赤なら「値が見つからない」、緑なら「値がある」状態です。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03_Setup\02 Get Posts with baseUrl.yml（演習で作る Get Posts with baseUrl の完成形）を開き、環境 JSONPlaceholder を選んで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【操作】環境と変数を作る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画面右上の環境の選択（No Environment など）をクリック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Collection タブの「Create」をクリック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Environment Name を入力して「Create」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Variables タブで Name・Value を入力 →「Save」</a:t>
            </a:r>
            <a:endParaRPr lang="en-US" sz="1500" dirty="0"/>
          </a:p>
        </p:txBody>
      </p:sp>
      <p:pic>
        <p:nvPicPr>
          <p:cNvPr id="6" name="Image 0" descr="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097280"/>
            <a:ext cx="3291840" cy="158008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0" y="1097280"/>
            <a:ext cx="3291840" cy="1580083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94960" y="2695651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91886" y="1641897"/>
            <a:ext cx="3097987" cy="25383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99278" y="1631655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99278" y="16316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82564" y="2073128"/>
            <a:ext cx="510601" cy="23408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pic>
        <p:nvPicPr>
          <p:cNvPr id="13" name="Image 1" descr="④ Environments タブ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3017520"/>
            <a:ext cx="6217920" cy="1554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394960" y="3017520"/>
            <a:ext cx="6217920" cy="155448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94960" y="4590288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Environments タブ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028307" y="3517392"/>
            <a:ext cx="441388" cy="237363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735699" y="3498913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35699" y="34989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034784" y="4029075"/>
            <a:ext cx="4596384" cy="25679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94960" y="4892040"/>
            <a:ext cx="6217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48640" y="5257800"/>
            <a:ext cx="11064240" cy="484632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5257800"/>
            <a:ext cx="82296" cy="4846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3232" y="5303520"/>
            <a:ext cx="10835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Ctrl + E でも環境の設定を開けます。保存すると environments\&lt;環境名&gt;.yml が作られます（作成環境で確認）。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コレクションには環境 JSONPlaceholder・Local-Mock が入っています（environments フォルダの .yml）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【操作】環境を切り替える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09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456432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97280"/>
            <a:ext cx="3456432" cy="246888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58444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61818" y="1140714"/>
            <a:ext cx="1229868" cy="22997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9210" y="1118540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69210" y="11185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07946" y="2601468"/>
            <a:ext cx="1550822" cy="23408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5338" y="2581351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5338" y="25813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297680" y="10972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画面右上の環境名をクリック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使いたい環境を選ぶ（例：JSONPlaceholder ⇔ Local-Mock）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同じリクエストを Send すると、選んだ環境の baseUrl に送られる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97680" y="3291840"/>
            <a:ext cx="7315200" cy="100584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7680" y="3291840"/>
            <a:ext cx="82296" cy="10058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62272" y="3337560"/>
            <a:ext cx="7086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【注意】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Local-Mock は第10章の発展課題で、自分の PC で模擬 API を起動したときに使います。起動していないときに選ぶと接続エラーになります。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変数の種類と Secret（秘密の値）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出典：https://docs.usebruno.com/variables/overview ／ https://docs.usebruno.com/secrets-management/secret-variables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変数はいくつかの場所に置けます。同じ名前があるときは、上のものが優先されます（公式ドキュメントより）。</a:t>
            </a:r>
            <a:endParaRPr lang="en-US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675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737360"/>
                <a:gridCol w="4206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優先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種類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置き場所・作り方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Runtime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スクリプトの bru.setVar() で作る（第9章。アプリを閉じると消える）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Request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リクエストの Vars タブ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Folder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フォルダの設定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Environment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環境（この章で作ったもの）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Collection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コレクションの設定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低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Global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Workspace 全体の環境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645920"/>
            <a:ext cx="4114800" cy="237744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0" y="1645920"/>
            <a:ext cx="82296" cy="2377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62672" y="1691640"/>
            <a:ext cx="3886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【Secret】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API キーやパスワードは、環境の「Secrets」タブ（または Secret の指定）に入れます。値はファイルに書き込まれず、エクスポートにも含まれません。この教材のサンプルには秘密の値は入っていません。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3-F　秘密の値（Secret）を登録する（手順）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この節で行うこと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環境の設定画面を開く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Secrets タブで名前と値を入力して保存する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ファイルに値が書かれないことを確認する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1/3】環境の設定画面を開く（Ctrl + E）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09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7680960" cy="15012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7680960" cy="1501247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571095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36173" y="1067757"/>
            <a:ext cx="698688" cy="16072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43565" y="1010958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3565" y="101095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11623" y="1244780"/>
            <a:ext cx="597532" cy="16072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9015" y="1187981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9015" y="118798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6069" y="1766653"/>
            <a:ext cx="1029744" cy="16761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3461" y="1713303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3461" y="171330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75320" y="1097280"/>
            <a:ext cx="3520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画面右上の環境名（JSONPlaceholder）を確認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Ctrl + E を押す → 「Environments」タブが開く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左の一覧で JSONPlaceholder を選ぶ。Variables タブに baseUrl がある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75320" y="4206240"/>
            <a:ext cx="3520440" cy="141732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75320" y="4206240"/>
            <a:ext cx="82296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39912" y="425196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環境の選択メニューの「Configure」からも開けます。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2/3】Secrets タブで値を入力して Save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09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7680960" cy="15012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7680960" cy="1501247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2571095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947316" y="1598826"/>
            <a:ext cx="282569" cy="15612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54708" y="1539728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54708" y="1539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630054" y="1968965"/>
            <a:ext cx="1360800" cy="169918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37446" y="1916764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37446" y="19167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988763" y="1968965"/>
            <a:ext cx="2075789" cy="169918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96155" y="1916764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96155" y="19167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597868" y="2323011"/>
            <a:ext cx="314755" cy="17221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05260" y="2271960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05260" y="227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75320" y="1097280"/>
            <a:ext cx="3520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「Secrets」タブをクリック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Name：apiKey（例）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Value：dummy-12345（例。本物のキーは使わない）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「Save」をクリック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275320" y="4206240"/>
            <a:ext cx="3520440" cy="141732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75320" y="4206240"/>
            <a:ext cx="82296" cy="1417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39912" y="425196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【練習用の値】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目のアイコンで値の表示・非表示を切り替えられます。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3/3】ファイルには値が書かれないことを確認する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766560" cy="237744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JSONPlaceholder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baseUrl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value: https://jsonplaceholder.typicode.com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練習用 API（JSONPlaceholder）の共通部分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secret: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apiKey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Save 後の environments\JSONPlaceholder.yml（作成環境で確認）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0" y="141732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エクスプローラーで bruno-hands-on\environments\JSONPlaceholder.yml をメモ帳で開く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apiKey には secret: true と名前だけが書かれ、値（dummy-12345）は書かれていない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11064240" cy="868680"/>
          </a:xfrm>
          <a:prstGeom prst="rect">
            <a:avLst/>
          </a:prstGeom>
          <a:solidFill>
            <a:srgbClr val="ECFDF5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069080"/>
            <a:ext cx="82296" cy="8686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4114800"/>
            <a:ext cx="10835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【ポイント】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Secret の値は PC の中に暗号化して保存され、コレクションのファイル・エクスポート・Git には入りません（公式ドキュメント：https://docs.usebruno.com/secrets-management/secret-variables）。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029200"/>
            <a:ext cx="11064240" cy="68580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5029200"/>
            <a:ext cx="82296" cy="685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5074920"/>
            <a:ext cx="10835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【練習のあとは】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登録した apiKey は、Secrets タブの行のごみ箱アイコン → Save で削除しておきましょう。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【演習3-E】共有用ファイルを作る（Share → Export）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サイドバーの bruno-hands-on を右クリック →「Share」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「Export」タブを選ぶ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「Bruno Collection (ZIP)」（Recommended）を選び「Proceed」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保存画面で保存先を選んで保存（ファイル名の初期値は bruno-hands-on.zip、保存先の初期値はドキュメント）</a:t>
            </a:r>
            <a:endParaRPr lang="en-US" sz="1400" dirty="0"/>
          </a:p>
        </p:txBody>
      </p:sp>
      <p:pic>
        <p:nvPicPr>
          <p:cNvPr id="6" name="Image 0" descr="実画面（Bruno v4.2.1、Windows 11、2026-10-09 撮影）　Share Collection &gt; Ex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97280"/>
            <a:ext cx="5269424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1097280"/>
            <a:ext cx="5269424" cy="388620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0" y="5001768"/>
            <a:ext cx="526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　Share Collection &gt; Export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78587" y="1490666"/>
            <a:ext cx="487770" cy="22429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85979" y="1465655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85979" y="14656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583381" y="2274493"/>
            <a:ext cx="2500032" cy="133417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90773" y="2804418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90773" y="28044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0092031" y="4642440"/>
            <a:ext cx="570105" cy="23417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5029200"/>
            <a:ext cx="4754880" cy="91440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5029200"/>
            <a:ext cx="82296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507492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受け取った人は ZIP を展開して Open Collection で開きます（3-10・3-12）。Postman 形式・OpenAPI 形式でも出力できます。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0" y="5376672"/>
            <a:ext cx="61264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Share の「Git」タブは Git での共有の案内です（この研修では扱いません）。Secret（秘密の値）はエクスポートに含まれません（公式ドキュメント）。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演習を始める前のチェックリスト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確認すること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確認方法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Bruno v4.2.1 が起動する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画面右下に v4.2.1 と表示される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インターネットにつながる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ブラウザで https://jsonplaceholder.typicode.com/posts/1 が開ける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bruno-hands-on が開いている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サイドバーに 05_POST〜10_LocalMock が表示される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 JSONPlaceholder を選んでいる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画面右上に JSONPlaceholder と表示される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Get Posts with baseUrl が 200 OK になる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演習3-D の結果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レスポンスが返らないときの対処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C:\Users\h-akita\git_test\.claude\worktrees\samples-check\bruno-learning\assets\screenshots\crop_ch3_typo_u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93776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97280"/>
            <a:ext cx="4937760" cy="41148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pic>
        <p:nvPicPr>
          <p:cNvPr id="7" name="Image 1" descr="実画面（Bruno v4.2.1、Windows 11、2026-10-09 撮影）　ホスト名を打ち間違えた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852160" cy="52900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60720" y="1097280"/>
            <a:ext cx="5852160" cy="529009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0720" y="1644577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　ホスト名を打ち間違えた例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742432" y="1393091"/>
            <a:ext cx="2317927" cy="18536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表示・症状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考えられる原因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対処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getaddrinfo ENOTFOUND &lt;ホスト名&gt;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URL のホスト名の打ち間違い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URL を見直す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getaddrinfo ENOTFOUND {{baseurl}}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環境を選んでいない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画面右上で環境を選ぶ（演習3-D）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いつまでも応答がない・接続できない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会社のネットワークの制限（プロキシなど）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Preferences &gt; Proxy の設定を、社内のルールに従って確認する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404 Not Found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パスの打ち間違い（例：/post）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パスを見直す（第4章）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プロキシ環境での動作は作成環境では検証していません。社内の情報システム担当者に確認してください。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第3章のまとめ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64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JSONPlaceholder は練習用 API。書き込みは「成功したふり」で、データは保存されない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コレクションは「＋」→ Create collection、リクエストは右クリック → New Request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変更は Ctrl + S で保存する（タブのオレンジの点が目印）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配布フォルダは Open Collection、Postman 形式のファイルは Import Collection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{{baseUrl}} を使うリクエストは、環境を選んでから送信する。API キーなどは環境の Secrets に入れる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GET の基本演習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この章で学ぶこと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GET で一覧と 1 件を取得する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レスポンスのボディ・ヘッダー・ステータスを読む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Query Parameter（userId=1&amp;id=3）で絞り込む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パスパラメータ、関連データ、404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演習問題とよくある間違い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目安時間：55 分　｜　対応する学習目標：B1, B5, B6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080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GET とは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2377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52560" y="14630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0" y="1463040"/>
            <a:ext cx="2560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JSONPlaceholder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1737360"/>
            <a:ext cx="5760720" cy="914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291840" y="1353312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GET /posts/1（投稿 1 をください）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H="1">
            <a:off x="3200400" y="2240280"/>
            <a:ext cx="5760720" cy="914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291840" y="233172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200 OK ＋ 投稿 1 の JSON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データを「取得する」ためのメソッド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リクエストにボディは付けない（URL だけで何が欲しいかを伝える）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何回送っても、サーバーのデータは変わらない（一般的な意味）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【操作】一覧を取得する：まずリクエストを自分で作る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第4章のリクエストは、配布コレクション bruno-hands-on の中に自分で作ります（配布時点では 04_GET フォルダはありません）。最初の 1 本は、次の 5 枚の手順で作ります。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035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フォルダを作る：bruno-hands-on を右クリック →「New Folder」（手順 1/5）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フォルダ名 04_GET を入力して Create（手順 2/5）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04_GET を右クリック →「New Request」（手順 3/5）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リクエスト名と URL を入力して Create（手順 4/5）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Send して結果を確認し、Ctrl + S で保存（手順 5/5）</a:t>
            </a:r>
            <a:endParaRPr lang="en-US" sz="1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874520"/>
          <a:ext cx="47548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入力する場所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入力する値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Folder Name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04_GET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Request Name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 Get Posts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URL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{{baseUrl}}/posts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メソッド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GET（初期値のまま）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846320"/>
            <a:ext cx="11064240" cy="77724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4846320"/>
            <a:ext cx="82296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89204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【始める前に】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画面右上の環境が JSONPlaceholder になっていることを確認します（演習3-D）。No Environment のままだと {{baseUrl}} が赤字になり、送信に失敗します。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04_GET\01 Get Posts.yml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1/5】コレクションを右クリック → New Folder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3540198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3540198" cy="452628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55961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93192" y="1299999"/>
            <a:ext cx="2049154" cy="246725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" y="128620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" y="128620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87539" y="1849619"/>
            <a:ext cx="1604609" cy="25480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94931" y="1839863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94931" y="18398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109728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サイドバーで bruno-hands-on（コレクション名）を右クリック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メニューの「New Folder」をクリック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52160" y="2651760"/>
            <a:ext cx="5943600" cy="109728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0" y="2651760"/>
            <a:ext cx="82296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16752" y="2697480"/>
            <a:ext cx="5715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すぐ上の「New Request」を押すと、フォルダの外（コレクションの直下）にリクエストができてしまいます。今回は先にフォルダを作ります。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04_GET\01 Get Posts.yml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2/5】フォルダ名 04_GET を入力して Create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（後ろの画面は暗く表示される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694944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6949440" cy="274320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3813048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撮影）（後ろの画面は暗く表示される）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22376" y="2191512"/>
            <a:ext cx="5718048" cy="45110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9768" y="2279904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9768" y="2279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26024" y="2996184"/>
            <a:ext cx="914400" cy="40233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58712" y="306019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58712" y="3060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35240" y="1097280"/>
            <a:ext cx="4160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「New Folder」の画面が開く。Folder Name に 04_GET と入力（半角。0 は数字のゼロ、_ はアンダースコア）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「Create」をクリック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635240" y="3108960"/>
            <a:ext cx="4160520" cy="118872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35240" y="3108960"/>
            <a:ext cx="82296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99832" y="31546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名前の先頭の番号（04）は「第4章」の意味です。番号を付けておくと、どの章の演習か分かりやすくなります。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04_GET\01 Get Posts.yml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3/5】04_GET ができたことを確認 → 右クリック → New Request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2026-10-13 撮影、保存場所は隠した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2608898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2608898" cy="452628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55961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実画面（2026-10-13 撮影、保存場所は隠した）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93192" y="2535746"/>
            <a:ext cx="1601914" cy="18745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" y="249231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" y="249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88795" y="2780919"/>
            <a:ext cx="1098995" cy="200025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96187" y="274377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96187" y="27437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0" y="1097280"/>
            <a:ext cx="7223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サイドバーに 04_GET が追加されたことを確認し、04_GET を右クリック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メニューの「New Request」をクリック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0" y="2651760"/>
            <a:ext cx="7223760" cy="123444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0" y="2651760"/>
            <a:ext cx="82296" cy="1234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36592" y="2697480"/>
            <a:ext cx="6995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【04_GET の位置に注意】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04_GET は一番上ではなく、09_Chain の下（作った順で後ろ）に追加されます（作成環境で確認）。見つからないときは、サイドバーを下まで見てください。並び順はこのままで演習に影響はありません。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04_GET\01 Get Posts.yml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4/5】リクエスト名と URL を入力して Create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6309360" cy="44276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6309360" cy="4427621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5497469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92056" y="3081047"/>
            <a:ext cx="5194755" cy="41292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99448" y="3150349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9448" y="31503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533304" y="3955502"/>
            <a:ext cx="4253885" cy="41292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40696" y="4024804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40696" y="40248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53263" y="4663921"/>
            <a:ext cx="833548" cy="368648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05099" y="4711085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05099" y="471108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995160" y="1097280"/>
            <a:ext cx="4800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Request Name：01 Get Posts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URL：{{baseUrl}}/posts（左のメソッドは GET のまま。Type も HTTP のまま）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「Create」をクリック → 04_GET の中に 01 Get Posts ができ、タブで開く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95160" y="3611880"/>
            <a:ext cx="4800600" cy="141732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95160" y="3611880"/>
            <a:ext cx="82296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59752" y="3657600"/>
            <a:ext cx="4572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{{baseUrl}} が緑色なら、環境の値が見つかっています。赤色のときは、画面右上で環境 JSONPlaceholder を選びます。{{ }} は半角の波かっこ 2 つずつです。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04_GET\01 Get Posts.yml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【手順 5/5】Send して結果を確認し、Ctrl + S で保存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13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11338560" cy="3307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11338560" cy="330708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376928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11、2026-10-13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93192" y="2580513"/>
            <a:ext cx="1512951" cy="196025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" y="2541365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" y="254136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1247501" y="1564767"/>
            <a:ext cx="426339" cy="237363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954893" y="1546289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54893" y="154628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871520" y="1860042"/>
            <a:ext cx="981456" cy="22555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78912" y="1835658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78912" y="183565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6634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サイドバーの 04_GET の中に 01 Get Posts があることを確認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「Send」をクリック（または Ctrl + Enter）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右側に 200 OK と、[ で始まる投稿の一覧が表示される → Ctrl + S で保存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498080" y="4617720"/>
            <a:ext cx="4251960" cy="1097280"/>
          </a:xfrm>
          <a:prstGeom prst="rect">
            <a:avLst/>
          </a:prstGeom>
          <a:solidFill>
            <a:srgbClr val="ECFDF5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0" y="4617720"/>
            <a:ext cx="82296" cy="10972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62672" y="46634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【確認】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200 OK、ボディが [ で始まり { … } が並んでいれば成功です。作ったファイル：bruno-hands-on\04_GET\01 Get Posts.yml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04_GET\01 Get Posts.yml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レスポンスを読む（ボディ）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6217920" cy="38404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                     ← 配列の始まり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                    ← 1 件目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"userId": 1,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"id": 1,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"title": "sunt aut facere ...",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"body": "quia et suscipit ..."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… 2 件目 … 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…（全部で 100 件）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               ← 配列の終わり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0" y="114300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一覧は配列 [ ] で返る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件ずつが { } のオブジェクト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/posts は 100 件（公式サイトの表記と、2026-10-09 の取得結果で確認）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ボディ右上の表示形式（JSON）で見やすく整形されている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レスポンスを読む（ヘッダー）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レスポンス側の「Headers」タブをクリック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content-type の値を確認する</a:t>
            </a:r>
            <a:endParaRPr lang="en-US" sz="1500" dirty="0"/>
          </a:p>
        </p:txBody>
      </p:sp>
      <p:pic>
        <p:nvPicPr>
          <p:cNvPr id="6" name="Image 0" descr="実画面（Bruno v4.2.1、Windows 11、2026-10-09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309360" cy="242393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1097280"/>
            <a:ext cx="6309360" cy="2423935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0" y="3539503"/>
            <a:ext cx="6309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577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ヘッダー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意味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content-type: application/json; charset=utf-8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ボディは JSON（文字コード UTF-8）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date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レスポンスが作られた日時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Headers の右の数字（例：22）は、ヘッダーの件数です。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【操作】ID を指定して 1 件取得する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04_GET を右クリック →「New Request」（4-3 の手順 3/5 と同じ）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Request Name：02 Get Post by ID、URL：{{baseUrl}}/posts/1 →「Create」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Send → 結果を確認したら Ctrl + S で保存</a:t>
            </a:r>
            <a:endParaRPr lang="en-US" sz="1500" dirty="0"/>
          </a:p>
        </p:txBody>
      </p:sp>
      <p:pic>
        <p:nvPicPr>
          <p:cNvPr id="6" name="Image 0" descr="C:\Users\h-akita\git_test\.claude\worktrees\samples-check\bruno-learning\assets\screenshots\crop_ch4_g02_u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4572000" cy="4396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377440"/>
            <a:ext cx="4572000" cy="439615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5521" y="2403114"/>
            <a:ext cx="4573407" cy="33551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2913" y="2433711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2913" y="243371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pic>
        <p:nvPicPr>
          <p:cNvPr id="11" name="Image 1" descr="実画面（Bruno v4.2.1、Windows 11、2026-10-09 撮影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71800"/>
            <a:ext cx="6583680" cy="17854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2971800"/>
            <a:ext cx="6583680" cy="1785405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4775493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406640" y="2971800"/>
            <a:ext cx="4206240" cy="1280160"/>
          </a:xfrm>
          <a:prstGeom prst="rect">
            <a:avLst/>
          </a:prstGeom>
          <a:solidFill>
            <a:srgbClr val="ECFDF5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06640" y="2971800"/>
            <a:ext cx="82296" cy="12801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71232" y="3017520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【一覧との違い】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/posts は配列 [ ]（100 件）、/posts/1 はオブジェクト { } が 1 つだけ返ります。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04_GET\02 Get Post by ID.yml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 を読む練習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760720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1,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"sunt aut facere repellat ...",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"body": "quia et suscipit\nsuscipit ..."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14300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キー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意味（JSONPlaceholder の posts）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userId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投稿したユーザーの番号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id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投稿の番号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title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タイトル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body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本文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657600"/>
            <a:ext cx="11064240" cy="68580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3657600"/>
            <a:ext cx="82296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3703320"/>
            <a:ext cx="10835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"\n" は「改行」を表す記号です。文字列の中で改行を表すときに使われます。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投稿の文章はダミーのラテン語風の文字列です（意味はありません）。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【操作】Query Parameter で絞り込む（userId=1&amp;id=3）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出典：結果は 2026-10-09 に Bruno v4.2.1 と curl で確認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4389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04_GET を右クリック →「New Request」。Request Name：03 Get Posts by Query、URL：{{baseUrl}}/posts →「Create」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リクエスト側の「Params」タブを開く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Query の表の 1 行目に Name：userId／Value：1、自動で増えた 2 行目に Name：id／Value：3 と入力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URL の末尾が自動で ?userId=1&amp;id=3 になったことを確認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Send → 1 件（id が 3 の投稿）だけが返る → Ctrl + S</a:t>
            </a:r>
            <a:endParaRPr lang="en-US" sz="1300" dirty="0"/>
          </a:p>
        </p:txBody>
      </p:sp>
      <p:pic>
        <p:nvPicPr>
          <p:cNvPr id="7" name="Image 0" descr="C:\Users\h-akita\git_test\.claude\worktrees\samples-check\bruno-learning\assets\screenshots\crop_ch4_g03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097280"/>
            <a:ext cx="6492240" cy="24654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20640" y="1097280"/>
            <a:ext cx="6492240" cy="2465408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35224" y="1551528"/>
            <a:ext cx="463913" cy="27079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2616" y="1549763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2616" y="15497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43442" y="2414421"/>
            <a:ext cx="5994644" cy="62005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50834" y="2587289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50834" y="258728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92708" y="1140627"/>
            <a:ext cx="1741816" cy="27079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00100" y="1138862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00100" y="113886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pic>
        <p:nvPicPr>
          <p:cNvPr id="18" name="Image 1" descr="実画面（Bruno v4.2.1、Windows 11、2026-10-09 撮影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703320"/>
            <a:ext cx="5913706" cy="17373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120640" y="3703320"/>
            <a:ext cx="5913706" cy="173736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20640" y="5458968"/>
            <a:ext cx="591370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102352" y="4002434"/>
            <a:ext cx="5950282" cy="145653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809744" y="4593541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09744" y="45935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48640" y="5029200"/>
            <a:ext cx="4389120" cy="713232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48640" y="5029200"/>
            <a:ext cx="82296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13232" y="5074920"/>
            <a:ext cx="41605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&amp; でつないだ 2 つの条件の両方に合うデータが返ります（JSONPlaceholder の場合）。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04_GET\03 Get Posts by Query.yml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Query Parameter の表と URL は連動する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Params タブの表と URL は自動で連動します（作成環境で確認）。</a:t>
            </a:r>
            <a:endParaRPr lang="en-US" sz="16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120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操作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結果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表に Name と Value を入力する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URL に ?名前=値 が付く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行の左のチェックを外す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その条件が URL から消える（行は残る）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チェックを付け直す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URL に戻る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行のごみ箱アイコン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行を削除する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「id」のチェックを外した状態（URL は ?userId=1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00200"/>
            <a:ext cx="5658612" cy="21488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0" y="1600200"/>
            <a:ext cx="5658612" cy="214884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0" y="3767328"/>
            <a:ext cx="56586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「id」のチェックを外した状態（URL は ?userId=1）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025591" y="3068193"/>
            <a:ext cx="158344" cy="158344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732983" y="3010205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732983" y="301020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65545" y="1635633"/>
            <a:ext cx="1200531" cy="24071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72937" y="1618831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72937" y="16188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pic>
        <p:nvPicPr>
          <p:cNvPr id="16" name="Image 1" descr="C:\Users\h-akita\git_test\.claude\worktrees\samples-check\bruno-learning\assets\screenshots\crop_ch4_g03u_stat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114800"/>
            <a:ext cx="5669280" cy="38435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943600" y="4114800"/>
            <a:ext cx="5669280" cy="384358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943600" y="4572000"/>
            <a:ext cx="56692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userId=1 だけの条件になり、10 件が返った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5623560"/>
            <a:ext cx="7315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343400"/>
            <a:ext cx="5120640" cy="68580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8640" y="4343400"/>
            <a:ext cx="82296" cy="685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13232" y="438912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【注意】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チェックを外して試したあとは、元に戻してから保存しましょう。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パスパラメータ（:id）を使う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URL の中の「:名前」の部分は、Params タブの Path で値を指定できます。</a:t>
            </a:r>
            <a:endParaRPr lang="en-US" sz="1600" dirty="0"/>
          </a:p>
        </p:txBody>
      </p:sp>
      <p:pic>
        <p:nvPicPr>
          <p:cNvPr id="6" name="Image 0" descr="実画面（Bruno v4.2.1、Windows 11、2026-10-09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0198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45920"/>
            <a:ext cx="6019800" cy="274320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407408"/>
            <a:ext cx="6019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425702" y="1703832"/>
            <a:ext cx="512826" cy="22707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33094" y="1680210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094" y="168021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0832" y="3875532"/>
            <a:ext cx="5568696" cy="29565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8224" y="3886200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8224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0" y="16459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04_GET を右クリック →「New Request」。Request Name：04 Get Post by Path Param、URL：{{baseUrl}}/posts/:id →「Create」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Params タブの下の「Path」に id の行が自動で出る。Value に 1 と入力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Send → /posts/1 として送られ、投稿 1 が返る → Ctrl + 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0" y="4297680"/>
            <a:ext cx="475488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Value を 2 に変えると /posts/2 になります。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4663440"/>
            <a:ext cx="82296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709160"/>
            <a:ext cx="10835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Query Parameter（? の後ろ）は「条件」、パスパラメータは「どのデータか」を指定するときによく使われます（一般的な使い分け）。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04_GET\04 Get Post by Path Param.yml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関連するデータを取得する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04_GET を右クリック →「New Request」。Request Name：05 Get Comments of Post、URL：{{baseUrl}}/posts/1/comments →「Create」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Send → 投稿 1 に付いたコメント 5 件が返る → Ctrl + S</a:t>
            </a:r>
            <a:endParaRPr lang="en-US" sz="1500" dirty="0"/>
          </a:p>
        </p:txBody>
      </p:sp>
      <p:pic>
        <p:nvPicPr>
          <p:cNvPr id="6" name="Image 0" descr="実画面（Bruno v4.2.1、Windows 11、2026-10-09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6858000" cy="23247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103120"/>
            <a:ext cx="6858000" cy="2324746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446154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02352" y="2123578"/>
            <a:ext cx="1160203" cy="20705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80960" y="2103120"/>
            <a:ext cx="3931920" cy="146304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0" y="2103120"/>
            <a:ext cx="82296" cy="1463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45552" y="214884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各コメントの postId が 1 になっていることを確認しましょう。同じ結果は /comments?postId=1 でも得られます（公式サイトの例）。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04_GET\05 Get Comments of Post.yml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存在しないデータを指定すると 404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04_GET を右クリック →「New Request」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Request Name：06 Get Missing Post、URL：{{baseUrl}}/posts/999 →「Create」→ Send → Ctrl + S</a:t>
            </a:r>
            <a:endParaRPr lang="en-US" sz="1500" dirty="0"/>
          </a:p>
        </p:txBody>
      </p:sp>
      <p:pic>
        <p:nvPicPr>
          <p:cNvPr id="6" name="Image 0" descr="C:\Users\h-akita\git_test\.claude\worktrees\samples-check\bruno-learning\assets\screenshots\crop_ch4_g06_u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4572000" cy="4396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965960"/>
            <a:ext cx="4572000" cy="439615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pic>
        <p:nvPicPr>
          <p:cNvPr id="8" name="Image 1" descr="実画面（Bruno v4.2.1、Windows 11、2026-10-09 撮影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0"/>
            <a:ext cx="6858000" cy="77491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2560320"/>
            <a:ext cx="6858000" cy="774915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3353523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102352" y="2580778"/>
            <a:ext cx="1237695" cy="20705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36576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ステータス：404 Not Found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ボディ：{}（空のオブジェクト）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4709160"/>
            <a:ext cx="11064240" cy="73152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4709160"/>
            <a:ext cx="82296" cy="7315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13232" y="4754880"/>
            <a:ext cx="10835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【注意】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エラーのときに何を返すかは API ごとに違います。JSONPlaceholder は 404 のとき {} を返します。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04_GET\06 Get Missing Post.yml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演習問題4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04_GET フォルダを右クリック → New Request で新しいリクエストを作り、次の答えを調べましょう（URL は {{baseUrl}} を使う）。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1064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/users は何件ありますか？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 が 3 のユーザー（/users/3）の name は何ですか？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userId が 2 の投稿は何件ありますか？（Query Parameter を使う）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 が 1 の todo（/todos/1）の completed の値は何ですか？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11064240" cy="68580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754880"/>
            <a:ext cx="82296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800600"/>
            <a:ext cx="10835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件数は、配列の最後の要素の id や、レスポンスを下までスクロールして確かめます。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04_GET\Q1〜Q4 の .yml（問題①〜④の解答）を開いて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演習問題4：期待する結果と解答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出典：2026-10-09 に curl と Bruno CLI 4.2.1 で確認（answers/bruno-hands-on-answers/Ex04_GET）</a:t>
            </a:r>
            <a:endParaRPr lang="en-US" sz="1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40080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問題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リクエスト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答え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{{baseUrl}}/users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 件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{{baseUrl}}/users/3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"Clementine Bauch"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{{baseUrl}}/posts?userId=2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 件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{{baseUrl}}/todos/1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false</a:t>
                      </a:r>
                      <a:endParaRPr lang="en-US" sz="16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いずれもステータスは 200 OK です。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よくある間違いと対処（GET）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出典：2026-10-09 に curl・Bruno で確認</a:t>
            </a:r>
            <a:endParaRPr lang="en-US" sz="1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5661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間違い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起きること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対処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?userid=1（大文字小文字の違い）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エラーにならず、条件が無視されて 100 件すべてが返る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キー名は大文字小文字まで正確に（userId）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/post（s を忘れる）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404 Not Found、ボディは {}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パスを見直す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環境を選んでいない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getaddrinfo ENOTFOUND {{baseurl}}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画面右上で JSONPlaceholder を選ぶ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チェックを外したまま保存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次に開いたとき条件が効かない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Params の表のチェックを確認する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074920"/>
            <a:ext cx="11064240" cy="68580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5074920"/>
            <a:ext cx="82296" cy="685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5120640"/>
            <a:ext cx="10835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【注意】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「エラーにならない＝正しい」ではありません。件数や値が期待どおりかを必ず確認しましょう。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第4章のまとめ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64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GET はデータの取得。ボディは送らない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一覧は配列 [ ]、1 件はオブジェクト { }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Query Parameter は ? の後ろに「名前=値」、複数は &amp; でつなぐ（例：userId=1&amp;id=3）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Params タブの表と URL は連動する。チェックで一時的に外せる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存在しないデータは 404（JSONPlaceholder ではボディ {}）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POST の基本演習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この章で学ぶこと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POST でデータを作成する（JSON のボディ）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Body の種類と Content-Type（Timeline で確認）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201 Created とレスポンスの読み方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JSONPlaceholder ではデータが保存されないことを確かめる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2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よくある間違い、演習問題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目安時間：45 分　｜　対応する学習目標：B1, B5, B6, A5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080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POST とは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23774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52560" y="14630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0" y="1463040"/>
            <a:ext cx="2560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JSONPlaceholder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1737360"/>
            <a:ext cx="5760720" cy="914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291840" y="1353312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POST /posts ＋ ボディ（新しい投稿の JSON）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H="1">
            <a:off x="3200400" y="2240280"/>
            <a:ext cx="5760720" cy="914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291840" y="2331720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201 Created ＋ 作られた投稿（id 付き）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新しいデータを「作成する」ためのメソッド（一般的な意味）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作りたいデータの中身はボディに入れて送る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URL は「どこに作るか」（例：/posts ＝ 投稿の集まり）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 の書き方のルール（送る側になるとき）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120640" cy="1828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"title": "Bruno 入門",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"body": "はじめての POST",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正しい例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1417320"/>
            <a:ext cx="5577840" cy="1828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'Bruno 入門',   ← 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"body": "はじめての POST",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1,         ← ②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35040" y="11430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間違いの例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キーも文字列の値も "（ダブルクォート）で囲む（① はキーに " がなく、値に ' を使っている）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最後の項目の後ろにカンマを付けない（② は最後の項目の後ろにカンマがある）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数値（1）は " で囲まない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5029200"/>
            <a:ext cx="82296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5074920"/>
            <a:ext cx="10835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Body の右上の「Prettify」で、JSON を見やすく整形できます。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Body の種類（JSON を選ぶ）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09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2978331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97280"/>
            <a:ext cx="2978331" cy="3474720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5902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060883" y="1112085"/>
            <a:ext cx="491599" cy="218585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68275" y="1084217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68275" y="10842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109472" y="2382012"/>
            <a:ext cx="1422327" cy="26408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6864" y="2376896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864" y="237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40480" y="109728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リクエスト側の「Body」タブを開く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右上の種類の表示（例：JSON ▼）をクリック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「JSON」を選ぶ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下の入力欄に JSON を書く</a:t>
            </a:r>
            <a:endParaRPr lang="en-US" sz="16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3429000"/>
          <a:ext cx="7772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309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分類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種類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FORM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Multipart Form、Form URL Encoded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RAW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JSON、XML、TEXT、SPARQL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OTHER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File / Binary、No Body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【操作】POST リクエストを作る（05_POST/01 Create Post）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09 撮影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6035040" cy="17570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97280"/>
            <a:ext cx="6035040" cy="1757037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872605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0909" y="1117188"/>
            <a:ext cx="2679771" cy="296312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8301" y="1128184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8301" y="112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26906" y="1518251"/>
            <a:ext cx="380344" cy="254296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4298" y="1508239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4298" y="150823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85811" y="1529710"/>
            <a:ext cx="475835" cy="20464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9531" y="1900216"/>
            <a:ext cx="1793613" cy="762309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097280"/>
          <a:ext cx="47548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設定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メソッド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POST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URL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{{baseUrl}}/posts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Body の種類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JSON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Body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{ "title": "Bruno 入門", "body": "はじめての POST", "userId": 1 }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自分で作るときの手順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48640" y="361188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05_POST を右クリック → New Request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URL の左のメソッドで POST を選び、URL に {{baseUrl}}/posts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Create → Body タブ → JSON を選んで内容を入力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Ctrl + S で保存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05_POST\01 Create Post.yml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送信してレスポンスを確認する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pic>
        <p:nvPicPr>
          <p:cNvPr id="5" name="Image 0" descr="実画面（Bruno v4.2.1、Windows 11、2026-10-09 撮影）　Respon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852160" cy="132252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097280"/>
            <a:ext cx="5852160" cy="1322522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438090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　Response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431792" y="1112055"/>
            <a:ext cx="995404" cy="182053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pic>
        <p:nvPicPr>
          <p:cNvPr id="9" name="Image 1" descr="Headers（location: …/posts/101 がある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4937760" cy="312445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75120" y="1097280"/>
            <a:ext cx="4937760" cy="3124458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75120" y="4240026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Headers（location: …/posts/101 がある）</a:t>
            </a:r>
            <a:endParaRPr lang="en-US" sz="10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5852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確認する場所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結果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ステータス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201 Created（作成された）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ボディ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送った内容 ＋ "id": 101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ヘッダー location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https://jsonplaceholder.typicode.com/posts/101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548640" y="4754880"/>
            <a:ext cx="5852160" cy="685800"/>
          </a:xfrm>
          <a:prstGeom prst="rect">
            <a:avLst/>
          </a:prstGeom>
          <a:solidFill>
            <a:srgbClr val="EFF6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48640" y="4754880"/>
            <a:ext cx="82296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13232" y="4800600"/>
            <a:ext cx="5623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【ヒント】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 101 はサーバーが付けた番号です（既存の投稿が 100 件のため）。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05_POST\01 Create Post.yml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Content-Type は自動で付く（Timeline で確認）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Body の種類で JSON を選ぶと、Content-Type: application/json が自動で付けられて送信されます。</a:t>
            </a:r>
            <a:endParaRPr lang="en-US" sz="1600" dirty="0"/>
          </a:p>
        </p:txBody>
      </p:sp>
      <p:pic>
        <p:nvPicPr>
          <p:cNvPr id="6" name="Image 0" descr="Headers タブ → Show Additional Head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120640" cy="21390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91640"/>
            <a:ext cx="5120640" cy="2139002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84893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Headers タブ → Show Additional Headers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356784" y="1699279"/>
            <a:ext cx="350944" cy="21806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pic>
        <p:nvPicPr>
          <p:cNvPr id="10" name="Image 1" descr="Timeline で行を開いたところ（実際に送ったヘッダー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91640"/>
            <a:ext cx="5669280" cy="358734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943600" y="1691640"/>
            <a:ext cx="5669280" cy="3587341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43600" y="5297269"/>
            <a:ext cx="5669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Timeline で行を開いたところ（実際に送ったヘッダー）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943861" y="1698976"/>
            <a:ext cx="350468" cy="215943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651253" y="1669787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651253" y="166978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38124" y="1987244"/>
            <a:ext cx="5494459" cy="24156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45516" y="1970868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45516" y="19708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17491" y="3210784"/>
            <a:ext cx="5238220" cy="212740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824883" y="3179994"/>
            <a:ext cx="274320" cy="274320"/>
          </a:xfrm>
          <a:prstGeom prst="ellipse">
            <a:avLst/>
          </a:prstGeom>
          <a:solidFill>
            <a:srgbClr val="E11D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24883" y="317999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48640" y="40690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レスポンス側の「Timeline」タブ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一番上の行の「&gt;」をクリックして開く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Request のヘッダーに Content-Type: application/json があることを確認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　※ Headers タブの一覧（Runtime Headers）には Content-Type は表示されません。実際に送ったものは Timeline で確認します。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⚠ JSONPlaceholder の制約：作成は「ふり」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出典：https://jsonplaceholder.typicode.com/#guide（2026-10-09 に確認）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公式の説明（POST）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"The resource is not really created on the server, but the response is faked as if."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1064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 サーバー上に本当に作られるのではなく、作られたかのようなレスポンスが返る</a:t>
            </a:r>
            <a:endParaRPr lang="en-US" sz="17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77640"/>
                <a:gridCol w="3977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一般的な API（本物のサーバー）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JSONPlaceholder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201 が返ったら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データが保存されている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保存されていない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もう一度 POST すると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別の id で 2 件目ができる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毎回 id 101 が返る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作ったデータを GET すると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取得できる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404（見つからない）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確かめよう：作ったはずのデータを GET 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05_POST → 02 Check Created Post を開く（URL：{{baseUrl}}/posts/101）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Send</a:t>
            </a:r>
            <a:endParaRPr lang="en-US" sz="1500" dirty="0"/>
          </a:p>
        </p:txBody>
      </p:sp>
      <p:pic>
        <p:nvPicPr>
          <p:cNvPr id="6" name="Image 0" descr="C:\Users\h-akita\git_test\.claude\worktrees\samples-check\bruno-learning\assets\screenshots\crop_ch5_404_u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4572000" cy="4396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965960"/>
            <a:ext cx="4572000" cy="439615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pic>
        <p:nvPicPr>
          <p:cNvPr id="8" name="Image 1" descr="実画面（Bruno v4.2.1、Windows 11、2026-10-09 撮影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0"/>
            <a:ext cx="6858000" cy="77491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2560320"/>
            <a:ext cx="6858000" cy="774915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3353523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102352" y="2580778"/>
            <a:ext cx="1237695" cy="207057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3657600"/>
            <a:ext cx="11064240" cy="1097280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3657600"/>
            <a:ext cx="82296" cy="10972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13232" y="3703320"/>
            <a:ext cx="10835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【結果：404 Not Found】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201 Created が返っても、データは保存されていません。「レスポンスが返った」ことと「データが保存された」ことは別です。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48640" y="4983480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本当に保存される様子は、第10章の発展課題（自分の PC で動かす模擬 API）で確かめられます。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05_POST\02 Check Created Post.yml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よくある間違い（POST）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出典：2026-10-09 に Bruno v4.2.1 で確認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Body の種類を TEXT にしてしまう（05_POST/03 Mistake Text Body）</a:t>
            </a:r>
            <a:endParaRPr lang="en-US" sz="1600" dirty="0"/>
          </a:p>
        </p:txBody>
      </p:sp>
      <p:pic>
        <p:nvPicPr>
          <p:cNvPr id="7" name="Image 0" descr="C:\Users\h-akita\git_test\.claude\worktrees\samples-check\bruno-learning\assets\screenshots\crop_ch5_text_re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120640" cy="6943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63040"/>
            <a:ext cx="5120640" cy="694324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0352" y="1719589"/>
            <a:ext cx="1772386" cy="456063"/>
          </a:xfrm>
          <a:prstGeom prst="rect">
            <a:avLst/>
          </a:prstGeom>
          <a:ln w="28575">
            <a:solidFill>
              <a:srgbClr val="E11D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0" y="146304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201 Created なのに、ボディは { "id": 101 } だけ（送った title などが無視された）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Timeline の Content-Type は text/plain になっていた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880360"/>
            <a:ext cx="11064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JSON の書き方を間違える（最後にカンマを付けた）</a:t>
            </a:r>
            <a:endParaRPr lang="en-US" sz="1600" dirty="0"/>
          </a:p>
        </p:txBody>
      </p:sp>
      <p:pic>
        <p:nvPicPr>
          <p:cNvPr id="12" name="Image 1" descr="実画面（Bruno v4.2.1、Windows 11、2026-10-09 撮影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0"/>
            <a:ext cx="5120640" cy="150436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3291840"/>
            <a:ext cx="5120640" cy="1504369"/>
          </a:xfrm>
          <a:prstGeom prst="rect">
            <a:avLst/>
          </a:prstGeom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4814497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実画面（Bruno v4.2.1、Windows 11、2026-10-09 撮影）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852160" y="329184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500 Internal Server Error（サーバー側のエラーとして返る）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ボディは HTML のエラーメッセージ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5212080"/>
            <a:ext cx="11064240" cy="530352"/>
          </a:xfrm>
          <a:prstGeom prst="rect">
            <a:avLst/>
          </a:prstGeom>
          <a:solidFill>
            <a:srgbClr val="FEF2F2"/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5212080"/>
            <a:ext cx="82296" cy="5303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3232" y="5257800"/>
            <a:ext cx="108356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B9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【注意】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「エラーにならない＝正しく送れた」ではありません。レスポンスのボディに送った値が入っているかを確認しましょう。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05_POST\03 Mistake Text Body.yml を開いて Send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演習問題5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05_POST に新しいリクエストを作りましょう。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/comments に、次の JSON を POST してください。ステータスと、返ってきた id は何ですか？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E11D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①で返ってきた id のコメントを GET すると、何が返りますか？ 理由も説明してください。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548640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"postId": 1,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"test",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"test@example.com",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"body": "hello"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788152"/>
            <a:ext cx="11064240" cy="32918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788152"/>
            <a:ext cx="10881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できなかった場合：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samples の 05_POST\Q1 Create Comment.yml → Q2 Check Created Comment.yml の順に開いて Send（問題①②の解答）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演習問題5：期待する結果と解答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14476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出典：2026-10-09 に curl と Bruno CLI 4.2.1 で確認（answers/bruno-hands-on-answers/Ex05_POST）</a:t>
            </a:r>
            <a:endParaRPr lang="en-US" sz="10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217920"/>
                <a:gridCol w="39319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問題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リクエスト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結果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{{baseUrl}}/comments（Body：JSON）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201 Created、"id": 501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{{baseUrl}}/comments/501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404 Not Found、ボディ {}</a:t>
                      </a:r>
                      <a:endParaRPr lang="en-US" sz="15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291840"/>
            <a:ext cx="11064240" cy="914400"/>
          </a:xfrm>
          <a:prstGeom prst="rect">
            <a:avLst/>
          </a:prstGeom>
          <a:solidFill>
            <a:srgbClr val="ECFDF5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3291840"/>
            <a:ext cx="82296" cy="9144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3337560"/>
            <a:ext cx="10835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【② の理由】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JSONPlaceholder は作成したふりをするだけで、データを保存しないからです（コメントは 500 件のまま）。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第5章のまとめ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11430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Bruno v4.2.1｜確認日 2026-10-09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64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POST は新しいデータの作成。送る中身はボディに入れる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 を送るときは Body の種類で JSON を選ぶ（Content-Type が自動で付く）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実際に送った内容は Timeline で確認できる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作成の成功は 201 Created（一般的な意味）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JSONPlaceholder では保存されない。GET すると 404 になる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Bruno ではじめる API 入門（第3〜5章）</dc:title>
  <dc:subject>PptxGenJS Presentation</dc:subject>
  <dc:creator>Bruno 研修教材</dc:creator>
  <cp:lastModifiedBy>Bruno 研修教材</cp:lastModifiedBy>
  <cp:revision>1</cp:revision>
  <dcterms:created xsi:type="dcterms:W3CDTF">2026-10-13T07:26:13Z</dcterms:created>
  <dcterms:modified xsi:type="dcterms:W3CDTF">2026-10-13T07:26:14Z</dcterms:modified>
</cp:coreProperties>
</file>