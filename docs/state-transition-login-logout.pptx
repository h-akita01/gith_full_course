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要" id="{615057fc-219d-0ca8-ac6e-813d030563c5}">
          <p14:sldIdLst>
            <p14:sldId id="256"/>
            <p14:sldId id="257"/>
            <p14:sldId id="258"/>
          </p14:sldIdLst>
        </p14:section>
        <p14:section name="モデル" id="{9c371504-e34e-ad37-a805-f438619fbec9}">
          <p14:sldIdLst>
            <p14:sldId id="259"/>
            <p14:sldId id="260"/>
            <p14:sldId id="261"/>
          </p14:sldIdLst>
        </p14:section>
        <p14:section name="テスト設計" id="{5251c932-6d3c-bcc6-31d4-a037cce0cf89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遷移ラベルは『イベント [ガード] / アクション』の形式。◇はシステム内部の判定（チョイス）。基本フロー=ネイビー、代替フロー=アンバー、例外フロー=レッド。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A8C5E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ATRS ログイン・ログアウト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状態遷移テストモデル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C5E0"/>
                </a:solidFill>
              </a:rPr>
              <a:t>テストベース：ユースケース仕様 A03-01（ログインする）／ A03-02（ログアウトする）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C5E0"/>
                </a:solidFill>
              </a:rPr>
              <a:t>2026-10-06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全6フローを10遷移で表し、4本のテストで網羅できる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2560320" cy="265176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548640" y="1691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4</a:t>
            </a:r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 状態</a:t>
            </a:r>
            <a:endParaRPr lang="en-US" sz="6600" dirty="0"/>
          </a:p>
        </p:txBody>
      </p:sp>
      <p:sp>
        <p:nvSpPr>
          <p:cNvPr id="5" name="stat desc 1"/>
          <p:cNvSpPr txBox="1"/>
          <p:nvPr/>
        </p:nvSpPr>
        <p:spPr>
          <a:xfrm>
            <a:off x="73152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未ログイン／ログイン済み／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異常終了×2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383280" y="1463040"/>
            <a:ext cx="2560320" cy="265176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3383280" y="1691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10</a:t>
            </a:r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 遷移</a:t>
            </a:r>
            <a:endParaRPr lang="en-US" sz="6600" dirty="0"/>
          </a:p>
        </p:txBody>
      </p:sp>
      <p:sp>
        <p:nvSpPr>
          <p:cNvPr id="8" name="stat desc 2"/>
          <p:cNvSpPr txBox="1"/>
          <p:nvPr/>
        </p:nvSpPr>
        <p:spPr>
          <a:xfrm>
            <a:off x="356616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基本6・代替2・例外2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217920" y="1463040"/>
            <a:ext cx="2560320" cy="265176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6217920" y="1691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4</a:t>
            </a:r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 本</a:t>
            </a:r>
            <a:endParaRPr lang="en-US" sz="6600" dirty="0"/>
          </a:p>
        </p:txBody>
      </p:sp>
      <p:sp>
        <p:nvSpPr>
          <p:cNvPr id="11" name="stat desc 3"/>
          <p:cNvSpPr txBox="1"/>
          <p:nvPr/>
        </p:nvSpPr>
        <p:spPr>
          <a:xfrm>
            <a:off x="640080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全遷移を通す最小テスト数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（0スイッチ網羅）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9052560" y="1463040"/>
            <a:ext cx="2560320" cy="265176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 4"/>
          <p:cNvSpPr txBox="1"/>
          <p:nvPr/>
        </p:nvSpPr>
        <p:spPr>
          <a:xfrm>
            <a:off x="9052560" y="1691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4"/>
                </a:solidFill>
              </a:rPr>
              <a:t>6</a:t>
            </a:r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 件</a:t>
            </a:r>
            <a:endParaRPr lang="en-US" sz="6600" dirty="0"/>
          </a:p>
        </p:txBody>
      </p:sp>
      <p:sp>
        <p:nvSpPr>
          <p:cNvPr id="14" name="stat desc 4"/>
          <p:cNvSpPr txBox="1"/>
          <p:nvPr/>
        </p:nvSpPr>
        <p:spPr>
          <a:xfrm>
            <a:off x="923544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仕様の曖昧な点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（要確認事項）</a:t>
            </a:r>
            <a:endParaRPr lang="en-US" sz="1400" dirty="0"/>
          </a:p>
        </p:txBody>
      </p:sp>
      <p:sp>
        <p:nvSpPr>
          <p:cNvPr id="15" name="policy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モデル化の方針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画面上で観測できる安定状態だけを「状態」とし、システム内部の判定はチョイス（◇）としてガード条件付きで表した。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システムが取りうる状態は4つ</a:t>
            </a:r>
            <a:endParaRPr lang="en-US" sz="3000" dirty="0"/>
          </a:p>
        </p:txBody>
      </p:sp>
      <p:sp>
        <p:nvSpPr>
          <p:cNvPr id="3" name="state card S0"/>
          <p:cNvSpPr/>
          <p:nvPr/>
        </p:nvSpPr>
        <p:spPr>
          <a:xfrm>
            <a:off x="548640" y="1371600"/>
            <a:ext cx="2560320" cy="28346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tate badge S0"/>
          <p:cNvSpPr/>
          <p:nvPr/>
        </p:nvSpPr>
        <p:spPr>
          <a:xfrm>
            <a:off x="1417320" y="1645920"/>
            <a:ext cx="822960" cy="8229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S0</a:t>
            </a:r>
            <a:endParaRPr lang="en-US" sz="2000" dirty="0"/>
          </a:p>
        </p:txBody>
      </p:sp>
      <p:sp>
        <p:nvSpPr>
          <p:cNvPr id="5" name="state name S0"/>
          <p:cNvSpPr txBox="1"/>
          <p:nvPr/>
        </p:nvSpPr>
        <p:spPr>
          <a:xfrm>
            <a:off x="54864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未ログイン</a:t>
            </a:r>
            <a:endParaRPr lang="en-US" sz="2000" dirty="0"/>
          </a:p>
        </p:txBody>
      </p:sp>
      <p:sp>
        <p:nvSpPr>
          <p:cNvPr id="6" name="state desc S0"/>
          <p:cNvSpPr txBox="1"/>
          <p:nvPr/>
        </p:nvSpPr>
        <p:spPr>
          <a:xfrm>
            <a:off x="77724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ログイン情報を入力できる状態。代替フロー①②の戻り先でもある</a:t>
            </a:r>
            <a:endParaRPr lang="en-US" sz="1400" dirty="0"/>
          </a:p>
        </p:txBody>
      </p:sp>
      <p:sp>
        <p:nvSpPr>
          <p:cNvPr id="7" name="state card S1"/>
          <p:cNvSpPr/>
          <p:nvPr/>
        </p:nvSpPr>
        <p:spPr>
          <a:xfrm>
            <a:off x="3383280" y="1371600"/>
            <a:ext cx="2560320" cy="28346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tate badge S1"/>
          <p:cNvSpPr/>
          <p:nvPr/>
        </p:nvSpPr>
        <p:spPr>
          <a:xfrm>
            <a:off x="4251960" y="1645920"/>
            <a:ext cx="822960" cy="8229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S1</a:t>
            </a:r>
            <a:endParaRPr lang="en-US" sz="2000" dirty="0"/>
          </a:p>
        </p:txBody>
      </p:sp>
      <p:sp>
        <p:nvSpPr>
          <p:cNvPr id="9" name="state name S1"/>
          <p:cNvSpPr txBox="1"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ログイン済み</a:t>
            </a:r>
            <a:endParaRPr lang="en-US" sz="2000" dirty="0"/>
          </a:p>
        </p:txBody>
      </p:sp>
      <p:sp>
        <p:nvSpPr>
          <p:cNvPr id="10" name="state desc S1"/>
          <p:cNvSpPr txBox="1"/>
          <p:nvPr/>
        </p:nvSpPr>
        <p:spPr>
          <a:xfrm>
            <a:off x="361188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ログインした会員名が表示されている状態</a:t>
            </a:r>
            <a:endParaRPr lang="en-US" sz="1400" dirty="0"/>
          </a:p>
        </p:txBody>
      </p:sp>
      <p:sp>
        <p:nvSpPr>
          <p:cNvPr id="11" name="state card E1"/>
          <p:cNvSpPr/>
          <p:nvPr/>
        </p:nvSpPr>
        <p:spPr>
          <a:xfrm>
            <a:off x="6217920" y="1371600"/>
            <a:ext cx="2560320" cy="2834640"/>
          </a:xfrm>
          <a:prstGeom prst="roundRect">
            <a:avLst>
              <a:gd name="adj" fmla="val 5357"/>
            </a:avLst>
          </a:prstGeom>
          <a:solidFill>
            <a:schemeClr val="accent6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state badge E1"/>
          <p:cNvSpPr/>
          <p:nvPr/>
        </p:nvSpPr>
        <p:spPr>
          <a:xfrm>
            <a:off x="7086600" y="1645920"/>
            <a:ext cx="822960" cy="82296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E1</a:t>
            </a:r>
            <a:endParaRPr lang="en-US" sz="2000" dirty="0"/>
          </a:p>
        </p:txBody>
      </p:sp>
      <p:sp>
        <p:nvSpPr>
          <p:cNvPr id="13" name="state name E1"/>
          <p:cNvSpPr txBox="1"/>
          <p:nvPr/>
        </p:nvSpPr>
        <p:spPr>
          <a:xfrm>
            <a:off x="621792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ログイン不可</a:t>
            </a:r>
            <a:endParaRPr lang="en-US" sz="2000" dirty="0"/>
          </a:p>
        </p:txBody>
      </p:sp>
      <p:sp>
        <p:nvSpPr>
          <p:cNvPr id="14" name="state desc E1"/>
          <p:cNvSpPr txBox="1"/>
          <p:nvPr/>
        </p:nvSpPr>
        <p:spPr>
          <a:xfrm>
            <a:off x="644652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ログイン失敗を表示した後、続行できない状態（異常終了）</a:t>
            </a:r>
            <a:endParaRPr lang="en-US" sz="1400" dirty="0"/>
          </a:p>
        </p:txBody>
      </p:sp>
      <p:sp>
        <p:nvSpPr>
          <p:cNvPr id="15" name="state card E2"/>
          <p:cNvSpPr/>
          <p:nvPr/>
        </p:nvSpPr>
        <p:spPr>
          <a:xfrm>
            <a:off x="9052560" y="1371600"/>
            <a:ext cx="2560320" cy="2834640"/>
          </a:xfrm>
          <a:prstGeom prst="roundRect">
            <a:avLst>
              <a:gd name="adj" fmla="val 5357"/>
            </a:avLst>
          </a:prstGeom>
          <a:solidFill>
            <a:schemeClr val="accent6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6" name="state badge E2"/>
          <p:cNvSpPr/>
          <p:nvPr/>
        </p:nvSpPr>
        <p:spPr>
          <a:xfrm>
            <a:off x="9921240" y="1645920"/>
            <a:ext cx="822960" cy="82296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E2</a:t>
            </a:r>
            <a:endParaRPr lang="en-US" sz="2000" dirty="0"/>
          </a:p>
        </p:txBody>
      </p:sp>
      <p:sp>
        <p:nvSpPr>
          <p:cNvPr id="17" name="state name E2"/>
          <p:cNvSpPr txBox="1"/>
          <p:nvPr/>
        </p:nvSpPr>
        <p:spPr>
          <a:xfrm>
            <a:off x="905256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ログアウト不可</a:t>
            </a:r>
            <a:endParaRPr lang="en-US" sz="2000" dirty="0"/>
          </a:p>
        </p:txBody>
      </p:sp>
      <p:sp>
        <p:nvSpPr>
          <p:cNvPr id="18" name="state desc E2"/>
          <p:cNvSpPr txBox="1"/>
          <p:nvPr/>
        </p:nvSpPr>
        <p:spPr>
          <a:xfrm>
            <a:off x="928116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ログアウト失敗を表示した後、続行できない状態（異常終了）</a:t>
            </a:r>
            <a:endParaRPr lang="en-US" sz="1400" dirty="0"/>
          </a:p>
        </p:txBody>
      </p:sp>
      <p:sp>
        <p:nvSpPr>
          <p:cNvPr id="19" name="choice C"/>
          <p:cNvSpPr/>
          <p:nvPr/>
        </p:nvSpPr>
        <p:spPr>
          <a:xfrm>
            <a:off x="548640" y="4663440"/>
            <a:ext cx="1188720" cy="91440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判定</a:t>
            </a:r>
            <a:endParaRPr lang="en-US" sz="1000" dirty="0"/>
          </a:p>
        </p:txBody>
      </p:sp>
      <p:sp>
        <p:nvSpPr>
          <p:cNvPr id="20" name="choice note"/>
          <p:cNvSpPr txBox="1"/>
          <p:nvPr/>
        </p:nvSpPr>
        <p:spPr>
          <a:xfrm>
            <a:off x="2011680" y="4663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判定（チョイス）C1〜C4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入力チェック・認証・会員情報更新（ログイン時／ログアウト時）の分岐点。状態ではなく、ガード条件で行き先が決まる。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状態遷移図</a:t>
            </a:r>
            <a:endParaRPr lang="en-US" sz="3000" dirty="0"/>
          </a:p>
        </p:txBody>
      </p:sp>
      <p:sp>
        <p:nvSpPr>
          <p:cNvPr id="3" name="start"/>
          <p:cNvSpPr/>
          <p:nvPr/>
        </p:nvSpPr>
        <p:spPr>
          <a:xfrm>
            <a:off x="301752" y="2953512"/>
            <a:ext cx="219456" cy="21945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tart arrow"/>
          <p:cNvSpPr/>
          <p:nvPr/>
        </p:nvSpPr>
        <p:spPr>
          <a:xfrm>
            <a:off x="521208" y="3063240"/>
            <a:ext cx="25603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" name="T1"/>
          <p:cNvSpPr/>
          <p:nvPr/>
        </p:nvSpPr>
        <p:spPr>
          <a:xfrm>
            <a:off x="2331720" y="306324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label T1"/>
          <p:cNvSpPr txBox="1"/>
          <p:nvPr/>
        </p:nvSpPr>
        <p:spPr>
          <a:xfrm>
            <a:off x="2377440" y="317296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ログイン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依頼</a:t>
            </a:r>
            <a:endParaRPr lang="en-US" sz="1100" dirty="0"/>
          </a:p>
        </p:txBody>
      </p:sp>
      <p:sp>
        <p:nvSpPr>
          <p:cNvPr id="7" name="T3"/>
          <p:cNvSpPr/>
          <p:nvPr/>
        </p:nvSpPr>
        <p:spPr>
          <a:xfrm>
            <a:off x="4206240" y="3063240"/>
            <a:ext cx="9144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label T3"/>
          <p:cNvSpPr txBox="1"/>
          <p:nvPr/>
        </p:nvSpPr>
        <p:spPr>
          <a:xfrm>
            <a:off x="406908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[誤りなし]</a:t>
            </a:r>
            <a:endParaRPr lang="en-US" sz="1100" dirty="0"/>
          </a:p>
        </p:txBody>
      </p:sp>
      <p:sp>
        <p:nvSpPr>
          <p:cNvPr id="9" name="T5"/>
          <p:cNvSpPr/>
          <p:nvPr/>
        </p:nvSpPr>
        <p:spPr>
          <a:xfrm>
            <a:off x="6309360" y="3063240"/>
            <a:ext cx="9144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label T5"/>
          <p:cNvSpPr txBox="1"/>
          <p:nvPr/>
        </p:nvSpPr>
        <p:spPr>
          <a:xfrm>
            <a:off x="6172200" y="31546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[認証OK]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 会員情報更新</a:t>
            </a:r>
            <a:endParaRPr lang="en-US" sz="1100" dirty="0"/>
          </a:p>
        </p:txBody>
      </p:sp>
      <p:sp>
        <p:nvSpPr>
          <p:cNvPr id="11" name="T6"/>
          <p:cNvSpPr/>
          <p:nvPr/>
        </p:nvSpPr>
        <p:spPr>
          <a:xfrm>
            <a:off x="8412480" y="3063240"/>
            <a:ext cx="8229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label T6"/>
          <p:cNvSpPr txBox="1"/>
          <p:nvPr/>
        </p:nvSpPr>
        <p:spPr>
          <a:xfrm>
            <a:off x="8275320" y="31546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[更新成功]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 会員名表示</a:t>
            </a:r>
            <a:endParaRPr lang="en-US" sz="1100" dirty="0"/>
          </a:p>
        </p:txBody>
      </p:sp>
      <p:sp>
        <p:nvSpPr>
          <p:cNvPr id="13" name="T2"/>
          <p:cNvSpPr/>
          <p:nvPr/>
        </p:nvSpPr>
        <p:spPr>
          <a:xfrm flipV="1">
            <a:off x="3611880" y="2148840"/>
            <a:ext cx="0" cy="457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4" name="T2"/>
          <p:cNvSpPr/>
          <p:nvPr/>
        </p:nvSpPr>
        <p:spPr>
          <a:xfrm flipH="1">
            <a:off x="2011680" y="2148840"/>
            <a:ext cx="16002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5" name="T2"/>
          <p:cNvSpPr/>
          <p:nvPr/>
        </p:nvSpPr>
        <p:spPr>
          <a:xfrm>
            <a:off x="2011680" y="2148840"/>
            <a:ext cx="0" cy="5029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label T2"/>
          <p:cNvSpPr txBox="1"/>
          <p:nvPr/>
        </p:nvSpPr>
        <p:spPr>
          <a:xfrm>
            <a:off x="2057400" y="1691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T2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[入力誤り] / 誤り表示</a:t>
            </a:r>
            <a:endParaRPr lang="en-US" sz="1100" dirty="0"/>
          </a:p>
        </p:txBody>
      </p:sp>
      <p:sp>
        <p:nvSpPr>
          <p:cNvPr id="17" name="T4"/>
          <p:cNvSpPr/>
          <p:nvPr/>
        </p:nvSpPr>
        <p:spPr>
          <a:xfrm flipV="1">
            <a:off x="5715000" y="1463040"/>
            <a:ext cx="0" cy="11430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8" name="T4"/>
          <p:cNvSpPr/>
          <p:nvPr/>
        </p:nvSpPr>
        <p:spPr>
          <a:xfrm flipH="1">
            <a:off x="1097280" y="1463040"/>
            <a:ext cx="46177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9" name="T4"/>
          <p:cNvSpPr/>
          <p:nvPr/>
        </p:nvSpPr>
        <p:spPr>
          <a:xfrm>
            <a:off x="1097280" y="1463040"/>
            <a:ext cx="0" cy="11887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label T4"/>
          <p:cNvSpPr txBox="1"/>
          <p:nvPr/>
        </p:nvSpPr>
        <p:spPr>
          <a:xfrm>
            <a:off x="1188720" y="10241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T4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[会員番号なし or パスワード不一致] / 認証エラー表示</a:t>
            </a:r>
            <a:endParaRPr lang="en-US" sz="1100" dirty="0"/>
          </a:p>
        </p:txBody>
      </p:sp>
      <p:sp>
        <p:nvSpPr>
          <p:cNvPr id="21" name="state E1"/>
          <p:cNvSpPr/>
          <p:nvPr/>
        </p:nvSpPr>
        <p:spPr>
          <a:xfrm>
            <a:off x="6995160" y="1188720"/>
            <a:ext cx="164592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254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E1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ログイン不可</a:t>
            </a:r>
            <a:endParaRPr lang="en-US" sz="1200" dirty="0"/>
          </a:p>
        </p:txBody>
      </p:sp>
      <p:sp>
        <p:nvSpPr>
          <p:cNvPr id="22" name="T7"/>
          <p:cNvSpPr/>
          <p:nvPr/>
        </p:nvSpPr>
        <p:spPr>
          <a:xfrm flipV="1">
            <a:off x="7818120" y="1920240"/>
            <a:ext cx="0" cy="6858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label T7"/>
          <p:cNvSpPr txBox="1"/>
          <p:nvPr/>
        </p:nvSpPr>
        <p:spPr>
          <a:xfrm>
            <a:off x="790956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T7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[更新失敗]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 ログイン失敗表示</a:t>
            </a:r>
            <a:endParaRPr lang="en-US" sz="1100" dirty="0"/>
          </a:p>
        </p:txBody>
      </p:sp>
      <p:sp>
        <p:nvSpPr>
          <p:cNvPr id="24" name="E1 end arrow"/>
          <p:cNvSpPr/>
          <p:nvPr/>
        </p:nvSpPr>
        <p:spPr>
          <a:xfrm>
            <a:off x="8641080" y="15544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end ring"/>
          <p:cNvSpPr/>
          <p:nvPr/>
        </p:nvSpPr>
        <p:spPr>
          <a:xfrm>
            <a:off x="9006840" y="1417320"/>
            <a:ext cx="274320" cy="2743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6" name="end dot"/>
          <p:cNvSpPr/>
          <p:nvPr/>
        </p:nvSpPr>
        <p:spPr>
          <a:xfrm>
            <a:off x="9061704" y="147218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8"/>
          <p:cNvSpPr/>
          <p:nvPr/>
        </p:nvSpPr>
        <p:spPr>
          <a:xfrm>
            <a:off x="10104120" y="3474720"/>
            <a:ext cx="0" cy="8686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label T8"/>
          <p:cNvSpPr txBox="1"/>
          <p:nvPr/>
        </p:nvSpPr>
        <p:spPr>
          <a:xfrm>
            <a:off x="10195560" y="3611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T8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ログアウト依頼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 ログイン状態更新</a:t>
            </a:r>
            <a:endParaRPr lang="en-US" sz="1100" dirty="0"/>
          </a:p>
        </p:txBody>
      </p:sp>
      <p:sp>
        <p:nvSpPr>
          <p:cNvPr id="29" name="T9"/>
          <p:cNvSpPr/>
          <p:nvPr/>
        </p:nvSpPr>
        <p:spPr>
          <a:xfrm flipH="1">
            <a:off x="1554480" y="4800600"/>
            <a:ext cx="79552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0" name="T9"/>
          <p:cNvSpPr/>
          <p:nvPr/>
        </p:nvSpPr>
        <p:spPr>
          <a:xfrm flipV="1">
            <a:off x="1554480" y="3474720"/>
            <a:ext cx="0" cy="13258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label T9 inline"/>
          <p:cNvSpPr txBox="1"/>
          <p:nvPr/>
        </p:nvSpPr>
        <p:spPr>
          <a:xfrm>
            <a:off x="41148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T9 </a:t>
            </a:r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[更新成功]</a:t>
            </a:r>
            <a:endParaRPr lang="en-US" sz="1100" dirty="0"/>
          </a:p>
        </p:txBody>
      </p:sp>
      <p:sp>
        <p:nvSpPr>
          <p:cNvPr id="32" name="state E2"/>
          <p:cNvSpPr/>
          <p:nvPr/>
        </p:nvSpPr>
        <p:spPr>
          <a:xfrm>
            <a:off x="9281160" y="5806440"/>
            <a:ext cx="164592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254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E2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ログアウト不可</a:t>
            </a:r>
            <a:endParaRPr lang="en-US" sz="1200" dirty="0"/>
          </a:p>
        </p:txBody>
      </p:sp>
      <p:sp>
        <p:nvSpPr>
          <p:cNvPr id="33" name="T10"/>
          <p:cNvSpPr/>
          <p:nvPr/>
        </p:nvSpPr>
        <p:spPr>
          <a:xfrm>
            <a:off x="10104120" y="5257800"/>
            <a:ext cx="0" cy="54864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4" name="label T10"/>
          <p:cNvSpPr txBox="1"/>
          <p:nvPr/>
        </p:nvSpPr>
        <p:spPr>
          <a:xfrm>
            <a:off x="8275320" y="5257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T10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[更新失敗]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 ログアウト失敗表示</a:t>
            </a:r>
            <a:endParaRPr lang="en-US" sz="1100" dirty="0"/>
          </a:p>
        </p:txBody>
      </p:sp>
      <p:sp>
        <p:nvSpPr>
          <p:cNvPr id="35" name="E2 end arrow"/>
          <p:cNvSpPr/>
          <p:nvPr/>
        </p:nvSpPr>
        <p:spPr>
          <a:xfrm>
            <a:off x="10927080" y="617220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6" name="end ring"/>
          <p:cNvSpPr/>
          <p:nvPr/>
        </p:nvSpPr>
        <p:spPr>
          <a:xfrm>
            <a:off x="11292840" y="6035040"/>
            <a:ext cx="274320" cy="2743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7" name="end dot"/>
          <p:cNvSpPr/>
          <p:nvPr/>
        </p:nvSpPr>
        <p:spPr>
          <a:xfrm>
            <a:off x="11347704" y="608990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state S0"/>
          <p:cNvSpPr/>
          <p:nvPr/>
        </p:nvSpPr>
        <p:spPr>
          <a:xfrm>
            <a:off x="777240" y="2651760"/>
            <a:ext cx="15544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S0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未ログイン</a:t>
            </a:r>
            <a:endParaRPr lang="en-US" sz="1200" dirty="0"/>
          </a:p>
        </p:txBody>
      </p:sp>
      <p:sp>
        <p:nvSpPr>
          <p:cNvPr id="39" name="state S1"/>
          <p:cNvSpPr/>
          <p:nvPr/>
        </p:nvSpPr>
        <p:spPr>
          <a:xfrm>
            <a:off x="9235440" y="2651760"/>
            <a:ext cx="17373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S1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ログイン済み</a:t>
            </a:r>
            <a:endParaRPr lang="en-US" sz="1200" dirty="0"/>
          </a:p>
        </p:txBody>
      </p:sp>
      <p:sp>
        <p:nvSpPr>
          <p:cNvPr id="40" name="choice C1"/>
          <p:cNvSpPr/>
          <p:nvPr/>
        </p:nvSpPr>
        <p:spPr>
          <a:xfrm>
            <a:off x="3017520" y="2606040"/>
            <a:ext cx="1188720" cy="91440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C1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入力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チェック</a:t>
            </a:r>
            <a:endParaRPr lang="en-US" sz="1000" dirty="0"/>
          </a:p>
        </p:txBody>
      </p:sp>
      <p:sp>
        <p:nvSpPr>
          <p:cNvPr id="41" name="choice C2"/>
          <p:cNvSpPr/>
          <p:nvPr/>
        </p:nvSpPr>
        <p:spPr>
          <a:xfrm>
            <a:off x="5120640" y="2606040"/>
            <a:ext cx="1188720" cy="91440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C2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認証</a:t>
            </a:r>
            <a:endParaRPr lang="en-US" sz="1000" dirty="0"/>
          </a:p>
        </p:txBody>
      </p:sp>
      <p:sp>
        <p:nvSpPr>
          <p:cNvPr id="42" name="choice C3"/>
          <p:cNvSpPr/>
          <p:nvPr/>
        </p:nvSpPr>
        <p:spPr>
          <a:xfrm>
            <a:off x="7223760" y="2606040"/>
            <a:ext cx="1188720" cy="91440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C3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ログイン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更新</a:t>
            </a:r>
            <a:endParaRPr lang="en-US" sz="1000" dirty="0"/>
          </a:p>
        </p:txBody>
      </p:sp>
      <p:sp>
        <p:nvSpPr>
          <p:cNvPr id="43" name="choice C4"/>
          <p:cNvSpPr/>
          <p:nvPr/>
        </p:nvSpPr>
        <p:spPr>
          <a:xfrm>
            <a:off x="9509760" y="4343400"/>
            <a:ext cx="1188720" cy="91440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C4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ログアウト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更新</a:t>
            </a:r>
            <a:endParaRPr lang="en-US" sz="1000" dirty="0"/>
          </a:p>
        </p:txBody>
      </p:sp>
      <p:sp>
        <p:nvSpPr>
          <p:cNvPr id="44" name="legend 基本フロー"/>
          <p:cNvSpPr/>
          <p:nvPr/>
        </p:nvSpPr>
        <p:spPr>
          <a:xfrm>
            <a:off x="777240" y="60350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5" name="legend text 基本フロー"/>
          <p:cNvSpPr txBox="1"/>
          <p:nvPr/>
        </p:nvSpPr>
        <p:spPr>
          <a:xfrm>
            <a:off x="132588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基本フロー</a:t>
            </a:r>
            <a:endParaRPr lang="en-US" sz="1100" dirty="0"/>
          </a:p>
        </p:txBody>
      </p:sp>
      <p:sp>
        <p:nvSpPr>
          <p:cNvPr id="46" name="legend 代替フロー"/>
          <p:cNvSpPr/>
          <p:nvPr/>
        </p:nvSpPr>
        <p:spPr>
          <a:xfrm>
            <a:off x="2697480" y="6035040"/>
            <a:ext cx="4572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7" name="legend text 代替フロー"/>
          <p:cNvSpPr txBox="1"/>
          <p:nvPr/>
        </p:nvSpPr>
        <p:spPr>
          <a:xfrm>
            <a:off x="324612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代替フロー</a:t>
            </a:r>
            <a:endParaRPr lang="en-US" sz="1100" dirty="0"/>
          </a:p>
        </p:txBody>
      </p:sp>
      <p:sp>
        <p:nvSpPr>
          <p:cNvPr id="48" name="legend 例外フロー"/>
          <p:cNvSpPr/>
          <p:nvPr/>
        </p:nvSpPr>
        <p:spPr>
          <a:xfrm>
            <a:off x="4617720" y="6035040"/>
            <a:ext cx="4572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9" name="legend text 例外フロー"/>
          <p:cNvSpPr txBox="1"/>
          <p:nvPr/>
        </p:nvSpPr>
        <p:spPr>
          <a:xfrm>
            <a:off x="516636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例外フロー</a:t>
            </a:r>
            <a:endParaRPr lang="en-US" sz="1100" dirty="0"/>
          </a:p>
        </p:txBody>
      </p:sp>
      <p:sp>
        <p:nvSpPr>
          <p:cNvPr id="50" name="legend label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ラベル：遷移ID  イベント [ガード] / アクション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遷移一覧</a:t>
            </a:r>
            <a:endParaRPr lang="en-US" sz="3000" dirty="0"/>
          </a:p>
        </p:txBody>
      </p:sp>
      <p:graphicFrame>
        <p:nvGraphicFramePr>
          <p:cNvPr id="6" name="transi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463040"/>
                <a:gridCol w="3108960"/>
                <a:gridCol w="265176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遷移元 → 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イベント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ガード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アクション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対応フロー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 → C1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ログイン依頼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会員情報取得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A03-01 基本1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T2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C1 → S0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入力情報に誤りあり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入力誤りを表示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A03-01 代替①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C1 → C2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入力情報に誤りなし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A03-01 基本2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T4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C2 → S0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会員番号が存在しない or パスワード不一致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認証エラーを表示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A03-01 代替②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T5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C2 → C3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会員番号存在 and パスワード一致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前回ログイン時刻・ログイン状態を更新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A03-01 基本3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T6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C3 → S1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更新成功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会員情報取得・会員名表示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A03-01 基本4〜5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T7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C3 → E1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更新失敗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ログイン失敗を表示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A03-01 例外①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T8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S1 → C4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ログアウト依頼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ログイン状態を更新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A03-02 基本1〜2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T9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C4 → S0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更新成功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A03-02 基本2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T10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C4 → E2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更新失敗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ログアウト失敗を表示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A03-02 例外①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各フローは遷移の並びとして表せる</a:t>
            </a:r>
            <a:endParaRPr lang="en-US" sz="3000" dirty="0"/>
          </a:p>
        </p:txBody>
      </p:sp>
      <p:sp>
        <p:nvSpPr>
          <p:cNvPr id="3" name="col flow"/>
          <p:cNvSpPr txBox="1"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フロー</a:t>
            </a:r>
            <a:endParaRPr lang="en-US" sz="1200" dirty="0"/>
          </a:p>
        </p:txBody>
      </p:sp>
      <p:sp>
        <p:nvSpPr>
          <p:cNvPr id="4" name="col path"/>
          <p:cNvSpPr txBox="1"/>
          <p:nvPr/>
        </p:nvSpPr>
        <p:spPr>
          <a:xfrm>
            <a:off x="365760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通過する遷移</a:t>
            </a:r>
            <a:endParaRPr lang="en-US" sz="1200" dirty="0"/>
          </a:p>
        </p:txBody>
      </p:sp>
      <p:sp>
        <p:nvSpPr>
          <p:cNvPr id="5" name="col result"/>
          <p:cNvSpPr txBox="1"/>
          <p:nvPr/>
        </p:nvSpPr>
        <p:spPr>
          <a:xfrm>
            <a:off x="93268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状態の変化</a:t>
            </a:r>
            <a:endParaRPr lang="en-US" sz="1200" dirty="0"/>
          </a:p>
        </p:txBody>
      </p:sp>
      <p:sp>
        <p:nvSpPr>
          <p:cNvPr id="6" name="flow tag 1"/>
          <p:cNvSpPr/>
          <p:nvPr/>
        </p:nvSpPr>
        <p:spPr>
          <a:xfrm>
            <a:off x="548640" y="155448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A03-01 基本フロー</a:t>
            </a:r>
            <a:endParaRPr lang="en-US" sz="1400" dirty="0"/>
          </a:p>
        </p:txBody>
      </p:sp>
      <p:sp>
        <p:nvSpPr>
          <p:cNvPr id="7" name="flow 1 T1"/>
          <p:cNvSpPr/>
          <p:nvPr/>
        </p:nvSpPr>
        <p:spPr>
          <a:xfrm>
            <a:off x="3657600" y="160934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T1</a:t>
            </a:r>
            <a:endParaRPr lang="en-US" sz="1400" dirty="0"/>
          </a:p>
        </p:txBody>
      </p:sp>
      <p:sp>
        <p:nvSpPr>
          <p:cNvPr id="8" name="flow 1 arrow 0"/>
          <p:cNvSpPr/>
          <p:nvPr/>
        </p:nvSpPr>
        <p:spPr>
          <a:xfrm>
            <a:off x="4553712" y="183794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flow 1 T3"/>
          <p:cNvSpPr/>
          <p:nvPr/>
        </p:nvSpPr>
        <p:spPr>
          <a:xfrm>
            <a:off x="4983480" y="160934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T3</a:t>
            </a:r>
            <a:endParaRPr lang="en-US" sz="1400" dirty="0"/>
          </a:p>
        </p:txBody>
      </p:sp>
      <p:sp>
        <p:nvSpPr>
          <p:cNvPr id="10" name="flow 1 arrow 1"/>
          <p:cNvSpPr/>
          <p:nvPr/>
        </p:nvSpPr>
        <p:spPr>
          <a:xfrm>
            <a:off x="5879592" y="183794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flow 1 T5"/>
          <p:cNvSpPr/>
          <p:nvPr/>
        </p:nvSpPr>
        <p:spPr>
          <a:xfrm>
            <a:off x="6309360" y="160934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T5</a:t>
            </a:r>
            <a:endParaRPr lang="en-US" sz="1400" dirty="0"/>
          </a:p>
        </p:txBody>
      </p:sp>
      <p:sp>
        <p:nvSpPr>
          <p:cNvPr id="12" name="flow 1 arrow 2"/>
          <p:cNvSpPr/>
          <p:nvPr/>
        </p:nvSpPr>
        <p:spPr>
          <a:xfrm>
            <a:off x="7205472" y="183794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flow 1 T6"/>
          <p:cNvSpPr/>
          <p:nvPr/>
        </p:nvSpPr>
        <p:spPr>
          <a:xfrm>
            <a:off x="7635240" y="160934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T6</a:t>
            </a:r>
            <a:endParaRPr lang="en-US" sz="1400" dirty="0"/>
          </a:p>
        </p:txBody>
      </p:sp>
      <p:sp>
        <p:nvSpPr>
          <p:cNvPr id="14" name="flow result 1"/>
          <p:cNvSpPr txBox="1"/>
          <p:nvPr/>
        </p:nvSpPr>
        <p:spPr>
          <a:xfrm>
            <a:off x="9326880" y="1554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S0 → S1</a:t>
            </a:r>
            <a:endParaRPr lang="en-US" sz="1600" dirty="0"/>
          </a:p>
        </p:txBody>
      </p:sp>
      <p:sp>
        <p:nvSpPr>
          <p:cNvPr id="15" name="flow tag 2"/>
          <p:cNvSpPr/>
          <p:nvPr/>
        </p:nvSpPr>
        <p:spPr>
          <a:xfrm>
            <a:off x="548640" y="233172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A03-01 代替フロー①</a:t>
            </a:r>
            <a:endParaRPr lang="en-US" sz="1400" dirty="0"/>
          </a:p>
        </p:txBody>
      </p:sp>
      <p:sp>
        <p:nvSpPr>
          <p:cNvPr id="16" name="flow 2 T1"/>
          <p:cNvSpPr/>
          <p:nvPr/>
        </p:nvSpPr>
        <p:spPr>
          <a:xfrm>
            <a:off x="3657600" y="238658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T1</a:t>
            </a:r>
            <a:endParaRPr lang="en-US" sz="1400" dirty="0"/>
          </a:p>
        </p:txBody>
      </p:sp>
      <p:sp>
        <p:nvSpPr>
          <p:cNvPr id="17" name="flow 2 arrow 0"/>
          <p:cNvSpPr/>
          <p:nvPr/>
        </p:nvSpPr>
        <p:spPr>
          <a:xfrm>
            <a:off x="4553712" y="261518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flow 2 T2"/>
          <p:cNvSpPr/>
          <p:nvPr/>
        </p:nvSpPr>
        <p:spPr>
          <a:xfrm>
            <a:off x="4983480" y="238658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T2</a:t>
            </a:r>
            <a:endParaRPr lang="en-US" sz="1400" dirty="0"/>
          </a:p>
        </p:txBody>
      </p:sp>
      <p:sp>
        <p:nvSpPr>
          <p:cNvPr id="19" name="flow result 2"/>
          <p:cNvSpPr txBox="1"/>
          <p:nvPr/>
        </p:nvSpPr>
        <p:spPr>
          <a:xfrm>
            <a:off x="9326880" y="2331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S0 → S0</a:t>
            </a:r>
            <a:endParaRPr lang="en-US" sz="1600" dirty="0"/>
          </a:p>
        </p:txBody>
      </p:sp>
      <p:sp>
        <p:nvSpPr>
          <p:cNvPr id="20" name="flow tag 3"/>
          <p:cNvSpPr/>
          <p:nvPr/>
        </p:nvSpPr>
        <p:spPr>
          <a:xfrm>
            <a:off x="548640" y="310896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A03-01 代替フロー②</a:t>
            </a:r>
            <a:endParaRPr lang="en-US" sz="1400" dirty="0"/>
          </a:p>
        </p:txBody>
      </p:sp>
      <p:sp>
        <p:nvSpPr>
          <p:cNvPr id="21" name="flow 3 T1"/>
          <p:cNvSpPr/>
          <p:nvPr/>
        </p:nvSpPr>
        <p:spPr>
          <a:xfrm>
            <a:off x="3657600" y="316382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T1</a:t>
            </a:r>
            <a:endParaRPr lang="en-US" sz="1400" dirty="0"/>
          </a:p>
        </p:txBody>
      </p:sp>
      <p:sp>
        <p:nvSpPr>
          <p:cNvPr id="22" name="flow 3 arrow 0"/>
          <p:cNvSpPr/>
          <p:nvPr/>
        </p:nvSpPr>
        <p:spPr>
          <a:xfrm>
            <a:off x="4553712" y="339242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flow 3 T3"/>
          <p:cNvSpPr/>
          <p:nvPr/>
        </p:nvSpPr>
        <p:spPr>
          <a:xfrm>
            <a:off x="4983480" y="316382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T3</a:t>
            </a:r>
            <a:endParaRPr lang="en-US" sz="1400" dirty="0"/>
          </a:p>
        </p:txBody>
      </p:sp>
      <p:sp>
        <p:nvSpPr>
          <p:cNvPr id="24" name="flow 3 arrow 1"/>
          <p:cNvSpPr/>
          <p:nvPr/>
        </p:nvSpPr>
        <p:spPr>
          <a:xfrm>
            <a:off x="5879592" y="339242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flow 3 T4"/>
          <p:cNvSpPr/>
          <p:nvPr/>
        </p:nvSpPr>
        <p:spPr>
          <a:xfrm>
            <a:off x="6309360" y="316382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T4</a:t>
            </a:r>
            <a:endParaRPr lang="en-US" sz="1400" dirty="0"/>
          </a:p>
        </p:txBody>
      </p:sp>
      <p:sp>
        <p:nvSpPr>
          <p:cNvPr id="26" name="flow result 3"/>
          <p:cNvSpPr txBox="1"/>
          <p:nvPr/>
        </p:nvSpPr>
        <p:spPr>
          <a:xfrm>
            <a:off x="9326880" y="31089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S0 → S0</a:t>
            </a:r>
            <a:endParaRPr lang="en-US" sz="1600" dirty="0"/>
          </a:p>
        </p:txBody>
      </p:sp>
      <p:sp>
        <p:nvSpPr>
          <p:cNvPr id="27" name="flow tag 4"/>
          <p:cNvSpPr/>
          <p:nvPr/>
        </p:nvSpPr>
        <p:spPr>
          <a:xfrm>
            <a:off x="548640" y="38862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A03-01 例外フロー①</a:t>
            </a:r>
            <a:endParaRPr lang="en-US" sz="1400" dirty="0"/>
          </a:p>
        </p:txBody>
      </p:sp>
      <p:sp>
        <p:nvSpPr>
          <p:cNvPr id="28" name="flow 4 T1"/>
          <p:cNvSpPr/>
          <p:nvPr/>
        </p:nvSpPr>
        <p:spPr>
          <a:xfrm>
            <a:off x="3657600" y="394106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T1</a:t>
            </a:r>
            <a:endParaRPr lang="en-US" sz="1400" dirty="0"/>
          </a:p>
        </p:txBody>
      </p:sp>
      <p:sp>
        <p:nvSpPr>
          <p:cNvPr id="29" name="flow 4 arrow 0"/>
          <p:cNvSpPr/>
          <p:nvPr/>
        </p:nvSpPr>
        <p:spPr>
          <a:xfrm>
            <a:off x="4553712" y="416966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flow 4 T3"/>
          <p:cNvSpPr/>
          <p:nvPr/>
        </p:nvSpPr>
        <p:spPr>
          <a:xfrm>
            <a:off x="4983480" y="394106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T3</a:t>
            </a:r>
            <a:endParaRPr lang="en-US" sz="1400" dirty="0"/>
          </a:p>
        </p:txBody>
      </p:sp>
      <p:sp>
        <p:nvSpPr>
          <p:cNvPr id="31" name="flow 4 arrow 1"/>
          <p:cNvSpPr/>
          <p:nvPr/>
        </p:nvSpPr>
        <p:spPr>
          <a:xfrm>
            <a:off x="5879592" y="416966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flow 4 T5"/>
          <p:cNvSpPr/>
          <p:nvPr/>
        </p:nvSpPr>
        <p:spPr>
          <a:xfrm>
            <a:off x="6309360" y="394106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T5</a:t>
            </a:r>
            <a:endParaRPr lang="en-US" sz="1400" dirty="0"/>
          </a:p>
        </p:txBody>
      </p:sp>
      <p:sp>
        <p:nvSpPr>
          <p:cNvPr id="33" name="flow 4 arrow 2"/>
          <p:cNvSpPr/>
          <p:nvPr/>
        </p:nvSpPr>
        <p:spPr>
          <a:xfrm>
            <a:off x="7205472" y="416966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flow 4 T7"/>
          <p:cNvSpPr/>
          <p:nvPr/>
        </p:nvSpPr>
        <p:spPr>
          <a:xfrm>
            <a:off x="7635240" y="394106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T7</a:t>
            </a:r>
            <a:endParaRPr lang="en-US" sz="1400" dirty="0"/>
          </a:p>
        </p:txBody>
      </p:sp>
      <p:sp>
        <p:nvSpPr>
          <p:cNvPr id="35" name="flow result 4"/>
          <p:cNvSpPr txBox="1"/>
          <p:nvPr/>
        </p:nvSpPr>
        <p:spPr>
          <a:xfrm>
            <a:off x="9326880" y="3886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S0 → E1</a:t>
            </a:r>
            <a:endParaRPr lang="en-US" sz="1600" dirty="0"/>
          </a:p>
        </p:txBody>
      </p:sp>
      <p:sp>
        <p:nvSpPr>
          <p:cNvPr id="36" name="flow tag 5"/>
          <p:cNvSpPr/>
          <p:nvPr/>
        </p:nvSpPr>
        <p:spPr>
          <a:xfrm>
            <a:off x="548640" y="466344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A03-02 基本フロー</a:t>
            </a:r>
            <a:endParaRPr lang="en-US" sz="1400" dirty="0"/>
          </a:p>
        </p:txBody>
      </p:sp>
      <p:sp>
        <p:nvSpPr>
          <p:cNvPr id="37" name="flow 5 T8"/>
          <p:cNvSpPr/>
          <p:nvPr/>
        </p:nvSpPr>
        <p:spPr>
          <a:xfrm>
            <a:off x="3657600" y="471830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T8</a:t>
            </a:r>
            <a:endParaRPr lang="en-US" sz="1400" dirty="0"/>
          </a:p>
        </p:txBody>
      </p:sp>
      <p:sp>
        <p:nvSpPr>
          <p:cNvPr id="38" name="flow 5 arrow 0"/>
          <p:cNvSpPr/>
          <p:nvPr/>
        </p:nvSpPr>
        <p:spPr>
          <a:xfrm>
            <a:off x="4553712" y="494690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flow 5 T9"/>
          <p:cNvSpPr/>
          <p:nvPr/>
        </p:nvSpPr>
        <p:spPr>
          <a:xfrm>
            <a:off x="4983480" y="471830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T9</a:t>
            </a:r>
            <a:endParaRPr lang="en-US" sz="1400" dirty="0"/>
          </a:p>
        </p:txBody>
      </p:sp>
      <p:sp>
        <p:nvSpPr>
          <p:cNvPr id="40" name="flow result 5"/>
          <p:cNvSpPr txBox="1"/>
          <p:nvPr/>
        </p:nvSpPr>
        <p:spPr>
          <a:xfrm>
            <a:off x="9326880" y="4663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S1 → S0</a:t>
            </a:r>
            <a:endParaRPr lang="en-US" sz="1600" dirty="0"/>
          </a:p>
        </p:txBody>
      </p:sp>
      <p:sp>
        <p:nvSpPr>
          <p:cNvPr id="41" name="flow tag 6"/>
          <p:cNvSpPr/>
          <p:nvPr/>
        </p:nvSpPr>
        <p:spPr>
          <a:xfrm>
            <a:off x="548640" y="544068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A03-02 例外フロー①</a:t>
            </a:r>
            <a:endParaRPr lang="en-US" sz="1400" dirty="0"/>
          </a:p>
        </p:txBody>
      </p:sp>
      <p:sp>
        <p:nvSpPr>
          <p:cNvPr id="42" name="flow 6 T8"/>
          <p:cNvSpPr/>
          <p:nvPr/>
        </p:nvSpPr>
        <p:spPr>
          <a:xfrm>
            <a:off x="3657600" y="549554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T8</a:t>
            </a:r>
            <a:endParaRPr lang="en-US" sz="1400" dirty="0"/>
          </a:p>
        </p:txBody>
      </p:sp>
      <p:sp>
        <p:nvSpPr>
          <p:cNvPr id="43" name="flow 6 arrow 0"/>
          <p:cNvSpPr/>
          <p:nvPr/>
        </p:nvSpPr>
        <p:spPr>
          <a:xfrm>
            <a:off x="4553712" y="5724144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flow 6 T10"/>
          <p:cNvSpPr/>
          <p:nvPr/>
        </p:nvSpPr>
        <p:spPr>
          <a:xfrm>
            <a:off x="4983480" y="5495544"/>
            <a:ext cx="868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T10</a:t>
            </a:r>
            <a:endParaRPr lang="en-US" sz="1400" dirty="0"/>
          </a:p>
        </p:txBody>
      </p:sp>
      <p:sp>
        <p:nvSpPr>
          <p:cNvPr id="45" name="flow result 6"/>
          <p:cNvSpPr txBox="1"/>
          <p:nvPr/>
        </p:nvSpPr>
        <p:spPr>
          <a:xfrm>
            <a:off x="9326880" y="54406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S1 → E2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全遷移を4本のテストで網羅する（0スイッチ網羅）</a:t>
            </a:r>
            <a:endParaRPr lang="en-US" sz="3000" dirty="0"/>
          </a:p>
        </p:txBody>
      </p:sp>
      <p:sp>
        <p:nvSpPr>
          <p:cNvPr id="3" name="test card 1"/>
          <p:cNvSpPr/>
          <p:nvPr/>
        </p:nvSpPr>
        <p:spPr>
          <a:xfrm>
            <a:off x="548640" y="1234440"/>
            <a:ext cx="7680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st no 1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st name 1"/>
          <p:cNvSpPr txBox="1"/>
          <p:nvPr/>
        </p:nvSpPr>
        <p:spPr>
          <a:xfrm>
            <a:off x="1463040" y="1325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代替① → 再入力して基本ログイン → 基本ログアウト</a:t>
            </a:r>
            <a:endParaRPr lang="en-US" sz="1500" dirty="0"/>
          </a:p>
        </p:txBody>
      </p:sp>
      <p:sp>
        <p:nvSpPr>
          <p:cNvPr id="6" name="test path 1"/>
          <p:cNvSpPr txBox="1"/>
          <p:nvPr/>
        </p:nvSpPr>
        <p:spPr>
          <a:xfrm>
            <a:off x="146304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T1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T2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T1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T3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T5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T6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T8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T9</a:t>
            </a:r>
            <a:endParaRPr lang="en-US" sz="1300" dirty="0"/>
          </a:p>
        </p:txBody>
      </p:sp>
      <p:sp>
        <p:nvSpPr>
          <p:cNvPr id="7" name="test card 2"/>
          <p:cNvSpPr/>
          <p:nvPr/>
        </p:nvSpPr>
        <p:spPr>
          <a:xfrm>
            <a:off x="548640" y="2423160"/>
            <a:ext cx="7680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st no 2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st name 2"/>
          <p:cNvSpPr txBox="1"/>
          <p:nvPr/>
        </p:nvSpPr>
        <p:spPr>
          <a:xfrm>
            <a:off x="1463040" y="2514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代替② → 再入力して基本ログイン</a:t>
            </a:r>
            <a:endParaRPr lang="en-US" sz="1500" dirty="0"/>
          </a:p>
        </p:txBody>
      </p:sp>
      <p:sp>
        <p:nvSpPr>
          <p:cNvPr id="10" name="test path 2"/>
          <p:cNvSpPr txBox="1"/>
          <p:nvPr/>
        </p:nvSpPr>
        <p:spPr>
          <a:xfrm>
            <a:off x="1463040" y="2926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T1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T3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T4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T1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T3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T5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T6</a:t>
            </a:r>
            <a:endParaRPr lang="en-US" sz="1300" dirty="0"/>
          </a:p>
        </p:txBody>
      </p:sp>
      <p:sp>
        <p:nvSpPr>
          <p:cNvPr id="11" name="test card 3"/>
          <p:cNvSpPr/>
          <p:nvPr/>
        </p:nvSpPr>
        <p:spPr>
          <a:xfrm>
            <a:off x="548640" y="3611880"/>
            <a:ext cx="7680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st no 3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st name 3"/>
          <p:cNvSpPr txBox="1"/>
          <p:nvPr/>
        </p:nvSpPr>
        <p:spPr>
          <a:xfrm>
            <a:off x="146304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例外ログイン（会員情報の更新失敗）</a:t>
            </a:r>
            <a:endParaRPr lang="en-US" sz="1500" dirty="0"/>
          </a:p>
        </p:txBody>
      </p:sp>
      <p:sp>
        <p:nvSpPr>
          <p:cNvPr id="14" name="test path 3"/>
          <p:cNvSpPr txBox="1"/>
          <p:nvPr/>
        </p:nvSpPr>
        <p:spPr>
          <a:xfrm>
            <a:off x="1463040" y="4114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T1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T3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T5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T7</a:t>
            </a:r>
            <a:endParaRPr lang="en-US" sz="1300" dirty="0"/>
          </a:p>
        </p:txBody>
      </p:sp>
      <p:sp>
        <p:nvSpPr>
          <p:cNvPr id="15" name="test card 4"/>
          <p:cNvSpPr/>
          <p:nvPr/>
        </p:nvSpPr>
        <p:spPr>
          <a:xfrm>
            <a:off x="548640" y="4800600"/>
            <a:ext cx="7680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st no 4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st name 4"/>
          <p:cNvSpPr txBox="1"/>
          <p:nvPr/>
        </p:nvSpPr>
        <p:spPr>
          <a:xfrm>
            <a:off x="1463040" y="4892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基本ログイン → 例外ログアウト（更新失敗）</a:t>
            </a:r>
            <a:endParaRPr lang="en-US" sz="1500" dirty="0"/>
          </a:p>
        </p:txBody>
      </p:sp>
      <p:sp>
        <p:nvSpPr>
          <p:cNvPr id="18" name="test path 4"/>
          <p:cNvSpPr txBox="1"/>
          <p:nvPr/>
        </p:nvSpPr>
        <p:spPr>
          <a:xfrm>
            <a:off x="1463040" y="5303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T1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T3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T5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T6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T8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T10</a:t>
            </a:r>
            <a:endParaRPr lang="en-US" sz="1300" dirty="0"/>
          </a:p>
        </p:txBody>
      </p:sp>
      <p:sp>
        <p:nvSpPr>
          <p:cNvPr id="19" name="switch1 panel"/>
          <p:cNvSpPr/>
          <p:nvPr/>
        </p:nvSpPr>
        <p:spPr>
          <a:xfrm>
            <a:off x="8595360" y="1234440"/>
            <a:ext cx="3017520" cy="45720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0" name="switch1 title"/>
          <p:cNvSpPr txBox="1"/>
          <p:nvPr/>
        </p:nvSpPr>
        <p:spPr>
          <a:xfrm>
            <a:off x="87782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1スイッチ網羅の候補</a:t>
            </a:r>
            <a:endParaRPr lang="en-US" sz="1600" dirty="0"/>
          </a:p>
        </p:txBody>
      </p:sp>
      <p:sp>
        <p:nvSpPr>
          <p:cNvPr id="21" name="switch1 name 1"/>
          <p:cNvSpPr txBox="1"/>
          <p:nvPr/>
        </p:nvSpPr>
        <p:spPr>
          <a:xfrm>
            <a:off x="877824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代替① → 代替②</a:t>
            </a:r>
            <a:endParaRPr lang="en-US" sz="1400" dirty="0"/>
          </a:p>
        </p:txBody>
      </p:sp>
      <p:sp>
        <p:nvSpPr>
          <p:cNvPr id="22" name="switch1 path 1"/>
          <p:cNvSpPr txBox="1"/>
          <p:nvPr/>
        </p:nvSpPr>
        <p:spPr>
          <a:xfrm>
            <a:off x="8778240" y="2624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T2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T1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T3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T4</a:t>
            </a:r>
            <a:endParaRPr lang="en-US" sz="1200" dirty="0"/>
          </a:p>
        </p:txBody>
      </p:sp>
      <p:sp>
        <p:nvSpPr>
          <p:cNvPr id="23" name="switch1 name 2"/>
          <p:cNvSpPr txBox="1"/>
          <p:nvPr/>
        </p:nvSpPr>
        <p:spPr>
          <a:xfrm>
            <a:off x="87782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代替② → 代替①</a:t>
            </a:r>
            <a:endParaRPr lang="en-US" sz="1400" dirty="0"/>
          </a:p>
        </p:txBody>
      </p:sp>
      <p:sp>
        <p:nvSpPr>
          <p:cNvPr id="24" name="switch1 path 2"/>
          <p:cNvSpPr txBox="1"/>
          <p:nvPr/>
        </p:nvSpPr>
        <p:spPr>
          <a:xfrm>
            <a:off x="8778240" y="3767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T4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T1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T2</a:t>
            </a:r>
            <a:endParaRPr lang="en-US" sz="1200" dirty="0"/>
          </a:p>
        </p:txBody>
      </p:sp>
      <p:sp>
        <p:nvSpPr>
          <p:cNvPr id="25" name="switch1 name 3"/>
          <p:cNvSpPr txBox="1"/>
          <p:nvPr/>
        </p:nvSpPr>
        <p:spPr>
          <a:xfrm>
            <a:off x="8778240" y="4526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ログアウト → 再ログイン</a:t>
            </a:r>
            <a:endParaRPr lang="en-US" sz="1400" dirty="0"/>
          </a:p>
        </p:txBody>
      </p:sp>
      <p:sp>
        <p:nvSpPr>
          <p:cNvPr id="26" name="switch1 path 3"/>
          <p:cNvSpPr txBox="1"/>
          <p:nvPr/>
        </p:nvSpPr>
        <p:spPr>
          <a:xfrm>
            <a:off x="8778240" y="4910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T9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T1</a:t>
            </a:r>
            <a:endParaRPr lang="en-US" sz="1200" dirty="0"/>
          </a:p>
        </p:txBody>
      </p:sp>
      <p:sp>
        <p:nvSpPr>
          <p:cNvPr id="27" name="color note"/>
          <p:cNvSpPr txBox="1"/>
          <p:nvPr/>
        </p:nvSpPr>
        <p:spPr>
          <a:xfrm>
            <a:off x="548640" y="6035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色：ネイビー=基本  アンバー=代替  レッド=例外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仕様の曖昧な点：6件を確認したい</a:t>
            </a:r>
            <a:endParaRPr lang="en-US" sz="3000" dirty="0"/>
          </a:p>
        </p:txBody>
      </p:sp>
      <p:sp>
        <p:nvSpPr>
          <p:cNvPr id="3" name="q card Q1"/>
          <p:cNvSpPr/>
          <p:nvPr/>
        </p:nvSpPr>
        <p:spPr>
          <a:xfrm>
            <a:off x="548640" y="12344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 badge Q1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Q1</a:t>
            </a:r>
            <a:endParaRPr lang="en-US" sz="1400" dirty="0"/>
          </a:p>
        </p:txBody>
      </p:sp>
      <p:sp>
        <p:nvSpPr>
          <p:cNvPr id="5" name="q text Q1"/>
          <p:cNvSpPr txBox="1"/>
          <p:nvPr/>
        </p:nvSpPr>
        <p:spPr>
          <a:xfrm>
            <a:off x="1417320" y="141732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入力チェックと認証の順序が不明。両方誤りのとき、どちらのメッセージを優先するかも未定義</a:t>
            </a:r>
            <a:endParaRPr lang="en-US" sz="1400" dirty="0"/>
          </a:p>
        </p:txBody>
      </p:sp>
      <p:sp>
        <p:nvSpPr>
          <p:cNvPr id="6" name="q assume Q1"/>
          <p:cNvSpPr txBox="1"/>
          <p:nvPr/>
        </p:nvSpPr>
        <p:spPr>
          <a:xfrm>
            <a:off x="7315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仮定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形式チェック → 認証の順</a:t>
            </a:r>
            <a:endParaRPr lang="en-US" sz="1300" dirty="0"/>
          </a:p>
        </p:txBody>
      </p:sp>
      <p:sp>
        <p:nvSpPr>
          <p:cNvPr id="7" name="q card Q2"/>
          <p:cNvSpPr/>
          <p:nvPr/>
        </p:nvSpPr>
        <p:spPr>
          <a:xfrm>
            <a:off x="4297680" y="12344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q badge Q2"/>
          <p:cNvSpPr/>
          <p:nvPr/>
        </p:nvSpPr>
        <p:spPr>
          <a:xfrm>
            <a:off x="4480560" y="141732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Q2</a:t>
            </a:r>
            <a:endParaRPr lang="en-US" sz="1400" dirty="0"/>
          </a:p>
        </p:txBody>
      </p:sp>
      <p:sp>
        <p:nvSpPr>
          <p:cNvPr id="9" name="q text Q2"/>
          <p:cNvSpPr txBox="1"/>
          <p:nvPr/>
        </p:nvSpPr>
        <p:spPr>
          <a:xfrm>
            <a:off x="5166360" y="141732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基本フロー4（会員情報取得）が失敗したときの例外フローがない</a:t>
            </a:r>
            <a:endParaRPr lang="en-US" sz="1400" dirty="0"/>
          </a:p>
        </p:txBody>
      </p:sp>
      <p:sp>
        <p:nvSpPr>
          <p:cNvPr id="10" name="q assume Q2"/>
          <p:cNvSpPr txBox="1"/>
          <p:nvPr/>
        </p:nvSpPr>
        <p:spPr>
          <a:xfrm>
            <a:off x="448056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仮定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モデルに含めない</a:t>
            </a:r>
            <a:endParaRPr lang="en-US" sz="1300" dirty="0"/>
          </a:p>
        </p:txBody>
      </p:sp>
      <p:sp>
        <p:nvSpPr>
          <p:cNvPr id="11" name="q card Q3"/>
          <p:cNvSpPr/>
          <p:nvPr/>
        </p:nvSpPr>
        <p:spPr>
          <a:xfrm>
            <a:off x="8046720" y="12344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q badge Q3"/>
          <p:cNvSpPr/>
          <p:nvPr/>
        </p:nvSpPr>
        <p:spPr>
          <a:xfrm>
            <a:off x="8229600" y="141732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Q3</a:t>
            </a:r>
            <a:endParaRPr lang="en-US" sz="1400" dirty="0"/>
          </a:p>
        </p:txBody>
      </p:sp>
      <p:sp>
        <p:nvSpPr>
          <p:cNvPr id="13" name="q text Q3"/>
          <p:cNvSpPr txBox="1"/>
          <p:nvPr/>
        </p:nvSpPr>
        <p:spPr>
          <a:xfrm>
            <a:off x="8915400" y="141732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ログアウト成功後に表示する内容が未定義</a:t>
            </a:r>
            <a:endParaRPr lang="en-US" sz="1400" dirty="0"/>
          </a:p>
        </p:txBody>
      </p:sp>
      <p:sp>
        <p:nvSpPr>
          <p:cNvPr id="14" name="q assume Q3"/>
          <p:cNvSpPr txBox="1"/>
          <p:nvPr/>
        </p:nvSpPr>
        <p:spPr>
          <a:xfrm>
            <a:off x="822960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仮定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S0（未ログイン）に戻る</a:t>
            </a:r>
            <a:endParaRPr lang="en-US" sz="1300" dirty="0"/>
          </a:p>
        </p:txBody>
      </p:sp>
      <p:sp>
        <p:nvSpPr>
          <p:cNvPr id="15" name="q card Q4"/>
          <p:cNvSpPr/>
          <p:nvPr/>
        </p:nvSpPr>
        <p:spPr>
          <a:xfrm>
            <a:off x="548640" y="356616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q badge Q4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Q4</a:t>
            </a:r>
            <a:endParaRPr lang="en-US" sz="1400" dirty="0"/>
          </a:p>
        </p:txBody>
      </p:sp>
      <p:sp>
        <p:nvSpPr>
          <p:cNvPr id="17" name="q text Q4"/>
          <p:cNvSpPr txBox="1"/>
          <p:nvPr/>
        </p:nvSpPr>
        <p:spPr>
          <a:xfrm>
            <a:off x="1417320" y="374904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ログイン済みでのログイン依頼、未ログインでのログアウト依頼の扱いが未定義</a:t>
            </a:r>
            <a:endParaRPr lang="en-US" sz="1400" dirty="0"/>
          </a:p>
        </p:txBody>
      </p:sp>
      <p:sp>
        <p:nvSpPr>
          <p:cNvPr id="18" name="q assume Q4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仮定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N/A とし、無視されることを確認</a:t>
            </a:r>
            <a:endParaRPr lang="en-US" sz="1300" dirty="0"/>
          </a:p>
        </p:txBody>
      </p:sp>
      <p:sp>
        <p:nvSpPr>
          <p:cNvPr id="19" name="q card Q5"/>
          <p:cNvSpPr/>
          <p:nvPr/>
        </p:nvSpPr>
        <p:spPr>
          <a:xfrm>
            <a:off x="4297680" y="356616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q badge Q5"/>
          <p:cNvSpPr/>
          <p:nvPr/>
        </p:nvSpPr>
        <p:spPr>
          <a:xfrm>
            <a:off x="4480560" y="374904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Q5</a:t>
            </a:r>
            <a:endParaRPr lang="en-US" sz="1400" dirty="0"/>
          </a:p>
        </p:txBody>
      </p:sp>
      <p:sp>
        <p:nvSpPr>
          <p:cNvPr id="21" name="q text Q5"/>
          <p:cNvSpPr txBox="1"/>
          <p:nvPr/>
        </p:nvSpPr>
        <p:spPr>
          <a:xfrm>
            <a:off x="5166360" y="374904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ログイン失敗の回数制限（アカウントロック等）の記述がない</a:t>
            </a:r>
            <a:endParaRPr lang="en-US" sz="1400" dirty="0"/>
          </a:p>
        </p:txBody>
      </p:sp>
      <p:sp>
        <p:nvSpPr>
          <p:cNvPr id="22" name="q assume Q5"/>
          <p:cNvSpPr txBox="1"/>
          <p:nvPr/>
        </p:nvSpPr>
        <p:spPr>
          <a:xfrm>
            <a:off x="448056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仮定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S0 への戻りは何回でも可能</a:t>
            </a:r>
            <a:endParaRPr lang="en-US" sz="1300" dirty="0"/>
          </a:p>
        </p:txBody>
      </p:sp>
      <p:sp>
        <p:nvSpPr>
          <p:cNvPr id="23" name="q card Q6"/>
          <p:cNvSpPr/>
          <p:nvPr/>
        </p:nvSpPr>
        <p:spPr>
          <a:xfrm>
            <a:off x="8046720" y="356616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q badge Q6"/>
          <p:cNvSpPr/>
          <p:nvPr/>
        </p:nvSpPr>
        <p:spPr>
          <a:xfrm>
            <a:off x="8229600" y="374904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Q6</a:t>
            </a:r>
            <a:endParaRPr lang="en-US" sz="1400" dirty="0"/>
          </a:p>
        </p:txBody>
      </p:sp>
      <p:sp>
        <p:nvSpPr>
          <p:cNvPr id="25" name="q text Q6"/>
          <p:cNvSpPr txBox="1"/>
          <p:nvPr/>
        </p:nvSpPr>
        <p:spPr>
          <a:xfrm>
            <a:off x="8915400" y="374904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異常終了（E1/E2）の後、どこへ遷移するかが未定義</a:t>
            </a:r>
            <a:endParaRPr lang="en-US" sz="1400" dirty="0"/>
          </a:p>
        </p:txBody>
      </p:sp>
      <p:sp>
        <p:nvSpPr>
          <p:cNvPr id="26" name="q assume Q6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仮定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終了状態とする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RS Test Model">
  <a:themeElements>
    <a:clrScheme name="ATRS Test Model">
      <a:dk1>
        <a:srgbClr val="1B1B1B"/>
      </a:dk1>
      <a:lt1>
        <a:srgbClr val="FFFFFF"/>
      </a:lt1>
      <a:dk2>
        <a:srgbClr val="1D3557"/>
      </a:dk2>
      <a:lt2>
        <a:srgbClr val="EEF3F8"/>
      </a:lt2>
      <a:accent1>
        <a:srgbClr val="1D3557"/>
      </a:accent1>
      <a:accent2>
        <a:srgbClr val="2A9D8F"/>
      </a:accent2>
      <a:accent3>
        <a:srgbClr val="D98E04"/>
      </a:accent3>
      <a:accent4>
        <a:srgbClr val="C1121F"/>
      </a:accent4>
      <a:accent5>
        <a:srgbClr val="5C677D"/>
      </a:accent5>
      <a:accent6>
        <a:srgbClr val="FDECEC"/>
      </a:accent6>
      <a:hlink>
        <a:srgbClr val="2A9D8F"/>
      </a:hlink>
      <a:folHlink>
        <a:srgbClr val="5C677D"/>
      </a:folHlink>
    </a:clrScheme>
    <a:fontScheme name="ATRS Test Model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ATRS ログイン・ログアウト 状態遷移テストモデル</dc:title>
  <dc:subject>PptxGenJS Presentation</dc:subject>
  <dc:creator>PptxGenJS</dc:creator>
  <cp:lastModifiedBy>PptxGenJS</cp:lastModifiedBy>
  <cp:revision>1</cp:revision>
  <dcterms:created xsi:type="dcterms:W3CDTF">2026-10-06T07:00:11Z</dcterms:created>
  <dcterms:modified xsi:type="dcterms:W3CDTF">2026-10-06T07:00:11Z</dcterms:modified>
</cp:coreProperties>
</file>