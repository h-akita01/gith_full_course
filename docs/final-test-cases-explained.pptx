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はじめに" id="{98b08ce1-3992-d606-8960-fc8c8c57af14}">
          <p14:sldIdLst>
            <p14:sldId id="256"/>
            <p14:sldId id="257"/>
          </p14:sldIdLst>
        </p14:section>
        <p14:section name="仕様を理解する" id="{1f442180-239b-d507-0c7a-06d1720cb3c3}">
          <p14:sldIdLst>
            <p14:sldId id="258"/>
            <p14:sldId id="259"/>
            <p14:sldId id="260"/>
            <p14:sldId id="261"/>
            <p14:sldId id="262"/>
          </p14:sldIdLst>
        </p14:section>
        <p14:section name="テストケースを見る" id="{d228d2c6-7995-9688-2b7d-fedb97f3fa3c}">
          <p14:sldIdLst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追跡と課題" id="{ff50cbf9-486c-d798-9a07-605b772bd08d}">
          <p14:sldIdLst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件数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2A41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F2A541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E4572E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2A9D8F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①組み合わせ</c:v>
                </c:pt>
                <c:pt idx="1">
                  <c:v>②期間の代表値</c:v>
                </c:pt>
                <c:pt idx="2">
                  <c:v>③期間の境界</c:v>
                </c:pt>
                <c:pt idx="3">
                  <c:v>④切り上げ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6</c:v>
                </c:pt>
                <c:pt idx="1">
                  <c:v>9</c:v>
                </c:pt>
                <c:pt idx="2">
                  <c:v>44</c:v>
                </c:pt>
                <c:pt idx="3">
                  <c:v>7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final.md と仕様書をもとに、最終テストケース66件がどの仕様から、どのテスト技法で作られたかを解説する資料です。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5448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51460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34640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858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574" y="846734"/>
            <a:ext cx="409651" cy="409651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5544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運賃算出テストケース解説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25146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最終テストケース（test-cases/final.md）66件を図で理解する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根拠：specs/specification-understanding.md ／ 作成日 2026-10-06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この資料の要点</a:t>
            </a:r>
            <a:endParaRPr lang="en-US" sz="2600" dirty="0"/>
          </a:p>
        </p:txBody>
      </p:sp>
      <p:sp>
        <p:nvSpPr>
          <p:cNvPr id="3" name="stat0"/>
          <p:cNvSpPr/>
          <p:nvPr/>
        </p:nvSpPr>
        <p:spPr>
          <a:xfrm>
            <a:off x="457200" y="1051560"/>
            <a:ext cx="256032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2A41">
                <a:alpha val="1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4"/>
                </a:solidFill>
              </a:rPr>
              <a:t>66</a:t>
            </a:r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 件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148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最終テストケース</a:t>
            </a:r>
            <a:endParaRPr lang="en-US" sz="1500" dirty="0"/>
          </a:p>
        </p:txBody>
      </p:sp>
      <p:sp>
        <p:nvSpPr>
          <p:cNvPr id="6" name="stat1"/>
          <p:cNvSpPr/>
          <p:nvPr/>
        </p:nvSpPr>
        <p:spPr>
          <a:xfrm>
            <a:off x="3291840" y="1051560"/>
            <a:ext cx="256032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2A41">
                <a:alpha val="1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520440" y="11887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tx1"/>
                </a:solidFill>
              </a:rPr>
              <a:t>4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 つ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2148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シナリオ（観点）</a:t>
            </a:r>
            <a:endParaRPr lang="en-US" sz="1500" dirty="0"/>
          </a:p>
        </p:txBody>
      </p:sp>
      <p:sp>
        <p:nvSpPr>
          <p:cNvPr id="9" name="stat2"/>
          <p:cNvSpPr/>
          <p:nvPr/>
        </p:nvSpPr>
        <p:spPr>
          <a:xfrm>
            <a:off x="6126480" y="1051560"/>
            <a:ext cx="256032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2A41">
                <a:alpha val="1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355080" y="11887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3</a:t>
            </a:r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 件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2148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重複を統合（69→66件）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246120"/>
            <a:ext cx="1115568" cy="868680"/>
          </a:xfrm>
          <a:prstGeom prst="roundRect">
            <a:avLst>
              <a:gd name="adj" fmla="val 8421"/>
            </a:avLst>
          </a:prstGeom>
          <a:solidFill>
            <a:schemeClr val="tx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3246120"/>
            <a:ext cx="1115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仕様書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618488" y="3547872"/>
            <a:ext cx="219456" cy="256032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15" name="Shape 13"/>
          <p:cNvSpPr/>
          <p:nvPr/>
        </p:nvSpPr>
        <p:spPr>
          <a:xfrm>
            <a:off x="1883664" y="3246120"/>
            <a:ext cx="1115568" cy="868680"/>
          </a:xfrm>
          <a:prstGeom prst="roundRect">
            <a:avLst>
              <a:gd name="adj" fmla="val 8421"/>
            </a:avLst>
          </a:prstGeom>
          <a:solidFill>
            <a:schemeClr val="tx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883664" y="3246120"/>
            <a:ext cx="1115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仕様理解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044952" y="3547872"/>
            <a:ext cx="219456" cy="256032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18" name="Shape 16"/>
          <p:cNvSpPr/>
          <p:nvPr/>
        </p:nvSpPr>
        <p:spPr>
          <a:xfrm>
            <a:off x="3310128" y="3246120"/>
            <a:ext cx="1115568" cy="868680"/>
          </a:xfrm>
          <a:prstGeom prst="roundRect">
            <a:avLst>
              <a:gd name="adj" fmla="val 8421"/>
            </a:avLst>
          </a:prstGeom>
          <a:solidFill>
            <a:schemeClr val="tx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310128" y="3246120"/>
            <a:ext cx="1115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テストモデル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EQ・BVA・DT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71416" y="3547872"/>
            <a:ext cx="219456" cy="256032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21" name="Shape 19"/>
          <p:cNvSpPr/>
          <p:nvPr/>
        </p:nvSpPr>
        <p:spPr>
          <a:xfrm>
            <a:off x="4736592" y="3246120"/>
            <a:ext cx="1115568" cy="868680"/>
          </a:xfrm>
          <a:prstGeom prst="roundRect">
            <a:avLst>
              <a:gd name="adj" fmla="val 8421"/>
            </a:avLst>
          </a:prstGeom>
          <a:solidFill>
            <a:schemeClr val="tx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736592" y="3246120"/>
            <a:ext cx="1115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Gherkin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69件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897880" y="3547872"/>
            <a:ext cx="219456" cy="256032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24" name="Shape 22"/>
          <p:cNvSpPr/>
          <p:nvPr/>
        </p:nvSpPr>
        <p:spPr>
          <a:xfrm>
            <a:off x="6163056" y="3246120"/>
            <a:ext cx="1115568" cy="868680"/>
          </a:xfrm>
          <a:prstGeom prst="roundRect">
            <a:avLst>
              <a:gd name="adj" fmla="val 8421"/>
            </a:avLst>
          </a:prstGeom>
          <a:solidFill>
            <a:schemeClr val="tx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163056" y="3246120"/>
            <a:ext cx="1115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重複整理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324344" y="3547872"/>
            <a:ext cx="219456" cy="256032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27" name="Shape 25"/>
          <p:cNvSpPr/>
          <p:nvPr/>
        </p:nvSpPr>
        <p:spPr>
          <a:xfrm>
            <a:off x="7589520" y="3246120"/>
            <a:ext cx="1115568" cy="868680"/>
          </a:xfrm>
          <a:prstGeom prst="roundRect">
            <a:avLst>
              <a:gd name="adj" fmla="val 8421"/>
            </a:avLst>
          </a:prstGeom>
          <a:solidFill>
            <a:schemeClr val="accent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589520" y="3246120"/>
            <a:ext cx="1115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最終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66件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2519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テスト設計の流れ（状態遷移は対象なし、組み合わせテストは指示により省略）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574" y="1258214"/>
            <a:ext cx="409651" cy="409651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20116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1. 仕様を理解する</a:t>
            </a:r>
            <a:endParaRPr lang="en-US" sz="32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2834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運賃の計算式と、結果を左右する2つの要素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運賃は3ステップで計算する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329184" cy="329184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24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024128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足す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09160" y="1024128"/>
            <a:ext cx="329184" cy="329184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709160" y="1024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120640" y="102412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掛ける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29400" y="1024128"/>
            <a:ext cx="329184" cy="329184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29400" y="1024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040880" y="102412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引いて切り上げ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1783080" cy="1143000"/>
          </a:xfrm>
          <a:prstGeom prst="roundRect">
            <a:avLst>
              <a:gd name="adj" fmla="val 6400"/>
            </a:avLst>
          </a:prstGeom>
          <a:solidFill>
            <a:schemeClr val="tx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157276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区間の基本料金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207568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例 10,000円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2240280" y="1508760"/>
            <a:ext cx="45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+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2697480" y="1508760"/>
            <a:ext cx="1783080" cy="1143000"/>
          </a:xfrm>
          <a:prstGeom prst="roundRect">
            <a:avLst>
              <a:gd name="adj" fmla="val 6400"/>
            </a:avLst>
          </a:prstGeom>
          <a:solidFill>
            <a:schemeClr val="tx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788920" y="157276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搭乗クラスの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加算料金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788920" y="207568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 / 5,000円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1508760"/>
            <a:ext cx="228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×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4709160" y="1508760"/>
            <a:ext cx="1691640" cy="1143000"/>
          </a:xfrm>
          <a:prstGeom prst="roundRect">
            <a:avLst>
              <a:gd name="adj" fmla="val 6400"/>
            </a:avLst>
          </a:prstGeom>
          <a:solidFill>
            <a:schemeClr val="accent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800600" y="157276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積算比率（%）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800600" y="207568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140/125/100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1508760"/>
            <a:ext cx="228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−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6629400" y="1508760"/>
            <a:ext cx="2057400" cy="1143000"/>
          </a:xfrm>
          <a:prstGeom prst="roundRect">
            <a:avLst>
              <a:gd name="adj" fmla="val 6400"/>
            </a:avLst>
          </a:prstGeom>
          <a:solidFill>
            <a:schemeClr val="accent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720840" y="157276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割引額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→100円未満切り上げ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720840" y="207568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＝ 運賃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2788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（区間の基本料金 ＋ 加算料金）× 積算比率 ＝ 基本運賃　→　基本運賃 − 割引額 ＝ 運賃（100円未満は切り上げ）</a:t>
            </a:r>
            <a:endParaRPr lang="en-US" sz="1200" dirty="0"/>
          </a:p>
        </p:txBody>
      </p:sp>
      <p:sp>
        <p:nvSpPr>
          <p:cNvPr id="28" name="example"/>
          <p:cNvSpPr/>
          <p:nvPr/>
        </p:nvSpPr>
        <p:spPr>
          <a:xfrm>
            <a:off x="457200" y="3291840"/>
            <a:ext cx="822960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2A41">
                <a:alpha val="15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685800" y="33832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計算例：特別席 × ピーク2（TC-005）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85800" y="37490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(10,000 + 5,000) × 125% = 18,750円</a:t>
            </a:r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　→　切り上げ　→　</a:t>
            </a:r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18,800円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85800" y="41605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ポイント：括弧の位置から、加算料金にも積算比率がかかる（R-002）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結果を左右するのは「搭乗クラス」と「時期区分」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502920" cy="5029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7842" y="1162202"/>
            <a:ext cx="281635" cy="28163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97280" y="10515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搭乗クラスタイプ（SPEC-4）</a:t>
            </a:r>
            <a:endParaRPr lang="en-US" sz="1600" dirty="0"/>
          </a:p>
        </p:txBody>
      </p:sp>
      <p:sp>
        <p:nvSpPr>
          <p:cNvPr id="6" name="cls0"/>
          <p:cNvSpPr/>
          <p:nvPr/>
        </p:nvSpPr>
        <p:spPr>
          <a:xfrm>
            <a:off x="457200" y="1783080"/>
            <a:ext cx="35661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2A41">
                <a:alpha val="15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85800" y="17830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一般席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2011680" y="17830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＋0円</a:t>
            </a:r>
            <a:endParaRPr lang="en-US" sz="2200" dirty="0"/>
          </a:p>
        </p:txBody>
      </p:sp>
      <p:sp>
        <p:nvSpPr>
          <p:cNvPr id="9" name="cls1"/>
          <p:cNvSpPr/>
          <p:nvPr/>
        </p:nvSpPr>
        <p:spPr>
          <a:xfrm>
            <a:off x="457200" y="2926080"/>
            <a:ext cx="35661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2A41">
                <a:alpha val="1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85800" y="29260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特別席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2011680" y="29260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＋5,000円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4572000" y="10515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2642" y="1162202"/>
            <a:ext cx="281635" cy="28163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212080" y="10515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時期区分の積算比率（SPEC-5）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0" y="17830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ピーク1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5486400" y="1856232"/>
            <a:ext cx="2377440" cy="40233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955280" y="17830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140%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4572000" y="25603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ピーク2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5486400" y="2633472"/>
            <a:ext cx="2122714" cy="402336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700554" y="2560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125%</a:t>
            </a:r>
            <a:endParaRPr lang="en-US" sz="1600" dirty="0"/>
          </a:p>
        </p:txBody>
      </p:sp>
      <p:sp>
        <p:nvSpPr>
          <p:cNvPr id="21" name="Text 17"/>
          <p:cNvSpPr txBox="1"/>
          <p:nvPr/>
        </p:nvSpPr>
        <p:spPr>
          <a:xfrm>
            <a:off x="4572000" y="33375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通常時</a:t>
            </a:r>
            <a:endParaRPr lang="en-US" sz="1500" dirty="0"/>
          </a:p>
        </p:txBody>
      </p:sp>
      <p:sp>
        <p:nvSpPr>
          <p:cNvPr id="22" name="Shape 18"/>
          <p:cNvSpPr/>
          <p:nvPr/>
        </p:nvSpPr>
        <p:spPr>
          <a:xfrm>
            <a:off x="5486400" y="3410712"/>
            <a:ext cx="1698171" cy="402336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7276011" y="33375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100%</a:t>
            </a:r>
            <a:endParaRPr lang="en-US" sz="1600" dirty="0"/>
          </a:p>
        </p:txBody>
      </p:sp>
      <p:sp>
        <p:nvSpPr>
          <p:cNvPr id="24" name="Text 20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2つの要素は互いに制約しない（R-001）→ 2 × 3 ＝ 6通りの組み合わせ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1年を3つの時期区分に塗り分ける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05840"/>
            <a:ext cx="3703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572768" y="1005840"/>
            <a:ext cx="3703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2510028" y="1005840"/>
            <a:ext cx="3703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447288" y="1005840"/>
            <a:ext cx="3703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15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384548" y="1005840"/>
            <a:ext cx="3703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20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321808" y="1005840"/>
            <a:ext cx="3703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25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1005840"/>
            <a:ext cx="3703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31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11480" y="1261872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1月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25373" y="1280160"/>
            <a:ext cx="165506" cy="21031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" name="Shape 10"/>
          <p:cNvSpPr/>
          <p:nvPr/>
        </p:nvSpPr>
        <p:spPr>
          <a:xfrm>
            <a:off x="1112825" y="1280160"/>
            <a:ext cx="165506" cy="21031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3" name="Shape 11"/>
          <p:cNvSpPr/>
          <p:nvPr/>
        </p:nvSpPr>
        <p:spPr>
          <a:xfrm>
            <a:off x="1300277" y="1280160"/>
            <a:ext cx="165506" cy="21031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4" name="Shape 12"/>
          <p:cNvSpPr/>
          <p:nvPr/>
        </p:nvSpPr>
        <p:spPr>
          <a:xfrm>
            <a:off x="1487729" y="1280160"/>
            <a:ext cx="165506" cy="21031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5" name="Shape 13"/>
          <p:cNvSpPr/>
          <p:nvPr/>
        </p:nvSpPr>
        <p:spPr>
          <a:xfrm>
            <a:off x="1675181" y="1280160"/>
            <a:ext cx="165506" cy="21031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6" name="Shape 14"/>
          <p:cNvSpPr/>
          <p:nvPr/>
        </p:nvSpPr>
        <p:spPr>
          <a:xfrm>
            <a:off x="1862633" y="1280160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7" name="Shape 15"/>
          <p:cNvSpPr/>
          <p:nvPr/>
        </p:nvSpPr>
        <p:spPr>
          <a:xfrm>
            <a:off x="2050085" y="1280160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8" name="Shape 16"/>
          <p:cNvSpPr/>
          <p:nvPr/>
        </p:nvSpPr>
        <p:spPr>
          <a:xfrm>
            <a:off x="2237537" y="1280160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9" name="Shape 17"/>
          <p:cNvSpPr/>
          <p:nvPr/>
        </p:nvSpPr>
        <p:spPr>
          <a:xfrm>
            <a:off x="2424989" y="1280160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0" name="Shape 18"/>
          <p:cNvSpPr/>
          <p:nvPr/>
        </p:nvSpPr>
        <p:spPr>
          <a:xfrm>
            <a:off x="2612441" y="1280160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1" name="Shape 19"/>
          <p:cNvSpPr/>
          <p:nvPr/>
        </p:nvSpPr>
        <p:spPr>
          <a:xfrm>
            <a:off x="2799893" y="1280160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2" name="Shape 20"/>
          <p:cNvSpPr/>
          <p:nvPr/>
        </p:nvSpPr>
        <p:spPr>
          <a:xfrm>
            <a:off x="2987345" y="1280160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3" name="Shape 21"/>
          <p:cNvSpPr/>
          <p:nvPr/>
        </p:nvSpPr>
        <p:spPr>
          <a:xfrm>
            <a:off x="3174797" y="1280160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4" name="Shape 22"/>
          <p:cNvSpPr/>
          <p:nvPr/>
        </p:nvSpPr>
        <p:spPr>
          <a:xfrm>
            <a:off x="3362249" y="1280160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5" name="Shape 23"/>
          <p:cNvSpPr/>
          <p:nvPr/>
        </p:nvSpPr>
        <p:spPr>
          <a:xfrm>
            <a:off x="3549701" y="1280160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6" name="Shape 24"/>
          <p:cNvSpPr/>
          <p:nvPr/>
        </p:nvSpPr>
        <p:spPr>
          <a:xfrm>
            <a:off x="3737153" y="1280160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7" name="Shape 25"/>
          <p:cNvSpPr/>
          <p:nvPr/>
        </p:nvSpPr>
        <p:spPr>
          <a:xfrm>
            <a:off x="3924605" y="1280160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8" name="Shape 26"/>
          <p:cNvSpPr/>
          <p:nvPr/>
        </p:nvSpPr>
        <p:spPr>
          <a:xfrm>
            <a:off x="4112057" y="1280160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9" name="Shape 27"/>
          <p:cNvSpPr/>
          <p:nvPr/>
        </p:nvSpPr>
        <p:spPr>
          <a:xfrm>
            <a:off x="4299509" y="1280160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0" name="Shape 28"/>
          <p:cNvSpPr/>
          <p:nvPr/>
        </p:nvSpPr>
        <p:spPr>
          <a:xfrm>
            <a:off x="4486961" y="1280160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1" name="Shape 29"/>
          <p:cNvSpPr/>
          <p:nvPr/>
        </p:nvSpPr>
        <p:spPr>
          <a:xfrm>
            <a:off x="4674413" y="1280160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2" name="Shape 30"/>
          <p:cNvSpPr/>
          <p:nvPr/>
        </p:nvSpPr>
        <p:spPr>
          <a:xfrm>
            <a:off x="4861865" y="1280160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3" name="Shape 31"/>
          <p:cNvSpPr/>
          <p:nvPr/>
        </p:nvSpPr>
        <p:spPr>
          <a:xfrm>
            <a:off x="5049317" y="1280160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4" name="Shape 32"/>
          <p:cNvSpPr/>
          <p:nvPr/>
        </p:nvSpPr>
        <p:spPr>
          <a:xfrm>
            <a:off x="5236769" y="1280160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5" name="Shape 33"/>
          <p:cNvSpPr/>
          <p:nvPr/>
        </p:nvSpPr>
        <p:spPr>
          <a:xfrm>
            <a:off x="5424221" y="1280160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6" name="Shape 34"/>
          <p:cNvSpPr/>
          <p:nvPr/>
        </p:nvSpPr>
        <p:spPr>
          <a:xfrm>
            <a:off x="5611673" y="1280160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7" name="Shape 35"/>
          <p:cNvSpPr/>
          <p:nvPr/>
        </p:nvSpPr>
        <p:spPr>
          <a:xfrm>
            <a:off x="5799125" y="1280160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8" name="Shape 36"/>
          <p:cNvSpPr/>
          <p:nvPr/>
        </p:nvSpPr>
        <p:spPr>
          <a:xfrm>
            <a:off x="5986577" y="1280160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9" name="Shape 37"/>
          <p:cNvSpPr/>
          <p:nvPr/>
        </p:nvSpPr>
        <p:spPr>
          <a:xfrm>
            <a:off x="6174029" y="1280160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40" name="Shape 38"/>
          <p:cNvSpPr/>
          <p:nvPr/>
        </p:nvSpPr>
        <p:spPr>
          <a:xfrm>
            <a:off x="6361481" y="1280160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41" name="Shape 39"/>
          <p:cNvSpPr/>
          <p:nvPr/>
        </p:nvSpPr>
        <p:spPr>
          <a:xfrm>
            <a:off x="6548933" y="1280160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411480" y="1508760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2月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925373" y="1527048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44" name="Shape 42"/>
          <p:cNvSpPr/>
          <p:nvPr/>
        </p:nvSpPr>
        <p:spPr>
          <a:xfrm>
            <a:off x="1112825" y="1527048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45" name="Shape 43"/>
          <p:cNvSpPr/>
          <p:nvPr/>
        </p:nvSpPr>
        <p:spPr>
          <a:xfrm>
            <a:off x="1300277" y="1527048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46" name="Shape 44"/>
          <p:cNvSpPr/>
          <p:nvPr/>
        </p:nvSpPr>
        <p:spPr>
          <a:xfrm>
            <a:off x="1487729" y="1527048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47" name="Shape 45"/>
          <p:cNvSpPr/>
          <p:nvPr/>
        </p:nvSpPr>
        <p:spPr>
          <a:xfrm>
            <a:off x="1675181" y="1527048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48" name="Shape 46"/>
          <p:cNvSpPr/>
          <p:nvPr/>
        </p:nvSpPr>
        <p:spPr>
          <a:xfrm>
            <a:off x="1862633" y="1527048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49" name="Shape 47"/>
          <p:cNvSpPr/>
          <p:nvPr/>
        </p:nvSpPr>
        <p:spPr>
          <a:xfrm>
            <a:off x="2050085" y="1527048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0" name="Shape 48"/>
          <p:cNvSpPr/>
          <p:nvPr/>
        </p:nvSpPr>
        <p:spPr>
          <a:xfrm>
            <a:off x="2237537" y="1527048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1" name="Shape 49"/>
          <p:cNvSpPr/>
          <p:nvPr/>
        </p:nvSpPr>
        <p:spPr>
          <a:xfrm>
            <a:off x="2424989" y="1527048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2" name="Shape 50"/>
          <p:cNvSpPr/>
          <p:nvPr/>
        </p:nvSpPr>
        <p:spPr>
          <a:xfrm>
            <a:off x="2612441" y="1527048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3" name="Shape 51"/>
          <p:cNvSpPr/>
          <p:nvPr/>
        </p:nvSpPr>
        <p:spPr>
          <a:xfrm>
            <a:off x="2799893" y="1527048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4" name="Shape 52"/>
          <p:cNvSpPr/>
          <p:nvPr/>
        </p:nvSpPr>
        <p:spPr>
          <a:xfrm>
            <a:off x="2987345" y="1527048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5" name="Shape 53"/>
          <p:cNvSpPr/>
          <p:nvPr/>
        </p:nvSpPr>
        <p:spPr>
          <a:xfrm>
            <a:off x="3174797" y="1527048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6" name="Shape 54"/>
          <p:cNvSpPr/>
          <p:nvPr/>
        </p:nvSpPr>
        <p:spPr>
          <a:xfrm>
            <a:off x="3362249" y="1527048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7" name="Shape 55"/>
          <p:cNvSpPr/>
          <p:nvPr/>
        </p:nvSpPr>
        <p:spPr>
          <a:xfrm>
            <a:off x="3549701" y="1527048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8" name="Shape 56"/>
          <p:cNvSpPr/>
          <p:nvPr/>
        </p:nvSpPr>
        <p:spPr>
          <a:xfrm>
            <a:off x="3737153" y="1527048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9" name="Shape 57"/>
          <p:cNvSpPr/>
          <p:nvPr/>
        </p:nvSpPr>
        <p:spPr>
          <a:xfrm>
            <a:off x="3924605" y="1527048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60" name="Shape 58"/>
          <p:cNvSpPr/>
          <p:nvPr/>
        </p:nvSpPr>
        <p:spPr>
          <a:xfrm>
            <a:off x="4112057" y="1527048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61" name="Shape 59"/>
          <p:cNvSpPr/>
          <p:nvPr/>
        </p:nvSpPr>
        <p:spPr>
          <a:xfrm>
            <a:off x="4299509" y="1527048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62" name="Shape 60"/>
          <p:cNvSpPr/>
          <p:nvPr/>
        </p:nvSpPr>
        <p:spPr>
          <a:xfrm>
            <a:off x="4486961" y="1527048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63" name="Shape 61"/>
          <p:cNvSpPr/>
          <p:nvPr/>
        </p:nvSpPr>
        <p:spPr>
          <a:xfrm>
            <a:off x="4674413" y="1527048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64" name="Shape 62"/>
          <p:cNvSpPr/>
          <p:nvPr/>
        </p:nvSpPr>
        <p:spPr>
          <a:xfrm>
            <a:off x="4861865" y="1527048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65" name="Shape 63"/>
          <p:cNvSpPr/>
          <p:nvPr/>
        </p:nvSpPr>
        <p:spPr>
          <a:xfrm>
            <a:off x="5049317" y="1527048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66" name="Shape 64"/>
          <p:cNvSpPr/>
          <p:nvPr/>
        </p:nvSpPr>
        <p:spPr>
          <a:xfrm>
            <a:off x="5236769" y="1527048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67" name="Shape 65"/>
          <p:cNvSpPr/>
          <p:nvPr/>
        </p:nvSpPr>
        <p:spPr>
          <a:xfrm>
            <a:off x="5424221" y="1527048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68" name="Shape 66"/>
          <p:cNvSpPr/>
          <p:nvPr/>
        </p:nvSpPr>
        <p:spPr>
          <a:xfrm>
            <a:off x="5611673" y="1527048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69" name="Shape 67"/>
          <p:cNvSpPr/>
          <p:nvPr/>
        </p:nvSpPr>
        <p:spPr>
          <a:xfrm>
            <a:off x="5799125" y="1527048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70" name="Shape 68"/>
          <p:cNvSpPr/>
          <p:nvPr/>
        </p:nvSpPr>
        <p:spPr>
          <a:xfrm>
            <a:off x="5986577" y="1527048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71" name="Shape 69"/>
          <p:cNvSpPr/>
          <p:nvPr/>
        </p:nvSpPr>
        <p:spPr>
          <a:xfrm>
            <a:off x="6174029" y="1527048"/>
            <a:ext cx="165506" cy="210312"/>
          </a:xfrm>
          <a:prstGeom prst="rect">
            <a:avLst/>
          </a:prstGeom>
          <a:solidFill>
            <a:schemeClr val="accent3">
              <a:alpha val="45000"/>
            </a:schemeClr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411480" y="1755648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3月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925373" y="1773936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74" name="Shape 72"/>
          <p:cNvSpPr/>
          <p:nvPr/>
        </p:nvSpPr>
        <p:spPr>
          <a:xfrm>
            <a:off x="1112825" y="1773936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75" name="Shape 73"/>
          <p:cNvSpPr/>
          <p:nvPr/>
        </p:nvSpPr>
        <p:spPr>
          <a:xfrm>
            <a:off x="1300277" y="1773936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76" name="Shape 74"/>
          <p:cNvSpPr/>
          <p:nvPr/>
        </p:nvSpPr>
        <p:spPr>
          <a:xfrm>
            <a:off x="1487729" y="1773936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77" name="Shape 75"/>
          <p:cNvSpPr/>
          <p:nvPr/>
        </p:nvSpPr>
        <p:spPr>
          <a:xfrm>
            <a:off x="1675181" y="1773936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78" name="Shape 76"/>
          <p:cNvSpPr/>
          <p:nvPr/>
        </p:nvSpPr>
        <p:spPr>
          <a:xfrm>
            <a:off x="1862633" y="1773936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79" name="Shape 77"/>
          <p:cNvSpPr/>
          <p:nvPr/>
        </p:nvSpPr>
        <p:spPr>
          <a:xfrm>
            <a:off x="2050085" y="1773936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80" name="Shape 78"/>
          <p:cNvSpPr/>
          <p:nvPr/>
        </p:nvSpPr>
        <p:spPr>
          <a:xfrm>
            <a:off x="2237537" y="1773936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81" name="Shape 79"/>
          <p:cNvSpPr/>
          <p:nvPr/>
        </p:nvSpPr>
        <p:spPr>
          <a:xfrm>
            <a:off x="2424989" y="1773936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82" name="Shape 80"/>
          <p:cNvSpPr/>
          <p:nvPr/>
        </p:nvSpPr>
        <p:spPr>
          <a:xfrm>
            <a:off x="2612441" y="1773936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83" name="Shape 81"/>
          <p:cNvSpPr/>
          <p:nvPr/>
        </p:nvSpPr>
        <p:spPr>
          <a:xfrm>
            <a:off x="2799893" y="1773936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84" name="Shape 82"/>
          <p:cNvSpPr/>
          <p:nvPr/>
        </p:nvSpPr>
        <p:spPr>
          <a:xfrm>
            <a:off x="2987345" y="1773936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85" name="Shape 83"/>
          <p:cNvSpPr/>
          <p:nvPr/>
        </p:nvSpPr>
        <p:spPr>
          <a:xfrm>
            <a:off x="3174797" y="1773936"/>
            <a:ext cx="165506" cy="21031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86" name="Shape 84"/>
          <p:cNvSpPr/>
          <p:nvPr/>
        </p:nvSpPr>
        <p:spPr>
          <a:xfrm>
            <a:off x="3362249" y="1773936"/>
            <a:ext cx="165506" cy="21031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87" name="Shape 85"/>
          <p:cNvSpPr/>
          <p:nvPr/>
        </p:nvSpPr>
        <p:spPr>
          <a:xfrm>
            <a:off x="3549701" y="1773936"/>
            <a:ext cx="165506" cy="21031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88" name="Shape 86"/>
          <p:cNvSpPr/>
          <p:nvPr/>
        </p:nvSpPr>
        <p:spPr>
          <a:xfrm>
            <a:off x="3737153" y="1773936"/>
            <a:ext cx="165506" cy="21031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89" name="Shape 87"/>
          <p:cNvSpPr/>
          <p:nvPr/>
        </p:nvSpPr>
        <p:spPr>
          <a:xfrm>
            <a:off x="3924605" y="1773936"/>
            <a:ext cx="165506" cy="21031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90" name="Shape 88"/>
          <p:cNvSpPr/>
          <p:nvPr/>
        </p:nvSpPr>
        <p:spPr>
          <a:xfrm>
            <a:off x="4112057" y="1773936"/>
            <a:ext cx="165506" cy="21031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91" name="Shape 89"/>
          <p:cNvSpPr/>
          <p:nvPr/>
        </p:nvSpPr>
        <p:spPr>
          <a:xfrm>
            <a:off x="4299509" y="1773936"/>
            <a:ext cx="165506" cy="21031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92" name="Shape 90"/>
          <p:cNvSpPr/>
          <p:nvPr/>
        </p:nvSpPr>
        <p:spPr>
          <a:xfrm>
            <a:off x="4486961" y="1773936"/>
            <a:ext cx="165506" cy="21031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3" name="Shape 91"/>
          <p:cNvSpPr/>
          <p:nvPr/>
        </p:nvSpPr>
        <p:spPr>
          <a:xfrm>
            <a:off x="4674413" y="1773936"/>
            <a:ext cx="165506" cy="21031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4" name="Shape 92"/>
          <p:cNvSpPr/>
          <p:nvPr/>
        </p:nvSpPr>
        <p:spPr>
          <a:xfrm>
            <a:off x="4861865" y="1773936"/>
            <a:ext cx="165506" cy="21031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5" name="Shape 93"/>
          <p:cNvSpPr/>
          <p:nvPr/>
        </p:nvSpPr>
        <p:spPr>
          <a:xfrm>
            <a:off x="5049317" y="1773936"/>
            <a:ext cx="165506" cy="21031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6" name="Shape 94"/>
          <p:cNvSpPr/>
          <p:nvPr/>
        </p:nvSpPr>
        <p:spPr>
          <a:xfrm>
            <a:off x="5236769" y="1773936"/>
            <a:ext cx="165506" cy="21031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7" name="Shape 95"/>
          <p:cNvSpPr/>
          <p:nvPr/>
        </p:nvSpPr>
        <p:spPr>
          <a:xfrm>
            <a:off x="5424221" y="1773936"/>
            <a:ext cx="165506" cy="21031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8" name="Shape 96"/>
          <p:cNvSpPr/>
          <p:nvPr/>
        </p:nvSpPr>
        <p:spPr>
          <a:xfrm>
            <a:off x="5611673" y="1773936"/>
            <a:ext cx="165506" cy="21031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9" name="Shape 97"/>
          <p:cNvSpPr/>
          <p:nvPr/>
        </p:nvSpPr>
        <p:spPr>
          <a:xfrm>
            <a:off x="5799125" y="1773936"/>
            <a:ext cx="165506" cy="21031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0" name="Shape 98"/>
          <p:cNvSpPr/>
          <p:nvPr/>
        </p:nvSpPr>
        <p:spPr>
          <a:xfrm>
            <a:off x="5986577" y="1773936"/>
            <a:ext cx="165506" cy="21031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1" name="Shape 99"/>
          <p:cNvSpPr/>
          <p:nvPr/>
        </p:nvSpPr>
        <p:spPr>
          <a:xfrm>
            <a:off x="6174029" y="1773936"/>
            <a:ext cx="165506" cy="21031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2" name="Shape 100"/>
          <p:cNvSpPr/>
          <p:nvPr/>
        </p:nvSpPr>
        <p:spPr>
          <a:xfrm>
            <a:off x="6361481" y="1773936"/>
            <a:ext cx="165506" cy="21031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3" name="Shape 101"/>
          <p:cNvSpPr/>
          <p:nvPr/>
        </p:nvSpPr>
        <p:spPr>
          <a:xfrm>
            <a:off x="6548933" y="1773936"/>
            <a:ext cx="165506" cy="21031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4" name="Text 102"/>
          <p:cNvSpPr txBox="1"/>
          <p:nvPr/>
        </p:nvSpPr>
        <p:spPr>
          <a:xfrm>
            <a:off x="411480" y="2002536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4月</a:t>
            </a:r>
            <a:endParaRPr lang="en-US" sz="1000" dirty="0"/>
          </a:p>
        </p:txBody>
      </p:sp>
      <p:sp>
        <p:nvSpPr>
          <p:cNvPr id="105" name="Shape 103"/>
          <p:cNvSpPr/>
          <p:nvPr/>
        </p:nvSpPr>
        <p:spPr>
          <a:xfrm>
            <a:off x="925373" y="2020824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06" name="Shape 104"/>
          <p:cNvSpPr/>
          <p:nvPr/>
        </p:nvSpPr>
        <p:spPr>
          <a:xfrm>
            <a:off x="1112825" y="2020824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07" name="Shape 105"/>
          <p:cNvSpPr/>
          <p:nvPr/>
        </p:nvSpPr>
        <p:spPr>
          <a:xfrm>
            <a:off x="1300277" y="2020824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08" name="Shape 106"/>
          <p:cNvSpPr/>
          <p:nvPr/>
        </p:nvSpPr>
        <p:spPr>
          <a:xfrm>
            <a:off x="1487729" y="2020824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09" name="Shape 107"/>
          <p:cNvSpPr/>
          <p:nvPr/>
        </p:nvSpPr>
        <p:spPr>
          <a:xfrm>
            <a:off x="1675181" y="2020824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10" name="Shape 108"/>
          <p:cNvSpPr/>
          <p:nvPr/>
        </p:nvSpPr>
        <p:spPr>
          <a:xfrm>
            <a:off x="1862633" y="2020824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11" name="Shape 109"/>
          <p:cNvSpPr/>
          <p:nvPr/>
        </p:nvSpPr>
        <p:spPr>
          <a:xfrm>
            <a:off x="2050085" y="2020824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12" name="Shape 110"/>
          <p:cNvSpPr/>
          <p:nvPr/>
        </p:nvSpPr>
        <p:spPr>
          <a:xfrm>
            <a:off x="2237537" y="2020824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13" name="Shape 111"/>
          <p:cNvSpPr/>
          <p:nvPr/>
        </p:nvSpPr>
        <p:spPr>
          <a:xfrm>
            <a:off x="2424989" y="2020824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14" name="Shape 112"/>
          <p:cNvSpPr/>
          <p:nvPr/>
        </p:nvSpPr>
        <p:spPr>
          <a:xfrm>
            <a:off x="2612441" y="2020824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15" name="Shape 113"/>
          <p:cNvSpPr/>
          <p:nvPr/>
        </p:nvSpPr>
        <p:spPr>
          <a:xfrm>
            <a:off x="2799893" y="2020824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16" name="Shape 114"/>
          <p:cNvSpPr/>
          <p:nvPr/>
        </p:nvSpPr>
        <p:spPr>
          <a:xfrm>
            <a:off x="2987345" y="2020824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17" name="Shape 115"/>
          <p:cNvSpPr/>
          <p:nvPr/>
        </p:nvSpPr>
        <p:spPr>
          <a:xfrm>
            <a:off x="3174797" y="2020824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18" name="Shape 116"/>
          <p:cNvSpPr/>
          <p:nvPr/>
        </p:nvSpPr>
        <p:spPr>
          <a:xfrm>
            <a:off x="3362249" y="2020824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19" name="Shape 117"/>
          <p:cNvSpPr/>
          <p:nvPr/>
        </p:nvSpPr>
        <p:spPr>
          <a:xfrm>
            <a:off x="3549701" y="2020824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20" name="Shape 118"/>
          <p:cNvSpPr/>
          <p:nvPr/>
        </p:nvSpPr>
        <p:spPr>
          <a:xfrm>
            <a:off x="3737153" y="2020824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21" name="Shape 119"/>
          <p:cNvSpPr/>
          <p:nvPr/>
        </p:nvSpPr>
        <p:spPr>
          <a:xfrm>
            <a:off x="3924605" y="2020824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22" name="Shape 120"/>
          <p:cNvSpPr/>
          <p:nvPr/>
        </p:nvSpPr>
        <p:spPr>
          <a:xfrm>
            <a:off x="4112057" y="2020824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23" name="Shape 121"/>
          <p:cNvSpPr/>
          <p:nvPr/>
        </p:nvSpPr>
        <p:spPr>
          <a:xfrm>
            <a:off x="4299509" y="2020824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24" name="Shape 122"/>
          <p:cNvSpPr/>
          <p:nvPr/>
        </p:nvSpPr>
        <p:spPr>
          <a:xfrm>
            <a:off x="4486961" y="2020824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25" name="Shape 123"/>
          <p:cNvSpPr/>
          <p:nvPr/>
        </p:nvSpPr>
        <p:spPr>
          <a:xfrm>
            <a:off x="4674413" y="2020824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26" name="Shape 124"/>
          <p:cNvSpPr/>
          <p:nvPr/>
        </p:nvSpPr>
        <p:spPr>
          <a:xfrm>
            <a:off x="4861865" y="2020824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27" name="Shape 125"/>
          <p:cNvSpPr/>
          <p:nvPr/>
        </p:nvSpPr>
        <p:spPr>
          <a:xfrm>
            <a:off x="5049317" y="2020824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28" name="Shape 126"/>
          <p:cNvSpPr/>
          <p:nvPr/>
        </p:nvSpPr>
        <p:spPr>
          <a:xfrm>
            <a:off x="5236769" y="2020824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29" name="Shape 127"/>
          <p:cNvSpPr/>
          <p:nvPr/>
        </p:nvSpPr>
        <p:spPr>
          <a:xfrm>
            <a:off x="5424221" y="2020824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30" name="Shape 128"/>
          <p:cNvSpPr/>
          <p:nvPr/>
        </p:nvSpPr>
        <p:spPr>
          <a:xfrm>
            <a:off x="5611673" y="2020824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31" name="Shape 129"/>
          <p:cNvSpPr/>
          <p:nvPr/>
        </p:nvSpPr>
        <p:spPr>
          <a:xfrm>
            <a:off x="5799125" y="2020824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32" name="Shape 130"/>
          <p:cNvSpPr/>
          <p:nvPr/>
        </p:nvSpPr>
        <p:spPr>
          <a:xfrm>
            <a:off x="5986577" y="2020824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174029" y="2020824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361481" y="2020824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35" name="Text 133"/>
          <p:cNvSpPr txBox="1"/>
          <p:nvPr/>
        </p:nvSpPr>
        <p:spPr>
          <a:xfrm>
            <a:off x="411480" y="2249424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5月</a:t>
            </a:r>
            <a:endParaRPr lang="en-US" sz="1000" dirty="0"/>
          </a:p>
        </p:txBody>
      </p:sp>
      <p:sp>
        <p:nvSpPr>
          <p:cNvPr id="136" name="Shape 134"/>
          <p:cNvSpPr/>
          <p:nvPr/>
        </p:nvSpPr>
        <p:spPr>
          <a:xfrm>
            <a:off x="925373" y="2267712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37" name="Shape 135"/>
          <p:cNvSpPr/>
          <p:nvPr/>
        </p:nvSpPr>
        <p:spPr>
          <a:xfrm>
            <a:off x="1112825" y="2267712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38" name="Shape 136"/>
          <p:cNvSpPr/>
          <p:nvPr/>
        </p:nvSpPr>
        <p:spPr>
          <a:xfrm>
            <a:off x="1300277" y="2267712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39" name="Shape 137"/>
          <p:cNvSpPr/>
          <p:nvPr/>
        </p:nvSpPr>
        <p:spPr>
          <a:xfrm>
            <a:off x="1487729" y="2267712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40" name="Shape 138"/>
          <p:cNvSpPr/>
          <p:nvPr/>
        </p:nvSpPr>
        <p:spPr>
          <a:xfrm>
            <a:off x="1675181" y="2267712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41" name="Shape 139"/>
          <p:cNvSpPr/>
          <p:nvPr/>
        </p:nvSpPr>
        <p:spPr>
          <a:xfrm>
            <a:off x="1862633" y="2267712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42" name="Shape 140"/>
          <p:cNvSpPr/>
          <p:nvPr/>
        </p:nvSpPr>
        <p:spPr>
          <a:xfrm>
            <a:off x="2050085" y="2267712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43" name="Shape 141"/>
          <p:cNvSpPr/>
          <p:nvPr/>
        </p:nvSpPr>
        <p:spPr>
          <a:xfrm>
            <a:off x="2237537" y="2267712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44" name="Shape 142"/>
          <p:cNvSpPr/>
          <p:nvPr/>
        </p:nvSpPr>
        <p:spPr>
          <a:xfrm>
            <a:off x="2424989" y="2267712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45" name="Shape 143"/>
          <p:cNvSpPr/>
          <p:nvPr/>
        </p:nvSpPr>
        <p:spPr>
          <a:xfrm>
            <a:off x="2612441" y="2267712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46" name="Shape 144"/>
          <p:cNvSpPr/>
          <p:nvPr/>
        </p:nvSpPr>
        <p:spPr>
          <a:xfrm>
            <a:off x="2799893" y="2267712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47" name="Shape 145"/>
          <p:cNvSpPr/>
          <p:nvPr/>
        </p:nvSpPr>
        <p:spPr>
          <a:xfrm>
            <a:off x="2987345" y="2267712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48" name="Shape 146"/>
          <p:cNvSpPr/>
          <p:nvPr/>
        </p:nvSpPr>
        <p:spPr>
          <a:xfrm>
            <a:off x="3174797" y="2267712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49" name="Shape 147"/>
          <p:cNvSpPr/>
          <p:nvPr/>
        </p:nvSpPr>
        <p:spPr>
          <a:xfrm>
            <a:off x="3362249" y="2267712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50" name="Shape 148"/>
          <p:cNvSpPr/>
          <p:nvPr/>
        </p:nvSpPr>
        <p:spPr>
          <a:xfrm>
            <a:off x="3549701" y="2267712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51" name="Shape 149"/>
          <p:cNvSpPr/>
          <p:nvPr/>
        </p:nvSpPr>
        <p:spPr>
          <a:xfrm>
            <a:off x="3737153" y="2267712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52" name="Shape 150"/>
          <p:cNvSpPr/>
          <p:nvPr/>
        </p:nvSpPr>
        <p:spPr>
          <a:xfrm>
            <a:off x="3924605" y="2267712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53" name="Shape 151"/>
          <p:cNvSpPr/>
          <p:nvPr/>
        </p:nvSpPr>
        <p:spPr>
          <a:xfrm>
            <a:off x="4112057" y="2267712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54" name="Shape 152"/>
          <p:cNvSpPr/>
          <p:nvPr/>
        </p:nvSpPr>
        <p:spPr>
          <a:xfrm>
            <a:off x="4299509" y="2267712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55" name="Shape 153"/>
          <p:cNvSpPr/>
          <p:nvPr/>
        </p:nvSpPr>
        <p:spPr>
          <a:xfrm>
            <a:off x="4486961" y="2267712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56" name="Shape 154"/>
          <p:cNvSpPr/>
          <p:nvPr/>
        </p:nvSpPr>
        <p:spPr>
          <a:xfrm>
            <a:off x="4674413" y="2267712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57" name="Shape 155"/>
          <p:cNvSpPr/>
          <p:nvPr/>
        </p:nvSpPr>
        <p:spPr>
          <a:xfrm>
            <a:off x="4861865" y="2267712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58" name="Shape 156"/>
          <p:cNvSpPr/>
          <p:nvPr/>
        </p:nvSpPr>
        <p:spPr>
          <a:xfrm>
            <a:off x="5049317" y="2267712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59" name="Shape 157"/>
          <p:cNvSpPr/>
          <p:nvPr/>
        </p:nvSpPr>
        <p:spPr>
          <a:xfrm>
            <a:off x="5236769" y="2267712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60" name="Shape 158"/>
          <p:cNvSpPr/>
          <p:nvPr/>
        </p:nvSpPr>
        <p:spPr>
          <a:xfrm>
            <a:off x="5424221" y="2267712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61" name="Shape 159"/>
          <p:cNvSpPr/>
          <p:nvPr/>
        </p:nvSpPr>
        <p:spPr>
          <a:xfrm>
            <a:off x="5611673" y="2267712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62" name="Shape 160"/>
          <p:cNvSpPr/>
          <p:nvPr/>
        </p:nvSpPr>
        <p:spPr>
          <a:xfrm>
            <a:off x="5799125" y="2267712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63" name="Shape 161"/>
          <p:cNvSpPr/>
          <p:nvPr/>
        </p:nvSpPr>
        <p:spPr>
          <a:xfrm>
            <a:off x="5986577" y="2267712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64" name="Shape 162"/>
          <p:cNvSpPr/>
          <p:nvPr/>
        </p:nvSpPr>
        <p:spPr>
          <a:xfrm>
            <a:off x="6174029" y="2267712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65" name="Shape 163"/>
          <p:cNvSpPr/>
          <p:nvPr/>
        </p:nvSpPr>
        <p:spPr>
          <a:xfrm>
            <a:off x="6361481" y="2267712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66" name="Shape 164"/>
          <p:cNvSpPr/>
          <p:nvPr/>
        </p:nvSpPr>
        <p:spPr>
          <a:xfrm>
            <a:off x="6548933" y="2267712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67" name="Text 165"/>
          <p:cNvSpPr txBox="1"/>
          <p:nvPr/>
        </p:nvSpPr>
        <p:spPr>
          <a:xfrm>
            <a:off x="411480" y="2496312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6月</a:t>
            </a:r>
            <a:endParaRPr lang="en-US" sz="1000" dirty="0"/>
          </a:p>
        </p:txBody>
      </p:sp>
      <p:sp>
        <p:nvSpPr>
          <p:cNvPr id="168" name="Shape 166"/>
          <p:cNvSpPr/>
          <p:nvPr/>
        </p:nvSpPr>
        <p:spPr>
          <a:xfrm>
            <a:off x="925373" y="2514600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69" name="Shape 167"/>
          <p:cNvSpPr/>
          <p:nvPr/>
        </p:nvSpPr>
        <p:spPr>
          <a:xfrm>
            <a:off x="1112825" y="2514600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70" name="Shape 168"/>
          <p:cNvSpPr/>
          <p:nvPr/>
        </p:nvSpPr>
        <p:spPr>
          <a:xfrm>
            <a:off x="1300277" y="2514600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71" name="Shape 169"/>
          <p:cNvSpPr/>
          <p:nvPr/>
        </p:nvSpPr>
        <p:spPr>
          <a:xfrm>
            <a:off x="1487729" y="2514600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72" name="Shape 170"/>
          <p:cNvSpPr/>
          <p:nvPr/>
        </p:nvSpPr>
        <p:spPr>
          <a:xfrm>
            <a:off x="1675181" y="2514600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73" name="Shape 171"/>
          <p:cNvSpPr/>
          <p:nvPr/>
        </p:nvSpPr>
        <p:spPr>
          <a:xfrm>
            <a:off x="1862633" y="2514600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74" name="Shape 172"/>
          <p:cNvSpPr/>
          <p:nvPr/>
        </p:nvSpPr>
        <p:spPr>
          <a:xfrm>
            <a:off x="2050085" y="2514600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75" name="Shape 173"/>
          <p:cNvSpPr/>
          <p:nvPr/>
        </p:nvSpPr>
        <p:spPr>
          <a:xfrm>
            <a:off x="2237537" y="2514600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76" name="Shape 174"/>
          <p:cNvSpPr/>
          <p:nvPr/>
        </p:nvSpPr>
        <p:spPr>
          <a:xfrm>
            <a:off x="2424989" y="2514600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77" name="Shape 175"/>
          <p:cNvSpPr/>
          <p:nvPr/>
        </p:nvSpPr>
        <p:spPr>
          <a:xfrm>
            <a:off x="2612441" y="2514600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78" name="Shape 176"/>
          <p:cNvSpPr/>
          <p:nvPr/>
        </p:nvSpPr>
        <p:spPr>
          <a:xfrm>
            <a:off x="2799893" y="2514600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79" name="Shape 177"/>
          <p:cNvSpPr/>
          <p:nvPr/>
        </p:nvSpPr>
        <p:spPr>
          <a:xfrm>
            <a:off x="2987345" y="2514600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80" name="Shape 178"/>
          <p:cNvSpPr/>
          <p:nvPr/>
        </p:nvSpPr>
        <p:spPr>
          <a:xfrm>
            <a:off x="3174797" y="2514600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81" name="Shape 179"/>
          <p:cNvSpPr/>
          <p:nvPr/>
        </p:nvSpPr>
        <p:spPr>
          <a:xfrm>
            <a:off x="3362249" y="2514600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82" name="Shape 180"/>
          <p:cNvSpPr/>
          <p:nvPr/>
        </p:nvSpPr>
        <p:spPr>
          <a:xfrm>
            <a:off x="3549701" y="2514600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83" name="Shape 181"/>
          <p:cNvSpPr/>
          <p:nvPr/>
        </p:nvSpPr>
        <p:spPr>
          <a:xfrm>
            <a:off x="3737153" y="2514600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84" name="Shape 182"/>
          <p:cNvSpPr/>
          <p:nvPr/>
        </p:nvSpPr>
        <p:spPr>
          <a:xfrm>
            <a:off x="3924605" y="2514600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85" name="Shape 183"/>
          <p:cNvSpPr/>
          <p:nvPr/>
        </p:nvSpPr>
        <p:spPr>
          <a:xfrm>
            <a:off x="4112057" y="2514600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86" name="Shape 184"/>
          <p:cNvSpPr/>
          <p:nvPr/>
        </p:nvSpPr>
        <p:spPr>
          <a:xfrm>
            <a:off x="4299509" y="2514600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87" name="Shape 185"/>
          <p:cNvSpPr/>
          <p:nvPr/>
        </p:nvSpPr>
        <p:spPr>
          <a:xfrm>
            <a:off x="4486961" y="2514600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88" name="Shape 186"/>
          <p:cNvSpPr/>
          <p:nvPr/>
        </p:nvSpPr>
        <p:spPr>
          <a:xfrm>
            <a:off x="4674413" y="2514600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89" name="Shape 187"/>
          <p:cNvSpPr/>
          <p:nvPr/>
        </p:nvSpPr>
        <p:spPr>
          <a:xfrm>
            <a:off x="4861865" y="2514600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90" name="Shape 188"/>
          <p:cNvSpPr/>
          <p:nvPr/>
        </p:nvSpPr>
        <p:spPr>
          <a:xfrm>
            <a:off x="5049317" y="2514600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91" name="Shape 189"/>
          <p:cNvSpPr/>
          <p:nvPr/>
        </p:nvSpPr>
        <p:spPr>
          <a:xfrm>
            <a:off x="5236769" y="2514600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92" name="Shape 190"/>
          <p:cNvSpPr/>
          <p:nvPr/>
        </p:nvSpPr>
        <p:spPr>
          <a:xfrm>
            <a:off x="5424221" y="2514600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93" name="Shape 191"/>
          <p:cNvSpPr/>
          <p:nvPr/>
        </p:nvSpPr>
        <p:spPr>
          <a:xfrm>
            <a:off x="5611673" y="2514600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94" name="Shape 192"/>
          <p:cNvSpPr/>
          <p:nvPr/>
        </p:nvSpPr>
        <p:spPr>
          <a:xfrm>
            <a:off x="5799125" y="2514600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95" name="Shape 193"/>
          <p:cNvSpPr/>
          <p:nvPr/>
        </p:nvSpPr>
        <p:spPr>
          <a:xfrm>
            <a:off x="5986577" y="2514600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96" name="Shape 194"/>
          <p:cNvSpPr/>
          <p:nvPr/>
        </p:nvSpPr>
        <p:spPr>
          <a:xfrm>
            <a:off x="6174029" y="2514600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97" name="Shape 195"/>
          <p:cNvSpPr/>
          <p:nvPr/>
        </p:nvSpPr>
        <p:spPr>
          <a:xfrm>
            <a:off x="6361481" y="2514600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98" name="Text 196"/>
          <p:cNvSpPr txBox="1"/>
          <p:nvPr/>
        </p:nvSpPr>
        <p:spPr>
          <a:xfrm>
            <a:off x="411480" y="2743200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7月</a:t>
            </a:r>
            <a:endParaRPr lang="en-US" sz="1000" dirty="0"/>
          </a:p>
        </p:txBody>
      </p:sp>
      <p:sp>
        <p:nvSpPr>
          <p:cNvPr id="199" name="Shape 197"/>
          <p:cNvSpPr/>
          <p:nvPr/>
        </p:nvSpPr>
        <p:spPr>
          <a:xfrm>
            <a:off x="925373" y="2761488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00" name="Shape 198"/>
          <p:cNvSpPr/>
          <p:nvPr/>
        </p:nvSpPr>
        <p:spPr>
          <a:xfrm>
            <a:off x="1112825" y="2761488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01" name="Shape 199"/>
          <p:cNvSpPr/>
          <p:nvPr/>
        </p:nvSpPr>
        <p:spPr>
          <a:xfrm>
            <a:off x="1300277" y="2761488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02" name="Shape 200"/>
          <p:cNvSpPr/>
          <p:nvPr/>
        </p:nvSpPr>
        <p:spPr>
          <a:xfrm>
            <a:off x="1487729" y="2761488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03" name="Shape 201"/>
          <p:cNvSpPr/>
          <p:nvPr/>
        </p:nvSpPr>
        <p:spPr>
          <a:xfrm>
            <a:off x="1675181" y="2761488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04" name="Shape 202"/>
          <p:cNvSpPr/>
          <p:nvPr/>
        </p:nvSpPr>
        <p:spPr>
          <a:xfrm>
            <a:off x="1862633" y="2761488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05" name="Shape 203"/>
          <p:cNvSpPr/>
          <p:nvPr/>
        </p:nvSpPr>
        <p:spPr>
          <a:xfrm>
            <a:off x="2050085" y="2761488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06" name="Shape 204"/>
          <p:cNvSpPr/>
          <p:nvPr/>
        </p:nvSpPr>
        <p:spPr>
          <a:xfrm>
            <a:off x="2237537" y="2761488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07" name="Shape 205"/>
          <p:cNvSpPr/>
          <p:nvPr/>
        </p:nvSpPr>
        <p:spPr>
          <a:xfrm>
            <a:off x="2424989" y="2761488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08" name="Shape 206"/>
          <p:cNvSpPr/>
          <p:nvPr/>
        </p:nvSpPr>
        <p:spPr>
          <a:xfrm>
            <a:off x="2612441" y="2761488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09" name="Shape 207"/>
          <p:cNvSpPr/>
          <p:nvPr/>
        </p:nvSpPr>
        <p:spPr>
          <a:xfrm>
            <a:off x="2799893" y="2761488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10" name="Shape 208"/>
          <p:cNvSpPr/>
          <p:nvPr/>
        </p:nvSpPr>
        <p:spPr>
          <a:xfrm>
            <a:off x="2987345" y="2761488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11" name="Shape 209"/>
          <p:cNvSpPr/>
          <p:nvPr/>
        </p:nvSpPr>
        <p:spPr>
          <a:xfrm>
            <a:off x="3174797" y="2761488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12" name="Shape 210"/>
          <p:cNvSpPr/>
          <p:nvPr/>
        </p:nvSpPr>
        <p:spPr>
          <a:xfrm>
            <a:off x="3362249" y="2761488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13" name="Shape 211"/>
          <p:cNvSpPr/>
          <p:nvPr/>
        </p:nvSpPr>
        <p:spPr>
          <a:xfrm>
            <a:off x="3549701" y="2761488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14" name="Shape 212"/>
          <p:cNvSpPr/>
          <p:nvPr/>
        </p:nvSpPr>
        <p:spPr>
          <a:xfrm>
            <a:off x="3737153" y="2761488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15" name="Shape 213"/>
          <p:cNvSpPr/>
          <p:nvPr/>
        </p:nvSpPr>
        <p:spPr>
          <a:xfrm>
            <a:off x="3924605" y="2761488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16" name="Shape 214"/>
          <p:cNvSpPr/>
          <p:nvPr/>
        </p:nvSpPr>
        <p:spPr>
          <a:xfrm>
            <a:off x="4112057" y="2761488"/>
            <a:ext cx="165506" cy="21031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17" name="Shape 215"/>
          <p:cNvSpPr/>
          <p:nvPr/>
        </p:nvSpPr>
        <p:spPr>
          <a:xfrm>
            <a:off x="4299509" y="2761488"/>
            <a:ext cx="165506" cy="21031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18" name="Shape 216"/>
          <p:cNvSpPr/>
          <p:nvPr/>
        </p:nvSpPr>
        <p:spPr>
          <a:xfrm>
            <a:off x="4486961" y="2761488"/>
            <a:ext cx="165506" cy="21031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19" name="Shape 217"/>
          <p:cNvSpPr/>
          <p:nvPr/>
        </p:nvSpPr>
        <p:spPr>
          <a:xfrm>
            <a:off x="4674413" y="2761488"/>
            <a:ext cx="165506" cy="21031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20" name="Shape 218"/>
          <p:cNvSpPr/>
          <p:nvPr/>
        </p:nvSpPr>
        <p:spPr>
          <a:xfrm>
            <a:off x="4861865" y="2761488"/>
            <a:ext cx="165506" cy="21031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21" name="Shape 219"/>
          <p:cNvSpPr/>
          <p:nvPr/>
        </p:nvSpPr>
        <p:spPr>
          <a:xfrm>
            <a:off x="5049317" y="2761488"/>
            <a:ext cx="165506" cy="21031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22" name="Shape 220"/>
          <p:cNvSpPr/>
          <p:nvPr/>
        </p:nvSpPr>
        <p:spPr>
          <a:xfrm>
            <a:off x="5236769" y="2761488"/>
            <a:ext cx="165506" cy="21031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23" name="Shape 221"/>
          <p:cNvSpPr/>
          <p:nvPr/>
        </p:nvSpPr>
        <p:spPr>
          <a:xfrm>
            <a:off x="5424221" y="2761488"/>
            <a:ext cx="165506" cy="21031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24" name="Shape 222"/>
          <p:cNvSpPr/>
          <p:nvPr/>
        </p:nvSpPr>
        <p:spPr>
          <a:xfrm>
            <a:off x="5611673" y="2761488"/>
            <a:ext cx="165506" cy="21031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25" name="Shape 223"/>
          <p:cNvSpPr/>
          <p:nvPr/>
        </p:nvSpPr>
        <p:spPr>
          <a:xfrm>
            <a:off x="5799125" y="2761488"/>
            <a:ext cx="165506" cy="21031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26" name="Shape 224"/>
          <p:cNvSpPr/>
          <p:nvPr/>
        </p:nvSpPr>
        <p:spPr>
          <a:xfrm>
            <a:off x="5986577" y="2761488"/>
            <a:ext cx="165506" cy="21031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27" name="Shape 225"/>
          <p:cNvSpPr/>
          <p:nvPr/>
        </p:nvSpPr>
        <p:spPr>
          <a:xfrm>
            <a:off x="6174029" y="2761488"/>
            <a:ext cx="165506" cy="21031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28" name="Shape 226"/>
          <p:cNvSpPr/>
          <p:nvPr/>
        </p:nvSpPr>
        <p:spPr>
          <a:xfrm>
            <a:off x="6361481" y="2761488"/>
            <a:ext cx="165506" cy="21031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29" name="Shape 227"/>
          <p:cNvSpPr/>
          <p:nvPr/>
        </p:nvSpPr>
        <p:spPr>
          <a:xfrm>
            <a:off x="6548933" y="2761488"/>
            <a:ext cx="165506" cy="21031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30" name="Text 228"/>
          <p:cNvSpPr txBox="1"/>
          <p:nvPr/>
        </p:nvSpPr>
        <p:spPr>
          <a:xfrm>
            <a:off x="411480" y="2990088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8月</a:t>
            </a:r>
            <a:endParaRPr lang="en-US" sz="1000" dirty="0"/>
          </a:p>
        </p:txBody>
      </p:sp>
      <p:sp>
        <p:nvSpPr>
          <p:cNvPr id="231" name="Shape 229"/>
          <p:cNvSpPr/>
          <p:nvPr/>
        </p:nvSpPr>
        <p:spPr>
          <a:xfrm>
            <a:off x="925373" y="3008376"/>
            <a:ext cx="165506" cy="21031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32" name="Shape 230"/>
          <p:cNvSpPr/>
          <p:nvPr/>
        </p:nvSpPr>
        <p:spPr>
          <a:xfrm>
            <a:off x="1112825" y="3008376"/>
            <a:ext cx="165506" cy="21031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33" name="Shape 231"/>
          <p:cNvSpPr/>
          <p:nvPr/>
        </p:nvSpPr>
        <p:spPr>
          <a:xfrm>
            <a:off x="1300277" y="3008376"/>
            <a:ext cx="165506" cy="21031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34" name="Shape 232"/>
          <p:cNvSpPr/>
          <p:nvPr/>
        </p:nvSpPr>
        <p:spPr>
          <a:xfrm>
            <a:off x="1487729" y="3008376"/>
            <a:ext cx="165506" cy="21031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35" name="Shape 233"/>
          <p:cNvSpPr/>
          <p:nvPr/>
        </p:nvSpPr>
        <p:spPr>
          <a:xfrm>
            <a:off x="1675181" y="3008376"/>
            <a:ext cx="165506" cy="21031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36" name="Shape 234"/>
          <p:cNvSpPr/>
          <p:nvPr/>
        </p:nvSpPr>
        <p:spPr>
          <a:xfrm>
            <a:off x="1862633" y="3008376"/>
            <a:ext cx="165506" cy="21031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37" name="Shape 235"/>
          <p:cNvSpPr/>
          <p:nvPr/>
        </p:nvSpPr>
        <p:spPr>
          <a:xfrm>
            <a:off x="2050085" y="3008376"/>
            <a:ext cx="165506" cy="21031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38" name="Shape 236"/>
          <p:cNvSpPr/>
          <p:nvPr/>
        </p:nvSpPr>
        <p:spPr>
          <a:xfrm>
            <a:off x="2237537" y="3008376"/>
            <a:ext cx="165506" cy="21031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39" name="Shape 237"/>
          <p:cNvSpPr/>
          <p:nvPr/>
        </p:nvSpPr>
        <p:spPr>
          <a:xfrm>
            <a:off x="2424989" y="3008376"/>
            <a:ext cx="165506" cy="21031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40" name="Shape 238"/>
          <p:cNvSpPr/>
          <p:nvPr/>
        </p:nvSpPr>
        <p:spPr>
          <a:xfrm>
            <a:off x="2612441" y="3008376"/>
            <a:ext cx="165506" cy="21031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41" name="Shape 239"/>
          <p:cNvSpPr/>
          <p:nvPr/>
        </p:nvSpPr>
        <p:spPr>
          <a:xfrm>
            <a:off x="2799893" y="3008376"/>
            <a:ext cx="165506" cy="21031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42" name="Shape 240"/>
          <p:cNvSpPr/>
          <p:nvPr/>
        </p:nvSpPr>
        <p:spPr>
          <a:xfrm>
            <a:off x="2987345" y="3008376"/>
            <a:ext cx="165506" cy="21031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43" name="Shape 241"/>
          <p:cNvSpPr/>
          <p:nvPr/>
        </p:nvSpPr>
        <p:spPr>
          <a:xfrm>
            <a:off x="3174797" y="3008376"/>
            <a:ext cx="165506" cy="21031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44" name="Shape 242"/>
          <p:cNvSpPr/>
          <p:nvPr/>
        </p:nvSpPr>
        <p:spPr>
          <a:xfrm>
            <a:off x="3362249" y="3008376"/>
            <a:ext cx="165506" cy="21031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45" name="Shape 243"/>
          <p:cNvSpPr/>
          <p:nvPr/>
        </p:nvSpPr>
        <p:spPr>
          <a:xfrm>
            <a:off x="3549701" y="3008376"/>
            <a:ext cx="165506" cy="21031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46" name="Shape 244"/>
          <p:cNvSpPr/>
          <p:nvPr/>
        </p:nvSpPr>
        <p:spPr>
          <a:xfrm>
            <a:off x="3737153" y="3008376"/>
            <a:ext cx="165506" cy="21031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47" name="Shape 245"/>
          <p:cNvSpPr/>
          <p:nvPr/>
        </p:nvSpPr>
        <p:spPr>
          <a:xfrm>
            <a:off x="3924605" y="3008376"/>
            <a:ext cx="165506" cy="21031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48" name="Shape 246"/>
          <p:cNvSpPr/>
          <p:nvPr/>
        </p:nvSpPr>
        <p:spPr>
          <a:xfrm>
            <a:off x="4112057" y="3008376"/>
            <a:ext cx="165506" cy="21031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49" name="Shape 247"/>
          <p:cNvSpPr/>
          <p:nvPr/>
        </p:nvSpPr>
        <p:spPr>
          <a:xfrm>
            <a:off x="4299509" y="3008376"/>
            <a:ext cx="165506" cy="21031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50" name="Shape 248"/>
          <p:cNvSpPr/>
          <p:nvPr/>
        </p:nvSpPr>
        <p:spPr>
          <a:xfrm>
            <a:off x="4486961" y="3008376"/>
            <a:ext cx="165506" cy="21031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51" name="Shape 249"/>
          <p:cNvSpPr/>
          <p:nvPr/>
        </p:nvSpPr>
        <p:spPr>
          <a:xfrm>
            <a:off x="4674413" y="3008376"/>
            <a:ext cx="165506" cy="21031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52" name="Shape 250"/>
          <p:cNvSpPr/>
          <p:nvPr/>
        </p:nvSpPr>
        <p:spPr>
          <a:xfrm>
            <a:off x="4861865" y="3008376"/>
            <a:ext cx="165506" cy="21031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53" name="Shape 251"/>
          <p:cNvSpPr/>
          <p:nvPr/>
        </p:nvSpPr>
        <p:spPr>
          <a:xfrm>
            <a:off x="5049317" y="3008376"/>
            <a:ext cx="165506" cy="21031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54" name="Shape 252"/>
          <p:cNvSpPr/>
          <p:nvPr/>
        </p:nvSpPr>
        <p:spPr>
          <a:xfrm>
            <a:off x="5236769" y="3008376"/>
            <a:ext cx="165506" cy="21031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55" name="Shape 253"/>
          <p:cNvSpPr/>
          <p:nvPr/>
        </p:nvSpPr>
        <p:spPr>
          <a:xfrm>
            <a:off x="5424221" y="3008376"/>
            <a:ext cx="165506" cy="21031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56" name="Shape 254"/>
          <p:cNvSpPr/>
          <p:nvPr/>
        </p:nvSpPr>
        <p:spPr>
          <a:xfrm>
            <a:off x="5611673" y="3008376"/>
            <a:ext cx="165506" cy="21031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57" name="Shape 255"/>
          <p:cNvSpPr/>
          <p:nvPr/>
        </p:nvSpPr>
        <p:spPr>
          <a:xfrm>
            <a:off x="5799125" y="3008376"/>
            <a:ext cx="165506" cy="21031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58" name="Shape 256"/>
          <p:cNvSpPr/>
          <p:nvPr/>
        </p:nvSpPr>
        <p:spPr>
          <a:xfrm>
            <a:off x="5986577" y="3008376"/>
            <a:ext cx="165506" cy="21031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59" name="Shape 257"/>
          <p:cNvSpPr/>
          <p:nvPr/>
        </p:nvSpPr>
        <p:spPr>
          <a:xfrm>
            <a:off x="6174029" y="3008376"/>
            <a:ext cx="165506" cy="21031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60" name="Shape 258"/>
          <p:cNvSpPr/>
          <p:nvPr/>
        </p:nvSpPr>
        <p:spPr>
          <a:xfrm>
            <a:off x="6361481" y="3008376"/>
            <a:ext cx="165506" cy="21031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61" name="Shape 259"/>
          <p:cNvSpPr/>
          <p:nvPr/>
        </p:nvSpPr>
        <p:spPr>
          <a:xfrm>
            <a:off x="6548933" y="3008376"/>
            <a:ext cx="165506" cy="21031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62" name="Text 260"/>
          <p:cNvSpPr txBox="1"/>
          <p:nvPr/>
        </p:nvSpPr>
        <p:spPr>
          <a:xfrm>
            <a:off x="411480" y="3236976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9月</a:t>
            </a:r>
            <a:endParaRPr lang="en-US" sz="1000" dirty="0"/>
          </a:p>
        </p:txBody>
      </p:sp>
      <p:sp>
        <p:nvSpPr>
          <p:cNvPr id="263" name="Shape 261"/>
          <p:cNvSpPr/>
          <p:nvPr/>
        </p:nvSpPr>
        <p:spPr>
          <a:xfrm>
            <a:off x="925373" y="3255264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64" name="Shape 262"/>
          <p:cNvSpPr/>
          <p:nvPr/>
        </p:nvSpPr>
        <p:spPr>
          <a:xfrm>
            <a:off x="1112825" y="3255264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65" name="Shape 263"/>
          <p:cNvSpPr/>
          <p:nvPr/>
        </p:nvSpPr>
        <p:spPr>
          <a:xfrm>
            <a:off x="1300277" y="3255264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66" name="Shape 264"/>
          <p:cNvSpPr/>
          <p:nvPr/>
        </p:nvSpPr>
        <p:spPr>
          <a:xfrm>
            <a:off x="1487729" y="3255264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67" name="Shape 265"/>
          <p:cNvSpPr/>
          <p:nvPr/>
        </p:nvSpPr>
        <p:spPr>
          <a:xfrm>
            <a:off x="1675181" y="3255264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68" name="Shape 266"/>
          <p:cNvSpPr/>
          <p:nvPr/>
        </p:nvSpPr>
        <p:spPr>
          <a:xfrm>
            <a:off x="1862633" y="3255264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69" name="Shape 267"/>
          <p:cNvSpPr/>
          <p:nvPr/>
        </p:nvSpPr>
        <p:spPr>
          <a:xfrm>
            <a:off x="2050085" y="3255264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70" name="Shape 268"/>
          <p:cNvSpPr/>
          <p:nvPr/>
        </p:nvSpPr>
        <p:spPr>
          <a:xfrm>
            <a:off x="2237537" y="3255264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71" name="Shape 269"/>
          <p:cNvSpPr/>
          <p:nvPr/>
        </p:nvSpPr>
        <p:spPr>
          <a:xfrm>
            <a:off x="2424989" y="3255264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72" name="Shape 270"/>
          <p:cNvSpPr/>
          <p:nvPr/>
        </p:nvSpPr>
        <p:spPr>
          <a:xfrm>
            <a:off x="2612441" y="3255264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73" name="Shape 271"/>
          <p:cNvSpPr/>
          <p:nvPr/>
        </p:nvSpPr>
        <p:spPr>
          <a:xfrm>
            <a:off x="2799893" y="3255264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74" name="Shape 272"/>
          <p:cNvSpPr/>
          <p:nvPr/>
        </p:nvSpPr>
        <p:spPr>
          <a:xfrm>
            <a:off x="2987345" y="3255264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75" name="Shape 273"/>
          <p:cNvSpPr/>
          <p:nvPr/>
        </p:nvSpPr>
        <p:spPr>
          <a:xfrm>
            <a:off x="3174797" y="3255264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76" name="Shape 274"/>
          <p:cNvSpPr/>
          <p:nvPr/>
        </p:nvSpPr>
        <p:spPr>
          <a:xfrm>
            <a:off x="3362249" y="3255264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77" name="Shape 275"/>
          <p:cNvSpPr/>
          <p:nvPr/>
        </p:nvSpPr>
        <p:spPr>
          <a:xfrm>
            <a:off x="3549701" y="3255264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78" name="Shape 276"/>
          <p:cNvSpPr/>
          <p:nvPr/>
        </p:nvSpPr>
        <p:spPr>
          <a:xfrm>
            <a:off x="3737153" y="3255264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79" name="Shape 277"/>
          <p:cNvSpPr/>
          <p:nvPr/>
        </p:nvSpPr>
        <p:spPr>
          <a:xfrm>
            <a:off x="3924605" y="3255264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80" name="Shape 278"/>
          <p:cNvSpPr/>
          <p:nvPr/>
        </p:nvSpPr>
        <p:spPr>
          <a:xfrm>
            <a:off x="4112057" y="3255264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81" name="Shape 279"/>
          <p:cNvSpPr/>
          <p:nvPr/>
        </p:nvSpPr>
        <p:spPr>
          <a:xfrm>
            <a:off x="4299509" y="3255264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82" name="Shape 280"/>
          <p:cNvSpPr/>
          <p:nvPr/>
        </p:nvSpPr>
        <p:spPr>
          <a:xfrm>
            <a:off x="4486961" y="3255264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83" name="Shape 281"/>
          <p:cNvSpPr/>
          <p:nvPr/>
        </p:nvSpPr>
        <p:spPr>
          <a:xfrm>
            <a:off x="4674413" y="3255264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84" name="Shape 282"/>
          <p:cNvSpPr/>
          <p:nvPr/>
        </p:nvSpPr>
        <p:spPr>
          <a:xfrm>
            <a:off x="4861865" y="3255264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85" name="Shape 283"/>
          <p:cNvSpPr/>
          <p:nvPr/>
        </p:nvSpPr>
        <p:spPr>
          <a:xfrm>
            <a:off x="5049317" y="3255264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86" name="Shape 284"/>
          <p:cNvSpPr/>
          <p:nvPr/>
        </p:nvSpPr>
        <p:spPr>
          <a:xfrm>
            <a:off x="5236769" y="3255264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87" name="Shape 285"/>
          <p:cNvSpPr/>
          <p:nvPr/>
        </p:nvSpPr>
        <p:spPr>
          <a:xfrm>
            <a:off x="5424221" y="3255264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88" name="Shape 286"/>
          <p:cNvSpPr/>
          <p:nvPr/>
        </p:nvSpPr>
        <p:spPr>
          <a:xfrm>
            <a:off x="5611673" y="3255264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89" name="Shape 287"/>
          <p:cNvSpPr/>
          <p:nvPr/>
        </p:nvSpPr>
        <p:spPr>
          <a:xfrm>
            <a:off x="5799125" y="3255264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90" name="Shape 288"/>
          <p:cNvSpPr/>
          <p:nvPr/>
        </p:nvSpPr>
        <p:spPr>
          <a:xfrm>
            <a:off x="5986577" y="3255264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91" name="Shape 289"/>
          <p:cNvSpPr/>
          <p:nvPr/>
        </p:nvSpPr>
        <p:spPr>
          <a:xfrm>
            <a:off x="6174029" y="3255264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92" name="Shape 290"/>
          <p:cNvSpPr/>
          <p:nvPr/>
        </p:nvSpPr>
        <p:spPr>
          <a:xfrm>
            <a:off x="6361481" y="3255264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93" name="Text 291"/>
          <p:cNvSpPr txBox="1"/>
          <p:nvPr/>
        </p:nvSpPr>
        <p:spPr>
          <a:xfrm>
            <a:off x="411480" y="3483864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10月</a:t>
            </a:r>
            <a:endParaRPr lang="en-US" sz="1000" dirty="0"/>
          </a:p>
        </p:txBody>
      </p:sp>
      <p:sp>
        <p:nvSpPr>
          <p:cNvPr id="294" name="Shape 292"/>
          <p:cNvSpPr/>
          <p:nvPr/>
        </p:nvSpPr>
        <p:spPr>
          <a:xfrm>
            <a:off x="925373" y="3502152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95" name="Shape 293"/>
          <p:cNvSpPr/>
          <p:nvPr/>
        </p:nvSpPr>
        <p:spPr>
          <a:xfrm>
            <a:off x="1112825" y="3502152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96" name="Shape 294"/>
          <p:cNvSpPr/>
          <p:nvPr/>
        </p:nvSpPr>
        <p:spPr>
          <a:xfrm>
            <a:off x="1300277" y="3502152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97" name="Shape 295"/>
          <p:cNvSpPr/>
          <p:nvPr/>
        </p:nvSpPr>
        <p:spPr>
          <a:xfrm>
            <a:off x="1487729" y="3502152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98" name="Shape 296"/>
          <p:cNvSpPr/>
          <p:nvPr/>
        </p:nvSpPr>
        <p:spPr>
          <a:xfrm>
            <a:off x="1675181" y="3502152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99" name="Shape 297"/>
          <p:cNvSpPr/>
          <p:nvPr/>
        </p:nvSpPr>
        <p:spPr>
          <a:xfrm>
            <a:off x="1862633" y="3502152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00" name="Shape 298"/>
          <p:cNvSpPr/>
          <p:nvPr/>
        </p:nvSpPr>
        <p:spPr>
          <a:xfrm>
            <a:off x="2050085" y="3502152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01" name="Shape 299"/>
          <p:cNvSpPr/>
          <p:nvPr/>
        </p:nvSpPr>
        <p:spPr>
          <a:xfrm>
            <a:off x="2237537" y="3502152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02" name="Shape 300"/>
          <p:cNvSpPr/>
          <p:nvPr/>
        </p:nvSpPr>
        <p:spPr>
          <a:xfrm>
            <a:off x="2424989" y="3502152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03" name="Shape 301"/>
          <p:cNvSpPr/>
          <p:nvPr/>
        </p:nvSpPr>
        <p:spPr>
          <a:xfrm>
            <a:off x="2612441" y="3502152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04" name="Shape 302"/>
          <p:cNvSpPr/>
          <p:nvPr/>
        </p:nvSpPr>
        <p:spPr>
          <a:xfrm>
            <a:off x="2799893" y="3502152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05" name="Shape 303"/>
          <p:cNvSpPr/>
          <p:nvPr/>
        </p:nvSpPr>
        <p:spPr>
          <a:xfrm>
            <a:off x="2987345" y="3502152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06" name="Shape 304"/>
          <p:cNvSpPr/>
          <p:nvPr/>
        </p:nvSpPr>
        <p:spPr>
          <a:xfrm>
            <a:off x="3174797" y="3502152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07" name="Shape 305"/>
          <p:cNvSpPr/>
          <p:nvPr/>
        </p:nvSpPr>
        <p:spPr>
          <a:xfrm>
            <a:off x="3362249" y="3502152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08" name="Shape 306"/>
          <p:cNvSpPr/>
          <p:nvPr/>
        </p:nvSpPr>
        <p:spPr>
          <a:xfrm>
            <a:off x="3549701" y="3502152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09" name="Shape 307"/>
          <p:cNvSpPr/>
          <p:nvPr/>
        </p:nvSpPr>
        <p:spPr>
          <a:xfrm>
            <a:off x="3737153" y="3502152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10" name="Shape 308"/>
          <p:cNvSpPr/>
          <p:nvPr/>
        </p:nvSpPr>
        <p:spPr>
          <a:xfrm>
            <a:off x="3924605" y="3502152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11" name="Shape 309"/>
          <p:cNvSpPr/>
          <p:nvPr/>
        </p:nvSpPr>
        <p:spPr>
          <a:xfrm>
            <a:off x="4112057" y="3502152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12" name="Shape 310"/>
          <p:cNvSpPr/>
          <p:nvPr/>
        </p:nvSpPr>
        <p:spPr>
          <a:xfrm>
            <a:off x="4299509" y="3502152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13" name="Shape 311"/>
          <p:cNvSpPr/>
          <p:nvPr/>
        </p:nvSpPr>
        <p:spPr>
          <a:xfrm>
            <a:off x="4486961" y="3502152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14" name="Shape 312"/>
          <p:cNvSpPr/>
          <p:nvPr/>
        </p:nvSpPr>
        <p:spPr>
          <a:xfrm>
            <a:off x="4674413" y="3502152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15" name="Shape 313"/>
          <p:cNvSpPr/>
          <p:nvPr/>
        </p:nvSpPr>
        <p:spPr>
          <a:xfrm>
            <a:off x="4861865" y="3502152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16" name="Shape 314"/>
          <p:cNvSpPr/>
          <p:nvPr/>
        </p:nvSpPr>
        <p:spPr>
          <a:xfrm>
            <a:off x="5049317" y="3502152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17" name="Shape 315"/>
          <p:cNvSpPr/>
          <p:nvPr/>
        </p:nvSpPr>
        <p:spPr>
          <a:xfrm>
            <a:off x="5236769" y="3502152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18" name="Shape 316"/>
          <p:cNvSpPr/>
          <p:nvPr/>
        </p:nvSpPr>
        <p:spPr>
          <a:xfrm>
            <a:off x="5424221" y="3502152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19" name="Shape 317"/>
          <p:cNvSpPr/>
          <p:nvPr/>
        </p:nvSpPr>
        <p:spPr>
          <a:xfrm>
            <a:off x="5611673" y="3502152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20" name="Shape 318"/>
          <p:cNvSpPr/>
          <p:nvPr/>
        </p:nvSpPr>
        <p:spPr>
          <a:xfrm>
            <a:off x="5799125" y="3502152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21" name="Shape 319"/>
          <p:cNvSpPr/>
          <p:nvPr/>
        </p:nvSpPr>
        <p:spPr>
          <a:xfrm>
            <a:off x="5986577" y="3502152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22" name="Shape 320"/>
          <p:cNvSpPr/>
          <p:nvPr/>
        </p:nvSpPr>
        <p:spPr>
          <a:xfrm>
            <a:off x="6174029" y="3502152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23" name="Shape 321"/>
          <p:cNvSpPr/>
          <p:nvPr/>
        </p:nvSpPr>
        <p:spPr>
          <a:xfrm>
            <a:off x="6361481" y="3502152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24" name="Shape 322"/>
          <p:cNvSpPr/>
          <p:nvPr/>
        </p:nvSpPr>
        <p:spPr>
          <a:xfrm>
            <a:off x="6548933" y="3502152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25" name="Text 323"/>
          <p:cNvSpPr txBox="1"/>
          <p:nvPr/>
        </p:nvSpPr>
        <p:spPr>
          <a:xfrm>
            <a:off x="411480" y="3730752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11月</a:t>
            </a:r>
            <a:endParaRPr lang="en-US" sz="1000" dirty="0"/>
          </a:p>
        </p:txBody>
      </p:sp>
      <p:sp>
        <p:nvSpPr>
          <p:cNvPr id="326" name="Shape 324"/>
          <p:cNvSpPr/>
          <p:nvPr/>
        </p:nvSpPr>
        <p:spPr>
          <a:xfrm>
            <a:off x="925373" y="3749040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27" name="Shape 325"/>
          <p:cNvSpPr/>
          <p:nvPr/>
        </p:nvSpPr>
        <p:spPr>
          <a:xfrm>
            <a:off x="1112825" y="3749040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28" name="Shape 326"/>
          <p:cNvSpPr/>
          <p:nvPr/>
        </p:nvSpPr>
        <p:spPr>
          <a:xfrm>
            <a:off x="1300277" y="3749040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29" name="Shape 327"/>
          <p:cNvSpPr/>
          <p:nvPr/>
        </p:nvSpPr>
        <p:spPr>
          <a:xfrm>
            <a:off x="1487729" y="3749040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30" name="Shape 328"/>
          <p:cNvSpPr/>
          <p:nvPr/>
        </p:nvSpPr>
        <p:spPr>
          <a:xfrm>
            <a:off x="1675181" y="3749040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31" name="Shape 329"/>
          <p:cNvSpPr/>
          <p:nvPr/>
        </p:nvSpPr>
        <p:spPr>
          <a:xfrm>
            <a:off x="1862633" y="3749040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32" name="Shape 330"/>
          <p:cNvSpPr/>
          <p:nvPr/>
        </p:nvSpPr>
        <p:spPr>
          <a:xfrm>
            <a:off x="2050085" y="3749040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33" name="Shape 331"/>
          <p:cNvSpPr/>
          <p:nvPr/>
        </p:nvSpPr>
        <p:spPr>
          <a:xfrm>
            <a:off x="2237537" y="3749040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34" name="Shape 332"/>
          <p:cNvSpPr/>
          <p:nvPr/>
        </p:nvSpPr>
        <p:spPr>
          <a:xfrm>
            <a:off x="2424989" y="3749040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35" name="Shape 333"/>
          <p:cNvSpPr/>
          <p:nvPr/>
        </p:nvSpPr>
        <p:spPr>
          <a:xfrm>
            <a:off x="2612441" y="3749040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36" name="Shape 334"/>
          <p:cNvSpPr/>
          <p:nvPr/>
        </p:nvSpPr>
        <p:spPr>
          <a:xfrm>
            <a:off x="2799893" y="3749040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37" name="Shape 335"/>
          <p:cNvSpPr/>
          <p:nvPr/>
        </p:nvSpPr>
        <p:spPr>
          <a:xfrm>
            <a:off x="2987345" y="3749040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38" name="Shape 336"/>
          <p:cNvSpPr/>
          <p:nvPr/>
        </p:nvSpPr>
        <p:spPr>
          <a:xfrm>
            <a:off x="3174797" y="3749040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39" name="Shape 337"/>
          <p:cNvSpPr/>
          <p:nvPr/>
        </p:nvSpPr>
        <p:spPr>
          <a:xfrm>
            <a:off x="3362249" y="3749040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40" name="Shape 338"/>
          <p:cNvSpPr/>
          <p:nvPr/>
        </p:nvSpPr>
        <p:spPr>
          <a:xfrm>
            <a:off x="3549701" y="3749040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41" name="Shape 339"/>
          <p:cNvSpPr/>
          <p:nvPr/>
        </p:nvSpPr>
        <p:spPr>
          <a:xfrm>
            <a:off x="3737153" y="3749040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42" name="Shape 340"/>
          <p:cNvSpPr/>
          <p:nvPr/>
        </p:nvSpPr>
        <p:spPr>
          <a:xfrm>
            <a:off x="3924605" y="3749040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43" name="Shape 341"/>
          <p:cNvSpPr/>
          <p:nvPr/>
        </p:nvSpPr>
        <p:spPr>
          <a:xfrm>
            <a:off x="4112057" y="3749040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44" name="Shape 342"/>
          <p:cNvSpPr/>
          <p:nvPr/>
        </p:nvSpPr>
        <p:spPr>
          <a:xfrm>
            <a:off x="4299509" y="3749040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45" name="Shape 343"/>
          <p:cNvSpPr/>
          <p:nvPr/>
        </p:nvSpPr>
        <p:spPr>
          <a:xfrm>
            <a:off x="4486961" y="3749040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46" name="Shape 344"/>
          <p:cNvSpPr/>
          <p:nvPr/>
        </p:nvSpPr>
        <p:spPr>
          <a:xfrm>
            <a:off x="4674413" y="3749040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47" name="Shape 345"/>
          <p:cNvSpPr/>
          <p:nvPr/>
        </p:nvSpPr>
        <p:spPr>
          <a:xfrm>
            <a:off x="4861865" y="3749040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48" name="Shape 346"/>
          <p:cNvSpPr/>
          <p:nvPr/>
        </p:nvSpPr>
        <p:spPr>
          <a:xfrm>
            <a:off x="5049317" y="3749040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49" name="Shape 347"/>
          <p:cNvSpPr/>
          <p:nvPr/>
        </p:nvSpPr>
        <p:spPr>
          <a:xfrm>
            <a:off x="5236769" y="3749040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50" name="Shape 348"/>
          <p:cNvSpPr/>
          <p:nvPr/>
        </p:nvSpPr>
        <p:spPr>
          <a:xfrm>
            <a:off x="5424221" y="3749040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51" name="Shape 349"/>
          <p:cNvSpPr/>
          <p:nvPr/>
        </p:nvSpPr>
        <p:spPr>
          <a:xfrm>
            <a:off x="5611673" y="3749040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52" name="Shape 350"/>
          <p:cNvSpPr/>
          <p:nvPr/>
        </p:nvSpPr>
        <p:spPr>
          <a:xfrm>
            <a:off x="5799125" y="3749040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53" name="Shape 351"/>
          <p:cNvSpPr/>
          <p:nvPr/>
        </p:nvSpPr>
        <p:spPr>
          <a:xfrm>
            <a:off x="5986577" y="3749040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54" name="Shape 352"/>
          <p:cNvSpPr/>
          <p:nvPr/>
        </p:nvSpPr>
        <p:spPr>
          <a:xfrm>
            <a:off x="6174029" y="3749040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55" name="Shape 353"/>
          <p:cNvSpPr/>
          <p:nvPr/>
        </p:nvSpPr>
        <p:spPr>
          <a:xfrm>
            <a:off x="6361481" y="3749040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56" name="Text 354"/>
          <p:cNvSpPr txBox="1"/>
          <p:nvPr/>
        </p:nvSpPr>
        <p:spPr>
          <a:xfrm>
            <a:off x="411480" y="3977640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12月</a:t>
            </a:r>
            <a:endParaRPr lang="en-US" sz="1000" dirty="0"/>
          </a:p>
        </p:txBody>
      </p:sp>
      <p:sp>
        <p:nvSpPr>
          <p:cNvPr id="357" name="Shape 355"/>
          <p:cNvSpPr/>
          <p:nvPr/>
        </p:nvSpPr>
        <p:spPr>
          <a:xfrm>
            <a:off x="925373" y="3995928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58" name="Shape 356"/>
          <p:cNvSpPr/>
          <p:nvPr/>
        </p:nvSpPr>
        <p:spPr>
          <a:xfrm>
            <a:off x="1112825" y="3995928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59" name="Shape 357"/>
          <p:cNvSpPr/>
          <p:nvPr/>
        </p:nvSpPr>
        <p:spPr>
          <a:xfrm>
            <a:off x="1300277" y="3995928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60" name="Shape 358"/>
          <p:cNvSpPr/>
          <p:nvPr/>
        </p:nvSpPr>
        <p:spPr>
          <a:xfrm>
            <a:off x="1487729" y="3995928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61" name="Shape 359"/>
          <p:cNvSpPr/>
          <p:nvPr/>
        </p:nvSpPr>
        <p:spPr>
          <a:xfrm>
            <a:off x="1675181" y="3995928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62" name="Shape 360"/>
          <p:cNvSpPr/>
          <p:nvPr/>
        </p:nvSpPr>
        <p:spPr>
          <a:xfrm>
            <a:off x="1862633" y="3995928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63" name="Shape 361"/>
          <p:cNvSpPr/>
          <p:nvPr/>
        </p:nvSpPr>
        <p:spPr>
          <a:xfrm>
            <a:off x="2050085" y="3995928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64" name="Shape 362"/>
          <p:cNvSpPr/>
          <p:nvPr/>
        </p:nvSpPr>
        <p:spPr>
          <a:xfrm>
            <a:off x="2237537" y="3995928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65" name="Shape 363"/>
          <p:cNvSpPr/>
          <p:nvPr/>
        </p:nvSpPr>
        <p:spPr>
          <a:xfrm>
            <a:off x="2424989" y="3995928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66" name="Shape 364"/>
          <p:cNvSpPr/>
          <p:nvPr/>
        </p:nvSpPr>
        <p:spPr>
          <a:xfrm>
            <a:off x="2612441" y="3995928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67" name="Shape 365"/>
          <p:cNvSpPr/>
          <p:nvPr/>
        </p:nvSpPr>
        <p:spPr>
          <a:xfrm>
            <a:off x="2799893" y="3995928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68" name="Shape 366"/>
          <p:cNvSpPr/>
          <p:nvPr/>
        </p:nvSpPr>
        <p:spPr>
          <a:xfrm>
            <a:off x="2987345" y="3995928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69" name="Shape 367"/>
          <p:cNvSpPr/>
          <p:nvPr/>
        </p:nvSpPr>
        <p:spPr>
          <a:xfrm>
            <a:off x="3174797" y="3995928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70" name="Shape 368"/>
          <p:cNvSpPr/>
          <p:nvPr/>
        </p:nvSpPr>
        <p:spPr>
          <a:xfrm>
            <a:off x="3362249" y="3995928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71" name="Shape 369"/>
          <p:cNvSpPr/>
          <p:nvPr/>
        </p:nvSpPr>
        <p:spPr>
          <a:xfrm>
            <a:off x="3549701" y="3995928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72" name="Shape 370"/>
          <p:cNvSpPr/>
          <p:nvPr/>
        </p:nvSpPr>
        <p:spPr>
          <a:xfrm>
            <a:off x="3737153" y="3995928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73" name="Shape 371"/>
          <p:cNvSpPr/>
          <p:nvPr/>
        </p:nvSpPr>
        <p:spPr>
          <a:xfrm>
            <a:off x="3924605" y="3995928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74" name="Shape 372"/>
          <p:cNvSpPr/>
          <p:nvPr/>
        </p:nvSpPr>
        <p:spPr>
          <a:xfrm>
            <a:off x="4112057" y="3995928"/>
            <a:ext cx="165506" cy="2103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75" name="Shape 373"/>
          <p:cNvSpPr/>
          <p:nvPr/>
        </p:nvSpPr>
        <p:spPr>
          <a:xfrm>
            <a:off x="4299509" y="3995928"/>
            <a:ext cx="165506" cy="21031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376" name="Shape 374"/>
          <p:cNvSpPr/>
          <p:nvPr/>
        </p:nvSpPr>
        <p:spPr>
          <a:xfrm>
            <a:off x="4486961" y="3995928"/>
            <a:ext cx="165506" cy="21031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377" name="Shape 375"/>
          <p:cNvSpPr/>
          <p:nvPr/>
        </p:nvSpPr>
        <p:spPr>
          <a:xfrm>
            <a:off x="4674413" y="3995928"/>
            <a:ext cx="165506" cy="21031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378" name="Shape 376"/>
          <p:cNvSpPr/>
          <p:nvPr/>
        </p:nvSpPr>
        <p:spPr>
          <a:xfrm>
            <a:off x="4861865" y="3995928"/>
            <a:ext cx="165506" cy="21031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379" name="Shape 377"/>
          <p:cNvSpPr/>
          <p:nvPr/>
        </p:nvSpPr>
        <p:spPr>
          <a:xfrm>
            <a:off x="5049317" y="3995928"/>
            <a:ext cx="165506" cy="21031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380" name="Shape 378"/>
          <p:cNvSpPr/>
          <p:nvPr/>
        </p:nvSpPr>
        <p:spPr>
          <a:xfrm>
            <a:off x="5236769" y="3995928"/>
            <a:ext cx="165506" cy="21031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381" name="Shape 379"/>
          <p:cNvSpPr/>
          <p:nvPr/>
        </p:nvSpPr>
        <p:spPr>
          <a:xfrm>
            <a:off x="5424221" y="3995928"/>
            <a:ext cx="165506" cy="21031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382" name="Shape 380"/>
          <p:cNvSpPr/>
          <p:nvPr/>
        </p:nvSpPr>
        <p:spPr>
          <a:xfrm>
            <a:off x="5611673" y="3995928"/>
            <a:ext cx="165506" cy="21031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83" name="Shape 381"/>
          <p:cNvSpPr/>
          <p:nvPr/>
        </p:nvSpPr>
        <p:spPr>
          <a:xfrm>
            <a:off x="5799125" y="3995928"/>
            <a:ext cx="165506" cy="21031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84" name="Shape 382"/>
          <p:cNvSpPr/>
          <p:nvPr/>
        </p:nvSpPr>
        <p:spPr>
          <a:xfrm>
            <a:off x="5986577" y="3995928"/>
            <a:ext cx="165506" cy="21031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85" name="Shape 383"/>
          <p:cNvSpPr/>
          <p:nvPr/>
        </p:nvSpPr>
        <p:spPr>
          <a:xfrm>
            <a:off x="6174029" y="3995928"/>
            <a:ext cx="165506" cy="21031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86" name="Shape 384"/>
          <p:cNvSpPr/>
          <p:nvPr/>
        </p:nvSpPr>
        <p:spPr>
          <a:xfrm>
            <a:off x="6361481" y="3995928"/>
            <a:ext cx="165506" cy="21031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87" name="Shape 385"/>
          <p:cNvSpPr/>
          <p:nvPr/>
        </p:nvSpPr>
        <p:spPr>
          <a:xfrm>
            <a:off x="6548933" y="3995928"/>
            <a:ext cx="165506" cy="21031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88" name="Shape 386"/>
          <p:cNvSpPr/>
          <p:nvPr/>
        </p:nvSpPr>
        <p:spPr>
          <a:xfrm>
            <a:off x="6995160" y="1280160"/>
            <a:ext cx="237744" cy="23774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89" name="Text 387"/>
          <p:cNvSpPr txBox="1"/>
          <p:nvPr/>
        </p:nvSpPr>
        <p:spPr>
          <a:xfrm>
            <a:off x="7342632" y="124358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ピーク1　140%</a:t>
            </a:r>
            <a:endParaRPr lang="en-US" sz="1200" dirty="0"/>
          </a:p>
        </p:txBody>
      </p:sp>
      <p:sp>
        <p:nvSpPr>
          <p:cNvPr id="390" name="Shape 388"/>
          <p:cNvSpPr/>
          <p:nvPr/>
        </p:nvSpPr>
        <p:spPr>
          <a:xfrm>
            <a:off x="6995160" y="1664208"/>
            <a:ext cx="237744" cy="23774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391" name="Text 389"/>
          <p:cNvSpPr txBox="1"/>
          <p:nvPr/>
        </p:nvSpPr>
        <p:spPr>
          <a:xfrm>
            <a:off x="7342632" y="162763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ピーク2　125%</a:t>
            </a:r>
            <a:endParaRPr lang="en-US" sz="1200" dirty="0"/>
          </a:p>
        </p:txBody>
      </p:sp>
      <p:sp>
        <p:nvSpPr>
          <p:cNvPr id="392" name="Shape 390"/>
          <p:cNvSpPr/>
          <p:nvPr/>
        </p:nvSpPr>
        <p:spPr>
          <a:xfrm>
            <a:off x="6995160" y="2048256"/>
            <a:ext cx="237744" cy="23774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93" name="Text 391"/>
          <p:cNvSpPr txBox="1"/>
          <p:nvPr/>
        </p:nvSpPr>
        <p:spPr>
          <a:xfrm>
            <a:off x="7342632" y="201168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通常時　100%</a:t>
            </a:r>
            <a:endParaRPr lang="en-US" sz="1200" dirty="0"/>
          </a:p>
        </p:txBody>
      </p:sp>
      <p:sp>
        <p:nvSpPr>
          <p:cNvPr id="394" name="calnote"/>
          <p:cNvSpPr/>
          <p:nvPr/>
        </p:nvSpPr>
        <p:spPr>
          <a:xfrm>
            <a:off x="6995160" y="2606040"/>
            <a:ext cx="16916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2A41">
                <a:alpha val="15000"/>
              </a:srgbClr>
            </a:outerShdw>
          </a:effectLst>
        </p:spPr>
      </p:sp>
      <p:sp>
        <p:nvSpPr>
          <p:cNvPr id="395" name="Text 393"/>
          <p:cNvSpPr txBox="1"/>
          <p:nvPr/>
        </p:nvSpPr>
        <p:spPr>
          <a:xfrm>
            <a:off x="7132320" y="269748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「〜」は両端を含む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1/5 はピーク1、1/6 から通常時（HD-012）</a:t>
            </a:r>
            <a:endParaRPr lang="en-US" sz="10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2月29日（薄色）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うるう年のみテスト（HD-007）</a:t>
            </a:r>
            <a:endParaRPr lang="en-US" sz="1000" dirty="0"/>
          </a:p>
        </p:txBody>
      </p:sp>
      <p:sp>
        <p:nvSpPr>
          <p:cNvPr id="396" name="Text 394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判定に使う日付は搭乗日（HD-013）／ 終わりの月が省略された期間は開始日と同じ月（HD-014）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仕様にない部分は人間の決定（HD）で補った</a:t>
            </a:r>
            <a:endParaRPr lang="en-US" sz="2600" dirty="0"/>
          </a:p>
        </p:txBody>
      </p:sp>
      <p:sp>
        <p:nvSpPr>
          <p:cNvPr id="3" name="HD-001"/>
          <p:cNvSpPr/>
          <p:nvPr/>
        </p:nvSpPr>
        <p:spPr>
          <a:xfrm>
            <a:off x="457200" y="1051560"/>
            <a:ext cx="26060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2A41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23444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335024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HD-001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76479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区間の基本料金は 10,000円 で計算する</a:t>
            </a:r>
            <a:endParaRPr lang="en-US" sz="1200" dirty="0"/>
          </a:p>
        </p:txBody>
      </p:sp>
      <p:sp>
        <p:nvSpPr>
          <p:cNvPr id="8" name="HD-002"/>
          <p:cNvSpPr/>
          <p:nvPr/>
        </p:nvSpPr>
        <p:spPr>
          <a:xfrm>
            <a:off x="3246120" y="1051560"/>
            <a:ext cx="26060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2A41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429000" y="123444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9584" y="133502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2336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HD-002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429000" y="176479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割引額は 0円 → 運賃 ＝ 基本運賃の切り上げ</a:t>
            </a:r>
            <a:endParaRPr lang="en-US" sz="1200" dirty="0"/>
          </a:p>
        </p:txBody>
      </p:sp>
      <p:sp>
        <p:nvSpPr>
          <p:cNvPr id="13" name="HD-012"/>
          <p:cNvSpPr/>
          <p:nvPr/>
        </p:nvSpPr>
        <p:spPr>
          <a:xfrm>
            <a:off x="6035040" y="1051560"/>
            <a:ext cx="26060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2A41">
                <a:alpha val="1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217920" y="1234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4" y="1335024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81228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HD-012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217920" y="176479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「〜」は期間の両端を含む</a:t>
            </a:r>
            <a:endParaRPr lang="en-US" sz="1200" dirty="0"/>
          </a:p>
        </p:txBody>
      </p:sp>
      <p:sp>
        <p:nvSpPr>
          <p:cNvPr id="18" name="HD-013"/>
          <p:cNvSpPr/>
          <p:nvPr/>
        </p:nvSpPr>
        <p:spPr>
          <a:xfrm>
            <a:off x="457200" y="2606040"/>
            <a:ext cx="26060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2A41">
                <a:alpha val="1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40080" y="27889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2889504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34440" y="2788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HD-013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640080" y="331927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時期区分は 搭乗日 で判定する</a:t>
            </a:r>
            <a:endParaRPr lang="en-US" sz="1200" dirty="0"/>
          </a:p>
        </p:txBody>
      </p:sp>
      <p:sp>
        <p:nvSpPr>
          <p:cNvPr id="23" name="HD-010"/>
          <p:cNvSpPr/>
          <p:nvPr/>
        </p:nvSpPr>
        <p:spPr>
          <a:xfrm>
            <a:off x="3246120" y="2606040"/>
            <a:ext cx="26060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2A41">
                <a:alpha val="15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3429000" y="278892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9584" y="2889504"/>
            <a:ext cx="256032" cy="25603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023360" y="2788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HD-010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3429000" y="331927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円未満の端数も、運賃にそのまま100円未満切り上げ</a:t>
            </a:r>
            <a:endParaRPr lang="en-US" sz="1200" dirty="0"/>
          </a:p>
        </p:txBody>
      </p:sp>
      <p:sp>
        <p:nvSpPr>
          <p:cNvPr id="28" name="HD-008"/>
          <p:cNvSpPr/>
          <p:nvPr/>
        </p:nvSpPr>
        <p:spPr>
          <a:xfrm>
            <a:off x="6035040" y="2606040"/>
            <a:ext cx="26060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2A41">
                <a:alpha val="15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217920" y="278892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8504" y="2889504"/>
            <a:ext cx="256032" cy="256032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812280" y="2788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HD-008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6217920" y="331927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端数処理は仮の値（切り上げ前の運賃）でテストする</a:t>
            </a:r>
            <a:endParaRPr lang="en-US" sz="1200" dirty="0"/>
          </a:p>
        </p:txBody>
      </p:sp>
      <p:sp>
        <p:nvSpPr>
          <p:cNvPr id="33" name="Text 25"/>
          <p:cNvSpPr txBox="1"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仕様の不明点 U-001〜U-014 に対し、HD-001〜HD-018 を決定（2026-10-05 人間の指示）。主なものを掲載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574" y="1258214"/>
            <a:ext cx="409651" cy="409651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20116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2. テストケースを見る</a:t>
            </a:r>
            <a:endParaRPr lang="en-US" sz="32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2834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66件を4つのシナリオに分けて解説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66件は4つのシナリオで構成される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960120"/>
          <a:ext cx="35661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1463040" y="219456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66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件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297680" y="1161288"/>
            <a:ext cx="201168" cy="201168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4617720" y="10515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① 搭乗クラス × 時期区分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772400" y="10515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6件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617720" y="1435608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TC-001〜006　／　デシジョンテーブル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97680" y="2029968"/>
            <a:ext cx="201168" cy="20116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617720" y="19202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② 期間ごとの代表値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772400" y="19202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9件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617720" y="2304288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TC-007〜010, 014〜018　／　同値分割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297680" y="2898648"/>
            <a:ext cx="201168" cy="20116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617720" y="2788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③ 期間の境界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0" y="27889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44件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4617720" y="3172968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TC-019〜062　／　境界値分析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297680" y="3767328"/>
            <a:ext cx="201168" cy="201168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617720" y="36576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④ 100円未満の切り上げ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7772400" y="36576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7件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4617720" y="4041648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TC-063〜069　／　同値分割・境界値・DT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① クラス × 時期区分の全6通りを確かめる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737360" y="1051560"/>
            <a:ext cx="160020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737360" y="10515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ピーク1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8月13日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429000" y="1051560"/>
            <a:ext cx="1600200" cy="54864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429000" y="10515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ピーク2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7月28日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120640" y="1051560"/>
            <a:ext cx="1600200" cy="548640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120640" y="10515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通常時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5月15日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1188720" cy="960120"/>
          </a:xfrm>
          <a:prstGeom prst="roundRect">
            <a:avLst>
              <a:gd name="adj" fmla="val 7619"/>
            </a:avLst>
          </a:prstGeom>
          <a:solidFill>
            <a:schemeClr val="tx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1691640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一般席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737360" y="1691640"/>
            <a:ext cx="160020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737360" y="180136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14,000円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737360" y="22402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TC-001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29000" y="1691640"/>
            <a:ext cx="160020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429000" y="180136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12,500円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22402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TC-002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120640" y="1691640"/>
            <a:ext cx="160020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120640" y="180136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10,000円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120640" y="22402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TC-003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743200"/>
            <a:ext cx="1188720" cy="960120"/>
          </a:xfrm>
          <a:prstGeom prst="roundRect">
            <a:avLst>
              <a:gd name="adj" fmla="val 7619"/>
            </a:avLst>
          </a:prstGeom>
          <a:solidFill>
            <a:schemeClr val="tx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7200" y="2743200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特別席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737360" y="2743200"/>
            <a:ext cx="160020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737360" y="28529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21,000円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1737360" y="3291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TC-004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29000" y="2743200"/>
            <a:ext cx="160020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429000" y="28529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18,800円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3429000" y="3291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TC-005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120640" y="2743200"/>
            <a:ext cx="160020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120640" y="28529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15,000円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5120640" y="3291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TC-006</a:t>
            </a:r>
            <a:endParaRPr lang="en-US" sz="1100" dirty="0"/>
          </a:p>
        </p:txBody>
      </p:sp>
      <p:sp>
        <p:nvSpPr>
          <p:cNvPr id="31" name="tc005"/>
          <p:cNvSpPr/>
          <p:nvPr/>
        </p:nvSpPr>
        <p:spPr>
          <a:xfrm>
            <a:off x="6949440" y="1051560"/>
            <a:ext cx="1737360" cy="26517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2A41">
                <a:alpha val="15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7086600" y="1143000"/>
            <a:ext cx="1508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TC-005 に注目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15,000 × 125%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＝ 18,750円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→ 18,800円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実際の入力で切り上げが起きるケース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4069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TC-001〜003 は、②の期間代表値（旧 TC-011〜013）も兼ねる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43891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根拠：DT-001〜DT-006 ／ BR-001〜BR-011 ／ 基本料金 10,000円・割引 0円（HD-001, HD-002）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② 各期間から代表日を1日ずつ選ぶ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2331720"/>
            <a:ext cx="110229" cy="3657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Shape 2"/>
          <p:cNvSpPr/>
          <p:nvPr/>
        </p:nvSpPr>
        <p:spPr>
          <a:xfrm>
            <a:off x="658869" y="2331720"/>
            <a:ext cx="1455023" cy="36576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" name="Shape 3"/>
          <p:cNvSpPr/>
          <p:nvPr/>
        </p:nvSpPr>
        <p:spPr>
          <a:xfrm>
            <a:off x="2113892" y="2331720"/>
            <a:ext cx="154321" cy="36576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2268213" y="2331720"/>
            <a:ext cx="264550" cy="3657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Shape 5"/>
          <p:cNvSpPr/>
          <p:nvPr/>
        </p:nvSpPr>
        <p:spPr>
          <a:xfrm>
            <a:off x="2532763" y="2331720"/>
            <a:ext cx="2380947" cy="36576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8" name="Shape 6"/>
          <p:cNvSpPr/>
          <p:nvPr/>
        </p:nvSpPr>
        <p:spPr>
          <a:xfrm>
            <a:off x="4913710" y="2331720"/>
            <a:ext cx="462962" cy="36576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9" name="Shape 7"/>
          <p:cNvSpPr/>
          <p:nvPr/>
        </p:nvSpPr>
        <p:spPr>
          <a:xfrm>
            <a:off x="5376672" y="2331720"/>
            <a:ext cx="242504" cy="3657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Shape 8"/>
          <p:cNvSpPr/>
          <p:nvPr/>
        </p:nvSpPr>
        <p:spPr>
          <a:xfrm>
            <a:off x="5619176" y="2331720"/>
            <a:ext cx="286596" cy="36576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1" name="Shape 9"/>
          <p:cNvSpPr/>
          <p:nvPr/>
        </p:nvSpPr>
        <p:spPr>
          <a:xfrm>
            <a:off x="5905771" y="2331720"/>
            <a:ext cx="2402993" cy="36576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2" name="Shape 10"/>
          <p:cNvSpPr/>
          <p:nvPr/>
        </p:nvSpPr>
        <p:spPr>
          <a:xfrm>
            <a:off x="8308764" y="2331720"/>
            <a:ext cx="154321" cy="36576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3" name="Shape 11"/>
          <p:cNvSpPr/>
          <p:nvPr/>
        </p:nvSpPr>
        <p:spPr>
          <a:xfrm>
            <a:off x="8463085" y="2331720"/>
            <a:ext cx="132275" cy="3657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4" name="Shape 12"/>
          <p:cNvSpPr/>
          <p:nvPr/>
        </p:nvSpPr>
        <p:spPr>
          <a:xfrm>
            <a:off x="603755" y="1783080"/>
            <a:ext cx="0" cy="548640"/>
          </a:xfrm>
          <a:prstGeom prst="line">
            <a:avLst/>
          </a:prstGeom>
          <a:noFill/>
          <a:ln w="12700">
            <a:solidFill>
              <a:srgbClr val="4A5A7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1188720"/>
            <a:ext cx="731520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1188720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1/3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TC-007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441495" y="2697480"/>
            <a:ext cx="0" cy="548640"/>
          </a:xfrm>
          <a:prstGeom prst="line">
            <a:avLst/>
          </a:prstGeom>
          <a:noFill/>
          <a:ln w="12700">
            <a:solidFill>
              <a:srgbClr val="4A5A7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75735" y="3273552"/>
            <a:ext cx="731520" cy="566928"/>
          </a:xfrm>
          <a:prstGeom prst="roundRect">
            <a:avLst>
              <a:gd name="adj" fmla="val 12903"/>
            </a:avLst>
          </a:prstGeom>
          <a:solidFill>
            <a:schemeClr val="accent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75735" y="3273552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2/10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TC-008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191053" y="1783080"/>
            <a:ext cx="0" cy="548640"/>
          </a:xfrm>
          <a:prstGeom prst="line">
            <a:avLst/>
          </a:prstGeom>
          <a:noFill/>
          <a:ln w="12700">
            <a:solidFill>
              <a:srgbClr val="4A5A7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25293" y="1188720"/>
            <a:ext cx="731520" cy="566928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825293" y="1188720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3/16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TC-009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389465" y="2697480"/>
            <a:ext cx="0" cy="548640"/>
          </a:xfrm>
          <a:prstGeom prst="line">
            <a:avLst/>
          </a:prstGeom>
          <a:noFill/>
          <a:ln w="12700">
            <a:solidFill>
              <a:srgbClr val="4A5A7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23705" y="3273552"/>
            <a:ext cx="731520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2023705" y="3273552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3/25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TC-010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513801" y="1783080"/>
            <a:ext cx="0" cy="548640"/>
          </a:xfrm>
          <a:prstGeom prst="line">
            <a:avLst/>
          </a:prstGeom>
          <a:noFill/>
          <a:ln w="12700">
            <a:solidFill>
              <a:srgbClr val="4A5A7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48041" y="1188720"/>
            <a:ext cx="731520" cy="566928"/>
          </a:xfrm>
          <a:prstGeom prst="roundRect">
            <a:avLst>
              <a:gd name="adj" fmla="val 12903"/>
            </a:avLst>
          </a:prstGeom>
          <a:solidFill>
            <a:schemeClr val="accent3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148041" y="1188720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5/15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TC-003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145191" y="2697480"/>
            <a:ext cx="0" cy="548640"/>
          </a:xfrm>
          <a:prstGeom prst="line">
            <a:avLst/>
          </a:prstGeom>
          <a:noFill/>
          <a:ln w="12700">
            <a:solidFill>
              <a:srgbClr val="4A5A7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9703" y="3273552"/>
            <a:ext cx="731520" cy="566928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669703" y="3273552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7/28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TC-002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97924" y="1783080"/>
            <a:ext cx="0" cy="548640"/>
          </a:xfrm>
          <a:prstGeom prst="line">
            <a:avLst/>
          </a:prstGeom>
          <a:noFill/>
          <a:ln w="12700">
            <a:solidFill>
              <a:srgbClr val="4A5A7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32164" y="1188720"/>
            <a:ext cx="731520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5132164" y="1188720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8/13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TC-001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762474" y="2697480"/>
            <a:ext cx="0" cy="548640"/>
          </a:xfrm>
          <a:prstGeom prst="line">
            <a:avLst/>
          </a:prstGeom>
          <a:noFill/>
          <a:ln w="12700">
            <a:solidFill>
              <a:srgbClr val="4A5A7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506442" y="3273552"/>
            <a:ext cx="731520" cy="566928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5506442" y="3273552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8/25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TC-014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886810" y="1783080"/>
            <a:ext cx="0" cy="548640"/>
          </a:xfrm>
          <a:prstGeom prst="line">
            <a:avLst/>
          </a:prstGeom>
          <a:noFill/>
          <a:ln w="12700">
            <a:solidFill>
              <a:srgbClr val="4A5A7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521050" y="1188720"/>
            <a:ext cx="731520" cy="566928"/>
          </a:xfrm>
          <a:prstGeom prst="roundRect">
            <a:avLst>
              <a:gd name="adj" fmla="val 12903"/>
            </a:avLst>
          </a:prstGeom>
          <a:solidFill>
            <a:schemeClr val="accent3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521050" y="1188720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10/15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TC-015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385925" y="2697480"/>
            <a:ext cx="0" cy="548640"/>
          </a:xfrm>
          <a:prstGeom prst="line">
            <a:avLst/>
          </a:prstGeom>
          <a:noFill/>
          <a:ln w="12700">
            <a:solidFill>
              <a:srgbClr val="4A5A7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955280" y="3273552"/>
            <a:ext cx="731520" cy="566928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7955280" y="3273552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12/22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TC-016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518200" y="1783080"/>
            <a:ext cx="0" cy="548640"/>
          </a:xfrm>
          <a:prstGeom prst="line">
            <a:avLst/>
          </a:prstGeom>
          <a:noFill/>
          <a:ln w="12700">
            <a:solidFill>
              <a:srgbClr val="4A5A7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955280" y="1188720"/>
            <a:ext cx="731520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7955280" y="1188720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12/28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TC-017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48640" y="2697480"/>
            <a:ext cx="0" cy="91440"/>
          </a:xfrm>
          <a:prstGeom prst="line">
            <a:avLst/>
          </a:prstGeom>
          <a:noFill/>
          <a:ln w="9525">
            <a:solidFill>
              <a:srgbClr val="4A5A73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07470" y="2770632"/>
            <a:ext cx="365760" cy="228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1月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1232060" y="2697480"/>
            <a:ext cx="0" cy="91440"/>
          </a:xfrm>
          <a:prstGeom prst="line">
            <a:avLst/>
          </a:prstGeom>
          <a:noFill/>
          <a:ln w="9525">
            <a:solidFill>
              <a:srgbClr val="4A5A73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1357821" y="2770632"/>
            <a:ext cx="365760" cy="228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2月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1849343" y="2697480"/>
            <a:ext cx="0" cy="91440"/>
          </a:xfrm>
          <a:prstGeom prst="line">
            <a:avLst/>
          </a:prstGeom>
          <a:noFill/>
          <a:ln w="9525">
            <a:solidFill>
              <a:srgbClr val="4A5A73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2008173" y="2770632"/>
            <a:ext cx="365760" cy="228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3月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532763" y="2697480"/>
            <a:ext cx="0" cy="91440"/>
          </a:xfrm>
          <a:prstGeom prst="line">
            <a:avLst/>
          </a:prstGeom>
          <a:noFill/>
          <a:ln w="9525">
            <a:solidFill>
              <a:srgbClr val="4A5A73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2680570" y="2770632"/>
            <a:ext cx="365760" cy="228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4月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194137" y="2697480"/>
            <a:ext cx="0" cy="91440"/>
          </a:xfrm>
          <a:prstGeom prst="line">
            <a:avLst/>
          </a:prstGeom>
          <a:noFill/>
          <a:ln w="9525">
            <a:solidFill>
              <a:srgbClr val="4A5A73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3352967" y="2770632"/>
            <a:ext cx="365760" cy="228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5月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877557" y="2697480"/>
            <a:ext cx="0" cy="91440"/>
          </a:xfrm>
          <a:prstGeom prst="line">
            <a:avLst/>
          </a:prstGeom>
          <a:noFill/>
          <a:ln w="9525">
            <a:solidFill>
              <a:srgbClr val="4A5A73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4025364" y="2770632"/>
            <a:ext cx="365760" cy="228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6月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538931" y="2697480"/>
            <a:ext cx="0" cy="91440"/>
          </a:xfrm>
          <a:prstGeom prst="line">
            <a:avLst/>
          </a:prstGeom>
          <a:noFill/>
          <a:ln w="9525">
            <a:solidFill>
              <a:srgbClr val="4A5A73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4697761" y="2770632"/>
            <a:ext cx="365760" cy="228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7月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222351" y="2697480"/>
            <a:ext cx="0" cy="91440"/>
          </a:xfrm>
          <a:prstGeom prst="line">
            <a:avLst/>
          </a:prstGeom>
          <a:noFill/>
          <a:ln w="9525">
            <a:solidFill>
              <a:srgbClr val="4A5A73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5381181" y="2770632"/>
            <a:ext cx="365760" cy="228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8月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5905771" y="2697480"/>
            <a:ext cx="0" cy="91440"/>
          </a:xfrm>
          <a:prstGeom prst="line">
            <a:avLst/>
          </a:prstGeom>
          <a:noFill/>
          <a:ln w="9525">
            <a:solidFill>
              <a:srgbClr val="4A5A73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6053579" y="2770632"/>
            <a:ext cx="365760" cy="228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9月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6567146" y="2697480"/>
            <a:ext cx="0" cy="91440"/>
          </a:xfrm>
          <a:prstGeom prst="line">
            <a:avLst/>
          </a:prstGeom>
          <a:noFill/>
          <a:ln w="9525">
            <a:solidFill>
              <a:srgbClr val="4A5A73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6725976" y="2770632"/>
            <a:ext cx="365760" cy="228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10月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7250566" y="2697480"/>
            <a:ext cx="0" cy="91440"/>
          </a:xfrm>
          <a:prstGeom prst="line">
            <a:avLst/>
          </a:prstGeom>
          <a:noFill/>
          <a:ln w="9525">
            <a:solidFill>
              <a:srgbClr val="4A5A73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7398373" y="2770632"/>
            <a:ext cx="365760" cy="228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11月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7911940" y="2697480"/>
            <a:ext cx="0" cy="91440"/>
          </a:xfrm>
          <a:prstGeom prst="line">
            <a:avLst/>
          </a:prstGeom>
          <a:noFill/>
          <a:ln w="9525">
            <a:solidFill>
              <a:srgbClr val="4A5A73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8070770" y="2770632"/>
            <a:ext cx="365760" cy="228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12月</a:t>
            </a:r>
            <a:endParaRPr lang="en-US" sz="1000" dirty="0"/>
          </a:p>
        </p:txBody>
      </p:sp>
      <p:sp>
        <p:nvSpPr>
          <p:cNvPr id="71" name="leap"/>
          <p:cNvSpPr/>
          <p:nvPr/>
        </p:nvSpPr>
        <p:spPr>
          <a:xfrm>
            <a:off x="457200" y="4023360"/>
            <a:ext cx="822960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2A41">
                <a:alpha val="15000"/>
              </a:srgbClr>
            </a:outerShdw>
          </a:effectLst>
        </p:spPr>
      </p:sp>
      <p:sp>
        <p:nvSpPr>
          <p:cNvPr id="72" name="Text 70"/>
          <p:cNvSpPr txBox="1"/>
          <p:nvPr/>
        </p:nvSpPr>
        <p:spPr>
          <a:xfrm>
            <a:off x="640080" y="402336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うるう年の代表日：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2028年2月29日 → 通常時 10,000円（TC-018 / EQ-015）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11期間 ＋ うるう日 ＝ 12件（うち TC-001〜003 の3件は①が兼務）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③ 境界の前後で時期区分の切り替わりを捉える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例：ピーク1（1月1日〜5日）から通常時への切り替わり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43000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011680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1/4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14,000円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346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TC-023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0" y="2011680"/>
            <a:ext cx="1143000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828800" y="2011680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1/5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14,000円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828800" y="28346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TC-024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08960" y="2011680"/>
            <a:ext cx="1143000" cy="777240"/>
          </a:xfrm>
          <a:prstGeom prst="roundRect">
            <a:avLst>
              <a:gd name="adj" fmla="val 9412"/>
            </a:avLst>
          </a:prstGeom>
          <a:solidFill>
            <a:schemeClr val="accent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108960" y="2011680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1/6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10,000円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108960" y="28346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TC-025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0" y="2011680"/>
            <a:ext cx="1143000" cy="777240"/>
          </a:xfrm>
          <a:prstGeom prst="roundRect">
            <a:avLst>
              <a:gd name="adj" fmla="val 9412"/>
            </a:avLst>
          </a:prstGeom>
          <a:solidFill>
            <a:schemeClr val="accent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389120" y="2011680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1/7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10,000円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389120" y="28346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TC-026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040380" y="1783080"/>
            <a:ext cx="0" cy="1234440"/>
          </a:xfrm>
          <a:prstGeom prst="line">
            <a:avLst/>
          </a:prstGeom>
          <a:noFill/>
          <a:ln w="31750">
            <a:solidFill>
              <a:srgbClr val="E4572E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640080" y="1892808"/>
            <a:ext cx="352044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1892808"/>
            <a:ext cx="0" cy="109728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60520" y="1892808"/>
            <a:ext cx="0" cy="109728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156362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BVA-003：直前 1/4・境界値 1/5・直後 1/6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920240" y="3310128"/>
            <a:ext cx="352044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20240" y="3200400"/>
            <a:ext cx="0" cy="109728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40680" y="3200400"/>
            <a:ext cx="0" cy="109728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920240" y="334670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BVA-004：直前 1/5・境界値 1/6・直後 1/7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379476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隣り合う2つの境界（期間の終わり・次の期間の始まり）を重ねると、1か所の切り替わりにつき4日でテストできる</a:t>
            </a:r>
            <a:endParaRPr lang="en-US" sz="1200" dirty="0"/>
          </a:p>
        </p:txBody>
      </p:sp>
      <p:sp>
        <p:nvSpPr>
          <p:cNvPr id="26" name="bvastat"/>
          <p:cNvSpPr/>
          <p:nvPr/>
        </p:nvSpPr>
        <p:spPr>
          <a:xfrm>
            <a:off x="6263640" y="1005840"/>
            <a:ext cx="2423160" cy="3383280"/>
          </a:xfrm>
          <a:prstGeom prst="roundRect">
            <a:avLst>
              <a:gd name="adj" fmla="val 3019"/>
            </a:avLst>
          </a:prstGeom>
          <a:solidFill>
            <a:schemeClr val="tx1"/>
          </a:solidFill>
          <a:ln/>
          <a:effectLst>
            <a:outerShdw sx="100000" sy="100000" kx="0" ky="0" algn="bl" rotWithShape="0" blurRad="76200" dist="25400" dir="5400000">
              <a:srgbClr val="1B2A41">
                <a:alpha val="15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6446520" y="1143000"/>
            <a:ext cx="21031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11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 か所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の切り替わり</a:t>
            </a:r>
            <a:endParaRPr lang="en-US" sz="14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× 4日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44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 件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TC-019〜062 / BVA-001〜022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④ 100円未満の切り上げは仮の値で確かめる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切り上げ前の運賃を直接与え、端数処理だけを確認する（HD-008）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2331720"/>
            <a:ext cx="7498080" cy="0"/>
          </a:xfrm>
          <a:prstGeom prst="line">
            <a:avLst/>
          </a:prstGeom>
          <a:noFill/>
          <a:ln w="31750">
            <a:solidFill>
              <a:srgbClr val="1B2A4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747565" y="1920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…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22376" y="2231136"/>
            <a:ext cx="201168" cy="201168"/>
          </a:xfrm>
          <a:prstGeom prst="ellipse">
            <a:avLst/>
          </a:prstGeom>
          <a:solidFill>
            <a:schemeClr val="accent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4320" y="15544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12,600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TC-063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622146" y="2231136"/>
            <a:ext cx="201168" cy="201168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74090" y="25146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12,600.25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TC-069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96896" y="2231136"/>
            <a:ext cx="201168" cy="201168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148840" y="15544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12,601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TC-064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96666" y="2231136"/>
            <a:ext cx="201168" cy="201168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048610" y="25146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12,602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TC-065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45936" y="2231136"/>
            <a:ext cx="201168" cy="201168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897880" y="15544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12,698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TC-066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245706" y="2231136"/>
            <a:ext cx="201168" cy="201168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97650" y="25146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12,699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TC-067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0456" y="2231136"/>
            <a:ext cx="201168" cy="201168"/>
          </a:xfrm>
          <a:prstGeom prst="ellipse">
            <a:avLst/>
          </a:prstGeom>
          <a:solidFill>
            <a:schemeClr val="accent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0" y="15544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12,700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TC-068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337560"/>
            <a:ext cx="393192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3520440"/>
            <a:ext cx="201168" cy="20116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60120" y="345643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100円未満が0円 → そのまま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60120" y="3822192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12,600 → 12,600円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12,700 → 12,700円（HD-009）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3337560"/>
            <a:ext cx="393192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25" name="Shape 23"/>
          <p:cNvSpPr/>
          <p:nvPr/>
        </p:nvSpPr>
        <p:spPr>
          <a:xfrm>
            <a:off x="4937760" y="3520440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257800" y="345643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端数あり → 12,700円に切り上げ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257800" y="3822192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1円の端数も、円未満（.25円）の端数も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切り上げる（HD-010）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2971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数直線の間隔は見やすさのため等間隔ではない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重複3組を統合して 69件 → 66件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28016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rgbClr val="9AABC2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457200" y="10515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TC-013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欠番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828800" y="1243584"/>
            <a:ext cx="502920" cy="256032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6" name="Shape 4"/>
          <p:cNvSpPr/>
          <p:nvPr/>
        </p:nvSpPr>
        <p:spPr>
          <a:xfrm>
            <a:off x="2423160" y="1051560"/>
            <a:ext cx="1280160" cy="640080"/>
          </a:xfrm>
          <a:prstGeom prst="roundRect">
            <a:avLst>
              <a:gd name="adj" fmla="val 11429"/>
            </a:avLst>
          </a:prstGeom>
          <a:solidFill>
            <a:schemeClr val="tx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423160" y="10515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TC-001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+ EQ-010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840480" y="10515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8月13日 一般席 14,000円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128016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rgbClr val="9AABC2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457200" y="19202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TC-012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欠番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828800" y="2112264"/>
            <a:ext cx="502920" cy="256032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2" name="Shape 10"/>
          <p:cNvSpPr/>
          <p:nvPr/>
        </p:nvSpPr>
        <p:spPr>
          <a:xfrm>
            <a:off x="2423160" y="1920240"/>
            <a:ext cx="1280160" cy="640080"/>
          </a:xfrm>
          <a:prstGeom prst="roundRect">
            <a:avLst>
              <a:gd name="adj" fmla="val 11429"/>
            </a:avLst>
          </a:prstGeom>
          <a:solidFill>
            <a:schemeClr val="tx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423160" y="19202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TC-002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+ EQ-009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19202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7月28日 一般席 12,500円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788920"/>
            <a:ext cx="128016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rgbClr val="9AABC2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457200" y="27889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TC-011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欠番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828800" y="2980944"/>
            <a:ext cx="502920" cy="256032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8" name="Shape 16"/>
          <p:cNvSpPr/>
          <p:nvPr/>
        </p:nvSpPr>
        <p:spPr>
          <a:xfrm>
            <a:off x="2423160" y="2788920"/>
            <a:ext cx="1280160" cy="640080"/>
          </a:xfrm>
          <a:prstGeom prst="roundRect">
            <a:avLst>
              <a:gd name="adj" fmla="val 11429"/>
            </a:avLst>
          </a:prstGeom>
          <a:solidFill>
            <a:schemeClr val="tx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423160" y="27889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TC-003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+ EQ-008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840480" y="27889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5月15日 一般席 10,000円</a:t>
            </a:r>
            <a:endParaRPr lang="en-US" sz="1100" dirty="0"/>
          </a:p>
        </p:txBody>
      </p:sp>
      <p:sp>
        <p:nvSpPr>
          <p:cNvPr id="21" name="compare"/>
          <p:cNvSpPr/>
          <p:nvPr/>
        </p:nvSpPr>
        <p:spPr>
          <a:xfrm>
            <a:off x="5303520" y="1051560"/>
            <a:ext cx="338328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2A41">
                <a:alpha val="1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5486400" y="1143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重複判定の5項目（CLAUDE.md）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577840" y="1572768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前提条件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223760" y="1591056"/>
            <a:ext cx="1188720" cy="265176"/>
          </a:xfrm>
          <a:prstGeom prst="roundRect">
            <a:avLst>
              <a:gd name="adj" fmla="val 27586"/>
            </a:avLst>
          </a:prstGeom>
          <a:solidFill>
            <a:schemeClr val="accent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223760" y="1591056"/>
            <a:ext cx="1188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同じ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577840" y="1920240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入力条件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223760" y="1938528"/>
            <a:ext cx="1188720" cy="265176"/>
          </a:xfrm>
          <a:prstGeom prst="roundRect">
            <a:avLst>
              <a:gd name="adj" fmla="val 27586"/>
            </a:avLst>
          </a:prstGeom>
          <a:solidFill>
            <a:schemeClr val="accent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223760" y="1938528"/>
            <a:ext cx="1188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同じ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577840" y="2267712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操作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223760" y="2286000"/>
            <a:ext cx="1188720" cy="265176"/>
          </a:xfrm>
          <a:prstGeom prst="roundRect">
            <a:avLst>
              <a:gd name="adj" fmla="val 27586"/>
            </a:avLst>
          </a:prstGeom>
          <a:solidFill>
            <a:schemeClr val="accent4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223760" y="2286000"/>
            <a:ext cx="1188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同じ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577840" y="2615184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期待結果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223760" y="2633472"/>
            <a:ext cx="1188720" cy="265176"/>
          </a:xfrm>
          <a:prstGeom prst="roundRect">
            <a:avLst>
              <a:gd name="adj" fmla="val 27586"/>
            </a:avLst>
          </a:prstGeom>
          <a:solidFill>
            <a:schemeClr val="accent4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223760" y="2633472"/>
            <a:ext cx="1188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同じ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5577840" y="2962656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テスト観点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223760" y="2980944"/>
            <a:ext cx="1188720" cy="265176"/>
          </a:xfrm>
          <a:prstGeom prst="roundRect">
            <a:avLst>
              <a:gd name="adj" fmla="val 27586"/>
            </a:avLst>
          </a:prstGeom>
          <a:solidFill>
            <a:schemeClr val="accent1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223760" y="2980944"/>
            <a:ext cx="1188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異なる</a:t>
            </a:r>
            <a:endParaRPr lang="en-US" sz="1100" dirty="0"/>
          </a:p>
        </p:txBody>
      </p:sp>
      <p:sp>
        <p:nvSpPr>
          <p:cNvPr id="38" name="dedupwhy"/>
          <p:cNvSpPr/>
          <p:nvPr/>
        </p:nvSpPr>
        <p:spPr>
          <a:xfrm>
            <a:off x="457200" y="370332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1B2A41">
                <a:alpha val="15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685800" y="3749040"/>
            <a:ext cx="7818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観点が異なるので「削除」ではなく「統合」：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1回の実行で両方の観点を確かめられる。残す側（DT由来）にモデルIDと観点を引き継ぎ、IDは欠番に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731520" cy="7315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574" y="1258214"/>
            <a:ext cx="409651" cy="409651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20116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3. 追跡と課題</a:t>
            </a:r>
            <a:endParaRPr lang="en-US" sz="32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2834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仕様からテストケースまでのつながりと、実施前の確認事項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仕様からテストケースまで一本の線でたどれる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例：TC-002（一般席・7月28日・12,500円）をさかのぼる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仕様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371600" cy="9144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6916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SPEC-5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26974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時期区分の表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74520" y="2020824"/>
            <a:ext cx="251460" cy="256032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171700" y="1371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ルール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71700" y="1691640"/>
            <a:ext cx="137160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171700" y="16916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BR-007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BR-010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125980" y="26974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ピーク2は125%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7/18〜8/7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589020" y="2020824"/>
            <a:ext cx="251460" cy="256032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886200" y="1371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期間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86200" y="1691640"/>
            <a:ext cx="1371600" cy="914400"/>
          </a:xfrm>
          <a:prstGeom prst="roundRect">
            <a:avLst>
              <a:gd name="adj" fmla="val 8000"/>
            </a:avLst>
          </a:prstGeom>
          <a:solidFill>
            <a:schemeClr val="accent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886200" y="16916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PRD-06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840480" y="26974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7月18日〜8月7日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03520" y="2020824"/>
            <a:ext cx="251460" cy="256032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600700" y="1371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モデル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00700" y="1691640"/>
            <a:ext cx="1371600" cy="9144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600700" y="16916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DT-002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EQ-009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554980" y="26974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一般席×ピーク2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期間の代表値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018020" y="2020824"/>
            <a:ext cx="251460" cy="256032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315200" y="1371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テストケース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0" y="1691640"/>
            <a:ext cx="1371600" cy="914400"/>
          </a:xfrm>
          <a:prstGeom prst="roundRect">
            <a:avLst>
              <a:gd name="adj" fmla="val 8000"/>
            </a:avLst>
          </a:prstGeom>
          <a:solidFill>
            <a:schemeClr val="accent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315200" y="16916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TC-002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269480" y="26974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12,500円</a:t>
            </a:r>
            <a:endParaRPr lang="en-US" sz="1100" dirty="0"/>
          </a:p>
        </p:txBody>
      </p:sp>
      <p:sp>
        <p:nvSpPr>
          <p:cNvPr id="28" name="map0"/>
          <p:cNvSpPr/>
          <p:nvPr/>
        </p:nvSpPr>
        <p:spPr>
          <a:xfrm>
            <a:off x="457200" y="3429000"/>
            <a:ext cx="26060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2A41">
                <a:alpha val="15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640080" y="3520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EQ（同値分割）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38862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TC-001〜010, 014〜018, 063, 064, 069</a:t>
            </a:r>
            <a:endParaRPr lang="en-US" sz="1100" dirty="0"/>
          </a:p>
        </p:txBody>
      </p:sp>
      <p:sp>
        <p:nvSpPr>
          <p:cNvPr id="31" name="map1"/>
          <p:cNvSpPr/>
          <p:nvPr/>
        </p:nvSpPr>
        <p:spPr>
          <a:xfrm>
            <a:off x="3246120" y="3429000"/>
            <a:ext cx="26060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2A41">
                <a:alpha val="15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3429000" y="3520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BVA（境界値分析）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3429000" y="38862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TC-019〜068</a:t>
            </a:r>
            <a:endParaRPr lang="en-US" sz="1100" dirty="0"/>
          </a:p>
        </p:txBody>
      </p:sp>
      <p:sp>
        <p:nvSpPr>
          <p:cNvPr id="34" name="map2"/>
          <p:cNvSpPr/>
          <p:nvPr/>
        </p:nvSpPr>
        <p:spPr>
          <a:xfrm>
            <a:off x="6035040" y="3429000"/>
            <a:ext cx="26060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1B2A41">
                <a:alpha val="15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6217920" y="3520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DT（デシジョンテーブル）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6217920" y="38862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TC-001〜006, 063, 064, 069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実施前に確認が必要なこと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458" y="1466698"/>
            <a:ext cx="358445" cy="35844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17320" y="128016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端数処理だけを実行する方法が仕様にない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673352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TC-063〜069 は仮の値を使うため、どの機能・画面で実行できるかをテスト実施前に確認する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46888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458" y="2609698"/>
            <a:ext cx="358445" cy="35844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17320" y="242316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状態遷移・組み合わせテストのケースはない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1417320" y="2816352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状態遷移は対象なし（HD-018）、組み合わせテストは人間の指示で省略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361188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458" y="3752698"/>
            <a:ext cx="358445" cy="35844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17320" y="356616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入力できない値はテスト対象外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1417320" y="3959352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定義外の搭乗クラス・区間・運賃種別、存在しない月日、0円以下の運賃（HD-003〜006, 011）</a:t>
            </a:r>
            <a:endParaRPr lang="en-US" sz="1300" dirty="0"/>
          </a:p>
        </p:txBody>
      </p:sp>
      <p:sp>
        <p:nvSpPr>
          <p:cNvPr id="15" name="Text 0"/>
          <p:cNvSpPr/>
          <p:nvPr>
            <p:ph idx="100" type="title" hasCustomPrompt="1"/>
          </p:nvPr>
        </p:nvSpPr>
        <p:spPr>
          <a:xfrm>
            <a:off x="548640" y="20116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16" name="Text 0"/>
          <p:cNvSpPr/>
          <p:nvPr>
            <p:ph idx="101" type="body" hasCustomPrompt="1"/>
          </p:nvPr>
        </p:nvSpPr>
        <p:spPr>
          <a:xfrm>
            <a:off x="548640" y="2834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re Test">
  <a:themeElements>
    <a:clrScheme name="Fare Test">
      <a:dk1>
        <a:srgbClr val="1B2A41"/>
      </a:dk1>
      <a:lt1>
        <a:srgbClr val="FFFFFF"/>
      </a:lt1>
      <a:dk2>
        <a:srgbClr val="4A5A73"/>
      </a:dk2>
      <a:lt2>
        <a:srgbClr val="EEF1F5"/>
      </a:lt2>
      <a:accent1>
        <a:srgbClr val="E4572E"/>
      </a:accent1>
      <a:accent2>
        <a:srgbClr val="F2A541"/>
      </a:accent2>
      <a:accent3>
        <a:srgbClr val="9AABC2"/>
      </a:accent3>
      <a:accent4>
        <a:srgbClr val="2A9D8F"/>
      </a:accent4>
      <a:accent5>
        <a:srgbClr val="6C5B7B"/>
      </a:accent5>
      <a:accent6>
        <a:srgbClr val="D5DCE6"/>
      </a:accent6>
      <a:hlink>
        <a:srgbClr val="2A9D8F"/>
      </a:hlink>
      <a:folHlink>
        <a:srgbClr val="6C5B7B"/>
      </a:folHlink>
    </a:clrScheme>
    <a:fontScheme name="Fare Test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運賃算出テストケース解説</dc:title>
  <dc:subject>PptxGenJS Presentation</dc:subject>
  <dc:creator>Claude Code</dc:creator>
  <cp:lastModifiedBy>Claude Code</cp:lastModifiedBy>
  <cp:revision>1</cp:revision>
  <dcterms:created xsi:type="dcterms:W3CDTF">2026-10-06T01:25:36Z</dcterms:created>
  <dcterms:modified xsi:type="dcterms:W3CDTF">2026-10-06T01:25:36Z</dcterms:modified>
</cp:coreProperties>
</file>